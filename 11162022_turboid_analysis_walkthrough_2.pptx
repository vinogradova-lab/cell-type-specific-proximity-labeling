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712" r:id="rId1"/>
  </p:sldMasterIdLst>
  <p:notesMasterIdLst>
    <p:notesMasterId r:id="rId18"/>
  </p:notesMasterIdLst>
  <p:sldIdLst>
    <p:sldId id="286" r:id="rId2"/>
    <p:sldId id="287" r:id="rId3"/>
    <p:sldId id="288" r:id="rId4"/>
    <p:sldId id="263" r:id="rId5"/>
    <p:sldId id="282" r:id="rId6"/>
    <p:sldId id="283" r:id="rId7"/>
    <p:sldId id="265" r:id="rId8"/>
    <p:sldId id="267" r:id="rId9"/>
    <p:sldId id="269" r:id="rId10"/>
    <p:sldId id="270" r:id="rId11"/>
    <p:sldId id="272" r:id="rId12"/>
    <p:sldId id="271" r:id="rId13"/>
    <p:sldId id="273" r:id="rId14"/>
    <p:sldId id="275" r:id="rId15"/>
    <p:sldId id="285" r:id="rId16"/>
    <p:sldId id="284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E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643"/>
    <p:restoredTop sz="85986"/>
  </p:normalViewPr>
  <p:slideViewPr>
    <p:cSldViewPr snapToGrid="0" snapToObjects="1">
      <p:cViewPr varScale="1">
        <p:scale>
          <a:sx n="109" d="100"/>
          <a:sy n="109" d="100"/>
        </p:scale>
        <p:origin x="5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BFE8ECD-4AA0-4B75-94A3-C6E661383597}" type="doc">
      <dgm:prSet loTypeId="urn:microsoft.com/office/officeart/2016/7/layout/VerticalDownArrow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82EEA16-E07E-46B5-B226-54448F4253D5}">
      <dgm:prSet/>
      <dgm:spPr/>
      <dgm:t>
        <a:bodyPr/>
        <a:lstStyle/>
        <a:p>
          <a:r>
            <a:rPr lang="en-US"/>
            <a:t>Normalize</a:t>
          </a:r>
        </a:p>
      </dgm:t>
    </dgm:pt>
    <dgm:pt modelId="{D0A4DB90-0D03-4B0C-87B2-14ACFF45C471}" type="parTrans" cxnId="{E4A9493C-30B8-457E-927E-58F4AF9FF535}">
      <dgm:prSet/>
      <dgm:spPr/>
      <dgm:t>
        <a:bodyPr/>
        <a:lstStyle/>
        <a:p>
          <a:endParaRPr lang="en-US"/>
        </a:p>
      </dgm:t>
    </dgm:pt>
    <dgm:pt modelId="{9CA71EFA-7E03-4F07-85E0-FE73337DD6B3}" type="sibTrans" cxnId="{E4A9493C-30B8-457E-927E-58F4AF9FF535}">
      <dgm:prSet/>
      <dgm:spPr/>
      <dgm:t>
        <a:bodyPr/>
        <a:lstStyle/>
        <a:p>
          <a:endParaRPr lang="en-US"/>
        </a:p>
      </dgm:t>
    </dgm:pt>
    <dgm:pt modelId="{5C30FF08-7CAF-4135-BF35-5B776C1B548D}">
      <dgm:prSet/>
      <dgm:spPr/>
      <dgm:t>
        <a:bodyPr/>
        <a:lstStyle/>
        <a:p>
          <a:r>
            <a:rPr lang="en-US"/>
            <a:t>Normalize ratio by the median ratio of proteins that are labelled as FP</a:t>
          </a:r>
        </a:p>
      </dgm:t>
    </dgm:pt>
    <dgm:pt modelId="{A62BF4E0-FDAF-4BA9-A211-A8D471431D98}" type="parTrans" cxnId="{F8EFD0C2-DECF-4068-AB81-B49F1CB17262}">
      <dgm:prSet/>
      <dgm:spPr/>
      <dgm:t>
        <a:bodyPr/>
        <a:lstStyle/>
        <a:p>
          <a:endParaRPr lang="en-US"/>
        </a:p>
      </dgm:t>
    </dgm:pt>
    <dgm:pt modelId="{39D89015-C942-454C-928F-50B945CD0CBC}" type="sibTrans" cxnId="{F8EFD0C2-DECF-4068-AB81-B49F1CB17262}">
      <dgm:prSet/>
      <dgm:spPr/>
      <dgm:t>
        <a:bodyPr/>
        <a:lstStyle/>
        <a:p>
          <a:endParaRPr lang="en-US"/>
        </a:p>
      </dgm:t>
    </dgm:pt>
    <dgm:pt modelId="{1890A9BC-7214-47C8-9114-399E2E3C4F94}">
      <dgm:prSet/>
      <dgm:spPr/>
      <dgm:t>
        <a:bodyPr/>
        <a:lstStyle/>
        <a:p>
          <a:r>
            <a:rPr lang="en-US"/>
            <a:t>Rank</a:t>
          </a:r>
        </a:p>
      </dgm:t>
    </dgm:pt>
    <dgm:pt modelId="{338DB7B5-85C7-4767-AF5A-387ED5922DC4}" type="parTrans" cxnId="{062757C3-26D4-4D45-9BD4-F88EA2973DFA}">
      <dgm:prSet/>
      <dgm:spPr/>
      <dgm:t>
        <a:bodyPr/>
        <a:lstStyle/>
        <a:p>
          <a:endParaRPr lang="en-US"/>
        </a:p>
      </dgm:t>
    </dgm:pt>
    <dgm:pt modelId="{5D44E006-378E-4245-9E4A-DF1717473AE4}" type="sibTrans" cxnId="{062757C3-26D4-4D45-9BD4-F88EA2973DFA}">
      <dgm:prSet/>
      <dgm:spPr/>
      <dgm:t>
        <a:bodyPr/>
        <a:lstStyle/>
        <a:p>
          <a:endParaRPr lang="en-US"/>
        </a:p>
      </dgm:t>
    </dgm:pt>
    <dgm:pt modelId="{858DDD9E-EDAD-43D7-9EA0-A633FFE0AEFE}">
      <dgm:prSet/>
      <dgm:spPr/>
      <dgm:t>
        <a:bodyPr/>
        <a:lstStyle/>
        <a:p>
          <a:r>
            <a:rPr lang="en-US"/>
            <a:t>Rank ratios in descending order </a:t>
          </a:r>
        </a:p>
      </dgm:t>
    </dgm:pt>
    <dgm:pt modelId="{09F6073F-6394-4AF8-8F19-23D222F85740}" type="parTrans" cxnId="{F4A62115-37B8-4470-97A0-026257656920}">
      <dgm:prSet/>
      <dgm:spPr/>
      <dgm:t>
        <a:bodyPr/>
        <a:lstStyle/>
        <a:p>
          <a:endParaRPr lang="en-US"/>
        </a:p>
      </dgm:t>
    </dgm:pt>
    <dgm:pt modelId="{1C4B2589-961F-44F2-8596-A0210151CF3E}" type="sibTrans" cxnId="{F4A62115-37B8-4470-97A0-026257656920}">
      <dgm:prSet/>
      <dgm:spPr/>
      <dgm:t>
        <a:bodyPr/>
        <a:lstStyle/>
        <a:p>
          <a:endParaRPr lang="en-US"/>
        </a:p>
      </dgm:t>
    </dgm:pt>
    <dgm:pt modelId="{7A49F28F-4D7B-48D0-863D-4D062513B45F}">
      <dgm:prSet/>
      <dgm:spPr/>
      <dgm:t>
        <a:bodyPr/>
        <a:lstStyle/>
        <a:p>
          <a:r>
            <a:rPr lang="en-US" dirty="0"/>
            <a:t>Calculate TPR &amp; FPR</a:t>
          </a:r>
        </a:p>
      </dgm:t>
    </dgm:pt>
    <dgm:pt modelId="{078967D4-4E0B-425C-AAF5-6F98B8967537}" type="parTrans" cxnId="{01E0C336-CCC5-4A55-9FED-3E8899FF1161}">
      <dgm:prSet/>
      <dgm:spPr/>
      <dgm:t>
        <a:bodyPr/>
        <a:lstStyle/>
        <a:p>
          <a:endParaRPr lang="en-US"/>
        </a:p>
      </dgm:t>
    </dgm:pt>
    <dgm:pt modelId="{EA628C7C-502B-4867-B3E0-4B85687993B6}" type="sibTrans" cxnId="{01E0C336-CCC5-4A55-9FED-3E8899FF1161}">
      <dgm:prSet/>
      <dgm:spPr/>
      <dgm:t>
        <a:bodyPr/>
        <a:lstStyle/>
        <a:p>
          <a:endParaRPr lang="en-US"/>
        </a:p>
      </dgm:t>
    </dgm:pt>
    <dgm:pt modelId="{929A34AA-11C7-4F19-A6D3-5C7DE5BEE86A}">
      <dgm:prSet/>
      <dgm:spPr/>
      <dgm:t>
        <a:bodyPr/>
        <a:lstStyle/>
        <a:p>
          <a:r>
            <a:rPr lang="en-US"/>
            <a:t>Calculate TP rate (TPR) and the FP rate (FPR) (= fraction of detected TP and FP proteins above the cutoff)</a:t>
          </a:r>
        </a:p>
      </dgm:t>
    </dgm:pt>
    <dgm:pt modelId="{5CC8BE32-8D1B-42E0-9B84-2C92C43FDD61}" type="parTrans" cxnId="{6681200C-7949-4B28-B422-7CF0F65AE94F}">
      <dgm:prSet/>
      <dgm:spPr/>
      <dgm:t>
        <a:bodyPr/>
        <a:lstStyle/>
        <a:p>
          <a:endParaRPr lang="en-US"/>
        </a:p>
      </dgm:t>
    </dgm:pt>
    <dgm:pt modelId="{F36CE4EA-6A6F-4512-9B3F-F340E774DA49}" type="sibTrans" cxnId="{6681200C-7949-4B28-B422-7CF0F65AE94F}">
      <dgm:prSet/>
      <dgm:spPr/>
      <dgm:t>
        <a:bodyPr/>
        <a:lstStyle/>
        <a:p>
          <a:endParaRPr lang="en-US"/>
        </a:p>
      </dgm:t>
    </dgm:pt>
    <dgm:pt modelId="{4477CE24-A1CB-43F7-BE25-0CACC51CEDA3}">
      <dgm:prSet/>
      <dgm:spPr/>
      <dgm:t>
        <a:bodyPr/>
        <a:lstStyle/>
        <a:p>
          <a:r>
            <a:rPr lang="en-US" dirty="0"/>
            <a:t>Plot (ROC)</a:t>
          </a:r>
        </a:p>
      </dgm:t>
    </dgm:pt>
    <dgm:pt modelId="{70619F77-F666-4CDD-9705-4EBFAE08FFD9}" type="parTrans" cxnId="{E0A8DB88-125E-4F4F-A82B-678AF62885C8}">
      <dgm:prSet/>
      <dgm:spPr/>
      <dgm:t>
        <a:bodyPr/>
        <a:lstStyle/>
        <a:p>
          <a:endParaRPr lang="en-US"/>
        </a:p>
      </dgm:t>
    </dgm:pt>
    <dgm:pt modelId="{C681D962-C29C-4DFD-90D4-F74E02608C7C}" type="sibTrans" cxnId="{E0A8DB88-125E-4F4F-A82B-678AF62885C8}">
      <dgm:prSet/>
      <dgm:spPr/>
      <dgm:t>
        <a:bodyPr/>
        <a:lstStyle/>
        <a:p>
          <a:endParaRPr lang="en-US"/>
        </a:p>
      </dgm:t>
    </dgm:pt>
    <dgm:pt modelId="{9A2B8896-0DFC-4EDD-BE72-A8363E1FA8CB}">
      <dgm:prSet/>
      <dgm:spPr/>
      <dgm:t>
        <a:bodyPr/>
        <a:lstStyle/>
        <a:p>
          <a:r>
            <a:rPr lang="en-US"/>
            <a:t>Plot TPR and FPR (ROC) to determine how well the experiment enriched TP over FP proteins</a:t>
          </a:r>
        </a:p>
      </dgm:t>
    </dgm:pt>
    <dgm:pt modelId="{B57A219F-8E1E-4940-8DDF-14CC54FF62C0}" type="parTrans" cxnId="{38A61FAD-597A-4777-AEB1-0E3944349FDF}">
      <dgm:prSet/>
      <dgm:spPr/>
      <dgm:t>
        <a:bodyPr/>
        <a:lstStyle/>
        <a:p>
          <a:endParaRPr lang="en-US"/>
        </a:p>
      </dgm:t>
    </dgm:pt>
    <dgm:pt modelId="{F6C98CC2-42B5-4D9F-A09D-D71068F72660}" type="sibTrans" cxnId="{38A61FAD-597A-4777-AEB1-0E3944349FDF}">
      <dgm:prSet/>
      <dgm:spPr/>
      <dgm:t>
        <a:bodyPr/>
        <a:lstStyle/>
        <a:p>
          <a:endParaRPr lang="en-US"/>
        </a:p>
      </dgm:t>
    </dgm:pt>
    <dgm:pt modelId="{A85124D4-5DF5-4566-8C27-D24C50DCCDB9}">
      <dgm:prSet/>
      <dgm:spPr/>
      <dgm:t>
        <a:bodyPr/>
        <a:lstStyle/>
        <a:p>
          <a:r>
            <a:rPr lang="en-US" dirty="0"/>
            <a:t>Calculate TPR-FPR</a:t>
          </a:r>
        </a:p>
      </dgm:t>
    </dgm:pt>
    <dgm:pt modelId="{D4C97D23-EE2E-4CF8-BED6-89AB01FDFEAF}" type="parTrans" cxnId="{591B33D0-60CF-473B-B914-A867C895D718}">
      <dgm:prSet/>
      <dgm:spPr/>
      <dgm:t>
        <a:bodyPr/>
        <a:lstStyle/>
        <a:p>
          <a:endParaRPr lang="en-US"/>
        </a:p>
      </dgm:t>
    </dgm:pt>
    <dgm:pt modelId="{64FB6077-9B62-4A97-A1EE-BEDFE8EC47A2}" type="sibTrans" cxnId="{591B33D0-60CF-473B-B914-A867C895D718}">
      <dgm:prSet/>
      <dgm:spPr/>
      <dgm:t>
        <a:bodyPr/>
        <a:lstStyle/>
        <a:p>
          <a:endParaRPr lang="en-US"/>
        </a:p>
      </dgm:t>
    </dgm:pt>
    <dgm:pt modelId="{44146631-99F8-410B-B8AD-2CDA93B84D94}">
      <dgm:prSet/>
      <dgm:spPr/>
      <dgm:t>
        <a:bodyPr/>
        <a:lstStyle/>
        <a:p>
          <a:r>
            <a:rPr lang="en-US"/>
            <a:t>calculate TPR-FPR </a:t>
          </a:r>
        </a:p>
      </dgm:t>
    </dgm:pt>
    <dgm:pt modelId="{766D2624-DFD3-43D6-87FB-31824CD62612}" type="parTrans" cxnId="{AA648A38-7984-481B-833F-FE65E4CBB81D}">
      <dgm:prSet/>
      <dgm:spPr/>
      <dgm:t>
        <a:bodyPr/>
        <a:lstStyle/>
        <a:p>
          <a:endParaRPr lang="en-US"/>
        </a:p>
      </dgm:t>
    </dgm:pt>
    <dgm:pt modelId="{CA1E04C0-67C1-438E-B7A0-DAF820EA108C}" type="sibTrans" cxnId="{AA648A38-7984-481B-833F-FE65E4CBB81D}">
      <dgm:prSet/>
      <dgm:spPr/>
      <dgm:t>
        <a:bodyPr/>
        <a:lstStyle/>
        <a:p>
          <a:endParaRPr lang="en-US"/>
        </a:p>
      </dgm:t>
    </dgm:pt>
    <dgm:pt modelId="{B475EA92-0C13-4ACD-BF53-3DE9885F840B}">
      <dgm:prSet/>
      <dgm:spPr/>
      <dgm:t>
        <a:bodyPr/>
        <a:lstStyle/>
        <a:p>
          <a:r>
            <a:rPr lang="en-US" dirty="0"/>
            <a:t>Find optimal cutoff ratio</a:t>
          </a:r>
        </a:p>
      </dgm:t>
    </dgm:pt>
    <dgm:pt modelId="{FB2550D5-E5C1-4392-9740-B143D5C0261E}" type="parTrans" cxnId="{08686FD9-DC9C-441B-88D3-260510FEDB75}">
      <dgm:prSet/>
      <dgm:spPr/>
      <dgm:t>
        <a:bodyPr/>
        <a:lstStyle/>
        <a:p>
          <a:endParaRPr lang="en-US"/>
        </a:p>
      </dgm:t>
    </dgm:pt>
    <dgm:pt modelId="{992CCC70-BDDE-47C9-9E10-E191779B77D2}" type="sibTrans" cxnId="{08686FD9-DC9C-441B-88D3-260510FEDB75}">
      <dgm:prSet/>
      <dgm:spPr/>
      <dgm:t>
        <a:bodyPr/>
        <a:lstStyle/>
        <a:p>
          <a:endParaRPr lang="en-US"/>
        </a:p>
      </dgm:t>
    </dgm:pt>
    <dgm:pt modelId="{B59420EE-4C2E-4C17-A2FB-65795E7F9498}">
      <dgm:prSet/>
      <dgm:spPr/>
      <dgm:t>
        <a:bodyPr/>
        <a:lstStyle/>
        <a:p>
          <a:r>
            <a:rPr lang="en-US"/>
            <a:t>find cutoff ratio which has the highest value for TPR-FPR (= the optimal cutoff ratio)</a:t>
          </a:r>
        </a:p>
      </dgm:t>
    </dgm:pt>
    <dgm:pt modelId="{A4B68544-1FA0-44A0-B0D7-C6CD593439A0}" type="parTrans" cxnId="{942DFFBC-8E81-4A6B-B690-CBC7E4B5C62D}">
      <dgm:prSet/>
      <dgm:spPr/>
      <dgm:t>
        <a:bodyPr/>
        <a:lstStyle/>
        <a:p>
          <a:endParaRPr lang="en-US"/>
        </a:p>
      </dgm:t>
    </dgm:pt>
    <dgm:pt modelId="{572962B8-46E7-4394-BACE-6C2382A83D54}" type="sibTrans" cxnId="{942DFFBC-8E81-4A6B-B690-CBC7E4B5C62D}">
      <dgm:prSet/>
      <dgm:spPr/>
      <dgm:t>
        <a:bodyPr/>
        <a:lstStyle/>
        <a:p>
          <a:endParaRPr lang="en-US"/>
        </a:p>
      </dgm:t>
    </dgm:pt>
    <dgm:pt modelId="{3482D5A5-AC22-41E7-9774-7CE6216B3A13}">
      <dgm:prSet/>
      <dgm:spPr/>
      <dgm:t>
        <a:bodyPr/>
        <a:lstStyle/>
        <a:p>
          <a:r>
            <a:rPr lang="en-US" dirty="0"/>
            <a:t>Plot TPR-FPR</a:t>
          </a:r>
        </a:p>
      </dgm:t>
    </dgm:pt>
    <dgm:pt modelId="{2F81D6E6-9A4D-43ED-B6A4-3AE88985EA3F}" type="parTrans" cxnId="{B40E6B43-2A74-4FB6-B017-A218A20F7C37}">
      <dgm:prSet/>
      <dgm:spPr/>
      <dgm:t>
        <a:bodyPr/>
        <a:lstStyle/>
        <a:p>
          <a:endParaRPr lang="en-US"/>
        </a:p>
      </dgm:t>
    </dgm:pt>
    <dgm:pt modelId="{33A24840-E41D-4B8D-ABE0-B21328FD624B}" type="sibTrans" cxnId="{B40E6B43-2A74-4FB6-B017-A218A20F7C37}">
      <dgm:prSet/>
      <dgm:spPr/>
      <dgm:t>
        <a:bodyPr/>
        <a:lstStyle/>
        <a:p>
          <a:endParaRPr lang="en-US"/>
        </a:p>
      </dgm:t>
    </dgm:pt>
    <dgm:pt modelId="{6F79D638-19E5-4630-9897-4D5E826D2538}">
      <dgm:prSet/>
      <dgm:spPr/>
      <dgm:t>
        <a:bodyPr/>
        <a:lstStyle/>
        <a:p>
          <a:r>
            <a:rPr lang="en-US"/>
            <a:t>Plot log2 ratio and TPR-FPR (see line-plot – cutoff will be the highest point)</a:t>
          </a:r>
        </a:p>
      </dgm:t>
    </dgm:pt>
    <dgm:pt modelId="{33D1CE24-050D-4C4B-B080-08033B7989EC}" type="parTrans" cxnId="{BE271BC1-70EA-40F9-B8C7-EAED1736B773}">
      <dgm:prSet/>
      <dgm:spPr/>
      <dgm:t>
        <a:bodyPr/>
        <a:lstStyle/>
        <a:p>
          <a:endParaRPr lang="en-US"/>
        </a:p>
      </dgm:t>
    </dgm:pt>
    <dgm:pt modelId="{5152D2A5-210C-44C0-A0E1-685A6D6EFB14}" type="sibTrans" cxnId="{BE271BC1-70EA-40F9-B8C7-EAED1736B773}">
      <dgm:prSet/>
      <dgm:spPr/>
      <dgm:t>
        <a:bodyPr/>
        <a:lstStyle/>
        <a:p>
          <a:endParaRPr lang="en-US"/>
        </a:p>
      </dgm:t>
    </dgm:pt>
    <dgm:pt modelId="{1E87AC02-BC07-5F4E-BDE4-BD62E11E3937}" type="pres">
      <dgm:prSet presAssocID="{EBFE8ECD-4AA0-4B75-94A3-C6E661383597}" presName="Name0" presStyleCnt="0">
        <dgm:presLayoutVars>
          <dgm:dir/>
          <dgm:animLvl val="lvl"/>
          <dgm:resizeHandles val="exact"/>
        </dgm:presLayoutVars>
      </dgm:prSet>
      <dgm:spPr/>
    </dgm:pt>
    <dgm:pt modelId="{2065FCB8-7D5B-E14B-8B6B-5ABD81334D57}" type="pres">
      <dgm:prSet presAssocID="{3482D5A5-AC22-41E7-9774-7CE6216B3A13}" presName="boxAndChildren" presStyleCnt="0"/>
      <dgm:spPr/>
    </dgm:pt>
    <dgm:pt modelId="{4137B9D4-569D-CD46-A8E4-E718893A5565}" type="pres">
      <dgm:prSet presAssocID="{3482D5A5-AC22-41E7-9774-7CE6216B3A13}" presName="parentTextBox" presStyleLbl="alignNode1" presStyleIdx="0" presStyleCnt="7"/>
      <dgm:spPr/>
    </dgm:pt>
    <dgm:pt modelId="{1F69636C-7160-B84D-8C27-7C268D684902}" type="pres">
      <dgm:prSet presAssocID="{3482D5A5-AC22-41E7-9774-7CE6216B3A13}" presName="descendantBox" presStyleLbl="bgAccFollowNode1" presStyleIdx="0" presStyleCnt="7"/>
      <dgm:spPr/>
    </dgm:pt>
    <dgm:pt modelId="{ADD480E4-0F6A-FB4E-86AC-CDC3760AD68C}" type="pres">
      <dgm:prSet presAssocID="{992CCC70-BDDE-47C9-9E10-E191779B77D2}" presName="sp" presStyleCnt="0"/>
      <dgm:spPr/>
    </dgm:pt>
    <dgm:pt modelId="{B184270A-01DB-2A45-A396-9E7ED3B72579}" type="pres">
      <dgm:prSet presAssocID="{B475EA92-0C13-4ACD-BF53-3DE9885F840B}" presName="arrowAndChildren" presStyleCnt="0"/>
      <dgm:spPr/>
    </dgm:pt>
    <dgm:pt modelId="{C72F706F-BA1C-294B-99C3-EC09D06AE545}" type="pres">
      <dgm:prSet presAssocID="{B475EA92-0C13-4ACD-BF53-3DE9885F840B}" presName="parentTextArrow" presStyleLbl="node1" presStyleIdx="0" presStyleCnt="0"/>
      <dgm:spPr/>
    </dgm:pt>
    <dgm:pt modelId="{0DA958DE-0FF6-9E43-BD13-B083407F0B5E}" type="pres">
      <dgm:prSet presAssocID="{B475EA92-0C13-4ACD-BF53-3DE9885F840B}" presName="arrow" presStyleLbl="alignNode1" presStyleIdx="1" presStyleCnt="7"/>
      <dgm:spPr/>
    </dgm:pt>
    <dgm:pt modelId="{7207183F-2690-5F4E-A239-3C73A900EFAC}" type="pres">
      <dgm:prSet presAssocID="{B475EA92-0C13-4ACD-BF53-3DE9885F840B}" presName="descendantArrow" presStyleLbl="bgAccFollowNode1" presStyleIdx="1" presStyleCnt="7"/>
      <dgm:spPr/>
    </dgm:pt>
    <dgm:pt modelId="{7251BBFB-3B78-C447-914E-B9C6233F68D8}" type="pres">
      <dgm:prSet presAssocID="{64FB6077-9B62-4A97-A1EE-BEDFE8EC47A2}" presName="sp" presStyleCnt="0"/>
      <dgm:spPr/>
    </dgm:pt>
    <dgm:pt modelId="{FF1569C0-9E5E-244E-8710-CA45F8EACED8}" type="pres">
      <dgm:prSet presAssocID="{A85124D4-5DF5-4566-8C27-D24C50DCCDB9}" presName="arrowAndChildren" presStyleCnt="0"/>
      <dgm:spPr/>
    </dgm:pt>
    <dgm:pt modelId="{885EFDEE-C8C8-2742-8A95-84C2D1CBC9AF}" type="pres">
      <dgm:prSet presAssocID="{A85124D4-5DF5-4566-8C27-D24C50DCCDB9}" presName="parentTextArrow" presStyleLbl="node1" presStyleIdx="0" presStyleCnt="0"/>
      <dgm:spPr/>
    </dgm:pt>
    <dgm:pt modelId="{E94AF108-8636-9548-8D57-FDA72F5A1988}" type="pres">
      <dgm:prSet presAssocID="{A85124D4-5DF5-4566-8C27-D24C50DCCDB9}" presName="arrow" presStyleLbl="alignNode1" presStyleIdx="2" presStyleCnt="7"/>
      <dgm:spPr/>
    </dgm:pt>
    <dgm:pt modelId="{F57CC6EA-6F89-634E-90D7-C2A5D1D1ECCF}" type="pres">
      <dgm:prSet presAssocID="{A85124D4-5DF5-4566-8C27-D24C50DCCDB9}" presName="descendantArrow" presStyleLbl="bgAccFollowNode1" presStyleIdx="2" presStyleCnt="7"/>
      <dgm:spPr/>
    </dgm:pt>
    <dgm:pt modelId="{C9E8449E-504D-CE4F-9C1D-DE5EBC23E6E3}" type="pres">
      <dgm:prSet presAssocID="{C681D962-C29C-4DFD-90D4-F74E02608C7C}" presName="sp" presStyleCnt="0"/>
      <dgm:spPr/>
    </dgm:pt>
    <dgm:pt modelId="{06C25277-7EBA-6245-8E22-65F2120720B7}" type="pres">
      <dgm:prSet presAssocID="{4477CE24-A1CB-43F7-BE25-0CACC51CEDA3}" presName="arrowAndChildren" presStyleCnt="0"/>
      <dgm:spPr/>
    </dgm:pt>
    <dgm:pt modelId="{351DBE11-9338-D94B-9200-7FA6C657B490}" type="pres">
      <dgm:prSet presAssocID="{4477CE24-A1CB-43F7-BE25-0CACC51CEDA3}" presName="parentTextArrow" presStyleLbl="node1" presStyleIdx="0" presStyleCnt="0"/>
      <dgm:spPr/>
    </dgm:pt>
    <dgm:pt modelId="{4F87AFB3-5B34-3F44-9D40-D8B4AD20BFF9}" type="pres">
      <dgm:prSet presAssocID="{4477CE24-A1CB-43F7-BE25-0CACC51CEDA3}" presName="arrow" presStyleLbl="alignNode1" presStyleIdx="3" presStyleCnt="7"/>
      <dgm:spPr/>
    </dgm:pt>
    <dgm:pt modelId="{6A2ECFB4-CF08-6E41-BFE5-581FFCDD6AA3}" type="pres">
      <dgm:prSet presAssocID="{4477CE24-A1CB-43F7-BE25-0CACC51CEDA3}" presName="descendantArrow" presStyleLbl="bgAccFollowNode1" presStyleIdx="3" presStyleCnt="7"/>
      <dgm:spPr/>
    </dgm:pt>
    <dgm:pt modelId="{F626C5A3-F272-6049-A391-1E534E5606B7}" type="pres">
      <dgm:prSet presAssocID="{EA628C7C-502B-4867-B3E0-4B85687993B6}" presName="sp" presStyleCnt="0"/>
      <dgm:spPr/>
    </dgm:pt>
    <dgm:pt modelId="{F428157A-D61E-4D49-AA28-2C61E15CE5AE}" type="pres">
      <dgm:prSet presAssocID="{7A49F28F-4D7B-48D0-863D-4D062513B45F}" presName="arrowAndChildren" presStyleCnt="0"/>
      <dgm:spPr/>
    </dgm:pt>
    <dgm:pt modelId="{4F4D0175-1209-014F-9ED9-A233F24D0FF2}" type="pres">
      <dgm:prSet presAssocID="{7A49F28F-4D7B-48D0-863D-4D062513B45F}" presName="parentTextArrow" presStyleLbl="node1" presStyleIdx="0" presStyleCnt="0"/>
      <dgm:spPr/>
    </dgm:pt>
    <dgm:pt modelId="{6E5CF41C-DBF3-5343-AC8B-CE70A56FA296}" type="pres">
      <dgm:prSet presAssocID="{7A49F28F-4D7B-48D0-863D-4D062513B45F}" presName="arrow" presStyleLbl="alignNode1" presStyleIdx="4" presStyleCnt="7"/>
      <dgm:spPr/>
    </dgm:pt>
    <dgm:pt modelId="{C1C998A4-10D6-C24C-9CBC-5AA9FF1D3DF2}" type="pres">
      <dgm:prSet presAssocID="{7A49F28F-4D7B-48D0-863D-4D062513B45F}" presName="descendantArrow" presStyleLbl="bgAccFollowNode1" presStyleIdx="4" presStyleCnt="7"/>
      <dgm:spPr/>
    </dgm:pt>
    <dgm:pt modelId="{D1D6802B-67E9-C54A-9B19-DC14246FD554}" type="pres">
      <dgm:prSet presAssocID="{5D44E006-378E-4245-9E4A-DF1717473AE4}" presName="sp" presStyleCnt="0"/>
      <dgm:spPr/>
    </dgm:pt>
    <dgm:pt modelId="{8FFDFE08-764F-0A41-B339-3F9B519EE97D}" type="pres">
      <dgm:prSet presAssocID="{1890A9BC-7214-47C8-9114-399E2E3C4F94}" presName="arrowAndChildren" presStyleCnt="0"/>
      <dgm:spPr/>
    </dgm:pt>
    <dgm:pt modelId="{0AAC0FDA-85C9-7F4F-831C-5B5E5BD4ED1A}" type="pres">
      <dgm:prSet presAssocID="{1890A9BC-7214-47C8-9114-399E2E3C4F94}" presName="parentTextArrow" presStyleLbl="node1" presStyleIdx="0" presStyleCnt="0"/>
      <dgm:spPr/>
    </dgm:pt>
    <dgm:pt modelId="{B165849C-0200-4F48-8259-36B41E72D230}" type="pres">
      <dgm:prSet presAssocID="{1890A9BC-7214-47C8-9114-399E2E3C4F94}" presName="arrow" presStyleLbl="alignNode1" presStyleIdx="5" presStyleCnt="7"/>
      <dgm:spPr/>
    </dgm:pt>
    <dgm:pt modelId="{3F936231-89EF-1141-8D8C-75EB05FF2354}" type="pres">
      <dgm:prSet presAssocID="{1890A9BC-7214-47C8-9114-399E2E3C4F94}" presName="descendantArrow" presStyleLbl="bgAccFollowNode1" presStyleIdx="5" presStyleCnt="7"/>
      <dgm:spPr/>
    </dgm:pt>
    <dgm:pt modelId="{110A518D-DC29-2542-91CF-FCDCFD2B3D8B}" type="pres">
      <dgm:prSet presAssocID="{9CA71EFA-7E03-4F07-85E0-FE73337DD6B3}" presName="sp" presStyleCnt="0"/>
      <dgm:spPr/>
    </dgm:pt>
    <dgm:pt modelId="{70CD28AB-511A-0945-A0CB-2F5FD015FFE6}" type="pres">
      <dgm:prSet presAssocID="{682EEA16-E07E-46B5-B226-54448F4253D5}" presName="arrowAndChildren" presStyleCnt="0"/>
      <dgm:spPr/>
    </dgm:pt>
    <dgm:pt modelId="{3BB37A41-CA1E-B446-A1CA-707B4B143F03}" type="pres">
      <dgm:prSet presAssocID="{682EEA16-E07E-46B5-B226-54448F4253D5}" presName="parentTextArrow" presStyleLbl="node1" presStyleIdx="0" presStyleCnt="0"/>
      <dgm:spPr/>
    </dgm:pt>
    <dgm:pt modelId="{34FC2782-AD91-494D-A0A1-4F554DE75383}" type="pres">
      <dgm:prSet presAssocID="{682EEA16-E07E-46B5-B226-54448F4253D5}" presName="arrow" presStyleLbl="alignNode1" presStyleIdx="6" presStyleCnt="7"/>
      <dgm:spPr/>
    </dgm:pt>
    <dgm:pt modelId="{99F3E6EC-BD72-8C41-9C3A-2219AF96FB0F}" type="pres">
      <dgm:prSet presAssocID="{682EEA16-E07E-46B5-B226-54448F4253D5}" presName="descendantArrow" presStyleLbl="bgAccFollowNode1" presStyleIdx="6" presStyleCnt="7"/>
      <dgm:spPr/>
    </dgm:pt>
  </dgm:ptLst>
  <dgm:cxnLst>
    <dgm:cxn modelId="{B374FA02-8E57-A044-AF54-E32B91A52FC0}" type="presOf" srcId="{B475EA92-0C13-4ACD-BF53-3DE9885F840B}" destId="{C72F706F-BA1C-294B-99C3-EC09D06AE545}" srcOrd="0" destOrd="0" presId="urn:microsoft.com/office/officeart/2016/7/layout/VerticalDownArrowProcess"/>
    <dgm:cxn modelId="{6681200C-7949-4B28-B422-7CF0F65AE94F}" srcId="{7A49F28F-4D7B-48D0-863D-4D062513B45F}" destId="{929A34AA-11C7-4F19-A6D3-5C7DE5BEE86A}" srcOrd="0" destOrd="0" parTransId="{5CC8BE32-8D1B-42E0-9B84-2C92C43FDD61}" sibTransId="{F36CE4EA-6A6F-4512-9B3F-F340E774DA49}"/>
    <dgm:cxn modelId="{F4A62115-37B8-4470-97A0-026257656920}" srcId="{1890A9BC-7214-47C8-9114-399E2E3C4F94}" destId="{858DDD9E-EDAD-43D7-9EA0-A633FFE0AEFE}" srcOrd="0" destOrd="0" parTransId="{09F6073F-6394-4AF8-8F19-23D222F85740}" sibTransId="{1C4B2589-961F-44F2-8596-A0210151CF3E}"/>
    <dgm:cxn modelId="{8A38E018-368A-E44D-A86B-C84174049D91}" type="presOf" srcId="{A85124D4-5DF5-4566-8C27-D24C50DCCDB9}" destId="{885EFDEE-C8C8-2742-8A95-84C2D1CBC9AF}" srcOrd="0" destOrd="0" presId="urn:microsoft.com/office/officeart/2016/7/layout/VerticalDownArrowProcess"/>
    <dgm:cxn modelId="{87B0531B-9C69-2A47-8713-2265EB49D881}" type="presOf" srcId="{6F79D638-19E5-4630-9897-4D5E826D2538}" destId="{1F69636C-7160-B84D-8C27-7C268D684902}" srcOrd="0" destOrd="0" presId="urn:microsoft.com/office/officeart/2016/7/layout/VerticalDownArrowProcess"/>
    <dgm:cxn modelId="{691FF720-BA63-B247-81E9-04B79BDE926D}" type="presOf" srcId="{1890A9BC-7214-47C8-9114-399E2E3C4F94}" destId="{B165849C-0200-4F48-8259-36B41E72D230}" srcOrd="1" destOrd="0" presId="urn:microsoft.com/office/officeart/2016/7/layout/VerticalDownArrowProcess"/>
    <dgm:cxn modelId="{14F07128-0C0F-3349-AE97-C9C0510E5B7B}" type="presOf" srcId="{A85124D4-5DF5-4566-8C27-D24C50DCCDB9}" destId="{E94AF108-8636-9548-8D57-FDA72F5A1988}" srcOrd="1" destOrd="0" presId="urn:microsoft.com/office/officeart/2016/7/layout/VerticalDownArrowProcess"/>
    <dgm:cxn modelId="{01E0C336-CCC5-4A55-9FED-3E8899FF1161}" srcId="{EBFE8ECD-4AA0-4B75-94A3-C6E661383597}" destId="{7A49F28F-4D7B-48D0-863D-4D062513B45F}" srcOrd="2" destOrd="0" parTransId="{078967D4-4E0B-425C-AAF5-6F98B8967537}" sibTransId="{EA628C7C-502B-4867-B3E0-4B85687993B6}"/>
    <dgm:cxn modelId="{AA648A38-7984-481B-833F-FE65E4CBB81D}" srcId="{A85124D4-5DF5-4566-8C27-D24C50DCCDB9}" destId="{44146631-99F8-410B-B8AD-2CDA93B84D94}" srcOrd="0" destOrd="0" parTransId="{766D2624-DFD3-43D6-87FB-31824CD62612}" sibTransId="{CA1E04C0-67C1-438E-B7A0-DAF820EA108C}"/>
    <dgm:cxn modelId="{0F4DCF38-E515-9846-A8A1-14EED15E4D39}" type="presOf" srcId="{682EEA16-E07E-46B5-B226-54448F4253D5}" destId="{34FC2782-AD91-494D-A0A1-4F554DE75383}" srcOrd="1" destOrd="0" presId="urn:microsoft.com/office/officeart/2016/7/layout/VerticalDownArrowProcess"/>
    <dgm:cxn modelId="{E4A9493C-30B8-457E-927E-58F4AF9FF535}" srcId="{EBFE8ECD-4AA0-4B75-94A3-C6E661383597}" destId="{682EEA16-E07E-46B5-B226-54448F4253D5}" srcOrd="0" destOrd="0" parTransId="{D0A4DB90-0D03-4B0C-87B2-14ACFF45C471}" sibTransId="{9CA71EFA-7E03-4F07-85E0-FE73337DD6B3}"/>
    <dgm:cxn modelId="{B40E6B43-2A74-4FB6-B017-A218A20F7C37}" srcId="{EBFE8ECD-4AA0-4B75-94A3-C6E661383597}" destId="{3482D5A5-AC22-41E7-9774-7CE6216B3A13}" srcOrd="6" destOrd="0" parTransId="{2F81D6E6-9A4D-43ED-B6A4-3AE88985EA3F}" sibTransId="{33A24840-E41D-4B8D-ABE0-B21328FD624B}"/>
    <dgm:cxn modelId="{A9B74844-BB7E-4446-A712-7A997E8735D8}" type="presOf" srcId="{B59420EE-4C2E-4C17-A2FB-65795E7F9498}" destId="{7207183F-2690-5F4E-A239-3C73A900EFAC}" srcOrd="0" destOrd="0" presId="urn:microsoft.com/office/officeart/2016/7/layout/VerticalDownArrowProcess"/>
    <dgm:cxn modelId="{8C0F5645-C357-1B49-A4A6-1B26B3CA75D9}" type="presOf" srcId="{7A49F28F-4D7B-48D0-863D-4D062513B45F}" destId="{6E5CF41C-DBF3-5343-AC8B-CE70A56FA296}" srcOrd="1" destOrd="0" presId="urn:microsoft.com/office/officeart/2016/7/layout/VerticalDownArrowProcess"/>
    <dgm:cxn modelId="{39375548-5CBB-6145-A026-170A60A7934C}" type="presOf" srcId="{3482D5A5-AC22-41E7-9774-7CE6216B3A13}" destId="{4137B9D4-569D-CD46-A8E4-E718893A5565}" srcOrd="0" destOrd="0" presId="urn:microsoft.com/office/officeart/2016/7/layout/VerticalDownArrowProcess"/>
    <dgm:cxn modelId="{AC60545B-6C7C-7E45-BF23-2C01708C337E}" type="presOf" srcId="{858DDD9E-EDAD-43D7-9EA0-A633FFE0AEFE}" destId="{3F936231-89EF-1141-8D8C-75EB05FF2354}" srcOrd="0" destOrd="0" presId="urn:microsoft.com/office/officeart/2016/7/layout/VerticalDownArrowProcess"/>
    <dgm:cxn modelId="{D97F616C-42F2-F645-8211-BDBA0750E0BB}" type="presOf" srcId="{5C30FF08-7CAF-4135-BF35-5B776C1B548D}" destId="{99F3E6EC-BD72-8C41-9C3A-2219AF96FB0F}" srcOrd="0" destOrd="0" presId="urn:microsoft.com/office/officeart/2016/7/layout/VerticalDownArrowProcess"/>
    <dgm:cxn modelId="{A70C586E-55F5-164A-BC05-AF6E09CD87A6}" type="presOf" srcId="{1890A9BC-7214-47C8-9114-399E2E3C4F94}" destId="{0AAC0FDA-85C9-7F4F-831C-5B5E5BD4ED1A}" srcOrd="0" destOrd="0" presId="urn:microsoft.com/office/officeart/2016/7/layout/VerticalDownArrowProcess"/>
    <dgm:cxn modelId="{30168972-1DCD-924A-8C00-120E2706F8C3}" type="presOf" srcId="{4477CE24-A1CB-43F7-BE25-0CACC51CEDA3}" destId="{4F87AFB3-5B34-3F44-9D40-D8B4AD20BFF9}" srcOrd="1" destOrd="0" presId="urn:microsoft.com/office/officeart/2016/7/layout/VerticalDownArrowProcess"/>
    <dgm:cxn modelId="{CF387883-F8F7-D84C-B798-C2D1712818DA}" type="presOf" srcId="{B475EA92-0C13-4ACD-BF53-3DE9885F840B}" destId="{0DA958DE-0FF6-9E43-BD13-B083407F0B5E}" srcOrd="1" destOrd="0" presId="urn:microsoft.com/office/officeart/2016/7/layout/VerticalDownArrowProcess"/>
    <dgm:cxn modelId="{E0A8DB88-125E-4F4F-A82B-678AF62885C8}" srcId="{EBFE8ECD-4AA0-4B75-94A3-C6E661383597}" destId="{4477CE24-A1CB-43F7-BE25-0CACC51CEDA3}" srcOrd="3" destOrd="0" parTransId="{70619F77-F666-4CDD-9705-4EBFAE08FFD9}" sibTransId="{C681D962-C29C-4DFD-90D4-F74E02608C7C}"/>
    <dgm:cxn modelId="{4A7FE989-1A1D-DE44-9A9A-0C3DC16922AA}" type="presOf" srcId="{682EEA16-E07E-46B5-B226-54448F4253D5}" destId="{3BB37A41-CA1E-B446-A1CA-707B4B143F03}" srcOrd="0" destOrd="0" presId="urn:microsoft.com/office/officeart/2016/7/layout/VerticalDownArrowProcess"/>
    <dgm:cxn modelId="{38A61FAD-597A-4777-AEB1-0E3944349FDF}" srcId="{4477CE24-A1CB-43F7-BE25-0CACC51CEDA3}" destId="{9A2B8896-0DFC-4EDD-BE72-A8363E1FA8CB}" srcOrd="0" destOrd="0" parTransId="{B57A219F-8E1E-4940-8DDF-14CC54FF62C0}" sibTransId="{F6C98CC2-42B5-4D9F-A09D-D71068F72660}"/>
    <dgm:cxn modelId="{942DFFBC-8E81-4A6B-B690-CBC7E4B5C62D}" srcId="{B475EA92-0C13-4ACD-BF53-3DE9885F840B}" destId="{B59420EE-4C2E-4C17-A2FB-65795E7F9498}" srcOrd="0" destOrd="0" parTransId="{A4B68544-1FA0-44A0-B0D7-C6CD593439A0}" sibTransId="{572962B8-46E7-4394-BACE-6C2382A83D54}"/>
    <dgm:cxn modelId="{BE271BC1-70EA-40F9-B8C7-EAED1736B773}" srcId="{3482D5A5-AC22-41E7-9774-7CE6216B3A13}" destId="{6F79D638-19E5-4630-9897-4D5E826D2538}" srcOrd="0" destOrd="0" parTransId="{33D1CE24-050D-4C4B-B080-08033B7989EC}" sibTransId="{5152D2A5-210C-44C0-A0E1-685A6D6EFB14}"/>
    <dgm:cxn modelId="{F8EFD0C2-DECF-4068-AB81-B49F1CB17262}" srcId="{682EEA16-E07E-46B5-B226-54448F4253D5}" destId="{5C30FF08-7CAF-4135-BF35-5B776C1B548D}" srcOrd="0" destOrd="0" parTransId="{A62BF4E0-FDAF-4BA9-A211-A8D471431D98}" sibTransId="{39D89015-C942-454C-928F-50B945CD0CBC}"/>
    <dgm:cxn modelId="{062757C3-26D4-4D45-9BD4-F88EA2973DFA}" srcId="{EBFE8ECD-4AA0-4B75-94A3-C6E661383597}" destId="{1890A9BC-7214-47C8-9114-399E2E3C4F94}" srcOrd="1" destOrd="0" parTransId="{338DB7B5-85C7-4767-AF5A-387ED5922DC4}" sibTransId="{5D44E006-378E-4245-9E4A-DF1717473AE4}"/>
    <dgm:cxn modelId="{69D39DCB-D255-8249-986D-0909C03BEDA8}" type="presOf" srcId="{EBFE8ECD-4AA0-4B75-94A3-C6E661383597}" destId="{1E87AC02-BC07-5F4E-BDE4-BD62E11E3937}" srcOrd="0" destOrd="0" presId="urn:microsoft.com/office/officeart/2016/7/layout/VerticalDownArrowProcess"/>
    <dgm:cxn modelId="{3919AECC-FCFC-674D-B6CE-F98E28AF0A12}" type="presOf" srcId="{7A49F28F-4D7B-48D0-863D-4D062513B45F}" destId="{4F4D0175-1209-014F-9ED9-A233F24D0FF2}" srcOrd="0" destOrd="0" presId="urn:microsoft.com/office/officeart/2016/7/layout/VerticalDownArrowProcess"/>
    <dgm:cxn modelId="{591B33D0-60CF-473B-B914-A867C895D718}" srcId="{EBFE8ECD-4AA0-4B75-94A3-C6E661383597}" destId="{A85124D4-5DF5-4566-8C27-D24C50DCCDB9}" srcOrd="4" destOrd="0" parTransId="{D4C97D23-EE2E-4CF8-BED6-89AB01FDFEAF}" sibTransId="{64FB6077-9B62-4A97-A1EE-BEDFE8EC47A2}"/>
    <dgm:cxn modelId="{EE81D5D7-DC45-144B-AC47-31565CAEBF45}" type="presOf" srcId="{929A34AA-11C7-4F19-A6D3-5C7DE5BEE86A}" destId="{C1C998A4-10D6-C24C-9CBC-5AA9FF1D3DF2}" srcOrd="0" destOrd="0" presId="urn:microsoft.com/office/officeart/2016/7/layout/VerticalDownArrowProcess"/>
    <dgm:cxn modelId="{64686CD9-E957-E046-BF49-49E19FB62488}" type="presOf" srcId="{9A2B8896-0DFC-4EDD-BE72-A8363E1FA8CB}" destId="{6A2ECFB4-CF08-6E41-BFE5-581FFCDD6AA3}" srcOrd="0" destOrd="0" presId="urn:microsoft.com/office/officeart/2016/7/layout/VerticalDownArrowProcess"/>
    <dgm:cxn modelId="{08686FD9-DC9C-441B-88D3-260510FEDB75}" srcId="{EBFE8ECD-4AA0-4B75-94A3-C6E661383597}" destId="{B475EA92-0C13-4ACD-BF53-3DE9885F840B}" srcOrd="5" destOrd="0" parTransId="{FB2550D5-E5C1-4392-9740-B143D5C0261E}" sibTransId="{992CCC70-BDDE-47C9-9E10-E191779B77D2}"/>
    <dgm:cxn modelId="{FA9EE7E0-7BF5-304F-9A4D-6B81539B52C5}" type="presOf" srcId="{4477CE24-A1CB-43F7-BE25-0CACC51CEDA3}" destId="{351DBE11-9338-D94B-9200-7FA6C657B490}" srcOrd="0" destOrd="0" presId="urn:microsoft.com/office/officeart/2016/7/layout/VerticalDownArrowProcess"/>
    <dgm:cxn modelId="{78793AE8-425A-8746-B391-C868556ACBAE}" type="presOf" srcId="{44146631-99F8-410B-B8AD-2CDA93B84D94}" destId="{F57CC6EA-6F89-634E-90D7-C2A5D1D1ECCF}" srcOrd="0" destOrd="0" presId="urn:microsoft.com/office/officeart/2016/7/layout/VerticalDownArrowProcess"/>
    <dgm:cxn modelId="{3DF2478B-4C4D-5C4B-AF71-EA7FBAE80468}" type="presParOf" srcId="{1E87AC02-BC07-5F4E-BDE4-BD62E11E3937}" destId="{2065FCB8-7D5B-E14B-8B6B-5ABD81334D57}" srcOrd="0" destOrd="0" presId="urn:microsoft.com/office/officeart/2016/7/layout/VerticalDownArrowProcess"/>
    <dgm:cxn modelId="{635763FB-3206-0E48-8AC4-776D590BC69B}" type="presParOf" srcId="{2065FCB8-7D5B-E14B-8B6B-5ABD81334D57}" destId="{4137B9D4-569D-CD46-A8E4-E718893A5565}" srcOrd="0" destOrd="0" presId="urn:microsoft.com/office/officeart/2016/7/layout/VerticalDownArrowProcess"/>
    <dgm:cxn modelId="{A91ECEC5-D1B2-EF49-909D-389CE889302D}" type="presParOf" srcId="{2065FCB8-7D5B-E14B-8B6B-5ABD81334D57}" destId="{1F69636C-7160-B84D-8C27-7C268D684902}" srcOrd="1" destOrd="0" presId="urn:microsoft.com/office/officeart/2016/7/layout/VerticalDownArrowProcess"/>
    <dgm:cxn modelId="{F0594E0C-15E9-D242-B80C-C2A5A8296748}" type="presParOf" srcId="{1E87AC02-BC07-5F4E-BDE4-BD62E11E3937}" destId="{ADD480E4-0F6A-FB4E-86AC-CDC3760AD68C}" srcOrd="1" destOrd="0" presId="urn:microsoft.com/office/officeart/2016/7/layout/VerticalDownArrowProcess"/>
    <dgm:cxn modelId="{D09AB17A-7262-D145-9E3A-60F6A5B71EE4}" type="presParOf" srcId="{1E87AC02-BC07-5F4E-BDE4-BD62E11E3937}" destId="{B184270A-01DB-2A45-A396-9E7ED3B72579}" srcOrd="2" destOrd="0" presId="urn:microsoft.com/office/officeart/2016/7/layout/VerticalDownArrowProcess"/>
    <dgm:cxn modelId="{142457AC-699C-DF43-BD71-3C46C79132AE}" type="presParOf" srcId="{B184270A-01DB-2A45-A396-9E7ED3B72579}" destId="{C72F706F-BA1C-294B-99C3-EC09D06AE545}" srcOrd="0" destOrd="0" presId="urn:microsoft.com/office/officeart/2016/7/layout/VerticalDownArrowProcess"/>
    <dgm:cxn modelId="{DE0C32A1-8810-1A40-9020-D6016E65DE38}" type="presParOf" srcId="{B184270A-01DB-2A45-A396-9E7ED3B72579}" destId="{0DA958DE-0FF6-9E43-BD13-B083407F0B5E}" srcOrd="1" destOrd="0" presId="urn:microsoft.com/office/officeart/2016/7/layout/VerticalDownArrowProcess"/>
    <dgm:cxn modelId="{69FE3928-17BB-504C-BEDF-BE9E5E9A1BDC}" type="presParOf" srcId="{B184270A-01DB-2A45-A396-9E7ED3B72579}" destId="{7207183F-2690-5F4E-A239-3C73A900EFAC}" srcOrd="2" destOrd="0" presId="urn:microsoft.com/office/officeart/2016/7/layout/VerticalDownArrowProcess"/>
    <dgm:cxn modelId="{535737FB-6A7D-AD4E-BDD8-ED1087F14112}" type="presParOf" srcId="{1E87AC02-BC07-5F4E-BDE4-BD62E11E3937}" destId="{7251BBFB-3B78-C447-914E-B9C6233F68D8}" srcOrd="3" destOrd="0" presId="urn:microsoft.com/office/officeart/2016/7/layout/VerticalDownArrowProcess"/>
    <dgm:cxn modelId="{4F0D0227-908C-E540-BCB5-15A51ED5BB87}" type="presParOf" srcId="{1E87AC02-BC07-5F4E-BDE4-BD62E11E3937}" destId="{FF1569C0-9E5E-244E-8710-CA45F8EACED8}" srcOrd="4" destOrd="0" presId="urn:microsoft.com/office/officeart/2016/7/layout/VerticalDownArrowProcess"/>
    <dgm:cxn modelId="{46970C43-03DD-4D46-A254-81E15A819E4D}" type="presParOf" srcId="{FF1569C0-9E5E-244E-8710-CA45F8EACED8}" destId="{885EFDEE-C8C8-2742-8A95-84C2D1CBC9AF}" srcOrd="0" destOrd="0" presId="urn:microsoft.com/office/officeart/2016/7/layout/VerticalDownArrowProcess"/>
    <dgm:cxn modelId="{AC667CDF-32AA-2D40-BDA7-1FEA9B43D53A}" type="presParOf" srcId="{FF1569C0-9E5E-244E-8710-CA45F8EACED8}" destId="{E94AF108-8636-9548-8D57-FDA72F5A1988}" srcOrd="1" destOrd="0" presId="urn:microsoft.com/office/officeart/2016/7/layout/VerticalDownArrowProcess"/>
    <dgm:cxn modelId="{117BC8AC-263A-8F47-BAB1-89DD2D21311F}" type="presParOf" srcId="{FF1569C0-9E5E-244E-8710-CA45F8EACED8}" destId="{F57CC6EA-6F89-634E-90D7-C2A5D1D1ECCF}" srcOrd="2" destOrd="0" presId="urn:microsoft.com/office/officeart/2016/7/layout/VerticalDownArrowProcess"/>
    <dgm:cxn modelId="{4CD44851-50FB-A946-BF19-E9D0D532E7D3}" type="presParOf" srcId="{1E87AC02-BC07-5F4E-BDE4-BD62E11E3937}" destId="{C9E8449E-504D-CE4F-9C1D-DE5EBC23E6E3}" srcOrd="5" destOrd="0" presId="urn:microsoft.com/office/officeart/2016/7/layout/VerticalDownArrowProcess"/>
    <dgm:cxn modelId="{56CAD799-1F0E-9948-B700-AA5DF0279BA0}" type="presParOf" srcId="{1E87AC02-BC07-5F4E-BDE4-BD62E11E3937}" destId="{06C25277-7EBA-6245-8E22-65F2120720B7}" srcOrd="6" destOrd="0" presId="urn:microsoft.com/office/officeart/2016/7/layout/VerticalDownArrowProcess"/>
    <dgm:cxn modelId="{44C943DF-AA1B-D543-BC18-21B3275441FB}" type="presParOf" srcId="{06C25277-7EBA-6245-8E22-65F2120720B7}" destId="{351DBE11-9338-D94B-9200-7FA6C657B490}" srcOrd="0" destOrd="0" presId="urn:microsoft.com/office/officeart/2016/7/layout/VerticalDownArrowProcess"/>
    <dgm:cxn modelId="{C93EB1D2-FB36-DB40-886D-6CA1CCDF5907}" type="presParOf" srcId="{06C25277-7EBA-6245-8E22-65F2120720B7}" destId="{4F87AFB3-5B34-3F44-9D40-D8B4AD20BFF9}" srcOrd="1" destOrd="0" presId="urn:microsoft.com/office/officeart/2016/7/layout/VerticalDownArrowProcess"/>
    <dgm:cxn modelId="{F9CF0260-C4FA-7546-98D9-A4B3D11E3DF6}" type="presParOf" srcId="{06C25277-7EBA-6245-8E22-65F2120720B7}" destId="{6A2ECFB4-CF08-6E41-BFE5-581FFCDD6AA3}" srcOrd="2" destOrd="0" presId="urn:microsoft.com/office/officeart/2016/7/layout/VerticalDownArrowProcess"/>
    <dgm:cxn modelId="{92A34913-F102-654B-860F-EADA59AE15F4}" type="presParOf" srcId="{1E87AC02-BC07-5F4E-BDE4-BD62E11E3937}" destId="{F626C5A3-F272-6049-A391-1E534E5606B7}" srcOrd="7" destOrd="0" presId="urn:microsoft.com/office/officeart/2016/7/layout/VerticalDownArrowProcess"/>
    <dgm:cxn modelId="{736A2B24-7E03-A641-9C93-A199041F2BA2}" type="presParOf" srcId="{1E87AC02-BC07-5F4E-BDE4-BD62E11E3937}" destId="{F428157A-D61E-4D49-AA28-2C61E15CE5AE}" srcOrd="8" destOrd="0" presId="urn:microsoft.com/office/officeart/2016/7/layout/VerticalDownArrowProcess"/>
    <dgm:cxn modelId="{EAC22B97-4A45-BE4A-A282-04AD0AE006BC}" type="presParOf" srcId="{F428157A-D61E-4D49-AA28-2C61E15CE5AE}" destId="{4F4D0175-1209-014F-9ED9-A233F24D0FF2}" srcOrd="0" destOrd="0" presId="urn:microsoft.com/office/officeart/2016/7/layout/VerticalDownArrowProcess"/>
    <dgm:cxn modelId="{C689E4A1-6062-734A-9553-EBEC8DB4935A}" type="presParOf" srcId="{F428157A-D61E-4D49-AA28-2C61E15CE5AE}" destId="{6E5CF41C-DBF3-5343-AC8B-CE70A56FA296}" srcOrd="1" destOrd="0" presId="urn:microsoft.com/office/officeart/2016/7/layout/VerticalDownArrowProcess"/>
    <dgm:cxn modelId="{22580A31-F31C-BA4C-8C81-874515F36553}" type="presParOf" srcId="{F428157A-D61E-4D49-AA28-2C61E15CE5AE}" destId="{C1C998A4-10D6-C24C-9CBC-5AA9FF1D3DF2}" srcOrd="2" destOrd="0" presId="urn:microsoft.com/office/officeart/2016/7/layout/VerticalDownArrowProcess"/>
    <dgm:cxn modelId="{6C58C615-0DBE-B840-ADD4-6E1B4804D1B7}" type="presParOf" srcId="{1E87AC02-BC07-5F4E-BDE4-BD62E11E3937}" destId="{D1D6802B-67E9-C54A-9B19-DC14246FD554}" srcOrd="9" destOrd="0" presId="urn:microsoft.com/office/officeart/2016/7/layout/VerticalDownArrowProcess"/>
    <dgm:cxn modelId="{92EB91BB-8A54-D348-81F9-8E01E0C8E1BD}" type="presParOf" srcId="{1E87AC02-BC07-5F4E-BDE4-BD62E11E3937}" destId="{8FFDFE08-764F-0A41-B339-3F9B519EE97D}" srcOrd="10" destOrd="0" presId="urn:microsoft.com/office/officeart/2016/7/layout/VerticalDownArrowProcess"/>
    <dgm:cxn modelId="{C6D23E64-421E-2C41-A5A8-94F3452F2DA8}" type="presParOf" srcId="{8FFDFE08-764F-0A41-B339-3F9B519EE97D}" destId="{0AAC0FDA-85C9-7F4F-831C-5B5E5BD4ED1A}" srcOrd="0" destOrd="0" presId="urn:microsoft.com/office/officeart/2016/7/layout/VerticalDownArrowProcess"/>
    <dgm:cxn modelId="{BF860648-7272-0E4A-94A7-6C5254ADD758}" type="presParOf" srcId="{8FFDFE08-764F-0A41-B339-3F9B519EE97D}" destId="{B165849C-0200-4F48-8259-36B41E72D230}" srcOrd="1" destOrd="0" presId="urn:microsoft.com/office/officeart/2016/7/layout/VerticalDownArrowProcess"/>
    <dgm:cxn modelId="{5754E2C5-6E2F-884F-A7BC-AA71C116CF4E}" type="presParOf" srcId="{8FFDFE08-764F-0A41-B339-3F9B519EE97D}" destId="{3F936231-89EF-1141-8D8C-75EB05FF2354}" srcOrd="2" destOrd="0" presId="urn:microsoft.com/office/officeart/2016/7/layout/VerticalDownArrowProcess"/>
    <dgm:cxn modelId="{69A02E86-9E40-8649-9287-7875E6365F5D}" type="presParOf" srcId="{1E87AC02-BC07-5F4E-BDE4-BD62E11E3937}" destId="{110A518D-DC29-2542-91CF-FCDCFD2B3D8B}" srcOrd="11" destOrd="0" presId="urn:microsoft.com/office/officeart/2016/7/layout/VerticalDownArrowProcess"/>
    <dgm:cxn modelId="{6FB0E757-1022-734B-B401-A758D26300A9}" type="presParOf" srcId="{1E87AC02-BC07-5F4E-BDE4-BD62E11E3937}" destId="{70CD28AB-511A-0945-A0CB-2F5FD015FFE6}" srcOrd="12" destOrd="0" presId="urn:microsoft.com/office/officeart/2016/7/layout/VerticalDownArrowProcess"/>
    <dgm:cxn modelId="{E140DE46-EBD3-2242-9A13-F9E7FADE2036}" type="presParOf" srcId="{70CD28AB-511A-0945-A0CB-2F5FD015FFE6}" destId="{3BB37A41-CA1E-B446-A1CA-707B4B143F03}" srcOrd="0" destOrd="0" presId="urn:microsoft.com/office/officeart/2016/7/layout/VerticalDownArrowProcess"/>
    <dgm:cxn modelId="{A1BFB773-C093-BF42-A5D4-4649E8CECA56}" type="presParOf" srcId="{70CD28AB-511A-0945-A0CB-2F5FD015FFE6}" destId="{34FC2782-AD91-494D-A0A1-4F554DE75383}" srcOrd="1" destOrd="0" presId="urn:microsoft.com/office/officeart/2016/7/layout/VerticalDownArrowProcess"/>
    <dgm:cxn modelId="{F2436C16-697C-4341-AD2A-90D9F646A539}" type="presParOf" srcId="{70CD28AB-511A-0945-A0CB-2F5FD015FFE6}" destId="{99F3E6EC-BD72-8C41-9C3A-2219AF96FB0F}" srcOrd="2" destOrd="0" presId="urn:microsoft.com/office/officeart/2016/7/layout/VerticalDownArrow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37B9D4-569D-CD46-A8E4-E718893A5565}">
      <dsp:nvSpPr>
        <dsp:cNvPr id="0" name=""/>
        <dsp:cNvSpPr/>
      </dsp:nvSpPr>
      <dsp:spPr>
        <a:xfrm>
          <a:off x="0" y="3877685"/>
          <a:ext cx="2763241" cy="42433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522" tIns="106680" rIns="196522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Plot TPR-FPR</a:t>
          </a:r>
        </a:p>
      </dsp:txBody>
      <dsp:txXfrm>
        <a:off x="0" y="3877685"/>
        <a:ext cx="2763241" cy="424333"/>
      </dsp:txXfrm>
    </dsp:sp>
    <dsp:sp modelId="{1F69636C-7160-B84D-8C27-7C268D684902}">
      <dsp:nvSpPr>
        <dsp:cNvPr id="0" name=""/>
        <dsp:cNvSpPr/>
      </dsp:nvSpPr>
      <dsp:spPr>
        <a:xfrm>
          <a:off x="2763241" y="3877685"/>
          <a:ext cx="8289725" cy="42433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155" tIns="139700" rIns="168155" bIns="13970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Plot log2 ratio and TPR-FPR (see line-plot – cutoff will be the highest point)</a:t>
          </a:r>
        </a:p>
      </dsp:txBody>
      <dsp:txXfrm>
        <a:off x="2763241" y="3877685"/>
        <a:ext cx="8289725" cy="424333"/>
      </dsp:txXfrm>
    </dsp:sp>
    <dsp:sp modelId="{0DA958DE-0FF6-9E43-BD13-B083407F0B5E}">
      <dsp:nvSpPr>
        <dsp:cNvPr id="0" name=""/>
        <dsp:cNvSpPr/>
      </dsp:nvSpPr>
      <dsp:spPr>
        <a:xfrm rot="10800000">
          <a:off x="0" y="3231426"/>
          <a:ext cx="2763241" cy="652624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522" tIns="106680" rIns="196522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Find optimal cutoff ratio</a:t>
          </a:r>
        </a:p>
      </dsp:txBody>
      <dsp:txXfrm rot="-10800000">
        <a:off x="0" y="3231426"/>
        <a:ext cx="2763241" cy="424205"/>
      </dsp:txXfrm>
    </dsp:sp>
    <dsp:sp modelId="{7207183F-2690-5F4E-A239-3C73A900EFAC}">
      <dsp:nvSpPr>
        <dsp:cNvPr id="0" name=""/>
        <dsp:cNvSpPr/>
      </dsp:nvSpPr>
      <dsp:spPr>
        <a:xfrm>
          <a:off x="2763241" y="3231426"/>
          <a:ext cx="8289725" cy="42420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155" tIns="139700" rIns="168155" bIns="13970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find cutoff ratio which has the highest value for TPR-FPR (= the optimal cutoff ratio)</a:t>
          </a:r>
        </a:p>
      </dsp:txBody>
      <dsp:txXfrm>
        <a:off x="2763241" y="3231426"/>
        <a:ext cx="8289725" cy="424205"/>
      </dsp:txXfrm>
    </dsp:sp>
    <dsp:sp modelId="{E94AF108-8636-9548-8D57-FDA72F5A1988}">
      <dsp:nvSpPr>
        <dsp:cNvPr id="0" name=""/>
        <dsp:cNvSpPr/>
      </dsp:nvSpPr>
      <dsp:spPr>
        <a:xfrm rot="10800000">
          <a:off x="0" y="2585167"/>
          <a:ext cx="2763241" cy="652624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522" tIns="106680" rIns="196522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Calculate TPR-FPR</a:t>
          </a:r>
        </a:p>
      </dsp:txBody>
      <dsp:txXfrm rot="-10800000">
        <a:off x="0" y="2585167"/>
        <a:ext cx="2763241" cy="424205"/>
      </dsp:txXfrm>
    </dsp:sp>
    <dsp:sp modelId="{F57CC6EA-6F89-634E-90D7-C2A5D1D1ECCF}">
      <dsp:nvSpPr>
        <dsp:cNvPr id="0" name=""/>
        <dsp:cNvSpPr/>
      </dsp:nvSpPr>
      <dsp:spPr>
        <a:xfrm>
          <a:off x="2763241" y="2585167"/>
          <a:ext cx="8289725" cy="42420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155" tIns="139700" rIns="168155" bIns="13970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calculate TPR-FPR </a:t>
          </a:r>
        </a:p>
      </dsp:txBody>
      <dsp:txXfrm>
        <a:off x="2763241" y="2585167"/>
        <a:ext cx="8289725" cy="424205"/>
      </dsp:txXfrm>
    </dsp:sp>
    <dsp:sp modelId="{4F87AFB3-5B34-3F44-9D40-D8B4AD20BFF9}">
      <dsp:nvSpPr>
        <dsp:cNvPr id="0" name=""/>
        <dsp:cNvSpPr/>
      </dsp:nvSpPr>
      <dsp:spPr>
        <a:xfrm rot="10800000">
          <a:off x="0" y="1938907"/>
          <a:ext cx="2763241" cy="652624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522" tIns="106680" rIns="196522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Plot (ROC)</a:t>
          </a:r>
        </a:p>
      </dsp:txBody>
      <dsp:txXfrm rot="-10800000">
        <a:off x="0" y="1938907"/>
        <a:ext cx="2763241" cy="424205"/>
      </dsp:txXfrm>
    </dsp:sp>
    <dsp:sp modelId="{6A2ECFB4-CF08-6E41-BFE5-581FFCDD6AA3}">
      <dsp:nvSpPr>
        <dsp:cNvPr id="0" name=""/>
        <dsp:cNvSpPr/>
      </dsp:nvSpPr>
      <dsp:spPr>
        <a:xfrm>
          <a:off x="2763241" y="1938907"/>
          <a:ext cx="8289725" cy="42420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155" tIns="139700" rIns="168155" bIns="13970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Plot TPR and FPR (ROC) to determine how well the experiment enriched TP over FP proteins</a:t>
          </a:r>
        </a:p>
      </dsp:txBody>
      <dsp:txXfrm>
        <a:off x="2763241" y="1938907"/>
        <a:ext cx="8289725" cy="424205"/>
      </dsp:txXfrm>
    </dsp:sp>
    <dsp:sp modelId="{6E5CF41C-DBF3-5343-AC8B-CE70A56FA296}">
      <dsp:nvSpPr>
        <dsp:cNvPr id="0" name=""/>
        <dsp:cNvSpPr/>
      </dsp:nvSpPr>
      <dsp:spPr>
        <a:xfrm rot="10800000">
          <a:off x="0" y="1292648"/>
          <a:ext cx="2763241" cy="652624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522" tIns="106680" rIns="196522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Calculate TPR &amp; FPR</a:t>
          </a:r>
        </a:p>
      </dsp:txBody>
      <dsp:txXfrm rot="-10800000">
        <a:off x="0" y="1292648"/>
        <a:ext cx="2763241" cy="424205"/>
      </dsp:txXfrm>
    </dsp:sp>
    <dsp:sp modelId="{C1C998A4-10D6-C24C-9CBC-5AA9FF1D3DF2}">
      <dsp:nvSpPr>
        <dsp:cNvPr id="0" name=""/>
        <dsp:cNvSpPr/>
      </dsp:nvSpPr>
      <dsp:spPr>
        <a:xfrm>
          <a:off x="2763241" y="1292648"/>
          <a:ext cx="8289725" cy="42420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155" tIns="139700" rIns="168155" bIns="13970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Calculate TP rate (TPR) and the FP rate (FPR) (= fraction of detected TP and FP proteins above the cutoff)</a:t>
          </a:r>
        </a:p>
      </dsp:txBody>
      <dsp:txXfrm>
        <a:off x="2763241" y="1292648"/>
        <a:ext cx="8289725" cy="424205"/>
      </dsp:txXfrm>
    </dsp:sp>
    <dsp:sp modelId="{B165849C-0200-4F48-8259-36B41E72D230}">
      <dsp:nvSpPr>
        <dsp:cNvPr id="0" name=""/>
        <dsp:cNvSpPr/>
      </dsp:nvSpPr>
      <dsp:spPr>
        <a:xfrm rot="10800000">
          <a:off x="0" y="646389"/>
          <a:ext cx="2763241" cy="652624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522" tIns="106680" rIns="196522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Rank</a:t>
          </a:r>
        </a:p>
      </dsp:txBody>
      <dsp:txXfrm rot="-10800000">
        <a:off x="0" y="646389"/>
        <a:ext cx="2763241" cy="424205"/>
      </dsp:txXfrm>
    </dsp:sp>
    <dsp:sp modelId="{3F936231-89EF-1141-8D8C-75EB05FF2354}">
      <dsp:nvSpPr>
        <dsp:cNvPr id="0" name=""/>
        <dsp:cNvSpPr/>
      </dsp:nvSpPr>
      <dsp:spPr>
        <a:xfrm>
          <a:off x="2763241" y="646389"/>
          <a:ext cx="8289725" cy="42420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155" tIns="139700" rIns="168155" bIns="13970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Rank ratios in descending order </a:t>
          </a:r>
        </a:p>
      </dsp:txBody>
      <dsp:txXfrm>
        <a:off x="2763241" y="646389"/>
        <a:ext cx="8289725" cy="424205"/>
      </dsp:txXfrm>
    </dsp:sp>
    <dsp:sp modelId="{34FC2782-AD91-494D-A0A1-4F554DE75383}">
      <dsp:nvSpPr>
        <dsp:cNvPr id="0" name=""/>
        <dsp:cNvSpPr/>
      </dsp:nvSpPr>
      <dsp:spPr>
        <a:xfrm rot="10800000">
          <a:off x="0" y="130"/>
          <a:ext cx="2763241" cy="652624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522" tIns="106680" rIns="196522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Normalize</a:t>
          </a:r>
        </a:p>
      </dsp:txBody>
      <dsp:txXfrm rot="-10800000">
        <a:off x="0" y="130"/>
        <a:ext cx="2763241" cy="424205"/>
      </dsp:txXfrm>
    </dsp:sp>
    <dsp:sp modelId="{99F3E6EC-BD72-8C41-9C3A-2219AF96FB0F}">
      <dsp:nvSpPr>
        <dsp:cNvPr id="0" name=""/>
        <dsp:cNvSpPr/>
      </dsp:nvSpPr>
      <dsp:spPr>
        <a:xfrm>
          <a:off x="2763241" y="130"/>
          <a:ext cx="8289725" cy="42420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155" tIns="139700" rIns="168155" bIns="13970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Normalize ratio by the median ratio of proteins that are labelled as FP</a:t>
          </a:r>
        </a:p>
      </dsp:txBody>
      <dsp:txXfrm>
        <a:off x="2763241" y="130"/>
        <a:ext cx="8289725" cy="42420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VerticalDownArrowProcess">
  <dgm:title val="Vertical Down Arrow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36"/>
      <dgm:constr type="primFontSz" for="des" forName="parentTextArrow" refType="primFontSz" refFor="des" refForName="parentTextBox" op="equ"/>
      <dgm:constr type="primFontSz" for="des" forName="descendantArrow" val="24"/>
      <dgm:constr type="primFontSz" for="des" forName="descendantArrow" refType="primFontSz" refFor="des" refForName="parentTextArrow" op="lte"/>
      <dgm:constr type="primFontSz" for="des" forName="descendantBox" refType="primFontSz" refFor="des" refForName="parentTextArrow" op="lte"/>
      <dgm:constr type="primFontSz" for="des" forName="descendantBox" refType="primFontSz" refFor="des" refForName="parentTextBox" op="lte"/>
      <dgm:constr type="primFontSz" for="des" forName="descendantArrow" refType="primFontSz" refFor="des" refForName="parentTextBox" op="lte"/>
      <dgm:constr type="primFontSz" for="des" forName="descendantBox" refType="primFontSz" refFor="des" refForName="descendan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Box" refType="w" fact="0.25"/>
              <dgm:constr type="h" for="ch" forName="parentTextBox" refType="h"/>
              <dgm:constr type="t" for="ch" forName="parentTextBox"/>
              <dgm:constr type="w" for="ch" forName="descendantBox" refType="w" fact="0.75"/>
              <dgm:constr type="l" for="ch" forName="descendantBox" refType="w" fact="0.25"/>
              <dgm:constr type="b" for="ch" forName="descendantBox" refType="h"/>
              <dgm:constr type="h" for="ch" forName="descendantBox" refType="h"/>
            </dgm:constrLst>
            <dgm:ruleLst/>
            <dgm:layoutNode name="parentTextBox" styleLbl="alignNode1">
              <dgm:alg type="tx"/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descendantBox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presOf axis="des" ptType="node"/>
              <dgm:ruleLst>
                <dgm:rule type="primFontSz" val="11" fact="NaN" max="NaN"/>
              </dgm:ruleLst>
            </dgm:layoutNod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Arrow" refType="w" fact="0.25"/>
              <dgm:constr type="t" for="ch" forName="parentTextArrow"/>
              <dgm:constr type="h" for="ch" forName="parentTextArrow" refType="h" fact="0.65"/>
              <dgm:constr type="w" for="ch" forName="arrow" refType="w" fact="0.25"/>
              <dgm:constr type="h" for="ch" forName="arrow" refType="h"/>
              <dgm:constr type="l" for="ch" forName="descendantArrow" refType="w" fact="0.25"/>
              <dgm:constr type="w" for="ch" forName="descendantArrow" refType="w" fact="0.75"/>
              <dgm:constr type="b" for="ch" forName="descendantArrow" refType="h" fact="0.65"/>
              <dgm:constr type="h" for="ch" forName="descendantArrow" refType="h" fact="0.65"/>
            </dgm:constrLst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arrow" styleLbl="alignNode1">
              <dgm:alg type="sp"/>
              <dgm:shape xmlns:r="http://schemas.openxmlformats.org/officeDocument/2006/relationships" rot="180" type="upArrowCallout" r:blip="">
                <dgm:adjLst>
                  <dgm:adj idx="1" val="0.05"/>
                  <dgm:adj idx="2" val="0.1"/>
                  <dgm:adj idx="3" val="0.15"/>
                </dgm:adjLst>
              </dgm:shape>
              <dgm:presOf axis="self"/>
              <dgm:constrLst/>
              <dgm:ruleLst/>
            </dgm:layoutNode>
            <dgm:layoutNode name="descendantArrow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ruleLst>
                <dgm:rule type="primFontSz" val="11" fact="NaN" max="NaN"/>
              </dgm:ruleLst>
            </dgm:layoutNod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91BF4D-3201-F745-B932-E7F786B71255}" type="datetimeFigureOut">
              <a:rPr lang="en-US" smtClean="0"/>
              <a:t>1/27/23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3C3097-339F-D341-9AE2-47DB3DE0E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2187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US" b="0" i="0" u="none" strike="noStrike" dirty="0">
                <a:solidFill>
                  <a:srgbClr val="5F6368"/>
                </a:solidFill>
                <a:effectLst/>
                <a:latin typeface="arial" panose="020B0604020202020204" pitchFamily="34" charset="0"/>
              </a:rPr>
              <a:t>inguinal WAT</a:t>
            </a:r>
            <a:r>
              <a:rPr lang="en-US" b="0" i="0" u="none" strike="noStrike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(</a:t>
            </a:r>
            <a:r>
              <a:rPr lang="en-US" b="0" i="0" u="none" strike="noStrike" dirty="0" err="1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iWAT</a:t>
            </a:r>
            <a:r>
              <a:rPr lang="en-US" b="0" i="0" u="none" strike="noStrike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), and epididymal WAT (</a:t>
            </a:r>
            <a:r>
              <a:rPr lang="en-US" b="0" i="0" u="none" strike="noStrike" dirty="0" err="1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eWAT</a:t>
            </a:r>
            <a:r>
              <a:rPr lang="en-US" b="0" i="0" u="none" strike="noStrike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) 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3C3097-339F-D341-9AE2-47DB3DE0E34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9898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300 </a:t>
            </a:r>
          </a:p>
          <a:p>
            <a:r>
              <a:rPr lang="en-US" dirty="0"/>
              <a:t>250 &gt;25%</a:t>
            </a:r>
          </a:p>
          <a:p>
            <a:r>
              <a:rPr lang="en-US" u="sng" dirty="0"/>
              <a:t>230 &gt;50%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3C3097-339F-D341-9AE2-47DB3DE0E34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8366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www.nature.com</a:t>
            </a:r>
            <a:r>
              <a:rPr lang="en-US" dirty="0"/>
              <a:t>/articles/s41596-020-0399-0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3C3097-339F-D341-9AE2-47DB3DE0E34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7944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3C3097-339F-D341-9AE2-47DB3DE0E34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4733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Signal peptides </a:t>
            </a:r>
            <a:r>
              <a:rPr lang="en-US" i="1" dirty="0"/>
              <a:t>control protein secretion</a:t>
            </a:r>
            <a:r>
              <a:rPr lang="en-US" dirty="0"/>
              <a:t> and translocation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Proteins annotated as TP are removed from FP list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3C3097-339F-D341-9AE2-47DB3DE0E34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3251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3C3097-339F-D341-9AE2-47DB3DE0E34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0274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question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3C3097-339F-D341-9AE2-47DB3DE0E34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4372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question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3C3097-339F-D341-9AE2-47DB3DE0E34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6974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question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3C3097-339F-D341-9AE2-47DB3DE0E34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8463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question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3C3097-339F-D341-9AE2-47DB3DE0E34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3631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3C3097-339F-D341-9AE2-47DB3DE0E34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6587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question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3C3097-339F-D341-9AE2-47DB3DE0E34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3778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0013" y="484479"/>
            <a:ext cx="6911974" cy="2954655"/>
          </a:xfrm>
        </p:spPr>
        <p:txBody>
          <a:bodyPr anchor="b">
            <a:normAutofit/>
          </a:bodyPr>
          <a:lstStyle>
            <a:lvl1pPr algn="ctr">
              <a:defRPr sz="5600" spc="-1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0013" y="3799133"/>
            <a:ext cx="6911974" cy="1969841"/>
          </a:xfrm>
        </p:spPr>
        <p:txBody>
          <a:bodyPr>
            <a:normAutofit/>
          </a:bodyPr>
          <a:lstStyle>
            <a:lvl1pPr marL="0" indent="0" algn="ctr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4D82D62B-C5BC-9A48-B649-B612C2626DF0}" type="datetime2">
              <a:rPr lang="en-US" smtClean="0"/>
              <a:t>Friday, January 27, 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405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0000" y="2541600"/>
            <a:ext cx="10728325" cy="3227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E9A10DC3-F6B5-014A-A9AD-0D47C6506BAB}" type="datetime2">
              <a:rPr lang="en-US" smtClean="0"/>
              <a:t>Friday, January 27, 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67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10728326" cy="2879724"/>
          </a:xfrm>
        </p:spPr>
        <p:txBody>
          <a:bodyPr anchor="b"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9910" y="3858924"/>
            <a:ext cx="10728326" cy="1919076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A049C287-8CF4-DC48-88B8-6E35669697EC}" type="datetime2">
              <a:rPr lang="en-US" smtClean="0"/>
              <a:t>Friday, January 27, 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930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20000" y="2541600"/>
            <a:ext cx="5003800" cy="3234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58400" y="2541600"/>
            <a:ext cx="5003801" cy="3234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ADEB5C39-7764-3744-BF89-1BA0C95D9B94}" type="datetime2">
              <a:rPr lang="en-US" smtClean="0"/>
              <a:t>Friday, January 27, 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071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10728325" cy="673005"/>
          </a:xfrm>
        </p:spPr>
        <p:txBody>
          <a:bodyPr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000" y="1840698"/>
            <a:ext cx="5015638" cy="565796"/>
          </a:xfrm>
        </p:spPr>
        <p:txBody>
          <a:bodyPr wrap="square" anchor="b">
            <a:normAutofit/>
          </a:bodyPr>
          <a:lstStyle>
            <a:lvl1pPr marL="0" indent="0">
              <a:lnSpc>
                <a:spcPct val="120000"/>
              </a:lnSpc>
              <a:buNone/>
              <a:defRPr sz="16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0000" y="2541600"/>
            <a:ext cx="5003801" cy="3234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400" y="1840698"/>
            <a:ext cx="5015638" cy="565796"/>
          </a:xfrm>
        </p:spPr>
        <p:txBody>
          <a:bodyPr anchor="b">
            <a:normAutofit/>
          </a:bodyPr>
          <a:lstStyle>
            <a:lvl1pPr marL="0" indent="0">
              <a:lnSpc>
                <a:spcPct val="120000"/>
              </a:lnSpc>
              <a:buNone/>
              <a:defRPr sz="16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400" y="2541600"/>
            <a:ext cx="5003800" cy="3234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4BAB7099-C23E-1745-AF03-0B0C40F6AA6C}" type="datetime2">
              <a:rPr lang="en-US" smtClean="0"/>
              <a:t>Friday, January 27, 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2387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52B883A0-F701-0F49-9D67-42F97F0F4C65}" type="datetime2">
              <a:rPr lang="en-US" smtClean="0"/>
              <a:t>Friday, January 27, 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3070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E6923127-F9F8-8B4E-9CEB-95BF7FFEA85F}" type="datetime2">
              <a:rPr lang="en-US" smtClean="0"/>
              <a:t>Friday, January 27, 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142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3107463" cy="1477328"/>
          </a:xfrm>
        </p:spPr>
        <p:txBody>
          <a:bodyPr anchor="t" anchorCtr="0">
            <a:normAutofit/>
          </a:bodyPr>
          <a:lstStyle>
            <a:lvl1pPr>
              <a:lnSpc>
                <a:spcPct val="100000"/>
              </a:lnSpc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8188" y="584662"/>
            <a:ext cx="6911974" cy="5184313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4800"/>
            </a:lvl1pPr>
            <a:lvl2pPr marL="914400" indent="-457200">
              <a:buFont typeface="Arial" panose="020B0604020202020204" pitchFamily="34" charset="0"/>
              <a:buChar char="•"/>
              <a:defRPr sz="2000"/>
            </a:lvl2pPr>
            <a:lvl3pPr marL="1257300" indent="-342900">
              <a:buFont typeface="Arial" panose="020B0604020202020204" pitchFamily="34" charset="0"/>
              <a:buChar char="•"/>
              <a:defRPr sz="2000"/>
            </a:lvl3pPr>
            <a:lvl4pPr marL="1714500" indent="-342900">
              <a:buFont typeface="Arial" panose="020B0604020202020204" pitchFamily="34" charset="0"/>
              <a:buChar char="•"/>
              <a:defRPr sz="2000"/>
            </a:lvl4pPr>
            <a:lvl5pPr marL="2171700" indent="-342900">
              <a:buFont typeface="Arial" panose="020B0604020202020204" pitchFamily="34" charset="0"/>
              <a:buChar char="•"/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0000" y="2541600"/>
            <a:ext cx="3107463" cy="323183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24AFEB34-53E9-8F42-9ED2-04274EE70207}" type="datetime2">
              <a:rPr lang="en-US" smtClean="0"/>
              <a:t>Friday, January 27, 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247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3095626" cy="1476000"/>
          </a:xfrm>
        </p:spPr>
        <p:txBody>
          <a:bodyPr anchor="t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8188" y="728664"/>
            <a:ext cx="6923812" cy="5040312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0000" y="2541600"/>
            <a:ext cx="3095625" cy="32328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78864A2C-3282-224A-8A3B-B1B48911DC1D}" type="datetime2">
              <a:rPr lang="en-US" smtClean="0"/>
              <a:t>Friday, January 27, 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595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20000" y="2636838"/>
            <a:ext cx="10728325" cy="31321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8C7BF22D-4351-7443-9203-BE328953BFC7}" type="datetime2">
              <a:rPr lang="en-US" smtClean="0"/>
              <a:t>Friday, January 27, 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4924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40486" y="720000"/>
            <a:ext cx="1477328" cy="5048975"/>
          </a:xfrm>
        </p:spPr>
        <p:txBody>
          <a:bodyPr vert="eaVert">
            <a:norm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1838" y="720000"/>
            <a:ext cx="8929614" cy="50489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9FDF6349-9520-004C-B410-2193F9372E49}" type="datetime2">
              <a:rPr lang="en-US" smtClean="0"/>
              <a:t>Friday, January 27, 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061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9646535-AEF6-4883-A4F9-EEC1F8B4319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10728322" cy="147732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000" y="2541600"/>
            <a:ext cx="10728325" cy="322737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 vert="horz" lIns="0" tIns="180000" rIns="0" bIns="180000" rtlCol="0" anchor="ctr"/>
          <a:lstStyle>
            <a:lvl1pPr algn="l">
              <a:lnSpc>
                <a:spcPct val="120000"/>
              </a:lnSpc>
              <a:defRPr sz="120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6A398F71-50EE-C442-9A03-D3A19758747B}" type="datetime2">
              <a:rPr lang="en-US" smtClean="0"/>
              <a:t>Friday, January 27, 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 vert="horz" lIns="0" tIns="180000" rIns="0" bIns="180000" rtlCol="0" anchor="ctr"/>
          <a:lstStyle>
            <a:lvl1pPr algn="ctr">
              <a:lnSpc>
                <a:spcPct val="120000"/>
              </a:lnSpc>
              <a:defRPr sz="120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 vert="horz" lIns="0" tIns="180000" rIns="0" bIns="180000" rtlCol="0" anchor="ctr"/>
          <a:lstStyle>
            <a:lvl1pPr algn="r">
              <a:lnSpc>
                <a:spcPct val="120000"/>
              </a:lnSpc>
              <a:defRPr sz="120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1621B6DD-29C1-4FEA-923F-71EA1347694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483372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11" r:id="rId6"/>
    <p:sldLayoutId id="2147483706" r:id="rId7"/>
    <p:sldLayoutId id="2147483707" r:id="rId8"/>
    <p:sldLayoutId id="2147483708" r:id="rId9"/>
    <p:sldLayoutId id="2147483710" r:id="rId10"/>
    <p:sldLayoutId id="2147483709" r:id="rId11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ature.com/articles/s41596-020-0399-0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nature.com/articles/s41596-020-0399-0" TargetMode="Externa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1615B4-4E95-E27B-C812-43A3C3E48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>
                <a:solidFill>
                  <a:schemeClr val="bg1"/>
                </a:solidFill>
              </a:rPr>
              <a:t>0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40326E9-3011-C4CB-901B-2062140D3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619200"/>
            <a:ext cx="10728322" cy="666675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Experiment set up #1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9F2956-7DFB-1F99-9AB3-97DE2083CC4B}"/>
              </a:ext>
            </a:extLst>
          </p:cNvPr>
          <p:cNvSpPr txBox="1"/>
          <p:nvPr/>
        </p:nvSpPr>
        <p:spPr>
          <a:xfrm>
            <a:off x="906736" y="5828307"/>
            <a:ext cx="95333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0070C0"/>
                </a:solidFill>
              </a:rPr>
              <a:t>Cell-type specific profiling of secreted and ER-resident proteins under different stress conditions [4 x 16plex TMT + serum]</a:t>
            </a:r>
          </a:p>
        </p:txBody>
      </p:sp>
      <p:pic>
        <p:nvPicPr>
          <p:cNvPr id="11" name="Picture 10" descr="A picture containing text&#10;&#10;Description automatically generated">
            <a:extLst>
              <a:ext uri="{FF2B5EF4-FFF2-40B4-BE49-F238E27FC236}">
                <a16:creationId xmlns:a16="http://schemas.microsoft.com/office/drawing/2014/main" id="{16EE6806-264F-B6C5-9628-A398E13FDA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383" y="804294"/>
            <a:ext cx="10844939" cy="5249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1783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1615B4-4E95-E27B-C812-43A3C3E48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>
                <a:solidFill>
                  <a:schemeClr val="bg1"/>
                </a:solidFill>
              </a:rPr>
              <a:t>1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40326E9-3011-C4CB-901B-2062140D3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619200"/>
            <a:ext cx="10728322" cy="666675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Experiment set up #2</a:t>
            </a:r>
          </a:p>
        </p:txBody>
      </p:sp>
      <p:pic>
        <p:nvPicPr>
          <p:cNvPr id="3" name="Picture 2" descr="A picture containing text, vector graphics&#10;&#10;Description automatically generated">
            <a:extLst>
              <a:ext uri="{FF2B5EF4-FFF2-40B4-BE49-F238E27FC236}">
                <a16:creationId xmlns:a16="http://schemas.microsoft.com/office/drawing/2014/main" id="{F7902526-C845-4FF5-B2AA-011B89E8A4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929" y="952537"/>
            <a:ext cx="11118142" cy="46192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9F8D88B-0ECB-4694-6684-DBE9A2E6FCBE}"/>
              </a:ext>
            </a:extLst>
          </p:cNvPr>
          <p:cNvSpPr txBox="1"/>
          <p:nvPr/>
        </p:nvSpPr>
        <p:spPr>
          <a:xfrm>
            <a:off x="906735" y="5828307"/>
            <a:ext cx="102210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0070C0"/>
                </a:solidFill>
              </a:rPr>
              <a:t>Profiling of secreted and ER-resident proteins in distinct white adipose tissues under different dietary conditions [4 x 10plex TMT + serum]</a:t>
            </a:r>
          </a:p>
        </p:txBody>
      </p:sp>
    </p:spTree>
    <p:extLst>
      <p:ext uri="{BB962C8B-B14F-4D97-AF65-F5344CB8AC3E}">
        <p14:creationId xmlns:p14="http://schemas.microsoft.com/office/powerpoint/2010/main" val="42818717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E6DC6-9E0D-BF41-BD13-30B6C7CD2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529" y="1072027"/>
            <a:ext cx="10728322" cy="1477328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MS sample processing: Serum</a:t>
            </a:r>
          </a:p>
        </p:txBody>
      </p:sp>
      <p:pic>
        <p:nvPicPr>
          <p:cNvPr id="19" name="Picture 18" descr="Text&#10;&#10;Description automatically generated">
            <a:extLst>
              <a:ext uri="{FF2B5EF4-FFF2-40B4-BE49-F238E27FC236}">
                <a16:creationId xmlns:a16="http://schemas.microsoft.com/office/drawing/2014/main" id="{9CD7E666-AC50-61B3-3AB0-E9287BEA747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0429"/>
          <a:stretch/>
        </p:blipFill>
        <p:spPr>
          <a:xfrm>
            <a:off x="0" y="2715728"/>
            <a:ext cx="9125265" cy="4761473"/>
          </a:xfrm>
          <a:prstGeom prst="rect">
            <a:avLst/>
          </a:prstGeom>
        </p:spPr>
      </p:pic>
      <p:pic>
        <p:nvPicPr>
          <p:cNvPr id="20" name="Picture 19" descr="Text&#10;&#10;Description automatically generated">
            <a:extLst>
              <a:ext uri="{FF2B5EF4-FFF2-40B4-BE49-F238E27FC236}">
                <a16:creationId xmlns:a16="http://schemas.microsoft.com/office/drawing/2014/main" id="{1A950690-A3DD-2D8C-D012-E7EE3F6BBA1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9497"/>
          <a:stretch/>
        </p:blipFill>
        <p:spPr>
          <a:xfrm>
            <a:off x="6834753" y="-170481"/>
            <a:ext cx="5163088" cy="3962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20867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BC050-3527-B74B-9DEF-A7C140790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619200"/>
            <a:ext cx="10728322" cy="666675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Experimental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FDE41A-C50D-AC4C-B3F6-B9FB537EAA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657350"/>
            <a:ext cx="10728325" cy="4111626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Total of 7 files </a:t>
            </a:r>
            <a:r>
              <a:rPr lang="en-US" dirty="0">
                <a:solidFill>
                  <a:schemeClr val="bg1"/>
                </a:solidFill>
              </a:rPr>
              <a:t>(4 x 10 plex, 3 x 16 plex)</a:t>
            </a:r>
          </a:p>
        </p:txBody>
      </p:sp>
      <p:pic>
        <p:nvPicPr>
          <p:cNvPr id="7" name="Picture 6" descr="Table&#10;&#10;Description automatically generated">
            <a:extLst>
              <a:ext uri="{FF2B5EF4-FFF2-40B4-BE49-F238E27FC236}">
                <a16:creationId xmlns:a16="http://schemas.microsoft.com/office/drawing/2014/main" id="{C98EFADE-4B1F-6F4B-B97E-7A39D6B024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156" y="2833772"/>
            <a:ext cx="5691188" cy="2219379"/>
          </a:xfrm>
          <a:prstGeom prst="rect">
            <a:avLst/>
          </a:prstGeom>
        </p:spPr>
      </p:pic>
      <p:pic>
        <p:nvPicPr>
          <p:cNvPr id="9" name="Picture 8" descr="Table, Excel&#10;&#10;Description automatically generated">
            <a:extLst>
              <a:ext uri="{FF2B5EF4-FFF2-40B4-BE49-F238E27FC236}">
                <a16:creationId xmlns:a16="http://schemas.microsoft.com/office/drawing/2014/main" id="{C7A9B24C-B030-4C4D-9B90-39E34385D1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5349" y="2833772"/>
            <a:ext cx="5489925" cy="340502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9B90AE2-B578-F749-9833-AC147F44C959}"/>
              </a:ext>
            </a:extLst>
          </p:cNvPr>
          <p:cNvSpPr txBox="1"/>
          <p:nvPr/>
        </p:nvSpPr>
        <p:spPr>
          <a:xfrm>
            <a:off x="536156" y="2388028"/>
            <a:ext cx="2695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Example layout 10 plex: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611F18-92F8-4448-B4B9-C31102FF041A}"/>
              </a:ext>
            </a:extLst>
          </p:cNvPr>
          <p:cNvSpPr txBox="1"/>
          <p:nvPr/>
        </p:nvSpPr>
        <p:spPr>
          <a:xfrm>
            <a:off x="6415087" y="2388028"/>
            <a:ext cx="2695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Example layout 16 plex: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DADD23-DFAB-A54C-AF24-C0DF8CE0C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>
                <a:solidFill>
                  <a:schemeClr val="bg1"/>
                </a:solidFill>
              </a:rPr>
              <a:t>3</a:t>
            </a:fld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13657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E6DC6-9E0D-BF41-BD13-30B6C7CD2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Analysis Overview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9693CFF-05E7-E342-ADCD-4E6EBF2F73F0}"/>
              </a:ext>
            </a:extLst>
          </p:cNvPr>
          <p:cNvCxnSpPr/>
          <p:nvPr/>
        </p:nvCxnSpPr>
        <p:spPr>
          <a:xfrm>
            <a:off x="2366081" y="3023303"/>
            <a:ext cx="4347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26FEC83-0A19-444D-B1ED-9E75E99D108E}"/>
              </a:ext>
            </a:extLst>
          </p:cNvPr>
          <p:cNvSpPr/>
          <p:nvPr/>
        </p:nvSpPr>
        <p:spPr>
          <a:xfrm>
            <a:off x="2888255" y="2419394"/>
            <a:ext cx="5430188" cy="131598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500" b="1" dirty="0">
                <a:solidFill>
                  <a:schemeClr val="bg1"/>
                </a:solidFill>
              </a:rPr>
              <a:t>Filter</a:t>
            </a:r>
            <a:r>
              <a:rPr lang="en-US" sz="1500" dirty="0">
                <a:solidFill>
                  <a:schemeClr val="bg1"/>
                </a:solidFill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Remove non unique peptides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Remove not fully tryptic peptides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Allowed number of missed cleavage sites: 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Min 1 or 2 peptides per protein</a:t>
            </a:r>
          </a:p>
        </p:txBody>
      </p:sp>
      <p:pic>
        <p:nvPicPr>
          <p:cNvPr id="7" name="Graphic 6" descr="Open folder with solid fill">
            <a:extLst>
              <a:ext uri="{FF2B5EF4-FFF2-40B4-BE49-F238E27FC236}">
                <a16:creationId xmlns:a16="http://schemas.microsoft.com/office/drawing/2014/main" id="{09A339EC-F7B1-E84C-BB48-79F329F5E3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3632" y="2400933"/>
            <a:ext cx="554618" cy="554618"/>
          </a:xfrm>
          <a:prstGeom prst="rect">
            <a:avLst/>
          </a:prstGeom>
        </p:spPr>
      </p:pic>
      <p:cxnSp>
        <p:nvCxnSpPr>
          <p:cNvPr id="8" name="Elbow Connector 7">
            <a:extLst>
              <a:ext uri="{FF2B5EF4-FFF2-40B4-BE49-F238E27FC236}">
                <a16:creationId xmlns:a16="http://schemas.microsoft.com/office/drawing/2014/main" id="{8AEB9AE0-1154-F14C-937A-DDE61B2F9E14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1528250" y="2678242"/>
            <a:ext cx="422699" cy="34508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BDD1A67-8332-8D4E-9AE7-AAA7274CC52A}"/>
              </a:ext>
            </a:extLst>
          </p:cNvPr>
          <p:cNvCxnSpPr/>
          <p:nvPr/>
        </p:nvCxnSpPr>
        <p:spPr>
          <a:xfrm>
            <a:off x="8425084" y="3007383"/>
            <a:ext cx="4347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2EEA2B7-5A7E-4C43-9995-1FAAD724831D}"/>
              </a:ext>
            </a:extLst>
          </p:cNvPr>
          <p:cNvSpPr txBox="1"/>
          <p:nvPr/>
        </p:nvSpPr>
        <p:spPr>
          <a:xfrm>
            <a:off x="8908935" y="2660717"/>
            <a:ext cx="2872647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</a:rPr>
              <a:t>Peptide SI per protein </a:t>
            </a:r>
          </a:p>
          <a:p>
            <a:r>
              <a:rPr lang="en-US" sz="1500" dirty="0">
                <a:solidFill>
                  <a:schemeClr val="bg1"/>
                </a:solidFill>
              </a:rPr>
              <a:t>are summed</a:t>
            </a:r>
          </a:p>
          <a:p>
            <a:r>
              <a:rPr lang="en-US" sz="1500" dirty="0">
                <a:solidFill>
                  <a:schemeClr val="bg1"/>
                </a:solidFill>
              </a:rPr>
              <a:t>(=summed protein SI)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E7A6660-3933-B043-92F9-4E40AAE4EDF9}"/>
              </a:ext>
            </a:extLst>
          </p:cNvPr>
          <p:cNvCxnSpPr>
            <a:cxnSpLocks/>
          </p:cNvCxnSpPr>
          <p:nvPr/>
        </p:nvCxnSpPr>
        <p:spPr>
          <a:xfrm>
            <a:off x="10006042" y="3507212"/>
            <a:ext cx="0" cy="6990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BE1BF30-CEA9-AC48-9331-C0305A946AA9}"/>
              </a:ext>
            </a:extLst>
          </p:cNvPr>
          <p:cNvSpPr txBox="1"/>
          <p:nvPr/>
        </p:nvSpPr>
        <p:spPr>
          <a:xfrm>
            <a:off x="9348027" y="4229987"/>
            <a:ext cx="287264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</a:rPr>
              <a:t>Processed file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9A70393-3EC5-CD41-9135-46C248964064}"/>
              </a:ext>
            </a:extLst>
          </p:cNvPr>
          <p:cNvSpPr txBox="1"/>
          <p:nvPr/>
        </p:nvSpPr>
        <p:spPr>
          <a:xfrm>
            <a:off x="1713524" y="3184047"/>
            <a:ext cx="100242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</a:rPr>
              <a:t>Raw file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83F7213-68FE-FF4D-AF53-1CD72BE0B4D5}"/>
              </a:ext>
            </a:extLst>
          </p:cNvPr>
          <p:cNvSpPr txBox="1"/>
          <p:nvPr/>
        </p:nvSpPr>
        <p:spPr>
          <a:xfrm>
            <a:off x="692147" y="1341958"/>
            <a:ext cx="304517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raw mass spectrometry data searched against a database of known proteins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7007828-2F77-594A-9141-3DB6DEA754DC}"/>
              </a:ext>
            </a:extLst>
          </p:cNvPr>
          <p:cNvCxnSpPr>
            <a:cxnSpLocks/>
          </p:cNvCxnSpPr>
          <p:nvPr/>
        </p:nvCxnSpPr>
        <p:spPr>
          <a:xfrm>
            <a:off x="1250941" y="2106943"/>
            <a:ext cx="0" cy="3253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6808399C-4025-F643-B6F0-2B20B9604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z="1500" smtClean="0">
                <a:solidFill>
                  <a:schemeClr val="bg1"/>
                </a:solidFill>
              </a:rPr>
              <a:t>4</a:t>
            </a:fld>
            <a:endParaRPr lang="en-US" sz="1500" dirty="0">
              <a:solidFill>
                <a:schemeClr val="bg1"/>
              </a:solidFill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AB21BEC-87D3-6F4B-958D-D8A8299A8F47}"/>
              </a:ext>
            </a:extLst>
          </p:cNvPr>
          <p:cNvCxnSpPr>
            <a:cxnSpLocks/>
          </p:cNvCxnSpPr>
          <p:nvPr/>
        </p:nvCxnSpPr>
        <p:spPr>
          <a:xfrm flipH="1">
            <a:off x="6372526" y="4783824"/>
            <a:ext cx="287402" cy="40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Graphic 31" descr="Document outline">
            <a:extLst>
              <a:ext uri="{FF2B5EF4-FFF2-40B4-BE49-F238E27FC236}">
                <a16:creationId xmlns:a16="http://schemas.microsoft.com/office/drawing/2014/main" id="{583B257A-72F1-7543-917B-89E83D50E4B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31365" y="2805945"/>
            <a:ext cx="434716" cy="434716"/>
          </a:xfrm>
          <a:prstGeom prst="rect">
            <a:avLst/>
          </a:prstGeom>
        </p:spPr>
      </p:pic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ACE3C9B-3ECB-4748-8A94-F41DFAB98D48}"/>
              </a:ext>
            </a:extLst>
          </p:cNvPr>
          <p:cNvCxnSpPr>
            <a:cxnSpLocks/>
          </p:cNvCxnSpPr>
          <p:nvPr/>
        </p:nvCxnSpPr>
        <p:spPr>
          <a:xfrm flipH="1">
            <a:off x="8425084" y="4748778"/>
            <a:ext cx="132134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F5F572BF-9BAF-3C4C-BBA3-261B5E5A1F49}"/>
              </a:ext>
            </a:extLst>
          </p:cNvPr>
          <p:cNvSpPr txBox="1"/>
          <p:nvPr/>
        </p:nvSpPr>
        <p:spPr>
          <a:xfrm>
            <a:off x="6496148" y="4320027"/>
            <a:ext cx="203994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>
                <a:solidFill>
                  <a:schemeClr val="bg1"/>
                </a:solidFill>
              </a:rPr>
              <a:t>Filtering based on </a:t>
            </a:r>
            <a:r>
              <a:rPr lang="en-US" sz="1500" dirty="0" err="1">
                <a:solidFill>
                  <a:schemeClr val="bg1"/>
                </a:solidFill>
              </a:rPr>
              <a:t>cre</a:t>
            </a:r>
            <a:r>
              <a:rPr lang="en-US" sz="1500" dirty="0">
                <a:solidFill>
                  <a:schemeClr val="bg1"/>
                </a:solidFill>
              </a:rPr>
              <a:t>+ replicates </a:t>
            </a:r>
          </a:p>
          <a:p>
            <a:pPr algn="ctr"/>
            <a:r>
              <a:rPr lang="en-US" sz="1500" dirty="0">
                <a:solidFill>
                  <a:schemeClr val="bg1"/>
                </a:solidFill>
              </a:rPr>
              <a:t>AND</a:t>
            </a:r>
          </a:p>
          <a:p>
            <a:pPr algn="ctr"/>
            <a:r>
              <a:rPr lang="en-US" sz="1500" dirty="0" err="1">
                <a:solidFill>
                  <a:schemeClr val="bg1"/>
                </a:solidFill>
              </a:rPr>
              <a:t>Normalisation</a:t>
            </a:r>
            <a:endParaRPr lang="en-US" sz="1500" dirty="0">
              <a:solidFill>
                <a:schemeClr val="bg1"/>
              </a:solidFill>
            </a:endParaRPr>
          </a:p>
        </p:txBody>
      </p:sp>
      <p:pic>
        <p:nvPicPr>
          <p:cNvPr id="26" name="Graphic 25" descr="Document outline">
            <a:extLst>
              <a:ext uri="{FF2B5EF4-FFF2-40B4-BE49-F238E27FC236}">
                <a16:creationId xmlns:a16="http://schemas.microsoft.com/office/drawing/2014/main" id="{D3682183-3793-4B4C-8D14-0A476D8A54E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838001" y="4531420"/>
            <a:ext cx="434716" cy="434716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13DC00C0-2AD0-FE4C-A422-A6B24533B912}"/>
              </a:ext>
            </a:extLst>
          </p:cNvPr>
          <p:cNvSpPr txBox="1"/>
          <p:nvPr/>
        </p:nvSpPr>
        <p:spPr>
          <a:xfrm>
            <a:off x="4502196" y="4624259"/>
            <a:ext cx="203994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>
                <a:solidFill>
                  <a:schemeClr val="bg1"/>
                </a:solidFill>
              </a:rPr>
              <a:t>Annotate proteins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Using TP and FP lists</a:t>
            </a:r>
          </a:p>
          <a:p>
            <a:pPr algn="ctr"/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739C131-6853-564C-89A0-54699B2A0E19}"/>
              </a:ext>
            </a:extLst>
          </p:cNvPr>
          <p:cNvSpPr txBox="1"/>
          <p:nvPr/>
        </p:nvSpPr>
        <p:spPr>
          <a:xfrm>
            <a:off x="2370482" y="4604721"/>
            <a:ext cx="2039947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>
                <a:solidFill>
                  <a:schemeClr val="bg1"/>
                </a:solidFill>
              </a:rPr>
              <a:t>Calculate Ratios</a:t>
            </a:r>
          </a:p>
          <a:p>
            <a:pPr algn="ctr"/>
            <a:r>
              <a:rPr lang="en-US" sz="800" dirty="0">
                <a:solidFill>
                  <a:schemeClr val="bg1"/>
                </a:solidFill>
              </a:rPr>
              <a:t>Experimental sample/negative control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9053613-1EC4-D54F-976E-FFF4AA907AC5}"/>
              </a:ext>
            </a:extLst>
          </p:cNvPr>
          <p:cNvCxnSpPr>
            <a:cxnSpLocks/>
          </p:cNvCxnSpPr>
          <p:nvPr/>
        </p:nvCxnSpPr>
        <p:spPr>
          <a:xfrm flipH="1">
            <a:off x="4275330" y="4786445"/>
            <a:ext cx="287402" cy="40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C4A4979D-B3A4-EA4E-B6EE-C65553BA6693}"/>
              </a:ext>
            </a:extLst>
          </p:cNvPr>
          <p:cNvSpPr txBox="1"/>
          <p:nvPr/>
        </p:nvSpPr>
        <p:spPr>
          <a:xfrm>
            <a:off x="760849" y="5676851"/>
            <a:ext cx="203994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>
                <a:solidFill>
                  <a:schemeClr val="bg1"/>
                </a:solidFill>
              </a:rPr>
              <a:t>ROC-based analysis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Establish optimal cutoffs per ratio</a:t>
            </a:r>
          </a:p>
          <a:p>
            <a:pPr algn="ctr"/>
            <a:endParaRPr lang="en-US" sz="1500" dirty="0">
              <a:solidFill>
                <a:schemeClr val="bg1"/>
              </a:solidFill>
            </a:endParaRPr>
          </a:p>
        </p:txBody>
      </p:sp>
      <p:cxnSp>
        <p:nvCxnSpPr>
          <p:cNvPr id="39" name="Elbow Connector 38">
            <a:extLst>
              <a:ext uri="{FF2B5EF4-FFF2-40B4-BE49-F238E27FC236}">
                <a16:creationId xmlns:a16="http://schemas.microsoft.com/office/drawing/2014/main" id="{934EBD41-A03A-934C-9ED8-9B804DB4DB75}"/>
              </a:ext>
            </a:extLst>
          </p:cNvPr>
          <p:cNvCxnSpPr>
            <a:cxnSpLocks/>
          </p:cNvCxnSpPr>
          <p:nvPr/>
        </p:nvCxnSpPr>
        <p:spPr>
          <a:xfrm rot="10800000" flipV="1">
            <a:off x="1713524" y="4834923"/>
            <a:ext cx="674509" cy="72839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B3BDDD3-CF5E-9540-A58D-4DB676B0F0D5}"/>
              </a:ext>
            </a:extLst>
          </p:cNvPr>
          <p:cNvCxnSpPr>
            <a:cxnSpLocks/>
          </p:cNvCxnSpPr>
          <p:nvPr/>
        </p:nvCxnSpPr>
        <p:spPr>
          <a:xfrm>
            <a:off x="2888255" y="5842279"/>
            <a:ext cx="5360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2FBF8B94-8B79-3C48-A800-0B0F22837976}"/>
              </a:ext>
            </a:extLst>
          </p:cNvPr>
          <p:cNvSpPr txBox="1"/>
          <p:nvPr/>
        </p:nvSpPr>
        <p:spPr>
          <a:xfrm>
            <a:off x="3427892" y="5581784"/>
            <a:ext cx="226968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>
                <a:solidFill>
                  <a:schemeClr val="bg1"/>
                </a:solidFill>
              </a:rPr>
              <a:t>Determine biotinylated proteins</a:t>
            </a:r>
          </a:p>
          <a:p>
            <a:pPr algn="ctr"/>
            <a:r>
              <a:rPr lang="en-US" sz="800" b="1" dirty="0">
                <a:solidFill>
                  <a:schemeClr val="bg1"/>
                </a:solidFill>
              </a:rPr>
              <a:t>Report proteins that pass cutoff</a:t>
            </a:r>
          </a:p>
        </p:txBody>
      </p:sp>
    </p:spTree>
    <p:extLst>
      <p:ext uri="{BB962C8B-B14F-4D97-AF65-F5344CB8AC3E}">
        <p14:creationId xmlns:p14="http://schemas.microsoft.com/office/powerpoint/2010/main" val="20995309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E6DC6-9E0D-BF41-BD13-30B6C7CD2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TP and FP lists 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A9E25E25-E0B7-A94D-B740-F1553DF6E4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8524" y="1453010"/>
            <a:ext cx="10324313" cy="3685767"/>
          </a:xfrm>
        </p:spPr>
        <p:txBody>
          <a:bodyPr>
            <a:normAutofit fontScale="85000" lnSpcReduction="20000"/>
          </a:bodyPr>
          <a:lstStyle/>
          <a:p>
            <a:pPr lvl="1">
              <a:spcBef>
                <a:spcPts val="1000"/>
              </a:spcBef>
              <a:buClr>
                <a:srgbClr val="7BAF34"/>
              </a:buClr>
              <a:defRPr/>
            </a:pPr>
            <a:r>
              <a:rPr lang="en-US" dirty="0">
                <a:solidFill>
                  <a:schemeClr val="bg1"/>
                </a:solidFill>
              </a:rPr>
              <a:t>Lists of TP and FP proteins generated </a:t>
            </a:r>
            <a:r>
              <a:rPr lang="en-US" b="1" dirty="0">
                <a:solidFill>
                  <a:schemeClr val="bg1"/>
                </a:solidFill>
              </a:rPr>
              <a:t>on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b="1" dirty="0">
                <a:solidFill>
                  <a:schemeClr val="bg1"/>
                </a:solidFill>
              </a:rPr>
              <a:t>basis of annotation from UNIPROT</a:t>
            </a:r>
          </a:p>
          <a:p>
            <a:pPr lvl="1">
              <a:spcBef>
                <a:spcPts val="1000"/>
              </a:spcBef>
              <a:buClr>
                <a:srgbClr val="7BAF34"/>
              </a:buClr>
              <a:defRPr/>
            </a:pPr>
            <a:endParaRPr lang="en-US" b="1" dirty="0">
              <a:solidFill>
                <a:schemeClr val="bg1"/>
              </a:solidFill>
            </a:endParaRPr>
          </a:p>
          <a:p>
            <a:pPr lvl="1">
              <a:spcBef>
                <a:spcPts val="1000"/>
              </a:spcBef>
              <a:buClr>
                <a:srgbClr val="7BAF34"/>
              </a:buClr>
              <a:defRPr/>
            </a:pPr>
            <a:r>
              <a:rPr lang="en-US" b="1" dirty="0">
                <a:solidFill>
                  <a:schemeClr val="bg1"/>
                </a:solidFill>
              </a:rPr>
              <a:t>TP</a:t>
            </a:r>
            <a:r>
              <a:rPr lang="en-US" dirty="0">
                <a:solidFill>
                  <a:schemeClr val="bg1"/>
                </a:solidFill>
              </a:rPr>
              <a:t> list includes proteins expected to be </a:t>
            </a:r>
            <a:r>
              <a:rPr lang="en-US" b="1" dirty="0">
                <a:solidFill>
                  <a:schemeClr val="bg1"/>
                </a:solidFill>
              </a:rPr>
              <a:t>biotinylated</a:t>
            </a:r>
            <a:r>
              <a:rPr lang="en-US" dirty="0">
                <a:solidFill>
                  <a:schemeClr val="bg1"/>
                </a:solidFill>
              </a:rPr>
              <a:t> </a:t>
            </a:r>
          </a:p>
          <a:p>
            <a:pPr lvl="6">
              <a:spcBef>
                <a:spcPts val="1000"/>
              </a:spcBef>
              <a:buClr>
                <a:srgbClr val="7BAF34"/>
              </a:buClr>
              <a:defRPr/>
            </a:pPr>
            <a:r>
              <a:rPr lang="en-US" sz="1600" dirty="0">
                <a:solidFill>
                  <a:schemeClr val="bg1"/>
                </a:solidFill>
              </a:rPr>
              <a:t>Endoplasmic Reticulum,</a:t>
            </a:r>
          </a:p>
          <a:p>
            <a:pPr lvl="6">
              <a:spcBef>
                <a:spcPts val="1000"/>
              </a:spcBef>
              <a:buClr>
                <a:srgbClr val="7BAF34"/>
              </a:buClr>
              <a:defRPr/>
            </a:pPr>
            <a:r>
              <a:rPr lang="en-US" sz="1600" dirty="0">
                <a:solidFill>
                  <a:schemeClr val="bg1"/>
                </a:solidFill>
              </a:rPr>
              <a:t>Rough Endoplasmic Reticulum</a:t>
            </a:r>
          </a:p>
          <a:p>
            <a:pPr lvl="6">
              <a:spcBef>
                <a:spcPts val="1000"/>
              </a:spcBef>
              <a:buClr>
                <a:srgbClr val="7BAF34"/>
              </a:buClr>
              <a:defRPr/>
            </a:pPr>
            <a:r>
              <a:rPr lang="en-US" sz="1600" dirty="0">
                <a:solidFill>
                  <a:schemeClr val="bg1"/>
                </a:solidFill>
              </a:rPr>
              <a:t>Golgi </a:t>
            </a:r>
          </a:p>
          <a:p>
            <a:pPr lvl="6">
              <a:spcBef>
                <a:spcPts val="1000"/>
              </a:spcBef>
              <a:buClr>
                <a:srgbClr val="7BAF34"/>
              </a:buClr>
              <a:defRPr/>
            </a:pPr>
            <a:r>
              <a:rPr lang="en-US" sz="1600" dirty="0">
                <a:solidFill>
                  <a:schemeClr val="bg1"/>
                </a:solidFill>
              </a:rPr>
              <a:t>Secreted</a:t>
            </a:r>
          </a:p>
          <a:p>
            <a:pPr lvl="6">
              <a:spcBef>
                <a:spcPts val="1000"/>
              </a:spcBef>
              <a:buClr>
                <a:srgbClr val="7BAF34"/>
              </a:buClr>
              <a:defRPr/>
            </a:pPr>
            <a:r>
              <a:rPr lang="en-US" sz="1600" dirty="0">
                <a:solidFill>
                  <a:schemeClr val="bg1"/>
                </a:solidFill>
              </a:rPr>
              <a:t>Extracellular space</a:t>
            </a:r>
          </a:p>
          <a:p>
            <a:pPr lvl="6">
              <a:spcBef>
                <a:spcPts val="1000"/>
              </a:spcBef>
              <a:buClr>
                <a:srgbClr val="7BAF34"/>
              </a:buClr>
              <a:defRPr/>
            </a:pPr>
            <a:endParaRPr lang="en-US" sz="1600" dirty="0">
              <a:solidFill>
                <a:schemeClr val="bg1"/>
              </a:solidFill>
            </a:endParaRPr>
          </a:p>
          <a:p>
            <a:pPr lvl="1">
              <a:spcBef>
                <a:spcPts val="1000"/>
              </a:spcBef>
              <a:buClr>
                <a:srgbClr val="7BAF34"/>
              </a:buClr>
              <a:defRPr/>
            </a:pPr>
            <a:r>
              <a:rPr lang="en-US" b="1" dirty="0">
                <a:solidFill>
                  <a:schemeClr val="bg1"/>
                </a:solidFill>
              </a:rPr>
              <a:t>FP</a:t>
            </a:r>
            <a:r>
              <a:rPr lang="en-US" dirty="0">
                <a:solidFill>
                  <a:schemeClr val="bg1"/>
                </a:solidFill>
              </a:rPr>
              <a:t> list includes proteins </a:t>
            </a:r>
            <a:r>
              <a:rPr lang="en-US" b="1" dirty="0">
                <a:solidFill>
                  <a:schemeClr val="bg1"/>
                </a:solidFill>
              </a:rPr>
              <a:t>not expected to be biotinylated </a:t>
            </a:r>
          </a:p>
          <a:p>
            <a:pPr lvl="6">
              <a:spcBef>
                <a:spcPts val="1000"/>
              </a:spcBef>
              <a:buClr>
                <a:srgbClr val="7BAF34"/>
              </a:buClr>
              <a:defRPr/>
            </a:pPr>
            <a:r>
              <a:rPr lang="en-US" sz="1600" dirty="0">
                <a:solidFill>
                  <a:schemeClr val="bg1"/>
                </a:solidFill>
              </a:rPr>
              <a:t>Nucleus</a:t>
            </a:r>
          </a:p>
          <a:p>
            <a:pPr lvl="6">
              <a:spcBef>
                <a:spcPts val="1000"/>
              </a:spcBef>
              <a:buClr>
                <a:srgbClr val="7BAF34"/>
              </a:buClr>
              <a:defRPr/>
            </a:pPr>
            <a:r>
              <a:rPr lang="en-US" sz="1600" dirty="0">
                <a:solidFill>
                  <a:schemeClr val="bg1"/>
                </a:solidFill>
              </a:rPr>
              <a:t>Removed Proteins that have </a:t>
            </a:r>
            <a:r>
              <a:rPr lang="en-US" sz="1600" dirty="0" err="1">
                <a:solidFill>
                  <a:schemeClr val="bg1"/>
                </a:solidFill>
              </a:rPr>
              <a:t>SignalP</a:t>
            </a:r>
            <a:r>
              <a:rPr lang="en-US" sz="1600" dirty="0">
                <a:solidFill>
                  <a:schemeClr val="bg1"/>
                </a:solidFill>
              </a:rPr>
              <a:t> annotation</a:t>
            </a:r>
            <a:endParaRPr lang="en-US" sz="1700" dirty="0">
              <a:solidFill>
                <a:schemeClr val="bg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None/>
              <a:tabLst/>
              <a:defRPr/>
            </a:pPr>
            <a:endParaRPr kumimoji="0" lang="en-US" sz="1700" b="0" i="0" u="none" strike="noStrike" kern="1200" cap="none" spc="2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Font typeface="The Hand Extrablack" panose="03070A02030502020204" pitchFamily="66" charset="0"/>
              <a:buChar char="•"/>
              <a:tabLst/>
              <a:defRPr/>
            </a:pPr>
            <a:endParaRPr kumimoji="0" lang="en-US" sz="2000" b="0" i="0" u="none" strike="noStrike" kern="1200" cap="none" spc="2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5E71523-F602-E348-A5BD-06FBCA424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>
                <a:solidFill>
                  <a:schemeClr val="bg1"/>
                </a:solidFill>
              </a:rPr>
              <a:t>5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1ABB667-20E9-2148-9D46-594AF0F19BDC}"/>
              </a:ext>
            </a:extLst>
          </p:cNvPr>
          <p:cNvSpPr/>
          <p:nvPr/>
        </p:nvSpPr>
        <p:spPr>
          <a:xfrm>
            <a:off x="3098381" y="5710088"/>
            <a:ext cx="2738535" cy="40693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TP list: </a:t>
            </a:r>
            <a:r>
              <a:rPr lang="en-US" b="1" dirty="0">
                <a:solidFill>
                  <a:schemeClr val="bg1"/>
                </a:solidFill>
              </a:rPr>
              <a:t>3436</a:t>
            </a:r>
            <a:r>
              <a:rPr lang="en-US" dirty="0">
                <a:solidFill>
                  <a:schemeClr val="bg1"/>
                </a:solidFill>
              </a:rPr>
              <a:t> Proteins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0BEBF38-E4AD-0C49-A7C7-C2DD577D4EE4}"/>
              </a:ext>
            </a:extLst>
          </p:cNvPr>
          <p:cNvSpPr/>
          <p:nvPr/>
        </p:nvSpPr>
        <p:spPr>
          <a:xfrm>
            <a:off x="6110680" y="5710087"/>
            <a:ext cx="2738535" cy="406937"/>
          </a:xfrm>
          <a:prstGeom prst="rect">
            <a:avLst/>
          </a:prstGeom>
          <a:solidFill>
            <a:srgbClr val="FF7E79">
              <a:alpha val="21961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FP list: </a:t>
            </a:r>
            <a:r>
              <a:rPr lang="en-US" b="1" dirty="0">
                <a:solidFill>
                  <a:schemeClr val="bg1"/>
                </a:solidFill>
              </a:rPr>
              <a:t>4353</a:t>
            </a:r>
            <a:r>
              <a:rPr lang="en-US" dirty="0">
                <a:solidFill>
                  <a:schemeClr val="bg1"/>
                </a:solidFill>
              </a:rPr>
              <a:t> Proteins</a:t>
            </a:r>
          </a:p>
        </p:txBody>
      </p:sp>
    </p:spTree>
    <p:extLst>
      <p:ext uri="{BB962C8B-B14F-4D97-AF65-F5344CB8AC3E}">
        <p14:creationId xmlns:p14="http://schemas.microsoft.com/office/powerpoint/2010/main" val="37112903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A9E25E25-E0B7-A94D-B740-F1553DF6E4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92889"/>
            <a:ext cx="11052967" cy="225742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The same analysis was performed twice:</a:t>
            </a:r>
          </a:p>
          <a:p>
            <a:pPr marL="1371600" lvl="3" indent="0">
              <a:buNone/>
            </a:pPr>
            <a:r>
              <a:rPr lang="en-US" dirty="0">
                <a:solidFill>
                  <a:schemeClr val="bg1"/>
                </a:solidFill>
              </a:rPr>
              <a:t>    At least </a:t>
            </a:r>
            <a:r>
              <a:rPr lang="en-US" b="1" dirty="0">
                <a:solidFill>
                  <a:schemeClr val="bg1"/>
                </a:solidFill>
              </a:rPr>
              <a:t>1</a:t>
            </a:r>
            <a:r>
              <a:rPr lang="en-US" dirty="0">
                <a:solidFill>
                  <a:schemeClr val="bg1"/>
                </a:solidFill>
              </a:rPr>
              <a:t> peptide per protein (7_files_turbo_id_1pepperprotein) </a:t>
            </a:r>
          </a:p>
          <a:p>
            <a:pPr marL="1371600" lvl="3" indent="0">
              <a:buNone/>
            </a:pPr>
            <a:r>
              <a:rPr lang="en-US" dirty="0">
                <a:solidFill>
                  <a:schemeClr val="bg1"/>
                </a:solidFill>
              </a:rPr>
              <a:t>    At least </a:t>
            </a:r>
            <a:r>
              <a:rPr lang="en-US" b="1" dirty="0">
                <a:solidFill>
                  <a:schemeClr val="bg1"/>
                </a:solidFill>
              </a:rPr>
              <a:t>2</a:t>
            </a:r>
            <a:r>
              <a:rPr lang="en-US" dirty="0">
                <a:solidFill>
                  <a:schemeClr val="bg1"/>
                </a:solidFill>
              </a:rPr>
              <a:t> peptides per protein (7_files_turbo_id_2pepperprotein) </a:t>
            </a:r>
          </a:p>
          <a:p>
            <a:pPr marL="1371600" lvl="3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Font typeface="The Hand Extrablack" panose="03070A02030502020204" pitchFamily="66" charset="0"/>
              <a:buChar char="•"/>
              <a:tabLst/>
              <a:defRPr/>
            </a:pPr>
            <a:r>
              <a:rPr kumimoji="0" lang="en-US" sz="20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Both folders have the following structure:</a:t>
            </a:r>
          </a:p>
          <a:p>
            <a:pPr marL="1371600" lvl="3" indent="0">
              <a:buNone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2E6DC6-9E0D-BF41-BD13-30B6C7CD2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Processed Files Results</a:t>
            </a:r>
          </a:p>
        </p:txBody>
      </p:sp>
      <p:pic>
        <p:nvPicPr>
          <p:cNvPr id="7" name="Graphic 6" descr="Open folder with solid fill">
            <a:extLst>
              <a:ext uri="{FF2B5EF4-FFF2-40B4-BE49-F238E27FC236}">
                <a16:creationId xmlns:a16="http://schemas.microsoft.com/office/drawing/2014/main" id="{09A339EC-F7B1-E84C-BB48-79F329F5E3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53419" y="2078766"/>
            <a:ext cx="319086" cy="319086"/>
          </a:xfrm>
          <a:prstGeom prst="rect">
            <a:avLst/>
          </a:prstGeom>
        </p:spPr>
      </p:pic>
      <p:pic>
        <p:nvPicPr>
          <p:cNvPr id="18" name="Graphic 17" descr="Open folder with solid fill">
            <a:extLst>
              <a:ext uri="{FF2B5EF4-FFF2-40B4-BE49-F238E27FC236}">
                <a16:creationId xmlns:a16="http://schemas.microsoft.com/office/drawing/2014/main" id="{14001DC6-D61B-B745-BB7C-0EA0334975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32781" y="2483035"/>
            <a:ext cx="339724" cy="339724"/>
          </a:xfrm>
          <a:prstGeom prst="rect">
            <a:avLst/>
          </a:prstGeom>
        </p:spPr>
      </p:pic>
      <p:pic>
        <p:nvPicPr>
          <p:cNvPr id="10" name="Picture 9" descr="Graphical user interface, text, application, chat or text message&#10;&#10;Description automatically generated">
            <a:extLst>
              <a:ext uri="{FF2B5EF4-FFF2-40B4-BE49-F238E27FC236}">
                <a16:creationId xmlns:a16="http://schemas.microsoft.com/office/drawing/2014/main" id="{DDB62F4B-5928-8F4C-B411-F0C056B151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4972" y="4305526"/>
            <a:ext cx="3808721" cy="1881193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20" name="Picture 19" descr="Text&#10;&#10;Description automatically generated">
            <a:extLst>
              <a:ext uri="{FF2B5EF4-FFF2-40B4-BE49-F238E27FC236}">
                <a16:creationId xmlns:a16="http://schemas.microsoft.com/office/drawing/2014/main" id="{E73057F4-FF8C-0545-8922-96918BB373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1433" y="4305526"/>
            <a:ext cx="5219700" cy="1101560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0D42521E-C4FF-5F4D-81A5-2D263A15F5C5}"/>
              </a:ext>
            </a:extLst>
          </p:cNvPr>
          <p:cNvSpPr txBox="1"/>
          <p:nvPr/>
        </p:nvSpPr>
        <p:spPr>
          <a:xfrm>
            <a:off x="1704971" y="3997749"/>
            <a:ext cx="28726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Processed files: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CE5AA1A-31A4-3F4E-8E57-50ACEC1ACBBC}"/>
              </a:ext>
            </a:extLst>
          </p:cNvPr>
          <p:cNvSpPr txBox="1"/>
          <p:nvPr/>
        </p:nvSpPr>
        <p:spPr>
          <a:xfrm>
            <a:off x="5871432" y="3997748"/>
            <a:ext cx="28726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Filtered out peptides per file: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58FD3E4-67E1-FF4C-A17F-15E77E091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>
                <a:solidFill>
                  <a:schemeClr val="bg1"/>
                </a:solidFill>
              </a:rPr>
              <a:t>6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16673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4D159-D703-EB46-A775-A9D8DACAF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3187" y="3176662"/>
            <a:ext cx="10728322" cy="1477328"/>
          </a:xfrm>
        </p:spPr>
        <p:txBody>
          <a:bodyPr/>
          <a:lstStyle/>
          <a:p>
            <a:r>
              <a:rPr lang="en-US" dirty="0"/>
              <a:t>For each processed file…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36BA1B6-3F1C-8644-83D9-59559B12B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41924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E6DC6-9E0D-BF41-BD13-30B6C7CD2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Filtering of </a:t>
            </a:r>
            <a:r>
              <a:rPr lang="en-US" dirty="0" err="1">
                <a:solidFill>
                  <a:schemeClr val="bg1"/>
                </a:solidFill>
              </a:rPr>
              <a:t>cre</a:t>
            </a:r>
            <a:r>
              <a:rPr lang="en-US" dirty="0">
                <a:solidFill>
                  <a:schemeClr val="bg1"/>
                </a:solidFill>
              </a:rPr>
              <a:t>+ replicates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A9E25E25-E0B7-A94D-B740-F1553DF6E4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3678" y="1682595"/>
            <a:ext cx="11052967" cy="3864074"/>
          </a:xfrm>
        </p:spPr>
        <p:txBody>
          <a:bodyPr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Font typeface="The Hand Extrablack" panose="03070A02030502020204" pitchFamily="66" charset="0"/>
              <a:buChar char="•"/>
              <a:tabLst/>
              <a:defRPr/>
            </a:pPr>
            <a:r>
              <a:rPr kumimoji="0" lang="en-US" sz="20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Filtering is performed based on the experimental sample replicates for each condition</a:t>
            </a: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Font typeface="The Hand Extrablack" panose="03070A02030502020204" pitchFamily="66" charset="0"/>
              <a:buChar char="•"/>
              <a:tabLst/>
              <a:defRPr/>
            </a:pPr>
            <a:r>
              <a:rPr kumimoji="0" lang="en-US" sz="20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At least one pair (any 2 channels) out of the 3 or 4 </a:t>
            </a:r>
            <a:r>
              <a:rPr kumimoji="0" lang="en-US" sz="2000" b="0" i="0" u="none" strike="noStrike" kern="1200" cap="none" spc="2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cre</a:t>
            </a:r>
            <a:r>
              <a:rPr kumimoji="0" lang="en-US" sz="20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+ channels should have a min raw signal intensity sum &gt;= 10000 and a coefficient of variation &lt;= 0.5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None/>
              <a:tabLst/>
              <a:defRPr/>
            </a:pPr>
            <a:endParaRPr kumimoji="0" lang="en-US" sz="2000" b="1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None/>
              <a:tabLst/>
              <a:defRPr/>
            </a:pPr>
            <a:r>
              <a:rPr kumimoji="0" lang="en-US" sz="2000" b="1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Example: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None/>
              <a:tabLst/>
              <a:defRPr/>
            </a:pPr>
            <a:endParaRPr kumimoji="0" lang="en-US" sz="2000" b="0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lvl="1">
              <a:spcBef>
                <a:spcPts val="1000"/>
              </a:spcBef>
              <a:buClr>
                <a:srgbClr val="7BAF34"/>
              </a:buClr>
              <a:defRPr/>
            </a:pPr>
            <a:endParaRPr kumimoji="0" lang="en-US" b="0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Font typeface="The Hand Extrablack" panose="03070A02030502020204" pitchFamily="66" charset="0"/>
              <a:buChar char="•"/>
              <a:tabLst/>
              <a:defRPr/>
            </a:pPr>
            <a:endParaRPr lang="en-US" dirty="0">
              <a:solidFill>
                <a:srgbClr val="000000"/>
              </a:solidFill>
              <a:latin typeface="Avenir Next LT Pro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None/>
              <a:tabLst/>
              <a:defRPr/>
            </a:pPr>
            <a:endParaRPr kumimoji="0" lang="en-US" sz="2000" b="0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Font typeface="The Hand Extrablack" panose="03070A02030502020204" pitchFamily="66" charset="0"/>
              <a:buChar char="•"/>
              <a:tabLst/>
              <a:defRPr/>
            </a:pPr>
            <a:endParaRPr kumimoji="0" lang="en-US" sz="2000" b="0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70132F0F-2CBE-9B4E-8639-91B3C9650D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4533509"/>
              </p:ext>
            </p:extLst>
          </p:nvPr>
        </p:nvGraphicFramePr>
        <p:xfrm>
          <a:off x="1139033" y="4151706"/>
          <a:ext cx="4784727" cy="31765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94539">
                  <a:extLst>
                    <a:ext uri="{9D8B030D-6E8A-4147-A177-3AD203B41FA5}">
                      <a16:colId xmlns:a16="http://schemas.microsoft.com/office/drawing/2014/main" val="955806452"/>
                    </a:ext>
                  </a:extLst>
                </a:gridCol>
                <a:gridCol w="1595094">
                  <a:extLst>
                    <a:ext uri="{9D8B030D-6E8A-4147-A177-3AD203B41FA5}">
                      <a16:colId xmlns:a16="http://schemas.microsoft.com/office/drawing/2014/main" val="310811147"/>
                    </a:ext>
                  </a:extLst>
                </a:gridCol>
                <a:gridCol w="1595094">
                  <a:extLst>
                    <a:ext uri="{9D8B030D-6E8A-4147-A177-3AD203B41FA5}">
                      <a16:colId xmlns:a16="http://schemas.microsoft.com/office/drawing/2014/main" val="4159410820"/>
                    </a:ext>
                  </a:extLst>
                </a:gridCol>
              </a:tblGrid>
              <a:tr h="317655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200" dirty="0">
                          <a:effectLst/>
                        </a:rPr>
                        <a:t>4000</a:t>
                      </a:r>
                      <a:endParaRPr lang="en-US" sz="1200" dirty="0">
                        <a:solidFill>
                          <a:srgbClr val="2E2E2E"/>
                        </a:solidFill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200" dirty="0">
                          <a:effectLst/>
                        </a:rPr>
                        <a:t>6000</a:t>
                      </a:r>
                      <a:endParaRPr lang="en-US" sz="1200" dirty="0">
                        <a:solidFill>
                          <a:srgbClr val="2E2E2E"/>
                        </a:solidFill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200" dirty="0">
                          <a:effectLst/>
                        </a:rPr>
                        <a:t>5</a:t>
                      </a:r>
                      <a:endParaRPr lang="en-US" sz="1200" dirty="0">
                        <a:solidFill>
                          <a:srgbClr val="2E2E2E"/>
                        </a:solidFill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75113717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459F9E0E-2EFE-4E4F-8341-4C70BBC653A3}"/>
              </a:ext>
            </a:extLst>
          </p:cNvPr>
          <p:cNvSpPr txBox="1"/>
          <p:nvPr/>
        </p:nvSpPr>
        <p:spPr>
          <a:xfrm>
            <a:off x="1139033" y="4647014"/>
            <a:ext cx="4956967" cy="149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None/>
              <a:tabLst/>
              <a:defRPr/>
            </a:pPr>
            <a:r>
              <a:rPr kumimoji="0" lang="en-US" sz="14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1 ) and 2) sum: pass, cv: pass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None/>
              <a:tabLst/>
              <a:defRPr/>
            </a:pPr>
            <a:r>
              <a:rPr kumimoji="0" lang="en-US" sz="14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1 ) and 3) sum: not pass, cv: not pass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None/>
              <a:tabLst/>
              <a:defRPr/>
            </a:pPr>
            <a:r>
              <a:rPr kumimoji="0" lang="en-US" sz="14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2 ) and 3) sum: not pass, cv: not pass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None/>
              <a:tabLst/>
              <a:defRPr/>
            </a:pPr>
            <a:r>
              <a:rPr lang="en-US" sz="1400" spc="20" dirty="0">
                <a:solidFill>
                  <a:srgbClr val="000000"/>
                </a:solidFill>
                <a:latin typeface="Avenir Next LT Pro"/>
              </a:rPr>
              <a:t>= </a:t>
            </a:r>
            <a:r>
              <a:rPr kumimoji="0" lang="en-US" sz="14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at least one pair passed so this uniport ID passes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A5EF730-B9B2-2845-95EF-E974F2BE351B}"/>
              </a:ext>
            </a:extLst>
          </p:cNvPr>
          <p:cNvSpPr txBox="1"/>
          <p:nvPr/>
        </p:nvSpPr>
        <p:spPr>
          <a:xfrm>
            <a:off x="6096000" y="4695382"/>
            <a:ext cx="4784727" cy="149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None/>
              <a:tabLst/>
              <a:defRPr/>
            </a:pPr>
            <a:r>
              <a:rPr kumimoji="0" lang="en-US" sz="14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1 ) and 2) sum: pass, cv: not pass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None/>
              <a:tabLst/>
              <a:defRPr/>
            </a:pPr>
            <a:r>
              <a:rPr kumimoji="0" lang="en-US" sz="14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1 ) and 3) sum: pass, cv: not pass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None/>
              <a:tabLst/>
              <a:defRPr/>
            </a:pPr>
            <a:r>
              <a:rPr kumimoji="0" lang="en-US" sz="14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2 ) and 3) sum: pass, cv: pass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None/>
              <a:tabLst/>
              <a:defRPr/>
            </a:pPr>
            <a:r>
              <a:rPr lang="en-US" sz="1400" spc="20" dirty="0">
                <a:solidFill>
                  <a:srgbClr val="000000"/>
                </a:solidFill>
                <a:latin typeface="Avenir Next LT Pro"/>
              </a:rPr>
              <a:t>=</a:t>
            </a:r>
            <a:r>
              <a:rPr kumimoji="0" lang="en-US" sz="14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 at least one pair passed so this uniport ID passes 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8E795C68-EB22-F749-A705-A601021DDD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455020"/>
              </p:ext>
            </p:extLst>
          </p:nvPr>
        </p:nvGraphicFramePr>
        <p:xfrm>
          <a:off x="6137440" y="4139087"/>
          <a:ext cx="4784727" cy="31765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94539">
                  <a:extLst>
                    <a:ext uri="{9D8B030D-6E8A-4147-A177-3AD203B41FA5}">
                      <a16:colId xmlns:a16="http://schemas.microsoft.com/office/drawing/2014/main" val="955806452"/>
                    </a:ext>
                  </a:extLst>
                </a:gridCol>
                <a:gridCol w="1595094">
                  <a:extLst>
                    <a:ext uri="{9D8B030D-6E8A-4147-A177-3AD203B41FA5}">
                      <a16:colId xmlns:a16="http://schemas.microsoft.com/office/drawing/2014/main" val="310811147"/>
                    </a:ext>
                  </a:extLst>
                </a:gridCol>
                <a:gridCol w="1595094">
                  <a:extLst>
                    <a:ext uri="{9D8B030D-6E8A-4147-A177-3AD203B41FA5}">
                      <a16:colId xmlns:a16="http://schemas.microsoft.com/office/drawing/2014/main" val="4159410820"/>
                    </a:ext>
                  </a:extLst>
                </a:gridCol>
              </a:tblGrid>
              <a:tr h="317655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200" dirty="0">
                          <a:effectLst/>
                        </a:rPr>
                        <a:t>1500000</a:t>
                      </a:r>
                      <a:endParaRPr lang="en-US" sz="1200" dirty="0">
                        <a:solidFill>
                          <a:srgbClr val="2E2E2E"/>
                        </a:solidFill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200" dirty="0">
                          <a:effectLst/>
                        </a:rPr>
                        <a:t>5000</a:t>
                      </a:r>
                      <a:endParaRPr lang="en-US" sz="1200" dirty="0">
                        <a:solidFill>
                          <a:srgbClr val="2E2E2E"/>
                        </a:solidFill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200" dirty="0">
                          <a:effectLst/>
                        </a:rPr>
                        <a:t>6000</a:t>
                      </a:r>
                      <a:endParaRPr lang="en-US" sz="1200" dirty="0">
                        <a:solidFill>
                          <a:srgbClr val="2E2E2E"/>
                        </a:solidFill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75113717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D6F3C52-A33C-B54E-85E5-94566199A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>
                <a:solidFill>
                  <a:schemeClr val="bg1"/>
                </a:solidFill>
              </a:rPr>
              <a:t>8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25C82C-B52B-9540-A866-5C8CB5D8D5B5}"/>
              </a:ext>
            </a:extLst>
          </p:cNvPr>
          <p:cNvSpPr/>
          <p:nvPr/>
        </p:nvSpPr>
        <p:spPr>
          <a:xfrm>
            <a:off x="1065540" y="4073236"/>
            <a:ext cx="4927181" cy="228222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AD48439-373F-974D-A664-2A6B8C2B07BD}"/>
              </a:ext>
            </a:extLst>
          </p:cNvPr>
          <p:cNvSpPr/>
          <p:nvPr/>
        </p:nvSpPr>
        <p:spPr>
          <a:xfrm>
            <a:off x="6066214" y="4073236"/>
            <a:ext cx="4927181" cy="228222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6291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E6DC6-9E0D-BF41-BD13-30B6C7CD2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Preparation of ratios and annotation of proteins 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A9E25E25-E0B7-A94D-B740-F1553DF6E4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9033" y="1722848"/>
            <a:ext cx="11052967" cy="4302149"/>
          </a:xfrm>
        </p:spPr>
        <p:txBody>
          <a:bodyPr>
            <a:normAutofit/>
          </a:bodyPr>
          <a:lstStyle/>
          <a:p>
            <a:pPr lvl="1">
              <a:spcBef>
                <a:spcPts val="1000"/>
              </a:spcBef>
              <a:buClr>
                <a:srgbClr val="7BAF34"/>
              </a:buClr>
              <a:defRPr/>
            </a:pPr>
            <a:r>
              <a:rPr lang="en-US" dirty="0">
                <a:solidFill>
                  <a:srgbClr val="000000"/>
                </a:solidFill>
                <a:latin typeface="Avenir Next LT Pro"/>
              </a:rPr>
              <a:t>1) Calculate Ratios per condition (experimental sample/negative control sample) </a:t>
            </a:r>
          </a:p>
          <a:p>
            <a:pPr lvl="1">
              <a:spcBef>
                <a:spcPts val="1000"/>
              </a:spcBef>
              <a:buClr>
                <a:srgbClr val="7BAF34"/>
              </a:buClr>
              <a:defRPr/>
            </a:pPr>
            <a:endParaRPr lang="en-US" dirty="0">
              <a:solidFill>
                <a:srgbClr val="000000"/>
              </a:solidFill>
              <a:latin typeface="Avenir Next LT Pro"/>
            </a:endParaRPr>
          </a:p>
          <a:p>
            <a:pPr lvl="1">
              <a:spcBef>
                <a:spcPts val="1000"/>
              </a:spcBef>
              <a:buClr>
                <a:srgbClr val="7BAF34"/>
              </a:buClr>
              <a:defRPr/>
            </a:pPr>
            <a:endParaRPr lang="en-US" dirty="0">
              <a:solidFill>
                <a:srgbClr val="000000"/>
              </a:solidFill>
              <a:latin typeface="Avenir Next LT Pro"/>
            </a:endParaRPr>
          </a:p>
          <a:p>
            <a:pPr lvl="1">
              <a:spcBef>
                <a:spcPts val="1000"/>
              </a:spcBef>
              <a:buClr>
                <a:srgbClr val="7BAF34"/>
              </a:buClr>
              <a:defRPr/>
            </a:pPr>
            <a:endParaRPr lang="en-US" dirty="0">
              <a:solidFill>
                <a:srgbClr val="000000"/>
              </a:solidFill>
              <a:latin typeface="Avenir Next LT Pro"/>
            </a:endParaRPr>
          </a:p>
          <a:p>
            <a:pPr lvl="1">
              <a:spcBef>
                <a:spcPts val="1000"/>
              </a:spcBef>
              <a:buClr>
                <a:srgbClr val="7BAF34"/>
              </a:buClr>
              <a:defRPr/>
            </a:pPr>
            <a:endParaRPr lang="en-US" dirty="0">
              <a:solidFill>
                <a:srgbClr val="000000"/>
              </a:solidFill>
              <a:latin typeface="Avenir Next LT Pro"/>
            </a:endParaRPr>
          </a:p>
          <a:p>
            <a:pPr marL="457200" lvl="1" indent="0">
              <a:spcBef>
                <a:spcPts val="1000"/>
              </a:spcBef>
              <a:buClr>
                <a:srgbClr val="7BAF34"/>
              </a:buClr>
              <a:buNone/>
              <a:defRPr/>
            </a:pPr>
            <a:endParaRPr lang="en-US" dirty="0">
              <a:solidFill>
                <a:srgbClr val="000000"/>
              </a:solidFill>
              <a:latin typeface="Avenir Next LT Pro"/>
            </a:endParaRPr>
          </a:p>
          <a:p>
            <a:pPr marL="457200" lvl="1" indent="0">
              <a:spcBef>
                <a:spcPts val="1000"/>
              </a:spcBef>
              <a:buClr>
                <a:srgbClr val="7BAF34"/>
              </a:buClr>
              <a:buNone/>
              <a:defRPr/>
            </a:pPr>
            <a:endParaRPr lang="en-US" dirty="0">
              <a:solidFill>
                <a:srgbClr val="000000"/>
              </a:solidFill>
              <a:latin typeface="Avenir Next LT Pro"/>
            </a:endParaRPr>
          </a:p>
          <a:p>
            <a:pPr lvl="1">
              <a:spcBef>
                <a:spcPts val="1000"/>
              </a:spcBef>
              <a:buClr>
                <a:srgbClr val="7BAF34"/>
              </a:buClr>
              <a:defRPr/>
            </a:pPr>
            <a:r>
              <a:rPr kumimoji="0" lang="en-US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2) Annotate Proteins as TP or FP (depending in which list they are in) </a:t>
            </a:r>
          </a:p>
          <a:p>
            <a:pPr marL="457200" lvl="1" indent="0">
              <a:spcBef>
                <a:spcPts val="1000"/>
              </a:spcBef>
              <a:buClr>
                <a:srgbClr val="7BAF34"/>
              </a:buClr>
              <a:buNone/>
              <a:defRPr/>
            </a:pPr>
            <a:endParaRPr kumimoji="0" lang="en-US" b="0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None/>
              <a:tabLst/>
              <a:defRPr/>
            </a:pPr>
            <a:endParaRPr kumimoji="0" lang="en-US" sz="2000" b="0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lvl="1">
              <a:spcBef>
                <a:spcPts val="1000"/>
              </a:spcBef>
              <a:buClr>
                <a:srgbClr val="7BAF34"/>
              </a:buClr>
              <a:defRPr/>
            </a:pPr>
            <a:endParaRPr kumimoji="0" lang="en-US" b="0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Font typeface="The Hand Extrablack" panose="03070A02030502020204" pitchFamily="66" charset="0"/>
              <a:buChar char="•"/>
              <a:tabLst/>
              <a:defRPr/>
            </a:pPr>
            <a:endParaRPr lang="en-US" dirty="0">
              <a:solidFill>
                <a:srgbClr val="000000"/>
              </a:solidFill>
              <a:latin typeface="Avenir Next LT Pro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None/>
              <a:tabLst/>
              <a:defRPr/>
            </a:pPr>
            <a:endParaRPr kumimoji="0" lang="en-US" sz="2000" b="0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Font typeface="The Hand Extrablack" panose="03070A02030502020204" pitchFamily="66" charset="0"/>
              <a:buChar char="•"/>
              <a:tabLst/>
              <a:defRPr/>
            </a:pPr>
            <a:endParaRPr kumimoji="0" lang="en-US" sz="2000" b="0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98C0588-2FCC-1F46-B729-8B4FE9451948}"/>
              </a:ext>
            </a:extLst>
          </p:cNvPr>
          <p:cNvSpPr/>
          <p:nvPr/>
        </p:nvSpPr>
        <p:spPr>
          <a:xfrm>
            <a:off x="5784630" y="2617450"/>
            <a:ext cx="4772719" cy="20985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lvl="1" indent="0">
              <a:spcBef>
                <a:spcPts val="1000"/>
              </a:spcBef>
              <a:buClr>
                <a:srgbClr val="7BAF34"/>
              </a:buClr>
              <a:buNone/>
              <a:defRPr/>
            </a:pPr>
            <a:r>
              <a:rPr lang="en-US" sz="1400" dirty="0">
                <a:solidFill>
                  <a:schemeClr val="accent6">
                    <a:lumMod val="75000"/>
                  </a:schemeClr>
                </a:solidFill>
                <a:latin typeface="Avenir Next LT Pro"/>
              </a:rPr>
              <a:t>ratio_iWAT_HF_cre+_1</a:t>
            </a:r>
            <a:r>
              <a:rPr lang="en-US" sz="1400" dirty="0">
                <a:solidFill>
                  <a:srgbClr val="000000"/>
                </a:solidFill>
                <a:latin typeface="Avenir Next LT Pro"/>
              </a:rPr>
              <a:t>/</a:t>
            </a:r>
            <a:r>
              <a:rPr lang="en-US" sz="1400" dirty="0">
                <a:solidFill>
                  <a:schemeClr val="accent3">
                    <a:lumMod val="75000"/>
                  </a:schemeClr>
                </a:solidFill>
                <a:latin typeface="Avenir Next LT Pro"/>
              </a:rPr>
              <a:t>iWAT_HF_cre-1</a:t>
            </a:r>
          </a:p>
          <a:p>
            <a:pPr marL="457200" lvl="1" indent="0">
              <a:spcBef>
                <a:spcPts val="1000"/>
              </a:spcBef>
              <a:buClr>
                <a:srgbClr val="7BAF34"/>
              </a:buClr>
              <a:buNone/>
              <a:defRPr/>
            </a:pPr>
            <a:r>
              <a:rPr lang="en-US" sz="1400" dirty="0">
                <a:solidFill>
                  <a:schemeClr val="accent6">
                    <a:lumMod val="75000"/>
                  </a:schemeClr>
                </a:solidFill>
                <a:latin typeface="Avenir Next LT Pro"/>
              </a:rPr>
              <a:t>ratio_iWAT_HF_cre+_1</a:t>
            </a:r>
            <a:r>
              <a:rPr lang="en-US" sz="1400" dirty="0">
                <a:solidFill>
                  <a:srgbClr val="000000"/>
                </a:solidFill>
                <a:latin typeface="Avenir Next LT Pro"/>
              </a:rPr>
              <a:t>/</a:t>
            </a:r>
            <a:r>
              <a:rPr lang="en-US" sz="1400" dirty="0">
                <a:solidFill>
                  <a:schemeClr val="accent3">
                    <a:lumMod val="75000"/>
                  </a:schemeClr>
                </a:solidFill>
                <a:latin typeface="Avenir Next LT Pro"/>
              </a:rPr>
              <a:t>iWAT_HF_cre-_2 	</a:t>
            </a:r>
          </a:p>
          <a:p>
            <a:pPr marL="457200" lvl="1" indent="0">
              <a:spcBef>
                <a:spcPts val="1000"/>
              </a:spcBef>
              <a:buClr>
                <a:srgbClr val="7BAF34"/>
              </a:buClr>
              <a:buNone/>
              <a:defRPr/>
            </a:pPr>
            <a:r>
              <a:rPr lang="en-US" sz="1400" dirty="0">
                <a:solidFill>
                  <a:schemeClr val="accent6">
                    <a:lumMod val="75000"/>
                  </a:schemeClr>
                </a:solidFill>
                <a:latin typeface="Avenir Next LT Pro"/>
              </a:rPr>
              <a:t>ratio_iWAT_HF_cre+_2</a:t>
            </a:r>
            <a:r>
              <a:rPr lang="en-US" sz="1400" dirty="0">
                <a:solidFill>
                  <a:srgbClr val="000000"/>
                </a:solidFill>
                <a:latin typeface="Avenir Next LT Pro"/>
              </a:rPr>
              <a:t>/</a:t>
            </a:r>
            <a:r>
              <a:rPr lang="en-US" sz="1400" dirty="0">
                <a:solidFill>
                  <a:schemeClr val="accent3">
                    <a:lumMod val="75000"/>
                  </a:schemeClr>
                </a:solidFill>
                <a:latin typeface="Avenir Next LT Pro"/>
              </a:rPr>
              <a:t>iWAT_HF_cre-_1 </a:t>
            </a:r>
            <a:r>
              <a:rPr lang="en-US" sz="1400" dirty="0">
                <a:solidFill>
                  <a:srgbClr val="000000"/>
                </a:solidFill>
                <a:latin typeface="Avenir Next LT Pro"/>
              </a:rPr>
              <a:t>	</a:t>
            </a:r>
          </a:p>
          <a:p>
            <a:pPr marL="457200" lvl="1" indent="0">
              <a:spcBef>
                <a:spcPts val="1000"/>
              </a:spcBef>
              <a:buClr>
                <a:srgbClr val="7BAF34"/>
              </a:buClr>
              <a:buNone/>
              <a:defRPr/>
            </a:pPr>
            <a:r>
              <a:rPr lang="en-US" sz="1400" dirty="0">
                <a:solidFill>
                  <a:schemeClr val="accent6">
                    <a:lumMod val="75000"/>
                  </a:schemeClr>
                </a:solidFill>
                <a:latin typeface="Avenir Next LT Pro"/>
              </a:rPr>
              <a:t>ratio_iWAT_HF_cre+_2</a:t>
            </a:r>
            <a:r>
              <a:rPr lang="en-US" sz="1400" dirty="0">
                <a:solidFill>
                  <a:srgbClr val="000000"/>
                </a:solidFill>
                <a:latin typeface="Avenir Next LT Pro"/>
              </a:rPr>
              <a:t>/</a:t>
            </a:r>
            <a:r>
              <a:rPr lang="en-US" sz="1400" dirty="0">
                <a:solidFill>
                  <a:schemeClr val="accent3">
                    <a:lumMod val="75000"/>
                  </a:schemeClr>
                </a:solidFill>
                <a:latin typeface="Avenir Next LT Pro"/>
              </a:rPr>
              <a:t>iWAT_HF_cre-_2 </a:t>
            </a:r>
            <a:r>
              <a:rPr lang="en-US" sz="1400" dirty="0">
                <a:solidFill>
                  <a:srgbClr val="000000"/>
                </a:solidFill>
                <a:latin typeface="Avenir Next LT Pro"/>
              </a:rPr>
              <a:t>	</a:t>
            </a:r>
          </a:p>
          <a:p>
            <a:pPr marL="457200" lvl="1" indent="0">
              <a:spcBef>
                <a:spcPts val="1000"/>
              </a:spcBef>
              <a:buClr>
                <a:srgbClr val="7BAF34"/>
              </a:buClr>
              <a:buNone/>
              <a:defRPr/>
            </a:pPr>
            <a:r>
              <a:rPr lang="en-US" sz="1400" dirty="0">
                <a:solidFill>
                  <a:schemeClr val="accent6">
                    <a:lumMod val="75000"/>
                  </a:schemeClr>
                </a:solidFill>
                <a:latin typeface="Avenir Next LT Pro"/>
              </a:rPr>
              <a:t>ratio_iWAT_HF_cre+_3</a:t>
            </a:r>
            <a:r>
              <a:rPr lang="en-US" sz="1400" dirty="0">
                <a:solidFill>
                  <a:srgbClr val="000000"/>
                </a:solidFill>
                <a:latin typeface="Avenir Next LT Pro"/>
              </a:rPr>
              <a:t>/</a:t>
            </a:r>
            <a:r>
              <a:rPr lang="en-US" sz="1400" dirty="0">
                <a:solidFill>
                  <a:schemeClr val="accent3">
                    <a:lumMod val="75000"/>
                  </a:schemeClr>
                </a:solidFill>
                <a:latin typeface="Avenir Next LT Pro"/>
              </a:rPr>
              <a:t>iWAT_HF_cre-_1 </a:t>
            </a:r>
            <a:r>
              <a:rPr lang="en-US" sz="1400" dirty="0">
                <a:solidFill>
                  <a:srgbClr val="000000"/>
                </a:solidFill>
                <a:latin typeface="Avenir Next LT Pro"/>
              </a:rPr>
              <a:t>	</a:t>
            </a:r>
          </a:p>
          <a:p>
            <a:pPr marL="457200" lvl="1" indent="0">
              <a:spcBef>
                <a:spcPts val="1000"/>
              </a:spcBef>
              <a:buClr>
                <a:srgbClr val="7BAF34"/>
              </a:buClr>
              <a:buNone/>
              <a:defRPr/>
            </a:pPr>
            <a:r>
              <a:rPr lang="en-US" sz="1400" dirty="0">
                <a:solidFill>
                  <a:schemeClr val="accent6">
                    <a:lumMod val="75000"/>
                  </a:schemeClr>
                </a:solidFill>
                <a:latin typeface="Avenir Next LT Pro"/>
              </a:rPr>
              <a:t>ratio_iWAT_HF_cre+_3</a:t>
            </a:r>
            <a:r>
              <a:rPr lang="en-US" sz="1400" dirty="0">
                <a:solidFill>
                  <a:srgbClr val="000000"/>
                </a:solidFill>
                <a:latin typeface="Avenir Next LT Pro"/>
              </a:rPr>
              <a:t>/</a:t>
            </a:r>
            <a:r>
              <a:rPr lang="en-US" sz="1400" dirty="0">
                <a:solidFill>
                  <a:schemeClr val="accent3">
                    <a:lumMod val="75000"/>
                  </a:schemeClr>
                </a:solidFill>
                <a:latin typeface="Avenir Next LT Pro"/>
              </a:rPr>
              <a:t>iWAT_HF_cre-_2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84CA4F1-5E7E-E04F-8E11-8D7E1AFE32C8}"/>
              </a:ext>
            </a:extLst>
          </p:cNvPr>
          <p:cNvSpPr/>
          <p:nvPr/>
        </p:nvSpPr>
        <p:spPr>
          <a:xfrm>
            <a:off x="1944032" y="2482850"/>
            <a:ext cx="2895598" cy="23677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lvl="1" indent="0">
              <a:spcBef>
                <a:spcPts val="1000"/>
              </a:spcBef>
              <a:buClr>
                <a:srgbClr val="7BAF34"/>
              </a:buClr>
              <a:buNone/>
              <a:defRPr/>
            </a:pPr>
            <a:r>
              <a:rPr lang="en-US" sz="1400" dirty="0">
                <a:solidFill>
                  <a:schemeClr val="accent6">
                    <a:lumMod val="75000"/>
                  </a:schemeClr>
                </a:solidFill>
                <a:latin typeface="Avenir Next LT Pro"/>
              </a:rPr>
              <a:t>ratio_iWAT_HF_cre+_1</a:t>
            </a:r>
          </a:p>
          <a:p>
            <a:pPr marL="457200" lvl="1" indent="0">
              <a:spcBef>
                <a:spcPts val="1000"/>
              </a:spcBef>
              <a:buClr>
                <a:srgbClr val="7BAF34"/>
              </a:buClr>
              <a:buNone/>
              <a:defRPr/>
            </a:pPr>
            <a:r>
              <a:rPr lang="en-US" sz="1400" dirty="0">
                <a:solidFill>
                  <a:schemeClr val="accent6">
                    <a:lumMod val="75000"/>
                  </a:schemeClr>
                </a:solidFill>
                <a:latin typeface="Avenir Next LT Pro"/>
              </a:rPr>
              <a:t>ratio_iWAT_HF_cre+_2</a:t>
            </a:r>
          </a:p>
          <a:p>
            <a:pPr marL="457200" lvl="1" indent="0">
              <a:spcBef>
                <a:spcPts val="1000"/>
              </a:spcBef>
              <a:buClr>
                <a:srgbClr val="7BAF34"/>
              </a:buClr>
              <a:buNone/>
              <a:defRPr/>
            </a:pPr>
            <a:r>
              <a:rPr lang="en-US" sz="1400" dirty="0">
                <a:solidFill>
                  <a:schemeClr val="accent6">
                    <a:lumMod val="75000"/>
                  </a:schemeClr>
                </a:solidFill>
                <a:latin typeface="Avenir Next LT Pro"/>
              </a:rPr>
              <a:t>ratio_iWAT_HF_cre+_3</a:t>
            </a:r>
          </a:p>
          <a:p>
            <a:pPr marL="457200" lvl="1" indent="0">
              <a:spcBef>
                <a:spcPts val="1000"/>
              </a:spcBef>
              <a:buClr>
                <a:srgbClr val="7BAF34"/>
              </a:buClr>
              <a:buNone/>
              <a:defRPr/>
            </a:pPr>
            <a:endParaRPr lang="en-US" sz="1400" dirty="0">
              <a:solidFill>
                <a:srgbClr val="000000"/>
              </a:solidFill>
              <a:latin typeface="Avenir Next LT Pro"/>
            </a:endParaRPr>
          </a:p>
          <a:p>
            <a:pPr lvl="1">
              <a:spcBef>
                <a:spcPts val="1000"/>
              </a:spcBef>
              <a:buClr>
                <a:srgbClr val="7BAF34"/>
              </a:buClr>
              <a:defRPr/>
            </a:pPr>
            <a:r>
              <a:rPr lang="en-US" sz="1400" dirty="0">
                <a:solidFill>
                  <a:schemeClr val="accent2">
                    <a:lumMod val="75000"/>
                  </a:schemeClr>
                </a:solidFill>
                <a:latin typeface="Avenir Next LT Pro"/>
              </a:rPr>
              <a:t>iWAT_HF_cre-1</a:t>
            </a:r>
          </a:p>
          <a:p>
            <a:pPr lvl="1">
              <a:spcBef>
                <a:spcPts val="1000"/>
              </a:spcBef>
              <a:buClr>
                <a:srgbClr val="7BAF34"/>
              </a:buClr>
              <a:defRPr/>
            </a:pPr>
            <a:r>
              <a:rPr lang="en-US" sz="1400" dirty="0">
                <a:solidFill>
                  <a:schemeClr val="accent2">
                    <a:lumMod val="75000"/>
                  </a:schemeClr>
                </a:solidFill>
                <a:latin typeface="Avenir Next LT Pro"/>
              </a:rPr>
              <a:t>iWAT_HF_cre-_2 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D9888D9-953F-E846-A843-6B402151BBF4}"/>
              </a:ext>
            </a:extLst>
          </p:cNvPr>
          <p:cNvCxnSpPr/>
          <p:nvPr/>
        </p:nvCxnSpPr>
        <p:spPr>
          <a:xfrm>
            <a:off x="5018049" y="3695714"/>
            <a:ext cx="50180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FA1D46-FDB2-5F44-9341-CDFEA1505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>
                <a:solidFill>
                  <a:schemeClr val="bg1"/>
                </a:solidFill>
              </a:rPr>
              <a:t>9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60673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4D159-D703-EB46-A775-A9D8DACAF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3187" y="3176662"/>
            <a:ext cx="10728322" cy="1477328"/>
          </a:xfrm>
        </p:spPr>
        <p:txBody>
          <a:bodyPr/>
          <a:lstStyle/>
          <a:p>
            <a:r>
              <a:rPr lang="en-US" dirty="0"/>
              <a:t>For each calculated ratio…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F264F9-6389-6444-9635-3D88909F1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8699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E6DC6-9E0D-BF41-BD13-30B6C7CD2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Approach to determine the final proteome lists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A9E25E25-E0B7-A94D-B740-F1553DF6E4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3678" y="1785264"/>
            <a:ext cx="10097003" cy="4302149"/>
          </a:xfrm>
        </p:spPr>
        <p:txBody>
          <a:bodyPr>
            <a:normAutofit/>
          </a:bodyPr>
          <a:lstStyle/>
          <a:p>
            <a:pPr lvl="1">
              <a:spcBef>
                <a:spcPts val="1000"/>
              </a:spcBef>
              <a:buClr>
                <a:srgbClr val="7BAF34"/>
              </a:buClr>
              <a:defRPr/>
            </a:pPr>
            <a:r>
              <a:rPr lang="en-US" dirty="0">
                <a:solidFill>
                  <a:schemeClr val="bg1"/>
                </a:solidFill>
              </a:rPr>
              <a:t>receiver operating characteristic (ROC)-based analysis </a:t>
            </a:r>
          </a:p>
          <a:p>
            <a:pPr lvl="1">
              <a:spcBef>
                <a:spcPts val="1000"/>
              </a:spcBef>
              <a:buClr>
                <a:srgbClr val="7BAF34"/>
              </a:buClr>
              <a:defRPr/>
            </a:pPr>
            <a:r>
              <a:rPr lang="en-US" dirty="0">
                <a:solidFill>
                  <a:schemeClr val="bg1"/>
                </a:solidFill>
              </a:rPr>
              <a:t>with use of curated lists of true-positive (TP) and false-positive (FP) proteins</a:t>
            </a:r>
          </a:p>
          <a:p>
            <a:pPr lvl="1">
              <a:spcBef>
                <a:spcPts val="1000"/>
              </a:spcBef>
              <a:buClr>
                <a:srgbClr val="7BAF34"/>
              </a:buClr>
              <a:defRPr/>
            </a:pPr>
            <a:r>
              <a:rPr lang="en-US" dirty="0">
                <a:solidFill>
                  <a:schemeClr val="bg1"/>
                </a:solidFill>
              </a:rPr>
              <a:t>allows to establish optimal cutoffs</a:t>
            </a:r>
          </a:p>
          <a:p>
            <a:pPr lvl="1">
              <a:spcBef>
                <a:spcPts val="1000"/>
              </a:spcBef>
              <a:buClr>
                <a:srgbClr val="7BAF34"/>
              </a:buClr>
              <a:defRPr/>
            </a:pPr>
            <a:r>
              <a:rPr lang="en-US" dirty="0">
                <a:solidFill>
                  <a:schemeClr val="bg1"/>
                </a:solidFill>
              </a:rPr>
              <a:t>cutoffs maximize the TP proteins and minimize FP proteins in the final lists</a:t>
            </a:r>
            <a:endParaRPr kumimoji="0" lang="en-US" sz="2000" b="0" i="0" u="none" strike="noStrike" kern="1200" cap="none" spc="2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457200" lvl="1" indent="0">
              <a:spcBef>
                <a:spcPts val="1000"/>
              </a:spcBef>
              <a:buClr>
                <a:srgbClr val="7BAF34"/>
              </a:buClr>
              <a:buNone/>
              <a:defRPr/>
            </a:pPr>
            <a:endParaRPr kumimoji="0" lang="en-US" b="0" i="0" u="none" strike="noStrike" kern="1200" cap="none" spc="2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Font typeface="The Hand Extrablack" panose="03070A02030502020204" pitchFamily="66" charset="0"/>
              <a:buChar char="•"/>
              <a:tabLst/>
              <a:defRPr/>
            </a:pPr>
            <a:endParaRPr lang="en-US" dirty="0">
              <a:solidFill>
                <a:schemeClr val="bg1"/>
              </a:solidFill>
              <a:latin typeface="Avenir Next LT Pro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None/>
              <a:tabLst/>
              <a:defRPr/>
            </a:pPr>
            <a:endParaRPr kumimoji="0" lang="en-US" sz="2000" b="0" i="0" u="none" strike="noStrike" kern="1200" cap="none" spc="2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Font typeface="The Hand Extrablack" panose="03070A02030502020204" pitchFamily="66" charset="0"/>
              <a:buChar char="•"/>
              <a:tabLst/>
              <a:defRPr/>
            </a:pPr>
            <a:endParaRPr kumimoji="0" lang="en-US" sz="2000" b="0" i="0" u="none" strike="noStrike" kern="1200" cap="none" spc="2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DF88B60-6817-F047-8F7A-F94980847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>
                <a:solidFill>
                  <a:schemeClr val="bg1"/>
                </a:solidFill>
              </a:rPr>
              <a:t>11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EAD780-1245-304B-B966-22D6B9913D65}"/>
              </a:ext>
            </a:extLst>
          </p:cNvPr>
          <p:cNvSpPr txBox="1"/>
          <p:nvPr/>
        </p:nvSpPr>
        <p:spPr>
          <a:xfrm>
            <a:off x="177012" y="6310655"/>
            <a:ext cx="162647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hlinkClick r:id="rId3"/>
              </a:rPr>
              <a:t>Cho et al. (2020)</a:t>
            </a:r>
            <a:endParaRPr lang="en-US" sz="15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24758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E6DC6-9E0D-BF41-BD13-30B6C7CD2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Determine biotinylated proteins</a:t>
            </a:r>
          </a:p>
        </p:txBody>
      </p:sp>
      <p:graphicFrame>
        <p:nvGraphicFramePr>
          <p:cNvPr id="23" name="Content Placeholder 2">
            <a:extLst>
              <a:ext uri="{FF2B5EF4-FFF2-40B4-BE49-F238E27FC236}">
                <a16:creationId xmlns:a16="http://schemas.microsoft.com/office/drawing/2014/main" id="{866BC88C-639F-2319-22EB-93EBDFA8BB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9304815"/>
              </p:ext>
            </p:extLst>
          </p:nvPr>
        </p:nvGraphicFramePr>
        <p:xfrm>
          <a:off x="720000" y="1688282"/>
          <a:ext cx="11052967" cy="43021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EAFAD2E-AD3D-A84D-A434-9F79D1EA0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>
                <a:solidFill>
                  <a:schemeClr val="bg1"/>
                </a:solidFill>
              </a:rPr>
              <a:t>12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5FB78E-CA1E-D94B-B9F8-68A72D7296B0}"/>
              </a:ext>
            </a:extLst>
          </p:cNvPr>
          <p:cNvSpPr txBox="1"/>
          <p:nvPr/>
        </p:nvSpPr>
        <p:spPr>
          <a:xfrm>
            <a:off x="177012" y="6310655"/>
            <a:ext cx="162647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hlinkClick r:id="rId8"/>
              </a:rPr>
              <a:t>Cho et al. (2020)</a:t>
            </a:r>
            <a:endParaRPr lang="en-US" sz="15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46672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E6DC6-9E0D-BF41-BD13-30B6C7CD2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Example EV1-100A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40340F-5FFE-8B49-B655-C71DF317E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>
                <a:solidFill>
                  <a:schemeClr val="bg1"/>
                </a:solidFill>
              </a:rPr>
              <a:t>13</a:t>
            </a:fld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8" name="Picture 7" descr="Chart, line chart&#10;&#10;Description automatically generated">
            <a:extLst>
              <a:ext uri="{FF2B5EF4-FFF2-40B4-BE49-F238E27FC236}">
                <a16:creationId xmlns:a16="http://schemas.microsoft.com/office/drawing/2014/main" id="{074C166F-E699-4449-B61A-CBDAD4989F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631" y="1373304"/>
            <a:ext cx="3172518" cy="2115012"/>
          </a:xfrm>
          <a:prstGeom prst="rect">
            <a:avLst/>
          </a:prstGeom>
        </p:spPr>
      </p:pic>
      <p:pic>
        <p:nvPicPr>
          <p:cNvPr id="12" name="Picture 11" descr="Chart, line chart&#10;&#10;Description automatically generated">
            <a:extLst>
              <a:ext uri="{FF2B5EF4-FFF2-40B4-BE49-F238E27FC236}">
                <a16:creationId xmlns:a16="http://schemas.microsoft.com/office/drawing/2014/main" id="{EA1EA904-9AC8-A243-80A4-C089394852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1656" y="1357864"/>
            <a:ext cx="3172519" cy="2115013"/>
          </a:xfrm>
          <a:prstGeom prst="rect">
            <a:avLst/>
          </a:prstGeom>
        </p:spPr>
      </p:pic>
      <p:pic>
        <p:nvPicPr>
          <p:cNvPr id="15" name="Picture 14" descr="Chart, line chart&#10;&#10;Description automatically generated">
            <a:extLst>
              <a:ext uri="{FF2B5EF4-FFF2-40B4-BE49-F238E27FC236}">
                <a16:creationId xmlns:a16="http://schemas.microsoft.com/office/drawing/2014/main" id="{64595F94-47F9-5042-AA5C-79972A8651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70131" y="3429862"/>
            <a:ext cx="3172518" cy="2115012"/>
          </a:xfrm>
          <a:prstGeom prst="rect">
            <a:avLst/>
          </a:prstGeom>
        </p:spPr>
      </p:pic>
      <p:pic>
        <p:nvPicPr>
          <p:cNvPr id="17" name="Picture 16" descr="Chart, line chart&#10;&#10;Description automatically generated">
            <a:extLst>
              <a:ext uri="{FF2B5EF4-FFF2-40B4-BE49-F238E27FC236}">
                <a16:creationId xmlns:a16="http://schemas.microsoft.com/office/drawing/2014/main" id="{DE2983DE-279A-A642-8A75-C404CD1DAA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5631" y="3451370"/>
            <a:ext cx="3172518" cy="2115012"/>
          </a:xfrm>
          <a:prstGeom prst="rect">
            <a:avLst/>
          </a:prstGeom>
        </p:spPr>
      </p:pic>
      <p:pic>
        <p:nvPicPr>
          <p:cNvPr id="19" name="Picture 18" descr="Chart, line chart&#10;&#10;Description automatically generated">
            <a:extLst>
              <a:ext uri="{FF2B5EF4-FFF2-40B4-BE49-F238E27FC236}">
                <a16:creationId xmlns:a16="http://schemas.microsoft.com/office/drawing/2014/main" id="{640736E4-B464-194C-9920-E006F6804B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73707" y="1373304"/>
            <a:ext cx="3172520" cy="2115013"/>
          </a:xfrm>
          <a:prstGeom prst="rect">
            <a:avLst/>
          </a:prstGeom>
        </p:spPr>
      </p:pic>
      <p:pic>
        <p:nvPicPr>
          <p:cNvPr id="22" name="Picture 21" descr="Chart, line chart&#10;&#10;Description automatically generated">
            <a:extLst>
              <a:ext uri="{FF2B5EF4-FFF2-40B4-BE49-F238E27FC236}">
                <a16:creationId xmlns:a16="http://schemas.microsoft.com/office/drawing/2014/main" id="{9E714F71-F149-7943-97A6-32AF7E6F7EA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37682" y="1425146"/>
            <a:ext cx="3172520" cy="2115013"/>
          </a:xfrm>
          <a:prstGeom prst="rect">
            <a:avLst/>
          </a:prstGeom>
        </p:spPr>
      </p:pic>
      <p:pic>
        <p:nvPicPr>
          <p:cNvPr id="24" name="Picture 23" descr="Chart, line chart&#10;&#10;Description automatically generated">
            <a:extLst>
              <a:ext uri="{FF2B5EF4-FFF2-40B4-BE49-F238E27FC236}">
                <a16:creationId xmlns:a16="http://schemas.microsoft.com/office/drawing/2014/main" id="{B7D2D349-DE45-5D4F-A8C4-F2C2A85EE32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19482" y="3485011"/>
            <a:ext cx="3172518" cy="2115012"/>
          </a:xfrm>
          <a:prstGeom prst="rect">
            <a:avLst/>
          </a:prstGeom>
        </p:spPr>
      </p:pic>
      <p:pic>
        <p:nvPicPr>
          <p:cNvPr id="26" name="Picture 25" descr="Chart, line chart&#10;&#10;Description automatically generated">
            <a:extLst>
              <a:ext uri="{FF2B5EF4-FFF2-40B4-BE49-F238E27FC236}">
                <a16:creationId xmlns:a16="http://schemas.microsoft.com/office/drawing/2014/main" id="{3C1EA658-F9E2-DD4A-A7D2-A0716726173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37681" y="3540159"/>
            <a:ext cx="3172521" cy="2115014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A663A306-696D-D44B-A723-07143DD3F77D}"/>
              </a:ext>
            </a:extLst>
          </p:cNvPr>
          <p:cNvSpPr txBox="1"/>
          <p:nvPr/>
        </p:nvSpPr>
        <p:spPr>
          <a:xfrm>
            <a:off x="5238136" y="1665202"/>
            <a:ext cx="647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1.14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1C406F0-776C-6F44-A307-F93121891F12}"/>
              </a:ext>
            </a:extLst>
          </p:cNvPr>
          <p:cNvSpPr txBox="1"/>
          <p:nvPr/>
        </p:nvSpPr>
        <p:spPr>
          <a:xfrm>
            <a:off x="11176434" y="1669095"/>
            <a:ext cx="647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0.62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1EBDA06-111E-6048-8C05-CB2AB52C29C2}"/>
              </a:ext>
            </a:extLst>
          </p:cNvPr>
          <p:cNvSpPr txBox="1"/>
          <p:nvPr/>
        </p:nvSpPr>
        <p:spPr>
          <a:xfrm>
            <a:off x="11193357" y="3788791"/>
            <a:ext cx="647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0.74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0320B60-69C6-384F-BCA5-8D01E8C6C198}"/>
              </a:ext>
            </a:extLst>
          </p:cNvPr>
          <p:cNvSpPr txBox="1"/>
          <p:nvPr/>
        </p:nvSpPr>
        <p:spPr>
          <a:xfrm>
            <a:off x="5254685" y="3775371"/>
            <a:ext cx="647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0.96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AAF769F-DD1E-2D4D-9E35-F503482F5EDE}"/>
              </a:ext>
            </a:extLst>
          </p:cNvPr>
          <p:cNvSpPr txBox="1"/>
          <p:nvPr/>
        </p:nvSpPr>
        <p:spPr>
          <a:xfrm>
            <a:off x="165631" y="5816592"/>
            <a:ext cx="10474566" cy="774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spcBef>
                <a:spcPts val="1000"/>
              </a:spcBef>
              <a:buClr>
                <a:srgbClr val="7BAF34"/>
              </a:buClr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bg1"/>
                </a:solidFill>
              </a:rPr>
              <a:t>Proteins above the determined TMT ratio cutoff are considered to be biotinylated proteins</a:t>
            </a:r>
          </a:p>
          <a:p>
            <a:pPr marL="742950" lvl="1" indent="-285750">
              <a:spcBef>
                <a:spcPts val="1000"/>
              </a:spcBef>
              <a:buClr>
                <a:srgbClr val="7BAF34"/>
              </a:buClr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bg1"/>
                </a:solidFill>
              </a:rPr>
              <a:t>Proteins below the cutoff are considered to be likely nonspecific binders</a:t>
            </a:r>
            <a:endParaRPr kumimoji="0" lang="en-US" b="0" i="0" u="none" strike="noStrike" kern="1200" cap="none" spc="2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37496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4D159-D703-EB46-A775-A9D8DACAF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5831" y="3161164"/>
            <a:ext cx="10728322" cy="1477328"/>
          </a:xfrm>
        </p:spPr>
        <p:txBody>
          <a:bodyPr/>
          <a:lstStyle/>
          <a:p>
            <a:r>
              <a:rPr lang="en-US" dirty="0"/>
              <a:t>Analysis Following Protein List Generation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F264F9-6389-6444-9635-3D88909F1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8764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E6DC6-9E0D-BF41-BD13-30B6C7CD2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Analyses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A9E25E25-E0B7-A94D-B740-F1553DF6E4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3678" y="1785264"/>
            <a:ext cx="10097003" cy="4302149"/>
          </a:xfrm>
        </p:spPr>
        <p:txBody>
          <a:bodyPr>
            <a:normAutofit/>
          </a:bodyPr>
          <a:lstStyle/>
          <a:p>
            <a:pPr lvl="1">
              <a:spcBef>
                <a:spcPts val="1000"/>
              </a:spcBef>
              <a:buClr>
                <a:srgbClr val="7BAF34"/>
              </a:buClr>
              <a:defRPr/>
            </a:pPr>
            <a:r>
              <a:rPr lang="en-US" dirty="0">
                <a:solidFill>
                  <a:schemeClr val="bg1"/>
                </a:solidFill>
              </a:rPr>
              <a:t>Principle component analysis (PCA);</a:t>
            </a:r>
          </a:p>
          <a:p>
            <a:pPr lvl="1">
              <a:spcBef>
                <a:spcPts val="1000"/>
              </a:spcBef>
              <a:buClr>
                <a:srgbClr val="7BAF34"/>
              </a:buClr>
              <a:defRPr/>
            </a:pPr>
            <a:r>
              <a:rPr lang="en-US" dirty="0">
                <a:solidFill>
                  <a:schemeClr val="bg1"/>
                </a:solidFill>
                <a:latin typeface="Avenir Next LT Pro"/>
              </a:rPr>
              <a:t>Signal P analysis/annotation;</a:t>
            </a:r>
          </a:p>
          <a:p>
            <a:pPr lvl="1">
              <a:spcBef>
                <a:spcPts val="1000"/>
              </a:spcBef>
              <a:buClr>
                <a:srgbClr val="7BAF34"/>
              </a:buClr>
              <a:defRPr/>
            </a:pPr>
            <a:r>
              <a:rPr lang="en-US" dirty="0">
                <a:solidFill>
                  <a:schemeClr val="bg1"/>
                </a:solidFill>
                <a:latin typeface="Avenir Next LT Pro"/>
              </a:rPr>
              <a:t>Tissue enrichment analysis;</a:t>
            </a:r>
          </a:p>
          <a:p>
            <a:pPr lvl="1">
              <a:spcBef>
                <a:spcPts val="1000"/>
              </a:spcBef>
              <a:buClr>
                <a:srgbClr val="7BAF34"/>
              </a:buClr>
              <a:defRPr/>
            </a:pPr>
            <a:r>
              <a:rPr kumimoji="0" lang="en-US" sz="2000" b="0" i="0" u="none" strike="noStrike" kern="1200" cap="none" spc="2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Volcano plot analysis;</a:t>
            </a:r>
          </a:p>
          <a:p>
            <a:pPr lvl="1">
              <a:spcBef>
                <a:spcPts val="1000"/>
              </a:spcBef>
              <a:buClr>
                <a:srgbClr val="7BAF34"/>
              </a:buClr>
              <a:defRPr/>
            </a:pPr>
            <a:r>
              <a:rPr lang="en-US" dirty="0">
                <a:solidFill>
                  <a:schemeClr val="bg1"/>
                </a:solidFill>
                <a:latin typeface="Avenir Next LT Pro"/>
              </a:rPr>
              <a:t>GO-term analysis;</a:t>
            </a:r>
          </a:p>
          <a:p>
            <a:pPr lvl="1">
              <a:spcBef>
                <a:spcPts val="1000"/>
              </a:spcBef>
              <a:buClr>
                <a:srgbClr val="7BAF34"/>
              </a:buClr>
              <a:defRPr/>
            </a:pPr>
            <a:r>
              <a:rPr lang="en-US" dirty="0">
                <a:solidFill>
                  <a:schemeClr val="bg1"/>
                </a:solidFill>
                <a:latin typeface="Avenir Next LT Pro"/>
              </a:rPr>
              <a:t>Overlap with previous datasets; </a:t>
            </a:r>
          </a:p>
          <a:p>
            <a:pPr lvl="1">
              <a:spcBef>
                <a:spcPts val="1000"/>
              </a:spcBef>
              <a:buClr>
                <a:srgbClr val="7BAF34"/>
              </a:buClr>
              <a:defRPr/>
            </a:pPr>
            <a:r>
              <a:rPr kumimoji="0" lang="en-US" sz="2000" b="1" i="0" u="none" strike="noStrike" kern="1200" cap="none" spc="2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Manual analysis of differentially enriched proteins;</a:t>
            </a:r>
          </a:p>
          <a:p>
            <a:pPr marL="457200" lvl="1" indent="0">
              <a:spcBef>
                <a:spcPts val="1000"/>
              </a:spcBef>
              <a:buClr>
                <a:srgbClr val="7BAF34"/>
              </a:buClr>
              <a:buNone/>
              <a:defRPr/>
            </a:pPr>
            <a:endParaRPr kumimoji="0" lang="en-US" b="0" i="0" u="none" strike="noStrike" kern="1200" cap="none" spc="2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Font typeface="The Hand Extrablack" panose="03070A02030502020204" pitchFamily="66" charset="0"/>
              <a:buChar char="•"/>
              <a:tabLst/>
              <a:defRPr/>
            </a:pPr>
            <a:endParaRPr lang="en-US" dirty="0">
              <a:solidFill>
                <a:schemeClr val="bg1"/>
              </a:solidFill>
              <a:latin typeface="Avenir Next LT Pro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None/>
              <a:tabLst/>
              <a:defRPr/>
            </a:pPr>
            <a:endParaRPr kumimoji="0" lang="en-US" sz="2000" b="0" i="0" u="none" strike="noStrike" kern="1200" cap="none" spc="2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Font typeface="The Hand Extrablack" panose="03070A02030502020204" pitchFamily="66" charset="0"/>
              <a:buChar char="•"/>
              <a:tabLst/>
              <a:defRPr/>
            </a:pPr>
            <a:endParaRPr kumimoji="0" lang="en-US" sz="2000" b="0" i="0" u="none" strike="noStrike" kern="1200" cap="none" spc="2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DF88B60-6817-F047-8F7A-F94980847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>
                <a:solidFill>
                  <a:schemeClr val="bg1"/>
                </a:solidFill>
              </a:rPr>
              <a:t>15</a:t>
            </a:fld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7422875"/>
      </p:ext>
    </p:extLst>
  </p:cSld>
  <p:clrMapOvr>
    <a:masterClrMapping/>
  </p:clrMapOvr>
</p:sld>
</file>

<file path=ppt/theme/theme1.xml><?xml version="1.0" encoding="utf-8"?>
<a:theme xmlns:a="http://schemas.openxmlformats.org/drawingml/2006/main" name="BlobVTI">
  <a:themeElements>
    <a:clrScheme name="AnalogousFromDarkSeedLeftStep">
      <a:dk1>
        <a:srgbClr val="000000"/>
      </a:dk1>
      <a:lt1>
        <a:srgbClr val="FFFFFF"/>
      </a:lt1>
      <a:dk2>
        <a:srgbClr val="37371F"/>
      </a:dk2>
      <a:lt2>
        <a:srgbClr val="E8E2E4"/>
      </a:lt2>
      <a:accent1>
        <a:srgbClr val="41B48E"/>
      </a:accent1>
      <a:accent2>
        <a:srgbClr val="36B657"/>
      </a:accent2>
      <a:accent3>
        <a:srgbClr val="54B641"/>
      </a:accent3>
      <a:accent4>
        <a:srgbClr val="7BAF34"/>
      </a:accent4>
      <a:accent5>
        <a:srgbClr val="A5A53B"/>
      </a:accent5>
      <a:accent6>
        <a:srgbClr val="B68236"/>
      </a:accent6>
      <a:hlink>
        <a:srgbClr val="79892D"/>
      </a:hlink>
      <a:folHlink>
        <a:srgbClr val="7F7F7F"/>
      </a:folHlink>
    </a:clrScheme>
    <a:fontScheme name="Blob">
      <a:majorFont>
        <a:latin typeface="Rockwell Nova Light"/>
        <a:ea typeface=""/>
        <a:cs typeface=""/>
      </a:majorFont>
      <a:minorFont>
        <a:latin typeface="Avenir Next LT Pr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obVTI" id="{06D3AACF-B619-4265-899F-5E2FB3A445D5}" vid="{F5918863-BA1A-4735-81A8-3E7BFBDA847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3483</TotalTime>
  <Words>985</Words>
  <Application>Microsoft Macintosh PowerPoint</Application>
  <PresentationFormat>Widescreen</PresentationFormat>
  <Paragraphs>185</Paragraphs>
  <Slides>16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Arial</vt:lpstr>
      <vt:lpstr>Avenir Next LT Pro</vt:lpstr>
      <vt:lpstr>Calibri</vt:lpstr>
      <vt:lpstr>Cambria</vt:lpstr>
      <vt:lpstr>Rockwell Nova Light</vt:lpstr>
      <vt:lpstr>The Hand Extrablack</vt:lpstr>
      <vt:lpstr>BlobVTI</vt:lpstr>
      <vt:lpstr>Experiment set up #1</vt:lpstr>
      <vt:lpstr>Experiment set up #2</vt:lpstr>
      <vt:lpstr>MS sample processing: Serum</vt:lpstr>
      <vt:lpstr>Experimental Setup</vt:lpstr>
      <vt:lpstr>Analysis Overview</vt:lpstr>
      <vt:lpstr>TP and FP lists </vt:lpstr>
      <vt:lpstr>Processed Files Results</vt:lpstr>
      <vt:lpstr>For each processed file…</vt:lpstr>
      <vt:lpstr>Filtering of cre+ replicates</vt:lpstr>
      <vt:lpstr>Preparation of ratios and annotation of proteins </vt:lpstr>
      <vt:lpstr>For each calculated ratio…</vt:lpstr>
      <vt:lpstr>Approach to determine the final proteome lists</vt:lpstr>
      <vt:lpstr>Determine biotinylated proteins</vt:lpstr>
      <vt:lpstr>Example EV1-100A</vt:lpstr>
      <vt:lpstr>Analysis Following Protein List Generation</vt:lpstr>
      <vt:lpstr>Analyses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Turbo ID Project </dc:title>
  <dc:creator>Nathalie Ropek</dc:creator>
  <cp:lastModifiedBy>Nathalie Ropek</cp:lastModifiedBy>
  <cp:revision>31</cp:revision>
  <dcterms:created xsi:type="dcterms:W3CDTF">2022-10-14T14:34:07Z</dcterms:created>
  <dcterms:modified xsi:type="dcterms:W3CDTF">2023-01-27T14:12:39Z</dcterms:modified>
</cp:coreProperties>
</file>