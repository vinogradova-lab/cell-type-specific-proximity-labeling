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712" r:id="rId1"/>
  </p:sldMasterIdLst>
  <p:notesMasterIdLst>
    <p:notesMasterId r:id="rId26"/>
  </p:notesMasterIdLst>
  <p:sldIdLst>
    <p:sldId id="256" r:id="rId2"/>
    <p:sldId id="257" r:id="rId3"/>
    <p:sldId id="263" r:id="rId4"/>
    <p:sldId id="282" r:id="rId5"/>
    <p:sldId id="283" r:id="rId6"/>
    <p:sldId id="265" r:id="rId7"/>
    <p:sldId id="267" r:id="rId8"/>
    <p:sldId id="266" r:id="rId9"/>
    <p:sldId id="268" r:id="rId10"/>
    <p:sldId id="269" r:id="rId11"/>
    <p:sldId id="270" r:id="rId12"/>
    <p:sldId id="272" r:id="rId13"/>
    <p:sldId id="271" r:id="rId14"/>
    <p:sldId id="273" r:id="rId15"/>
    <p:sldId id="275" r:id="rId16"/>
    <p:sldId id="281" r:id="rId17"/>
    <p:sldId id="278" r:id="rId18"/>
    <p:sldId id="284" r:id="rId19"/>
    <p:sldId id="280" r:id="rId20"/>
    <p:sldId id="285" r:id="rId21"/>
    <p:sldId id="286" r:id="rId22"/>
    <p:sldId id="289" r:id="rId23"/>
    <p:sldId id="288" r:id="rId24"/>
    <p:sldId id="29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35"/>
    <p:restoredTop sz="86007"/>
  </p:normalViewPr>
  <p:slideViewPr>
    <p:cSldViewPr snapToGrid="0" snapToObjects="1">
      <p:cViewPr varScale="1">
        <p:scale>
          <a:sx n="169" d="100"/>
          <a:sy n="169" d="100"/>
        </p:scale>
        <p:origin x="232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FE8ECD-4AA0-4B75-94A3-C6E661383597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2EEA16-E07E-46B5-B226-54448F4253D5}">
      <dgm:prSet/>
      <dgm:spPr/>
      <dgm:t>
        <a:bodyPr/>
        <a:lstStyle/>
        <a:p>
          <a:r>
            <a:rPr lang="en-US"/>
            <a:t>Normalize</a:t>
          </a:r>
        </a:p>
      </dgm:t>
    </dgm:pt>
    <dgm:pt modelId="{D0A4DB90-0D03-4B0C-87B2-14ACFF45C471}" type="parTrans" cxnId="{E4A9493C-30B8-457E-927E-58F4AF9FF535}">
      <dgm:prSet/>
      <dgm:spPr/>
      <dgm:t>
        <a:bodyPr/>
        <a:lstStyle/>
        <a:p>
          <a:endParaRPr lang="en-US"/>
        </a:p>
      </dgm:t>
    </dgm:pt>
    <dgm:pt modelId="{9CA71EFA-7E03-4F07-85E0-FE73337DD6B3}" type="sibTrans" cxnId="{E4A9493C-30B8-457E-927E-58F4AF9FF535}">
      <dgm:prSet/>
      <dgm:spPr/>
      <dgm:t>
        <a:bodyPr/>
        <a:lstStyle/>
        <a:p>
          <a:endParaRPr lang="en-US"/>
        </a:p>
      </dgm:t>
    </dgm:pt>
    <dgm:pt modelId="{5C30FF08-7CAF-4135-BF35-5B776C1B548D}">
      <dgm:prSet/>
      <dgm:spPr/>
      <dgm:t>
        <a:bodyPr/>
        <a:lstStyle/>
        <a:p>
          <a:r>
            <a:rPr lang="en-US"/>
            <a:t>Normalize ratio by the median ratio of proteins that are labelled as FP</a:t>
          </a:r>
        </a:p>
      </dgm:t>
    </dgm:pt>
    <dgm:pt modelId="{A62BF4E0-FDAF-4BA9-A211-A8D471431D98}" type="parTrans" cxnId="{F8EFD0C2-DECF-4068-AB81-B49F1CB17262}">
      <dgm:prSet/>
      <dgm:spPr/>
      <dgm:t>
        <a:bodyPr/>
        <a:lstStyle/>
        <a:p>
          <a:endParaRPr lang="en-US"/>
        </a:p>
      </dgm:t>
    </dgm:pt>
    <dgm:pt modelId="{39D89015-C942-454C-928F-50B945CD0CBC}" type="sibTrans" cxnId="{F8EFD0C2-DECF-4068-AB81-B49F1CB17262}">
      <dgm:prSet/>
      <dgm:spPr/>
      <dgm:t>
        <a:bodyPr/>
        <a:lstStyle/>
        <a:p>
          <a:endParaRPr lang="en-US"/>
        </a:p>
      </dgm:t>
    </dgm:pt>
    <dgm:pt modelId="{1890A9BC-7214-47C8-9114-399E2E3C4F94}">
      <dgm:prSet/>
      <dgm:spPr/>
      <dgm:t>
        <a:bodyPr/>
        <a:lstStyle/>
        <a:p>
          <a:r>
            <a:rPr lang="en-US"/>
            <a:t>Rank</a:t>
          </a:r>
        </a:p>
      </dgm:t>
    </dgm:pt>
    <dgm:pt modelId="{338DB7B5-85C7-4767-AF5A-387ED5922DC4}" type="parTrans" cxnId="{062757C3-26D4-4D45-9BD4-F88EA2973DFA}">
      <dgm:prSet/>
      <dgm:spPr/>
      <dgm:t>
        <a:bodyPr/>
        <a:lstStyle/>
        <a:p>
          <a:endParaRPr lang="en-US"/>
        </a:p>
      </dgm:t>
    </dgm:pt>
    <dgm:pt modelId="{5D44E006-378E-4245-9E4A-DF1717473AE4}" type="sibTrans" cxnId="{062757C3-26D4-4D45-9BD4-F88EA2973DFA}">
      <dgm:prSet/>
      <dgm:spPr/>
      <dgm:t>
        <a:bodyPr/>
        <a:lstStyle/>
        <a:p>
          <a:endParaRPr lang="en-US"/>
        </a:p>
      </dgm:t>
    </dgm:pt>
    <dgm:pt modelId="{858DDD9E-EDAD-43D7-9EA0-A633FFE0AEFE}">
      <dgm:prSet/>
      <dgm:spPr/>
      <dgm:t>
        <a:bodyPr/>
        <a:lstStyle/>
        <a:p>
          <a:r>
            <a:rPr lang="en-US"/>
            <a:t>Rank ratios in descending order </a:t>
          </a:r>
        </a:p>
      </dgm:t>
    </dgm:pt>
    <dgm:pt modelId="{09F6073F-6394-4AF8-8F19-23D222F85740}" type="parTrans" cxnId="{F4A62115-37B8-4470-97A0-026257656920}">
      <dgm:prSet/>
      <dgm:spPr/>
      <dgm:t>
        <a:bodyPr/>
        <a:lstStyle/>
        <a:p>
          <a:endParaRPr lang="en-US"/>
        </a:p>
      </dgm:t>
    </dgm:pt>
    <dgm:pt modelId="{1C4B2589-961F-44F2-8596-A0210151CF3E}" type="sibTrans" cxnId="{F4A62115-37B8-4470-97A0-026257656920}">
      <dgm:prSet/>
      <dgm:spPr/>
      <dgm:t>
        <a:bodyPr/>
        <a:lstStyle/>
        <a:p>
          <a:endParaRPr lang="en-US"/>
        </a:p>
      </dgm:t>
    </dgm:pt>
    <dgm:pt modelId="{7A49F28F-4D7B-48D0-863D-4D062513B45F}">
      <dgm:prSet/>
      <dgm:spPr/>
      <dgm:t>
        <a:bodyPr/>
        <a:lstStyle/>
        <a:p>
          <a:r>
            <a:rPr lang="en-US" dirty="0"/>
            <a:t>Calculate TPR &amp; FPR</a:t>
          </a:r>
        </a:p>
      </dgm:t>
    </dgm:pt>
    <dgm:pt modelId="{078967D4-4E0B-425C-AAF5-6F98B8967537}" type="parTrans" cxnId="{01E0C336-CCC5-4A55-9FED-3E8899FF1161}">
      <dgm:prSet/>
      <dgm:spPr/>
      <dgm:t>
        <a:bodyPr/>
        <a:lstStyle/>
        <a:p>
          <a:endParaRPr lang="en-US"/>
        </a:p>
      </dgm:t>
    </dgm:pt>
    <dgm:pt modelId="{EA628C7C-502B-4867-B3E0-4B85687993B6}" type="sibTrans" cxnId="{01E0C336-CCC5-4A55-9FED-3E8899FF1161}">
      <dgm:prSet/>
      <dgm:spPr/>
      <dgm:t>
        <a:bodyPr/>
        <a:lstStyle/>
        <a:p>
          <a:endParaRPr lang="en-US"/>
        </a:p>
      </dgm:t>
    </dgm:pt>
    <dgm:pt modelId="{929A34AA-11C7-4F19-A6D3-5C7DE5BEE86A}">
      <dgm:prSet/>
      <dgm:spPr/>
      <dgm:t>
        <a:bodyPr/>
        <a:lstStyle/>
        <a:p>
          <a:r>
            <a:rPr lang="en-US"/>
            <a:t>Calculate TP rate (TPR) and the FP rate (FPR) (= fraction of detected TP and FP proteins above the cutoff)</a:t>
          </a:r>
        </a:p>
      </dgm:t>
    </dgm:pt>
    <dgm:pt modelId="{5CC8BE32-8D1B-42E0-9B84-2C92C43FDD61}" type="parTrans" cxnId="{6681200C-7949-4B28-B422-7CF0F65AE94F}">
      <dgm:prSet/>
      <dgm:spPr/>
      <dgm:t>
        <a:bodyPr/>
        <a:lstStyle/>
        <a:p>
          <a:endParaRPr lang="en-US"/>
        </a:p>
      </dgm:t>
    </dgm:pt>
    <dgm:pt modelId="{F36CE4EA-6A6F-4512-9B3F-F340E774DA49}" type="sibTrans" cxnId="{6681200C-7949-4B28-B422-7CF0F65AE94F}">
      <dgm:prSet/>
      <dgm:spPr/>
      <dgm:t>
        <a:bodyPr/>
        <a:lstStyle/>
        <a:p>
          <a:endParaRPr lang="en-US"/>
        </a:p>
      </dgm:t>
    </dgm:pt>
    <dgm:pt modelId="{4477CE24-A1CB-43F7-BE25-0CACC51CEDA3}">
      <dgm:prSet/>
      <dgm:spPr/>
      <dgm:t>
        <a:bodyPr/>
        <a:lstStyle/>
        <a:p>
          <a:r>
            <a:rPr lang="en-US" dirty="0"/>
            <a:t>Plot (ROC)</a:t>
          </a:r>
        </a:p>
      </dgm:t>
    </dgm:pt>
    <dgm:pt modelId="{70619F77-F666-4CDD-9705-4EBFAE08FFD9}" type="parTrans" cxnId="{E0A8DB88-125E-4F4F-A82B-678AF62885C8}">
      <dgm:prSet/>
      <dgm:spPr/>
      <dgm:t>
        <a:bodyPr/>
        <a:lstStyle/>
        <a:p>
          <a:endParaRPr lang="en-US"/>
        </a:p>
      </dgm:t>
    </dgm:pt>
    <dgm:pt modelId="{C681D962-C29C-4DFD-90D4-F74E02608C7C}" type="sibTrans" cxnId="{E0A8DB88-125E-4F4F-A82B-678AF62885C8}">
      <dgm:prSet/>
      <dgm:spPr/>
      <dgm:t>
        <a:bodyPr/>
        <a:lstStyle/>
        <a:p>
          <a:endParaRPr lang="en-US"/>
        </a:p>
      </dgm:t>
    </dgm:pt>
    <dgm:pt modelId="{9A2B8896-0DFC-4EDD-BE72-A8363E1FA8CB}">
      <dgm:prSet/>
      <dgm:spPr/>
      <dgm:t>
        <a:bodyPr/>
        <a:lstStyle/>
        <a:p>
          <a:r>
            <a:rPr lang="en-US"/>
            <a:t>Plot TPR and FPR (ROC) to determine how well the experiment enriched TP over FP proteins</a:t>
          </a:r>
        </a:p>
      </dgm:t>
    </dgm:pt>
    <dgm:pt modelId="{B57A219F-8E1E-4940-8DDF-14CC54FF62C0}" type="parTrans" cxnId="{38A61FAD-597A-4777-AEB1-0E3944349FDF}">
      <dgm:prSet/>
      <dgm:spPr/>
      <dgm:t>
        <a:bodyPr/>
        <a:lstStyle/>
        <a:p>
          <a:endParaRPr lang="en-US"/>
        </a:p>
      </dgm:t>
    </dgm:pt>
    <dgm:pt modelId="{F6C98CC2-42B5-4D9F-A09D-D71068F72660}" type="sibTrans" cxnId="{38A61FAD-597A-4777-AEB1-0E3944349FDF}">
      <dgm:prSet/>
      <dgm:spPr/>
      <dgm:t>
        <a:bodyPr/>
        <a:lstStyle/>
        <a:p>
          <a:endParaRPr lang="en-US"/>
        </a:p>
      </dgm:t>
    </dgm:pt>
    <dgm:pt modelId="{A85124D4-5DF5-4566-8C27-D24C50DCCDB9}">
      <dgm:prSet/>
      <dgm:spPr/>
      <dgm:t>
        <a:bodyPr/>
        <a:lstStyle/>
        <a:p>
          <a:r>
            <a:rPr lang="en-US" dirty="0"/>
            <a:t>Calculate TPR-FPR</a:t>
          </a:r>
        </a:p>
      </dgm:t>
    </dgm:pt>
    <dgm:pt modelId="{D4C97D23-EE2E-4CF8-BED6-89AB01FDFEAF}" type="parTrans" cxnId="{591B33D0-60CF-473B-B914-A867C895D718}">
      <dgm:prSet/>
      <dgm:spPr/>
      <dgm:t>
        <a:bodyPr/>
        <a:lstStyle/>
        <a:p>
          <a:endParaRPr lang="en-US"/>
        </a:p>
      </dgm:t>
    </dgm:pt>
    <dgm:pt modelId="{64FB6077-9B62-4A97-A1EE-BEDFE8EC47A2}" type="sibTrans" cxnId="{591B33D0-60CF-473B-B914-A867C895D718}">
      <dgm:prSet/>
      <dgm:spPr/>
      <dgm:t>
        <a:bodyPr/>
        <a:lstStyle/>
        <a:p>
          <a:endParaRPr lang="en-US"/>
        </a:p>
      </dgm:t>
    </dgm:pt>
    <dgm:pt modelId="{44146631-99F8-410B-B8AD-2CDA93B84D94}">
      <dgm:prSet/>
      <dgm:spPr/>
      <dgm:t>
        <a:bodyPr/>
        <a:lstStyle/>
        <a:p>
          <a:r>
            <a:rPr lang="en-US"/>
            <a:t>calculate TPR-FPR </a:t>
          </a:r>
        </a:p>
      </dgm:t>
    </dgm:pt>
    <dgm:pt modelId="{766D2624-DFD3-43D6-87FB-31824CD62612}" type="parTrans" cxnId="{AA648A38-7984-481B-833F-FE65E4CBB81D}">
      <dgm:prSet/>
      <dgm:spPr/>
      <dgm:t>
        <a:bodyPr/>
        <a:lstStyle/>
        <a:p>
          <a:endParaRPr lang="en-US"/>
        </a:p>
      </dgm:t>
    </dgm:pt>
    <dgm:pt modelId="{CA1E04C0-67C1-438E-B7A0-DAF820EA108C}" type="sibTrans" cxnId="{AA648A38-7984-481B-833F-FE65E4CBB81D}">
      <dgm:prSet/>
      <dgm:spPr/>
      <dgm:t>
        <a:bodyPr/>
        <a:lstStyle/>
        <a:p>
          <a:endParaRPr lang="en-US"/>
        </a:p>
      </dgm:t>
    </dgm:pt>
    <dgm:pt modelId="{B475EA92-0C13-4ACD-BF53-3DE9885F840B}">
      <dgm:prSet/>
      <dgm:spPr/>
      <dgm:t>
        <a:bodyPr/>
        <a:lstStyle/>
        <a:p>
          <a:r>
            <a:rPr lang="en-US" dirty="0"/>
            <a:t>Find optimal cutoff ratio</a:t>
          </a:r>
        </a:p>
      </dgm:t>
    </dgm:pt>
    <dgm:pt modelId="{FB2550D5-E5C1-4392-9740-B143D5C0261E}" type="parTrans" cxnId="{08686FD9-DC9C-441B-88D3-260510FEDB75}">
      <dgm:prSet/>
      <dgm:spPr/>
      <dgm:t>
        <a:bodyPr/>
        <a:lstStyle/>
        <a:p>
          <a:endParaRPr lang="en-US"/>
        </a:p>
      </dgm:t>
    </dgm:pt>
    <dgm:pt modelId="{992CCC70-BDDE-47C9-9E10-E191779B77D2}" type="sibTrans" cxnId="{08686FD9-DC9C-441B-88D3-260510FEDB75}">
      <dgm:prSet/>
      <dgm:spPr/>
      <dgm:t>
        <a:bodyPr/>
        <a:lstStyle/>
        <a:p>
          <a:endParaRPr lang="en-US"/>
        </a:p>
      </dgm:t>
    </dgm:pt>
    <dgm:pt modelId="{B59420EE-4C2E-4C17-A2FB-65795E7F9498}">
      <dgm:prSet/>
      <dgm:spPr/>
      <dgm:t>
        <a:bodyPr/>
        <a:lstStyle/>
        <a:p>
          <a:r>
            <a:rPr lang="en-US"/>
            <a:t>find cutoff ratio which has the highest value for TPR-FPR (= the optimal cutoff ratio)</a:t>
          </a:r>
        </a:p>
      </dgm:t>
    </dgm:pt>
    <dgm:pt modelId="{A4B68544-1FA0-44A0-B0D7-C6CD593439A0}" type="parTrans" cxnId="{942DFFBC-8E81-4A6B-B690-CBC7E4B5C62D}">
      <dgm:prSet/>
      <dgm:spPr/>
      <dgm:t>
        <a:bodyPr/>
        <a:lstStyle/>
        <a:p>
          <a:endParaRPr lang="en-US"/>
        </a:p>
      </dgm:t>
    </dgm:pt>
    <dgm:pt modelId="{572962B8-46E7-4394-BACE-6C2382A83D54}" type="sibTrans" cxnId="{942DFFBC-8E81-4A6B-B690-CBC7E4B5C62D}">
      <dgm:prSet/>
      <dgm:spPr/>
      <dgm:t>
        <a:bodyPr/>
        <a:lstStyle/>
        <a:p>
          <a:endParaRPr lang="en-US"/>
        </a:p>
      </dgm:t>
    </dgm:pt>
    <dgm:pt modelId="{3482D5A5-AC22-41E7-9774-7CE6216B3A13}">
      <dgm:prSet/>
      <dgm:spPr/>
      <dgm:t>
        <a:bodyPr/>
        <a:lstStyle/>
        <a:p>
          <a:r>
            <a:rPr lang="en-US" dirty="0"/>
            <a:t>Plot TPR-FPR</a:t>
          </a:r>
        </a:p>
      </dgm:t>
    </dgm:pt>
    <dgm:pt modelId="{2F81D6E6-9A4D-43ED-B6A4-3AE88985EA3F}" type="parTrans" cxnId="{B40E6B43-2A74-4FB6-B017-A218A20F7C37}">
      <dgm:prSet/>
      <dgm:spPr/>
      <dgm:t>
        <a:bodyPr/>
        <a:lstStyle/>
        <a:p>
          <a:endParaRPr lang="en-US"/>
        </a:p>
      </dgm:t>
    </dgm:pt>
    <dgm:pt modelId="{33A24840-E41D-4B8D-ABE0-B21328FD624B}" type="sibTrans" cxnId="{B40E6B43-2A74-4FB6-B017-A218A20F7C37}">
      <dgm:prSet/>
      <dgm:spPr/>
      <dgm:t>
        <a:bodyPr/>
        <a:lstStyle/>
        <a:p>
          <a:endParaRPr lang="en-US"/>
        </a:p>
      </dgm:t>
    </dgm:pt>
    <dgm:pt modelId="{6F79D638-19E5-4630-9897-4D5E826D2538}">
      <dgm:prSet/>
      <dgm:spPr/>
      <dgm:t>
        <a:bodyPr/>
        <a:lstStyle/>
        <a:p>
          <a:r>
            <a:rPr lang="en-US"/>
            <a:t>Plot log2 ratio and TPR-FPR (see line-plot – cutoff will be the highest point)</a:t>
          </a:r>
        </a:p>
      </dgm:t>
    </dgm:pt>
    <dgm:pt modelId="{33D1CE24-050D-4C4B-B080-08033B7989EC}" type="parTrans" cxnId="{BE271BC1-70EA-40F9-B8C7-EAED1736B773}">
      <dgm:prSet/>
      <dgm:spPr/>
      <dgm:t>
        <a:bodyPr/>
        <a:lstStyle/>
        <a:p>
          <a:endParaRPr lang="en-US"/>
        </a:p>
      </dgm:t>
    </dgm:pt>
    <dgm:pt modelId="{5152D2A5-210C-44C0-A0E1-685A6D6EFB14}" type="sibTrans" cxnId="{BE271BC1-70EA-40F9-B8C7-EAED1736B773}">
      <dgm:prSet/>
      <dgm:spPr/>
      <dgm:t>
        <a:bodyPr/>
        <a:lstStyle/>
        <a:p>
          <a:endParaRPr lang="en-US"/>
        </a:p>
      </dgm:t>
    </dgm:pt>
    <dgm:pt modelId="{1E87AC02-BC07-5F4E-BDE4-BD62E11E3937}" type="pres">
      <dgm:prSet presAssocID="{EBFE8ECD-4AA0-4B75-94A3-C6E661383597}" presName="Name0" presStyleCnt="0">
        <dgm:presLayoutVars>
          <dgm:dir/>
          <dgm:animLvl val="lvl"/>
          <dgm:resizeHandles val="exact"/>
        </dgm:presLayoutVars>
      </dgm:prSet>
      <dgm:spPr/>
    </dgm:pt>
    <dgm:pt modelId="{2065FCB8-7D5B-E14B-8B6B-5ABD81334D57}" type="pres">
      <dgm:prSet presAssocID="{3482D5A5-AC22-41E7-9774-7CE6216B3A13}" presName="boxAndChildren" presStyleCnt="0"/>
      <dgm:spPr/>
    </dgm:pt>
    <dgm:pt modelId="{4137B9D4-569D-CD46-A8E4-E718893A5565}" type="pres">
      <dgm:prSet presAssocID="{3482D5A5-AC22-41E7-9774-7CE6216B3A13}" presName="parentTextBox" presStyleLbl="alignNode1" presStyleIdx="0" presStyleCnt="7"/>
      <dgm:spPr/>
    </dgm:pt>
    <dgm:pt modelId="{1F69636C-7160-B84D-8C27-7C268D684902}" type="pres">
      <dgm:prSet presAssocID="{3482D5A5-AC22-41E7-9774-7CE6216B3A13}" presName="descendantBox" presStyleLbl="bgAccFollowNode1" presStyleIdx="0" presStyleCnt="7"/>
      <dgm:spPr/>
    </dgm:pt>
    <dgm:pt modelId="{ADD480E4-0F6A-FB4E-86AC-CDC3760AD68C}" type="pres">
      <dgm:prSet presAssocID="{992CCC70-BDDE-47C9-9E10-E191779B77D2}" presName="sp" presStyleCnt="0"/>
      <dgm:spPr/>
    </dgm:pt>
    <dgm:pt modelId="{B184270A-01DB-2A45-A396-9E7ED3B72579}" type="pres">
      <dgm:prSet presAssocID="{B475EA92-0C13-4ACD-BF53-3DE9885F840B}" presName="arrowAndChildren" presStyleCnt="0"/>
      <dgm:spPr/>
    </dgm:pt>
    <dgm:pt modelId="{C72F706F-BA1C-294B-99C3-EC09D06AE545}" type="pres">
      <dgm:prSet presAssocID="{B475EA92-0C13-4ACD-BF53-3DE9885F840B}" presName="parentTextArrow" presStyleLbl="node1" presStyleIdx="0" presStyleCnt="0"/>
      <dgm:spPr/>
    </dgm:pt>
    <dgm:pt modelId="{0DA958DE-0FF6-9E43-BD13-B083407F0B5E}" type="pres">
      <dgm:prSet presAssocID="{B475EA92-0C13-4ACD-BF53-3DE9885F840B}" presName="arrow" presStyleLbl="alignNode1" presStyleIdx="1" presStyleCnt="7"/>
      <dgm:spPr/>
    </dgm:pt>
    <dgm:pt modelId="{7207183F-2690-5F4E-A239-3C73A900EFAC}" type="pres">
      <dgm:prSet presAssocID="{B475EA92-0C13-4ACD-BF53-3DE9885F840B}" presName="descendantArrow" presStyleLbl="bgAccFollowNode1" presStyleIdx="1" presStyleCnt="7"/>
      <dgm:spPr/>
    </dgm:pt>
    <dgm:pt modelId="{7251BBFB-3B78-C447-914E-B9C6233F68D8}" type="pres">
      <dgm:prSet presAssocID="{64FB6077-9B62-4A97-A1EE-BEDFE8EC47A2}" presName="sp" presStyleCnt="0"/>
      <dgm:spPr/>
    </dgm:pt>
    <dgm:pt modelId="{FF1569C0-9E5E-244E-8710-CA45F8EACED8}" type="pres">
      <dgm:prSet presAssocID="{A85124D4-5DF5-4566-8C27-D24C50DCCDB9}" presName="arrowAndChildren" presStyleCnt="0"/>
      <dgm:spPr/>
    </dgm:pt>
    <dgm:pt modelId="{885EFDEE-C8C8-2742-8A95-84C2D1CBC9AF}" type="pres">
      <dgm:prSet presAssocID="{A85124D4-5DF5-4566-8C27-D24C50DCCDB9}" presName="parentTextArrow" presStyleLbl="node1" presStyleIdx="0" presStyleCnt="0"/>
      <dgm:spPr/>
    </dgm:pt>
    <dgm:pt modelId="{E94AF108-8636-9548-8D57-FDA72F5A1988}" type="pres">
      <dgm:prSet presAssocID="{A85124D4-5DF5-4566-8C27-D24C50DCCDB9}" presName="arrow" presStyleLbl="alignNode1" presStyleIdx="2" presStyleCnt="7"/>
      <dgm:spPr/>
    </dgm:pt>
    <dgm:pt modelId="{F57CC6EA-6F89-634E-90D7-C2A5D1D1ECCF}" type="pres">
      <dgm:prSet presAssocID="{A85124D4-5DF5-4566-8C27-D24C50DCCDB9}" presName="descendantArrow" presStyleLbl="bgAccFollowNode1" presStyleIdx="2" presStyleCnt="7"/>
      <dgm:spPr/>
    </dgm:pt>
    <dgm:pt modelId="{C9E8449E-504D-CE4F-9C1D-DE5EBC23E6E3}" type="pres">
      <dgm:prSet presAssocID="{C681D962-C29C-4DFD-90D4-F74E02608C7C}" presName="sp" presStyleCnt="0"/>
      <dgm:spPr/>
    </dgm:pt>
    <dgm:pt modelId="{06C25277-7EBA-6245-8E22-65F2120720B7}" type="pres">
      <dgm:prSet presAssocID="{4477CE24-A1CB-43F7-BE25-0CACC51CEDA3}" presName="arrowAndChildren" presStyleCnt="0"/>
      <dgm:spPr/>
    </dgm:pt>
    <dgm:pt modelId="{351DBE11-9338-D94B-9200-7FA6C657B490}" type="pres">
      <dgm:prSet presAssocID="{4477CE24-A1CB-43F7-BE25-0CACC51CEDA3}" presName="parentTextArrow" presStyleLbl="node1" presStyleIdx="0" presStyleCnt="0"/>
      <dgm:spPr/>
    </dgm:pt>
    <dgm:pt modelId="{4F87AFB3-5B34-3F44-9D40-D8B4AD20BFF9}" type="pres">
      <dgm:prSet presAssocID="{4477CE24-A1CB-43F7-BE25-0CACC51CEDA3}" presName="arrow" presStyleLbl="alignNode1" presStyleIdx="3" presStyleCnt="7"/>
      <dgm:spPr/>
    </dgm:pt>
    <dgm:pt modelId="{6A2ECFB4-CF08-6E41-BFE5-581FFCDD6AA3}" type="pres">
      <dgm:prSet presAssocID="{4477CE24-A1CB-43F7-BE25-0CACC51CEDA3}" presName="descendantArrow" presStyleLbl="bgAccFollowNode1" presStyleIdx="3" presStyleCnt="7"/>
      <dgm:spPr/>
    </dgm:pt>
    <dgm:pt modelId="{F626C5A3-F272-6049-A391-1E534E5606B7}" type="pres">
      <dgm:prSet presAssocID="{EA628C7C-502B-4867-B3E0-4B85687993B6}" presName="sp" presStyleCnt="0"/>
      <dgm:spPr/>
    </dgm:pt>
    <dgm:pt modelId="{F428157A-D61E-4D49-AA28-2C61E15CE5AE}" type="pres">
      <dgm:prSet presAssocID="{7A49F28F-4D7B-48D0-863D-4D062513B45F}" presName="arrowAndChildren" presStyleCnt="0"/>
      <dgm:spPr/>
    </dgm:pt>
    <dgm:pt modelId="{4F4D0175-1209-014F-9ED9-A233F24D0FF2}" type="pres">
      <dgm:prSet presAssocID="{7A49F28F-4D7B-48D0-863D-4D062513B45F}" presName="parentTextArrow" presStyleLbl="node1" presStyleIdx="0" presStyleCnt="0"/>
      <dgm:spPr/>
    </dgm:pt>
    <dgm:pt modelId="{6E5CF41C-DBF3-5343-AC8B-CE70A56FA296}" type="pres">
      <dgm:prSet presAssocID="{7A49F28F-4D7B-48D0-863D-4D062513B45F}" presName="arrow" presStyleLbl="alignNode1" presStyleIdx="4" presStyleCnt="7"/>
      <dgm:spPr/>
    </dgm:pt>
    <dgm:pt modelId="{C1C998A4-10D6-C24C-9CBC-5AA9FF1D3DF2}" type="pres">
      <dgm:prSet presAssocID="{7A49F28F-4D7B-48D0-863D-4D062513B45F}" presName="descendantArrow" presStyleLbl="bgAccFollowNode1" presStyleIdx="4" presStyleCnt="7"/>
      <dgm:spPr/>
    </dgm:pt>
    <dgm:pt modelId="{D1D6802B-67E9-C54A-9B19-DC14246FD554}" type="pres">
      <dgm:prSet presAssocID="{5D44E006-378E-4245-9E4A-DF1717473AE4}" presName="sp" presStyleCnt="0"/>
      <dgm:spPr/>
    </dgm:pt>
    <dgm:pt modelId="{8FFDFE08-764F-0A41-B339-3F9B519EE97D}" type="pres">
      <dgm:prSet presAssocID="{1890A9BC-7214-47C8-9114-399E2E3C4F94}" presName="arrowAndChildren" presStyleCnt="0"/>
      <dgm:spPr/>
    </dgm:pt>
    <dgm:pt modelId="{0AAC0FDA-85C9-7F4F-831C-5B5E5BD4ED1A}" type="pres">
      <dgm:prSet presAssocID="{1890A9BC-7214-47C8-9114-399E2E3C4F94}" presName="parentTextArrow" presStyleLbl="node1" presStyleIdx="0" presStyleCnt="0"/>
      <dgm:spPr/>
    </dgm:pt>
    <dgm:pt modelId="{B165849C-0200-4F48-8259-36B41E72D230}" type="pres">
      <dgm:prSet presAssocID="{1890A9BC-7214-47C8-9114-399E2E3C4F94}" presName="arrow" presStyleLbl="alignNode1" presStyleIdx="5" presStyleCnt="7"/>
      <dgm:spPr/>
    </dgm:pt>
    <dgm:pt modelId="{3F936231-89EF-1141-8D8C-75EB05FF2354}" type="pres">
      <dgm:prSet presAssocID="{1890A9BC-7214-47C8-9114-399E2E3C4F94}" presName="descendantArrow" presStyleLbl="bgAccFollowNode1" presStyleIdx="5" presStyleCnt="7"/>
      <dgm:spPr/>
    </dgm:pt>
    <dgm:pt modelId="{110A518D-DC29-2542-91CF-FCDCFD2B3D8B}" type="pres">
      <dgm:prSet presAssocID="{9CA71EFA-7E03-4F07-85E0-FE73337DD6B3}" presName="sp" presStyleCnt="0"/>
      <dgm:spPr/>
    </dgm:pt>
    <dgm:pt modelId="{70CD28AB-511A-0945-A0CB-2F5FD015FFE6}" type="pres">
      <dgm:prSet presAssocID="{682EEA16-E07E-46B5-B226-54448F4253D5}" presName="arrowAndChildren" presStyleCnt="0"/>
      <dgm:spPr/>
    </dgm:pt>
    <dgm:pt modelId="{3BB37A41-CA1E-B446-A1CA-707B4B143F03}" type="pres">
      <dgm:prSet presAssocID="{682EEA16-E07E-46B5-B226-54448F4253D5}" presName="parentTextArrow" presStyleLbl="node1" presStyleIdx="0" presStyleCnt="0"/>
      <dgm:spPr/>
    </dgm:pt>
    <dgm:pt modelId="{34FC2782-AD91-494D-A0A1-4F554DE75383}" type="pres">
      <dgm:prSet presAssocID="{682EEA16-E07E-46B5-B226-54448F4253D5}" presName="arrow" presStyleLbl="alignNode1" presStyleIdx="6" presStyleCnt="7"/>
      <dgm:spPr/>
    </dgm:pt>
    <dgm:pt modelId="{99F3E6EC-BD72-8C41-9C3A-2219AF96FB0F}" type="pres">
      <dgm:prSet presAssocID="{682EEA16-E07E-46B5-B226-54448F4253D5}" presName="descendantArrow" presStyleLbl="bgAccFollowNode1" presStyleIdx="6" presStyleCnt="7"/>
      <dgm:spPr/>
    </dgm:pt>
  </dgm:ptLst>
  <dgm:cxnLst>
    <dgm:cxn modelId="{B374FA02-8E57-A044-AF54-E32B91A52FC0}" type="presOf" srcId="{B475EA92-0C13-4ACD-BF53-3DE9885F840B}" destId="{C72F706F-BA1C-294B-99C3-EC09D06AE545}" srcOrd="0" destOrd="0" presId="urn:microsoft.com/office/officeart/2016/7/layout/VerticalDownArrowProcess"/>
    <dgm:cxn modelId="{6681200C-7949-4B28-B422-7CF0F65AE94F}" srcId="{7A49F28F-4D7B-48D0-863D-4D062513B45F}" destId="{929A34AA-11C7-4F19-A6D3-5C7DE5BEE86A}" srcOrd="0" destOrd="0" parTransId="{5CC8BE32-8D1B-42E0-9B84-2C92C43FDD61}" sibTransId="{F36CE4EA-6A6F-4512-9B3F-F340E774DA49}"/>
    <dgm:cxn modelId="{F4A62115-37B8-4470-97A0-026257656920}" srcId="{1890A9BC-7214-47C8-9114-399E2E3C4F94}" destId="{858DDD9E-EDAD-43D7-9EA0-A633FFE0AEFE}" srcOrd="0" destOrd="0" parTransId="{09F6073F-6394-4AF8-8F19-23D222F85740}" sibTransId="{1C4B2589-961F-44F2-8596-A0210151CF3E}"/>
    <dgm:cxn modelId="{8A38E018-368A-E44D-A86B-C84174049D91}" type="presOf" srcId="{A85124D4-5DF5-4566-8C27-D24C50DCCDB9}" destId="{885EFDEE-C8C8-2742-8A95-84C2D1CBC9AF}" srcOrd="0" destOrd="0" presId="urn:microsoft.com/office/officeart/2016/7/layout/VerticalDownArrowProcess"/>
    <dgm:cxn modelId="{87B0531B-9C69-2A47-8713-2265EB49D881}" type="presOf" srcId="{6F79D638-19E5-4630-9897-4D5E826D2538}" destId="{1F69636C-7160-B84D-8C27-7C268D684902}" srcOrd="0" destOrd="0" presId="urn:microsoft.com/office/officeart/2016/7/layout/VerticalDownArrowProcess"/>
    <dgm:cxn modelId="{691FF720-BA63-B247-81E9-04B79BDE926D}" type="presOf" srcId="{1890A9BC-7214-47C8-9114-399E2E3C4F94}" destId="{B165849C-0200-4F48-8259-36B41E72D230}" srcOrd="1" destOrd="0" presId="urn:microsoft.com/office/officeart/2016/7/layout/VerticalDownArrowProcess"/>
    <dgm:cxn modelId="{14F07128-0C0F-3349-AE97-C9C0510E5B7B}" type="presOf" srcId="{A85124D4-5DF5-4566-8C27-D24C50DCCDB9}" destId="{E94AF108-8636-9548-8D57-FDA72F5A1988}" srcOrd="1" destOrd="0" presId="urn:microsoft.com/office/officeart/2016/7/layout/VerticalDownArrowProcess"/>
    <dgm:cxn modelId="{01E0C336-CCC5-4A55-9FED-3E8899FF1161}" srcId="{EBFE8ECD-4AA0-4B75-94A3-C6E661383597}" destId="{7A49F28F-4D7B-48D0-863D-4D062513B45F}" srcOrd="2" destOrd="0" parTransId="{078967D4-4E0B-425C-AAF5-6F98B8967537}" sibTransId="{EA628C7C-502B-4867-B3E0-4B85687993B6}"/>
    <dgm:cxn modelId="{AA648A38-7984-481B-833F-FE65E4CBB81D}" srcId="{A85124D4-5DF5-4566-8C27-D24C50DCCDB9}" destId="{44146631-99F8-410B-B8AD-2CDA93B84D94}" srcOrd="0" destOrd="0" parTransId="{766D2624-DFD3-43D6-87FB-31824CD62612}" sibTransId="{CA1E04C0-67C1-438E-B7A0-DAF820EA108C}"/>
    <dgm:cxn modelId="{0F4DCF38-E515-9846-A8A1-14EED15E4D39}" type="presOf" srcId="{682EEA16-E07E-46B5-B226-54448F4253D5}" destId="{34FC2782-AD91-494D-A0A1-4F554DE75383}" srcOrd="1" destOrd="0" presId="urn:microsoft.com/office/officeart/2016/7/layout/VerticalDownArrowProcess"/>
    <dgm:cxn modelId="{E4A9493C-30B8-457E-927E-58F4AF9FF535}" srcId="{EBFE8ECD-4AA0-4B75-94A3-C6E661383597}" destId="{682EEA16-E07E-46B5-B226-54448F4253D5}" srcOrd="0" destOrd="0" parTransId="{D0A4DB90-0D03-4B0C-87B2-14ACFF45C471}" sibTransId="{9CA71EFA-7E03-4F07-85E0-FE73337DD6B3}"/>
    <dgm:cxn modelId="{B40E6B43-2A74-4FB6-B017-A218A20F7C37}" srcId="{EBFE8ECD-4AA0-4B75-94A3-C6E661383597}" destId="{3482D5A5-AC22-41E7-9774-7CE6216B3A13}" srcOrd="6" destOrd="0" parTransId="{2F81D6E6-9A4D-43ED-B6A4-3AE88985EA3F}" sibTransId="{33A24840-E41D-4B8D-ABE0-B21328FD624B}"/>
    <dgm:cxn modelId="{A9B74844-BB7E-4446-A712-7A997E8735D8}" type="presOf" srcId="{B59420EE-4C2E-4C17-A2FB-65795E7F9498}" destId="{7207183F-2690-5F4E-A239-3C73A900EFAC}" srcOrd="0" destOrd="0" presId="urn:microsoft.com/office/officeart/2016/7/layout/VerticalDownArrowProcess"/>
    <dgm:cxn modelId="{8C0F5645-C357-1B49-A4A6-1B26B3CA75D9}" type="presOf" srcId="{7A49F28F-4D7B-48D0-863D-4D062513B45F}" destId="{6E5CF41C-DBF3-5343-AC8B-CE70A56FA296}" srcOrd="1" destOrd="0" presId="urn:microsoft.com/office/officeart/2016/7/layout/VerticalDownArrowProcess"/>
    <dgm:cxn modelId="{39375548-5CBB-6145-A026-170A60A7934C}" type="presOf" srcId="{3482D5A5-AC22-41E7-9774-7CE6216B3A13}" destId="{4137B9D4-569D-CD46-A8E4-E718893A5565}" srcOrd="0" destOrd="0" presId="urn:microsoft.com/office/officeart/2016/7/layout/VerticalDownArrowProcess"/>
    <dgm:cxn modelId="{AC60545B-6C7C-7E45-BF23-2C01708C337E}" type="presOf" srcId="{858DDD9E-EDAD-43D7-9EA0-A633FFE0AEFE}" destId="{3F936231-89EF-1141-8D8C-75EB05FF2354}" srcOrd="0" destOrd="0" presId="urn:microsoft.com/office/officeart/2016/7/layout/VerticalDownArrowProcess"/>
    <dgm:cxn modelId="{D97F616C-42F2-F645-8211-BDBA0750E0BB}" type="presOf" srcId="{5C30FF08-7CAF-4135-BF35-5B776C1B548D}" destId="{99F3E6EC-BD72-8C41-9C3A-2219AF96FB0F}" srcOrd="0" destOrd="0" presId="urn:microsoft.com/office/officeart/2016/7/layout/VerticalDownArrowProcess"/>
    <dgm:cxn modelId="{A70C586E-55F5-164A-BC05-AF6E09CD87A6}" type="presOf" srcId="{1890A9BC-7214-47C8-9114-399E2E3C4F94}" destId="{0AAC0FDA-85C9-7F4F-831C-5B5E5BD4ED1A}" srcOrd="0" destOrd="0" presId="urn:microsoft.com/office/officeart/2016/7/layout/VerticalDownArrowProcess"/>
    <dgm:cxn modelId="{30168972-1DCD-924A-8C00-120E2706F8C3}" type="presOf" srcId="{4477CE24-A1CB-43F7-BE25-0CACC51CEDA3}" destId="{4F87AFB3-5B34-3F44-9D40-D8B4AD20BFF9}" srcOrd="1" destOrd="0" presId="urn:microsoft.com/office/officeart/2016/7/layout/VerticalDownArrowProcess"/>
    <dgm:cxn modelId="{CF387883-F8F7-D84C-B798-C2D1712818DA}" type="presOf" srcId="{B475EA92-0C13-4ACD-BF53-3DE9885F840B}" destId="{0DA958DE-0FF6-9E43-BD13-B083407F0B5E}" srcOrd="1" destOrd="0" presId="urn:microsoft.com/office/officeart/2016/7/layout/VerticalDownArrowProcess"/>
    <dgm:cxn modelId="{E0A8DB88-125E-4F4F-A82B-678AF62885C8}" srcId="{EBFE8ECD-4AA0-4B75-94A3-C6E661383597}" destId="{4477CE24-A1CB-43F7-BE25-0CACC51CEDA3}" srcOrd="3" destOrd="0" parTransId="{70619F77-F666-4CDD-9705-4EBFAE08FFD9}" sibTransId="{C681D962-C29C-4DFD-90D4-F74E02608C7C}"/>
    <dgm:cxn modelId="{4A7FE989-1A1D-DE44-9A9A-0C3DC16922AA}" type="presOf" srcId="{682EEA16-E07E-46B5-B226-54448F4253D5}" destId="{3BB37A41-CA1E-B446-A1CA-707B4B143F03}" srcOrd="0" destOrd="0" presId="urn:microsoft.com/office/officeart/2016/7/layout/VerticalDownArrowProcess"/>
    <dgm:cxn modelId="{38A61FAD-597A-4777-AEB1-0E3944349FDF}" srcId="{4477CE24-A1CB-43F7-BE25-0CACC51CEDA3}" destId="{9A2B8896-0DFC-4EDD-BE72-A8363E1FA8CB}" srcOrd="0" destOrd="0" parTransId="{B57A219F-8E1E-4940-8DDF-14CC54FF62C0}" sibTransId="{F6C98CC2-42B5-4D9F-A09D-D71068F72660}"/>
    <dgm:cxn modelId="{942DFFBC-8E81-4A6B-B690-CBC7E4B5C62D}" srcId="{B475EA92-0C13-4ACD-BF53-3DE9885F840B}" destId="{B59420EE-4C2E-4C17-A2FB-65795E7F9498}" srcOrd="0" destOrd="0" parTransId="{A4B68544-1FA0-44A0-B0D7-C6CD593439A0}" sibTransId="{572962B8-46E7-4394-BACE-6C2382A83D54}"/>
    <dgm:cxn modelId="{BE271BC1-70EA-40F9-B8C7-EAED1736B773}" srcId="{3482D5A5-AC22-41E7-9774-7CE6216B3A13}" destId="{6F79D638-19E5-4630-9897-4D5E826D2538}" srcOrd="0" destOrd="0" parTransId="{33D1CE24-050D-4C4B-B080-08033B7989EC}" sibTransId="{5152D2A5-210C-44C0-A0E1-685A6D6EFB14}"/>
    <dgm:cxn modelId="{F8EFD0C2-DECF-4068-AB81-B49F1CB17262}" srcId="{682EEA16-E07E-46B5-B226-54448F4253D5}" destId="{5C30FF08-7CAF-4135-BF35-5B776C1B548D}" srcOrd="0" destOrd="0" parTransId="{A62BF4E0-FDAF-4BA9-A211-A8D471431D98}" sibTransId="{39D89015-C942-454C-928F-50B945CD0CBC}"/>
    <dgm:cxn modelId="{062757C3-26D4-4D45-9BD4-F88EA2973DFA}" srcId="{EBFE8ECD-4AA0-4B75-94A3-C6E661383597}" destId="{1890A9BC-7214-47C8-9114-399E2E3C4F94}" srcOrd="1" destOrd="0" parTransId="{338DB7B5-85C7-4767-AF5A-387ED5922DC4}" sibTransId="{5D44E006-378E-4245-9E4A-DF1717473AE4}"/>
    <dgm:cxn modelId="{69D39DCB-D255-8249-986D-0909C03BEDA8}" type="presOf" srcId="{EBFE8ECD-4AA0-4B75-94A3-C6E661383597}" destId="{1E87AC02-BC07-5F4E-BDE4-BD62E11E3937}" srcOrd="0" destOrd="0" presId="urn:microsoft.com/office/officeart/2016/7/layout/VerticalDownArrowProcess"/>
    <dgm:cxn modelId="{3919AECC-FCFC-674D-B6CE-F98E28AF0A12}" type="presOf" srcId="{7A49F28F-4D7B-48D0-863D-4D062513B45F}" destId="{4F4D0175-1209-014F-9ED9-A233F24D0FF2}" srcOrd="0" destOrd="0" presId="urn:microsoft.com/office/officeart/2016/7/layout/VerticalDownArrowProcess"/>
    <dgm:cxn modelId="{591B33D0-60CF-473B-B914-A867C895D718}" srcId="{EBFE8ECD-4AA0-4B75-94A3-C6E661383597}" destId="{A85124D4-5DF5-4566-8C27-D24C50DCCDB9}" srcOrd="4" destOrd="0" parTransId="{D4C97D23-EE2E-4CF8-BED6-89AB01FDFEAF}" sibTransId="{64FB6077-9B62-4A97-A1EE-BEDFE8EC47A2}"/>
    <dgm:cxn modelId="{EE81D5D7-DC45-144B-AC47-31565CAEBF45}" type="presOf" srcId="{929A34AA-11C7-4F19-A6D3-5C7DE5BEE86A}" destId="{C1C998A4-10D6-C24C-9CBC-5AA9FF1D3DF2}" srcOrd="0" destOrd="0" presId="urn:microsoft.com/office/officeart/2016/7/layout/VerticalDownArrowProcess"/>
    <dgm:cxn modelId="{64686CD9-E957-E046-BF49-49E19FB62488}" type="presOf" srcId="{9A2B8896-0DFC-4EDD-BE72-A8363E1FA8CB}" destId="{6A2ECFB4-CF08-6E41-BFE5-581FFCDD6AA3}" srcOrd="0" destOrd="0" presId="urn:microsoft.com/office/officeart/2016/7/layout/VerticalDownArrowProcess"/>
    <dgm:cxn modelId="{08686FD9-DC9C-441B-88D3-260510FEDB75}" srcId="{EBFE8ECD-4AA0-4B75-94A3-C6E661383597}" destId="{B475EA92-0C13-4ACD-BF53-3DE9885F840B}" srcOrd="5" destOrd="0" parTransId="{FB2550D5-E5C1-4392-9740-B143D5C0261E}" sibTransId="{992CCC70-BDDE-47C9-9E10-E191779B77D2}"/>
    <dgm:cxn modelId="{FA9EE7E0-7BF5-304F-9A4D-6B81539B52C5}" type="presOf" srcId="{4477CE24-A1CB-43F7-BE25-0CACC51CEDA3}" destId="{351DBE11-9338-D94B-9200-7FA6C657B490}" srcOrd="0" destOrd="0" presId="urn:microsoft.com/office/officeart/2016/7/layout/VerticalDownArrowProcess"/>
    <dgm:cxn modelId="{78793AE8-425A-8746-B391-C868556ACBAE}" type="presOf" srcId="{44146631-99F8-410B-B8AD-2CDA93B84D94}" destId="{F57CC6EA-6F89-634E-90D7-C2A5D1D1ECCF}" srcOrd="0" destOrd="0" presId="urn:microsoft.com/office/officeart/2016/7/layout/VerticalDownArrowProcess"/>
    <dgm:cxn modelId="{3DF2478B-4C4D-5C4B-AF71-EA7FBAE80468}" type="presParOf" srcId="{1E87AC02-BC07-5F4E-BDE4-BD62E11E3937}" destId="{2065FCB8-7D5B-E14B-8B6B-5ABD81334D57}" srcOrd="0" destOrd="0" presId="urn:microsoft.com/office/officeart/2016/7/layout/VerticalDownArrowProcess"/>
    <dgm:cxn modelId="{635763FB-3206-0E48-8AC4-776D590BC69B}" type="presParOf" srcId="{2065FCB8-7D5B-E14B-8B6B-5ABD81334D57}" destId="{4137B9D4-569D-CD46-A8E4-E718893A5565}" srcOrd="0" destOrd="0" presId="urn:microsoft.com/office/officeart/2016/7/layout/VerticalDownArrowProcess"/>
    <dgm:cxn modelId="{A91ECEC5-D1B2-EF49-909D-389CE889302D}" type="presParOf" srcId="{2065FCB8-7D5B-E14B-8B6B-5ABD81334D57}" destId="{1F69636C-7160-B84D-8C27-7C268D684902}" srcOrd="1" destOrd="0" presId="urn:microsoft.com/office/officeart/2016/7/layout/VerticalDownArrowProcess"/>
    <dgm:cxn modelId="{F0594E0C-15E9-D242-B80C-C2A5A8296748}" type="presParOf" srcId="{1E87AC02-BC07-5F4E-BDE4-BD62E11E3937}" destId="{ADD480E4-0F6A-FB4E-86AC-CDC3760AD68C}" srcOrd="1" destOrd="0" presId="urn:microsoft.com/office/officeart/2016/7/layout/VerticalDownArrowProcess"/>
    <dgm:cxn modelId="{D09AB17A-7262-D145-9E3A-60F6A5B71EE4}" type="presParOf" srcId="{1E87AC02-BC07-5F4E-BDE4-BD62E11E3937}" destId="{B184270A-01DB-2A45-A396-9E7ED3B72579}" srcOrd="2" destOrd="0" presId="urn:microsoft.com/office/officeart/2016/7/layout/VerticalDownArrowProcess"/>
    <dgm:cxn modelId="{142457AC-699C-DF43-BD71-3C46C79132AE}" type="presParOf" srcId="{B184270A-01DB-2A45-A396-9E7ED3B72579}" destId="{C72F706F-BA1C-294B-99C3-EC09D06AE545}" srcOrd="0" destOrd="0" presId="urn:microsoft.com/office/officeart/2016/7/layout/VerticalDownArrowProcess"/>
    <dgm:cxn modelId="{DE0C32A1-8810-1A40-9020-D6016E65DE38}" type="presParOf" srcId="{B184270A-01DB-2A45-A396-9E7ED3B72579}" destId="{0DA958DE-0FF6-9E43-BD13-B083407F0B5E}" srcOrd="1" destOrd="0" presId="urn:microsoft.com/office/officeart/2016/7/layout/VerticalDownArrowProcess"/>
    <dgm:cxn modelId="{69FE3928-17BB-504C-BEDF-BE9E5E9A1BDC}" type="presParOf" srcId="{B184270A-01DB-2A45-A396-9E7ED3B72579}" destId="{7207183F-2690-5F4E-A239-3C73A900EFAC}" srcOrd="2" destOrd="0" presId="urn:microsoft.com/office/officeart/2016/7/layout/VerticalDownArrowProcess"/>
    <dgm:cxn modelId="{535737FB-6A7D-AD4E-BDD8-ED1087F14112}" type="presParOf" srcId="{1E87AC02-BC07-5F4E-BDE4-BD62E11E3937}" destId="{7251BBFB-3B78-C447-914E-B9C6233F68D8}" srcOrd="3" destOrd="0" presId="urn:microsoft.com/office/officeart/2016/7/layout/VerticalDownArrowProcess"/>
    <dgm:cxn modelId="{4F0D0227-908C-E540-BCB5-15A51ED5BB87}" type="presParOf" srcId="{1E87AC02-BC07-5F4E-BDE4-BD62E11E3937}" destId="{FF1569C0-9E5E-244E-8710-CA45F8EACED8}" srcOrd="4" destOrd="0" presId="urn:microsoft.com/office/officeart/2016/7/layout/VerticalDownArrowProcess"/>
    <dgm:cxn modelId="{46970C43-03DD-4D46-A254-81E15A819E4D}" type="presParOf" srcId="{FF1569C0-9E5E-244E-8710-CA45F8EACED8}" destId="{885EFDEE-C8C8-2742-8A95-84C2D1CBC9AF}" srcOrd="0" destOrd="0" presId="urn:microsoft.com/office/officeart/2016/7/layout/VerticalDownArrowProcess"/>
    <dgm:cxn modelId="{AC667CDF-32AA-2D40-BDA7-1FEA9B43D53A}" type="presParOf" srcId="{FF1569C0-9E5E-244E-8710-CA45F8EACED8}" destId="{E94AF108-8636-9548-8D57-FDA72F5A1988}" srcOrd="1" destOrd="0" presId="urn:microsoft.com/office/officeart/2016/7/layout/VerticalDownArrowProcess"/>
    <dgm:cxn modelId="{117BC8AC-263A-8F47-BAB1-89DD2D21311F}" type="presParOf" srcId="{FF1569C0-9E5E-244E-8710-CA45F8EACED8}" destId="{F57CC6EA-6F89-634E-90D7-C2A5D1D1ECCF}" srcOrd="2" destOrd="0" presId="urn:microsoft.com/office/officeart/2016/7/layout/VerticalDownArrowProcess"/>
    <dgm:cxn modelId="{4CD44851-50FB-A946-BF19-E9D0D532E7D3}" type="presParOf" srcId="{1E87AC02-BC07-5F4E-BDE4-BD62E11E3937}" destId="{C9E8449E-504D-CE4F-9C1D-DE5EBC23E6E3}" srcOrd="5" destOrd="0" presId="urn:microsoft.com/office/officeart/2016/7/layout/VerticalDownArrowProcess"/>
    <dgm:cxn modelId="{56CAD799-1F0E-9948-B700-AA5DF0279BA0}" type="presParOf" srcId="{1E87AC02-BC07-5F4E-BDE4-BD62E11E3937}" destId="{06C25277-7EBA-6245-8E22-65F2120720B7}" srcOrd="6" destOrd="0" presId="urn:microsoft.com/office/officeart/2016/7/layout/VerticalDownArrowProcess"/>
    <dgm:cxn modelId="{44C943DF-AA1B-D543-BC18-21B3275441FB}" type="presParOf" srcId="{06C25277-7EBA-6245-8E22-65F2120720B7}" destId="{351DBE11-9338-D94B-9200-7FA6C657B490}" srcOrd="0" destOrd="0" presId="urn:microsoft.com/office/officeart/2016/7/layout/VerticalDownArrowProcess"/>
    <dgm:cxn modelId="{C93EB1D2-FB36-DB40-886D-6CA1CCDF5907}" type="presParOf" srcId="{06C25277-7EBA-6245-8E22-65F2120720B7}" destId="{4F87AFB3-5B34-3F44-9D40-D8B4AD20BFF9}" srcOrd="1" destOrd="0" presId="urn:microsoft.com/office/officeart/2016/7/layout/VerticalDownArrowProcess"/>
    <dgm:cxn modelId="{F9CF0260-C4FA-7546-98D9-A4B3D11E3DF6}" type="presParOf" srcId="{06C25277-7EBA-6245-8E22-65F2120720B7}" destId="{6A2ECFB4-CF08-6E41-BFE5-581FFCDD6AA3}" srcOrd="2" destOrd="0" presId="urn:microsoft.com/office/officeart/2016/7/layout/VerticalDownArrowProcess"/>
    <dgm:cxn modelId="{92A34913-F102-654B-860F-EADA59AE15F4}" type="presParOf" srcId="{1E87AC02-BC07-5F4E-BDE4-BD62E11E3937}" destId="{F626C5A3-F272-6049-A391-1E534E5606B7}" srcOrd="7" destOrd="0" presId="urn:microsoft.com/office/officeart/2016/7/layout/VerticalDownArrowProcess"/>
    <dgm:cxn modelId="{736A2B24-7E03-A641-9C93-A199041F2BA2}" type="presParOf" srcId="{1E87AC02-BC07-5F4E-BDE4-BD62E11E3937}" destId="{F428157A-D61E-4D49-AA28-2C61E15CE5AE}" srcOrd="8" destOrd="0" presId="urn:microsoft.com/office/officeart/2016/7/layout/VerticalDownArrowProcess"/>
    <dgm:cxn modelId="{EAC22B97-4A45-BE4A-A282-04AD0AE006BC}" type="presParOf" srcId="{F428157A-D61E-4D49-AA28-2C61E15CE5AE}" destId="{4F4D0175-1209-014F-9ED9-A233F24D0FF2}" srcOrd="0" destOrd="0" presId="urn:microsoft.com/office/officeart/2016/7/layout/VerticalDownArrowProcess"/>
    <dgm:cxn modelId="{C689E4A1-6062-734A-9553-EBEC8DB4935A}" type="presParOf" srcId="{F428157A-D61E-4D49-AA28-2C61E15CE5AE}" destId="{6E5CF41C-DBF3-5343-AC8B-CE70A56FA296}" srcOrd="1" destOrd="0" presId="urn:microsoft.com/office/officeart/2016/7/layout/VerticalDownArrowProcess"/>
    <dgm:cxn modelId="{22580A31-F31C-BA4C-8C81-874515F36553}" type="presParOf" srcId="{F428157A-D61E-4D49-AA28-2C61E15CE5AE}" destId="{C1C998A4-10D6-C24C-9CBC-5AA9FF1D3DF2}" srcOrd="2" destOrd="0" presId="urn:microsoft.com/office/officeart/2016/7/layout/VerticalDownArrowProcess"/>
    <dgm:cxn modelId="{6C58C615-0DBE-B840-ADD4-6E1B4804D1B7}" type="presParOf" srcId="{1E87AC02-BC07-5F4E-BDE4-BD62E11E3937}" destId="{D1D6802B-67E9-C54A-9B19-DC14246FD554}" srcOrd="9" destOrd="0" presId="urn:microsoft.com/office/officeart/2016/7/layout/VerticalDownArrowProcess"/>
    <dgm:cxn modelId="{92EB91BB-8A54-D348-81F9-8E01E0C8E1BD}" type="presParOf" srcId="{1E87AC02-BC07-5F4E-BDE4-BD62E11E3937}" destId="{8FFDFE08-764F-0A41-B339-3F9B519EE97D}" srcOrd="10" destOrd="0" presId="urn:microsoft.com/office/officeart/2016/7/layout/VerticalDownArrowProcess"/>
    <dgm:cxn modelId="{C6D23E64-421E-2C41-A5A8-94F3452F2DA8}" type="presParOf" srcId="{8FFDFE08-764F-0A41-B339-3F9B519EE97D}" destId="{0AAC0FDA-85C9-7F4F-831C-5B5E5BD4ED1A}" srcOrd="0" destOrd="0" presId="urn:microsoft.com/office/officeart/2016/7/layout/VerticalDownArrowProcess"/>
    <dgm:cxn modelId="{BF860648-7272-0E4A-94A7-6C5254ADD758}" type="presParOf" srcId="{8FFDFE08-764F-0A41-B339-3F9B519EE97D}" destId="{B165849C-0200-4F48-8259-36B41E72D230}" srcOrd="1" destOrd="0" presId="urn:microsoft.com/office/officeart/2016/7/layout/VerticalDownArrowProcess"/>
    <dgm:cxn modelId="{5754E2C5-6E2F-884F-A7BC-AA71C116CF4E}" type="presParOf" srcId="{8FFDFE08-764F-0A41-B339-3F9B519EE97D}" destId="{3F936231-89EF-1141-8D8C-75EB05FF2354}" srcOrd="2" destOrd="0" presId="urn:microsoft.com/office/officeart/2016/7/layout/VerticalDownArrowProcess"/>
    <dgm:cxn modelId="{69A02E86-9E40-8649-9287-7875E6365F5D}" type="presParOf" srcId="{1E87AC02-BC07-5F4E-BDE4-BD62E11E3937}" destId="{110A518D-DC29-2542-91CF-FCDCFD2B3D8B}" srcOrd="11" destOrd="0" presId="urn:microsoft.com/office/officeart/2016/7/layout/VerticalDownArrowProcess"/>
    <dgm:cxn modelId="{6FB0E757-1022-734B-B401-A758D26300A9}" type="presParOf" srcId="{1E87AC02-BC07-5F4E-BDE4-BD62E11E3937}" destId="{70CD28AB-511A-0945-A0CB-2F5FD015FFE6}" srcOrd="12" destOrd="0" presId="urn:microsoft.com/office/officeart/2016/7/layout/VerticalDownArrowProcess"/>
    <dgm:cxn modelId="{E140DE46-EBD3-2242-9A13-F9E7FADE2036}" type="presParOf" srcId="{70CD28AB-511A-0945-A0CB-2F5FD015FFE6}" destId="{3BB37A41-CA1E-B446-A1CA-707B4B143F03}" srcOrd="0" destOrd="0" presId="urn:microsoft.com/office/officeart/2016/7/layout/VerticalDownArrowProcess"/>
    <dgm:cxn modelId="{A1BFB773-C093-BF42-A5D4-4649E8CECA56}" type="presParOf" srcId="{70CD28AB-511A-0945-A0CB-2F5FD015FFE6}" destId="{34FC2782-AD91-494D-A0A1-4F554DE75383}" srcOrd="1" destOrd="0" presId="urn:microsoft.com/office/officeart/2016/7/layout/VerticalDownArrowProcess"/>
    <dgm:cxn modelId="{F2436C16-697C-4341-AD2A-90D9F646A539}" type="presParOf" srcId="{70CD28AB-511A-0945-A0CB-2F5FD015FFE6}" destId="{99F3E6EC-BD72-8C41-9C3A-2219AF96FB0F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37B9D4-569D-CD46-A8E4-E718893A5565}">
      <dsp:nvSpPr>
        <dsp:cNvPr id="0" name=""/>
        <dsp:cNvSpPr/>
      </dsp:nvSpPr>
      <dsp:spPr>
        <a:xfrm>
          <a:off x="0" y="3877685"/>
          <a:ext cx="2763241" cy="4243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TPR-FPR</a:t>
          </a:r>
        </a:p>
      </dsp:txBody>
      <dsp:txXfrm>
        <a:off x="0" y="3877685"/>
        <a:ext cx="2763241" cy="424333"/>
      </dsp:txXfrm>
    </dsp:sp>
    <dsp:sp modelId="{1F69636C-7160-B84D-8C27-7C268D684902}">
      <dsp:nvSpPr>
        <dsp:cNvPr id="0" name=""/>
        <dsp:cNvSpPr/>
      </dsp:nvSpPr>
      <dsp:spPr>
        <a:xfrm>
          <a:off x="2763241" y="3877685"/>
          <a:ext cx="8289725" cy="4243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log2 ratio and TPR-FPR (see line-plot – cutoff will be the highest point)</a:t>
          </a:r>
        </a:p>
      </dsp:txBody>
      <dsp:txXfrm>
        <a:off x="2763241" y="3877685"/>
        <a:ext cx="8289725" cy="424333"/>
      </dsp:txXfrm>
    </dsp:sp>
    <dsp:sp modelId="{0DA958DE-0FF6-9E43-BD13-B083407F0B5E}">
      <dsp:nvSpPr>
        <dsp:cNvPr id="0" name=""/>
        <dsp:cNvSpPr/>
      </dsp:nvSpPr>
      <dsp:spPr>
        <a:xfrm rot="10800000">
          <a:off x="0" y="3231426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Find optimal cutoff ratio</a:t>
          </a:r>
        </a:p>
      </dsp:txBody>
      <dsp:txXfrm rot="-10800000">
        <a:off x="0" y="3231426"/>
        <a:ext cx="2763241" cy="424205"/>
      </dsp:txXfrm>
    </dsp:sp>
    <dsp:sp modelId="{7207183F-2690-5F4E-A239-3C73A900EFAC}">
      <dsp:nvSpPr>
        <dsp:cNvPr id="0" name=""/>
        <dsp:cNvSpPr/>
      </dsp:nvSpPr>
      <dsp:spPr>
        <a:xfrm>
          <a:off x="2763241" y="3231426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find cutoff ratio which has the highest value for TPR-FPR (= the optimal cutoff ratio)</a:t>
          </a:r>
        </a:p>
      </dsp:txBody>
      <dsp:txXfrm>
        <a:off x="2763241" y="3231426"/>
        <a:ext cx="8289725" cy="424205"/>
      </dsp:txXfrm>
    </dsp:sp>
    <dsp:sp modelId="{E94AF108-8636-9548-8D57-FDA72F5A1988}">
      <dsp:nvSpPr>
        <dsp:cNvPr id="0" name=""/>
        <dsp:cNvSpPr/>
      </dsp:nvSpPr>
      <dsp:spPr>
        <a:xfrm rot="10800000">
          <a:off x="0" y="258516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TPR-FPR</a:t>
          </a:r>
        </a:p>
      </dsp:txBody>
      <dsp:txXfrm rot="-10800000">
        <a:off x="0" y="2585167"/>
        <a:ext cx="2763241" cy="424205"/>
      </dsp:txXfrm>
    </dsp:sp>
    <dsp:sp modelId="{F57CC6EA-6F89-634E-90D7-C2A5D1D1ECCF}">
      <dsp:nvSpPr>
        <dsp:cNvPr id="0" name=""/>
        <dsp:cNvSpPr/>
      </dsp:nvSpPr>
      <dsp:spPr>
        <a:xfrm>
          <a:off x="2763241" y="258516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TPR-FPR </a:t>
          </a:r>
        </a:p>
      </dsp:txBody>
      <dsp:txXfrm>
        <a:off x="2763241" y="2585167"/>
        <a:ext cx="8289725" cy="424205"/>
      </dsp:txXfrm>
    </dsp:sp>
    <dsp:sp modelId="{4F87AFB3-5B34-3F44-9D40-D8B4AD20BFF9}">
      <dsp:nvSpPr>
        <dsp:cNvPr id="0" name=""/>
        <dsp:cNvSpPr/>
      </dsp:nvSpPr>
      <dsp:spPr>
        <a:xfrm rot="10800000">
          <a:off x="0" y="1938907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Plot (ROC)</a:t>
          </a:r>
        </a:p>
      </dsp:txBody>
      <dsp:txXfrm rot="-10800000">
        <a:off x="0" y="1938907"/>
        <a:ext cx="2763241" cy="424205"/>
      </dsp:txXfrm>
    </dsp:sp>
    <dsp:sp modelId="{6A2ECFB4-CF08-6E41-BFE5-581FFCDD6AA3}">
      <dsp:nvSpPr>
        <dsp:cNvPr id="0" name=""/>
        <dsp:cNvSpPr/>
      </dsp:nvSpPr>
      <dsp:spPr>
        <a:xfrm>
          <a:off x="2763241" y="1938907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Plot TPR and FPR (ROC) to determine how well the experiment enriched TP over FP proteins</a:t>
          </a:r>
        </a:p>
      </dsp:txBody>
      <dsp:txXfrm>
        <a:off x="2763241" y="1938907"/>
        <a:ext cx="8289725" cy="424205"/>
      </dsp:txXfrm>
    </dsp:sp>
    <dsp:sp modelId="{6E5CF41C-DBF3-5343-AC8B-CE70A56FA296}">
      <dsp:nvSpPr>
        <dsp:cNvPr id="0" name=""/>
        <dsp:cNvSpPr/>
      </dsp:nvSpPr>
      <dsp:spPr>
        <a:xfrm rot="10800000">
          <a:off x="0" y="1292648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TPR &amp; FPR</a:t>
          </a:r>
        </a:p>
      </dsp:txBody>
      <dsp:txXfrm rot="-10800000">
        <a:off x="0" y="1292648"/>
        <a:ext cx="2763241" cy="424205"/>
      </dsp:txXfrm>
    </dsp:sp>
    <dsp:sp modelId="{C1C998A4-10D6-C24C-9CBC-5AA9FF1D3DF2}">
      <dsp:nvSpPr>
        <dsp:cNvPr id="0" name=""/>
        <dsp:cNvSpPr/>
      </dsp:nvSpPr>
      <dsp:spPr>
        <a:xfrm>
          <a:off x="2763241" y="1292648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Calculate TP rate (TPR) and the FP rate (FPR) (= fraction of detected TP and FP proteins above the cutoff)</a:t>
          </a:r>
        </a:p>
      </dsp:txBody>
      <dsp:txXfrm>
        <a:off x="2763241" y="1292648"/>
        <a:ext cx="8289725" cy="424205"/>
      </dsp:txXfrm>
    </dsp:sp>
    <dsp:sp modelId="{B165849C-0200-4F48-8259-36B41E72D230}">
      <dsp:nvSpPr>
        <dsp:cNvPr id="0" name=""/>
        <dsp:cNvSpPr/>
      </dsp:nvSpPr>
      <dsp:spPr>
        <a:xfrm rot="10800000">
          <a:off x="0" y="646389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Rank</a:t>
          </a:r>
        </a:p>
      </dsp:txBody>
      <dsp:txXfrm rot="-10800000">
        <a:off x="0" y="646389"/>
        <a:ext cx="2763241" cy="424205"/>
      </dsp:txXfrm>
    </dsp:sp>
    <dsp:sp modelId="{3F936231-89EF-1141-8D8C-75EB05FF2354}">
      <dsp:nvSpPr>
        <dsp:cNvPr id="0" name=""/>
        <dsp:cNvSpPr/>
      </dsp:nvSpPr>
      <dsp:spPr>
        <a:xfrm>
          <a:off x="2763241" y="646389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Rank ratios in descending order </a:t>
          </a:r>
        </a:p>
      </dsp:txBody>
      <dsp:txXfrm>
        <a:off x="2763241" y="646389"/>
        <a:ext cx="8289725" cy="424205"/>
      </dsp:txXfrm>
    </dsp:sp>
    <dsp:sp modelId="{34FC2782-AD91-494D-A0A1-4F554DE75383}">
      <dsp:nvSpPr>
        <dsp:cNvPr id="0" name=""/>
        <dsp:cNvSpPr/>
      </dsp:nvSpPr>
      <dsp:spPr>
        <a:xfrm rot="10800000">
          <a:off x="0" y="130"/>
          <a:ext cx="2763241" cy="65262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522" tIns="106680" rIns="196522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Normalize</a:t>
          </a:r>
        </a:p>
      </dsp:txBody>
      <dsp:txXfrm rot="-10800000">
        <a:off x="0" y="130"/>
        <a:ext cx="2763241" cy="424205"/>
      </dsp:txXfrm>
    </dsp:sp>
    <dsp:sp modelId="{99F3E6EC-BD72-8C41-9C3A-2219AF96FB0F}">
      <dsp:nvSpPr>
        <dsp:cNvPr id="0" name=""/>
        <dsp:cNvSpPr/>
      </dsp:nvSpPr>
      <dsp:spPr>
        <a:xfrm>
          <a:off x="2763241" y="130"/>
          <a:ext cx="8289725" cy="4242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155" tIns="139700" rIns="168155" bIns="1397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Normalize ratio by the median ratio of proteins that are labelled as FP</a:t>
          </a:r>
        </a:p>
      </dsp:txBody>
      <dsp:txXfrm>
        <a:off x="2763241" y="130"/>
        <a:ext cx="8289725" cy="42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BF4D-3201-F745-B932-E7F786B71255}" type="datetimeFigureOut">
              <a:rPr lang="en-US" smtClean="0"/>
              <a:t>11/16/22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C3097-339F-D341-9AE2-47DB3DE0E3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  <a:p>
            <a:r>
              <a:rPr lang="en-US" dirty="0">
                <a:solidFill>
                  <a:schemeClr val="bg1"/>
                </a:solidFill>
              </a:rPr>
              <a:t>can exhibit </a:t>
            </a:r>
            <a:r>
              <a:rPr lang="en-US" dirty="0" err="1">
                <a:solidFill>
                  <a:schemeClr val="bg1"/>
                </a:solidFill>
              </a:rPr>
              <a:t>biotinylation</a:t>
            </a:r>
            <a:r>
              <a:rPr lang="en-US" dirty="0">
                <a:solidFill>
                  <a:schemeClr val="bg1"/>
                </a:solidFill>
              </a:rPr>
              <a:t> activity before addition of exogenous biotin because it can utilize endogenous biotin present in some cell types and organisms, high activity and high biotin affinity can cause cellular toxicity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33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www.nature.com</a:t>
            </a:r>
            <a:r>
              <a:rPr lang="en-US" dirty="0"/>
              <a:t>/articles/s41596-020-0399-0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94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73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peptides </a:t>
            </a:r>
            <a:r>
              <a:rPr lang="en-US" i="1" dirty="0"/>
              <a:t>control protein secretion</a:t>
            </a:r>
            <a:r>
              <a:rPr lang="en-US" dirty="0"/>
              <a:t> and translocation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Proteins annotated as TP are removed from FP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25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027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37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97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46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question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63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C3097-339F-D341-9AE2-47DB3DE0E34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58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82D62B-C5BC-9A48-B649-B612C2626DF0}" type="datetime2">
              <a:rPr lang="en-US" smtClean="0"/>
              <a:t>Wednesday, November 16,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40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9A10DC3-F6B5-014A-A9AD-0D47C6506BAB}" type="datetime2">
              <a:rPr lang="en-US" smtClean="0"/>
              <a:t>Wednesday, November 16,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67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049C287-8CF4-DC48-88B8-6E35669697EC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DEB5C39-7764-3744-BF89-1BA0C95D9B94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71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BAB7099-C23E-1745-AF03-0B0C40F6AA6C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2B883A0-F701-0F49-9D67-42F97F0F4C65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0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E6923127-F9F8-8B4E-9CEB-95BF7FFEA85F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4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4AFEB34-53E9-8F42-9ED2-04274EE70207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4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78864A2C-3282-224A-8A3B-B1B48911DC1D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9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8C7BF22D-4351-7443-9203-BE328953BFC7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92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9FDF6349-9520-004C-B410-2193F9372E49}" type="datetime2">
              <a:rPr lang="en-US" smtClean="0"/>
              <a:t>Wednesday, November 16,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61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A398F71-50EE-C442-9A03-D3A19758747B}" type="datetime2">
              <a:rPr lang="en-US" smtClean="0"/>
              <a:t>Wednesday, November 16, 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8337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11" r:id="rId6"/>
    <p:sldLayoutId id="2147483706" r:id="rId7"/>
    <p:sldLayoutId id="2147483707" r:id="rId8"/>
    <p:sldLayoutId id="2147483708" r:id="rId9"/>
    <p:sldLayoutId id="2147483710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96-020-0399-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s41596-020-0399-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6-020-0399-0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54F3A7E8-6DA9-4C2B-ACC8-475F34DAEA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5B21CDF0-4D24-4190-9285-9016C19C1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8A636-7CA9-8B4E-B3B8-BABF6E6CA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0" y="1449388"/>
            <a:ext cx="5015638" cy="2075012"/>
          </a:xfrm>
        </p:spPr>
        <p:txBody>
          <a:bodyPr>
            <a:normAutofit/>
          </a:bodyPr>
          <a:lstStyle/>
          <a:p>
            <a:r>
              <a:rPr lang="en-US" dirty="0" err="1"/>
              <a:t>TurboID</a:t>
            </a:r>
            <a:r>
              <a:rPr lang="en-US" dirty="0"/>
              <a:t>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B54472-E7E3-9842-BF74-63C41EF5D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0" y="3830398"/>
            <a:ext cx="5015638" cy="1219439"/>
          </a:xfrm>
        </p:spPr>
        <p:txBody>
          <a:bodyPr>
            <a:normAutofit/>
          </a:bodyPr>
          <a:lstStyle/>
          <a:p>
            <a:r>
              <a:rPr lang="en-US"/>
              <a:t>DATA ANALYSIS 10/17</a:t>
            </a:r>
            <a:endParaRPr lang="en-US" dirty="0"/>
          </a:p>
        </p:txBody>
      </p:sp>
      <p:pic>
        <p:nvPicPr>
          <p:cNvPr id="23" name="Picture 3">
            <a:extLst>
              <a:ext uri="{FF2B5EF4-FFF2-40B4-BE49-F238E27FC236}">
                <a16:creationId xmlns:a16="http://schemas.microsoft.com/office/drawing/2014/main" id="{11F328B7-C52A-F1DF-0D21-DB68E1F65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26" r="12272"/>
          <a:stretch/>
        </p:blipFill>
        <p:spPr>
          <a:xfrm>
            <a:off x="20" y="10"/>
            <a:ext cx="5903704" cy="6857990"/>
          </a:xfrm>
          <a:custGeom>
            <a:avLst/>
            <a:gdLst/>
            <a:ahLst/>
            <a:cxnLst/>
            <a:rect l="l" t="t" r="r" b="b"/>
            <a:pathLst>
              <a:path w="5903724" h="6858000">
                <a:moveTo>
                  <a:pt x="0" y="0"/>
                </a:moveTo>
                <a:lnTo>
                  <a:pt x="5886178" y="0"/>
                </a:lnTo>
                <a:lnTo>
                  <a:pt x="5890522" y="42009"/>
                </a:lnTo>
                <a:cubicBezTo>
                  <a:pt x="5948302" y="788432"/>
                  <a:pt x="5795211" y="5194623"/>
                  <a:pt x="5836720" y="6279216"/>
                </a:cubicBezTo>
                <a:cubicBezTo>
                  <a:pt x="5842686" y="6384211"/>
                  <a:pt x="5845802" y="6526851"/>
                  <a:pt x="5846540" y="6699667"/>
                </a:cubicBezTo>
                <a:lnTo>
                  <a:pt x="584650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C9AA14C-80A4-427C-A911-28CD20C56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09203" y="317452"/>
            <a:ext cx="2117174" cy="588806"/>
            <a:chOff x="4549904" y="5078157"/>
            <a:chExt cx="3023338" cy="840818"/>
          </a:xfrm>
        </p:grpSpPr>
        <p:sp>
          <p:nvSpPr>
            <p:cNvPr id="14" name="Freeform 80">
              <a:extLst>
                <a:ext uri="{FF2B5EF4-FFF2-40B4-BE49-F238E27FC236}">
                  <a16:creationId xmlns:a16="http://schemas.microsoft.com/office/drawing/2014/main" id="{EF32CDAF-4619-4949-9516-1E042181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5690691" y="5352589"/>
              <a:ext cx="749228" cy="383544"/>
            </a:xfrm>
            <a:custGeom>
              <a:avLst/>
              <a:gdLst>
                <a:gd name="T0" fmla="*/ 53 w 66"/>
                <a:gd name="T1" fmla="*/ 33 h 34"/>
                <a:gd name="T2" fmla="*/ 39 w 66"/>
                <a:gd name="T3" fmla="*/ 33 h 34"/>
                <a:gd name="T4" fmla="*/ 21 w 66"/>
                <a:gd name="T5" fmla="*/ 33 h 34"/>
                <a:gd name="T6" fmla="*/ 12 w 66"/>
                <a:gd name="T7" fmla="*/ 32 h 34"/>
                <a:gd name="T8" fmla="*/ 3 w 66"/>
                <a:gd name="T9" fmla="*/ 28 h 34"/>
                <a:gd name="T10" fmla="*/ 0 w 66"/>
                <a:gd name="T11" fmla="*/ 21 h 34"/>
                <a:gd name="T12" fmla="*/ 0 w 66"/>
                <a:gd name="T13" fmla="*/ 16 h 34"/>
                <a:gd name="T14" fmla="*/ 3 w 66"/>
                <a:gd name="T15" fmla="*/ 7 h 34"/>
                <a:gd name="T16" fmla="*/ 11 w 66"/>
                <a:gd name="T17" fmla="*/ 3 h 34"/>
                <a:gd name="T18" fmla="*/ 23 w 66"/>
                <a:gd name="T19" fmla="*/ 2 h 34"/>
                <a:gd name="T20" fmla="*/ 43 w 66"/>
                <a:gd name="T21" fmla="*/ 0 h 34"/>
                <a:gd name="T22" fmla="*/ 48 w 66"/>
                <a:gd name="T23" fmla="*/ 0 h 34"/>
                <a:gd name="T24" fmla="*/ 62 w 66"/>
                <a:gd name="T25" fmla="*/ 4 h 34"/>
                <a:gd name="T26" fmla="*/ 66 w 66"/>
                <a:gd name="T27" fmla="*/ 13 h 34"/>
                <a:gd name="T28" fmla="*/ 66 w 66"/>
                <a:gd name="T29" fmla="*/ 20 h 34"/>
                <a:gd name="T30" fmla="*/ 62 w 66"/>
                <a:gd name="T31" fmla="*/ 29 h 34"/>
                <a:gd name="T32" fmla="*/ 53 w 66"/>
                <a:gd name="T33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34">
                  <a:moveTo>
                    <a:pt x="53" y="33"/>
                  </a:moveTo>
                  <a:cubicBezTo>
                    <a:pt x="47" y="33"/>
                    <a:pt x="53" y="34"/>
                    <a:pt x="39" y="33"/>
                  </a:cubicBezTo>
                  <a:cubicBezTo>
                    <a:pt x="24" y="33"/>
                    <a:pt x="21" y="33"/>
                    <a:pt x="21" y="33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7" y="31"/>
                    <a:pt x="4" y="30"/>
                    <a:pt x="3" y="28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0" y="19"/>
                    <a:pt x="0" y="16"/>
                  </a:cubicBezTo>
                  <a:cubicBezTo>
                    <a:pt x="0" y="13"/>
                    <a:pt x="1" y="10"/>
                    <a:pt x="3" y="7"/>
                  </a:cubicBezTo>
                  <a:cubicBezTo>
                    <a:pt x="4" y="5"/>
                    <a:pt x="7" y="3"/>
                    <a:pt x="11" y="3"/>
                  </a:cubicBezTo>
                  <a:cubicBezTo>
                    <a:pt x="16" y="2"/>
                    <a:pt x="20" y="2"/>
                    <a:pt x="23" y="2"/>
                  </a:cubicBezTo>
                  <a:cubicBezTo>
                    <a:pt x="32" y="1"/>
                    <a:pt x="37" y="0"/>
                    <a:pt x="43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54" y="1"/>
                    <a:pt x="59" y="3"/>
                    <a:pt x="62" y="4"/>
                  </a:cubicBezTo>
                  <a:cubicBezTo>
                    <a:pt x="65" y="6"/>
                    <a:pt x="66" y="9"/>
                    <a:pt x="66" y="13"/>
                  </a:cubicBezTo>
                  <a:cubicBezTo>
                    <a:pt x="66" y="15"/>
                    <a:pt x="66" y="17"/>
                    <a:pt x="66" y="20"/>
                  </a:cubicBezTo>
                  <a:cubicBezTo>
                    <a:pt x="65" y="23"/>
                    <a:pt x="64" y="26"/>
                    <a:pt x="62" y="29"/>
                  </a:cubicBezTo>
                  <a:cubicBezTo>
                    <a:pt x="60" y="31"/>
                    <a:pt x="57" y="32"/>
                    <a:pt x="53" y="3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Freeform 84">
              <a:extLst>
                <a:ext uri="{FF2B5EF4-FFF2-40B4-BE49-F238E27FC236}">
                  <a16:creationId xmlns:a16="http://schemas.microsoft.com/office/drawing/2014/main" id="{270C485D-6BA8-4BF7-B72C-2B14A43A66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274527">
              <a:off x="6910134" y="5062687"/>
              <a:ext cx="647637" cy="678578"/>
            </a:xfrm>
            <a:custGeom>
              <a:avLst/>
              <a:gdLst>
                <a:gd name="T0" fmla="*/ 4 w 57"/>
                <a:gd name="T1" fmla="*/ 34 h 60"/>
                <a:gd name="T2" fmla="*/ 17 w 57"/>
                <a:gd name="T3" fmla="*/ 18 h 60"/>
                <a:gd name="T4" fmla="*/ 26 w 57"/>
                <a:gd name="T5" fmla="*/ 8 h 60"/>
                <a:gd name="T6" fmla="*/ 29 w 57"/>
                <a:gd name="T7" fmla="*/ 5 h 60"/>
                <a:gd name="T8" fmla="*/ 41 w 57"/>
                <a:gd name="T9" fmla="*/ 0 h 60"/>
                <a:gd name="T10" fmla="*/ 51 w 57"/>
                <a:gd name="T11" fmla="*/ 6 h 60"/>
                <a:gd name="T12" fmla="*/ 56 w 57"/>
                <a:gd name="T13" fmla="*/ 16 h 60"/>
                <a:gd name="T14" fmla="*/ 51 w 57"/>
                <a:gd name="T15" fmla="*/ 28 h 60"/>
                <a:gd name="T16" fmla="*/ 29 w 57"/>
                <a:gd name="T17" fmla="*/ 53 h 60"/>
                <a:gd name="T18" fmla="*/ 17 w 57"/>
                <a:gd name="T19" fmla="*/ 59 h 60"/>
                <a:gd name="T20" fmla="*/ 5 w 57"/>
                <a:gd name="T21" fmla="*/ 54 h 60"/>
                <a:gd name="T22" fmla="*/ 0 w 57"/>
                <a:gd name="T23" fmla="*/ 45 h 60"/>
                <a:gd name="T24" fmla="*/ 4 w 57"/>
                <a:gd name="T25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" h="60">
                  <a:moveTo>
                    <a:pt x="4" y="34"/>
                  </a:moveTo>
                  <a:cubicBezTo>
                    <a:pt x="5" y="33"/>
                    <a:pt x="17" y="18"/>
                    <a:pt x="17" y="18"/>
                  </a:cubicBezTo>
                  <a:cubicBezTo>
                    <a:pt x="21" y="14"/>
                    <a:pt x="24" y="10"/>
                    <a:pt x="26" y="8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4" y="2"/>
                    <a:pt x="38" y="0"/>
                    <a:pt x="41" y="0"/>
                  </a:cubicBezTo>
                  <a:cubicBezTo>
                    <a:pt x="44" y="1"/>
                    <a:pt x="47" y="2"/>
                    <a:pt x="51" y="6"/>
                  </a:cubicBezTo>
                  <a:cubicBezTo>
                    <a:pt x="55" y="10"/>
                    <a:pt x="57" y="13"/>
                    <a:pt x="56" y="16"/>
                  </a:cubicBezTo>
                  <a:cubicBezTo>
                    <a:pt x="56" y="19"/>
                    <a:pt x="54" y="23"/>
                    <a:pt x="51" y="28"/>
                  </a:cubicBezTo>
                  <a:cubicBezTo>
                    <a:pt x="51" y="28"/>
                    <a:pt x="33" y="48"/>
                    <a:pt x="29" y="53"/>
                  </a:cubicBezTo>
                  <a:cubicBezTo>
                    <a:pt x="25" y="57"/>
                    <a:pt x="21" y="59"/>
                    <a:pt x="17" y="59"/>
                  </a:cubicBezTo>
                  <a:cubicBezTo>
                    <a:pt x="13" y="60"/>
                    <a:pt x="9" y="58"/>
                    <a:pt x="5" y="54"/>
                  </a:cubicBezTo>
                  <a:cubicBezTo>
                    <a:pt x="2" y="51"/>
                    <a:pt x="0" y="48"/>
                    <a:pt x="0" y="45"/>
                  </a:cubicBezTo>
                  <a:cubicBezTo>
                    <a:pt x="0" y="42"/>
                    <a:pt x="2" y="38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6" name="Freeform 87">
              <a:extLst>
                <a:ext uri="{FF2B5EF4-FFF2-40B4-BE49-F238E27FC236}">
                  <a16:creationId xmlns:a16="http://schemas.microsoft.com/office/drawing/2014/main" id="{79239B91-4327-43B3-AED5-CB9EC1653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4430858">
              <a:off x="4571743" y="5071596"/>
              <a:ext cx="626472" cy="670149"/>
            </a:xfrm>
            <a:custGeom>
              <a:avLst/>
              <a:gdLst>
                <a:gd name="T0" fmla="*/ 0 w 55"/>
                <a:gd name="T1" fmla="*/ 17 h 59"/>
                <a:gd name="T2" fmla="*/ 1 w 55"/>
                <a:gd name="T3" fmla="*/ 11 h 59"/>
                <a:gd name="T4" fmla="*/ 4 w 55"/>
                <a:gd name="T5" fmla="*/ 6 h 59"/>
                <a:gd name="T6" fmla="*/ 7 w 55"/>
                <a:gd name="T7" fmla="*/ 4 h 59"/>
                <a:gd name="T8" fmla="*/ 14 w 55"/>
                <a:gd name="T9" fmla="*/ 0 h 59"/>
                <a:gd name="T10" fmla="*/ 23 w 55"/>
                <a:gd name="T11" fmla="*/ 3 h 59"/>
                <a:gd name="T12" fmla="*/ 31 w 55"/>
                <a:gd name="T13" fmla="*/ 11 h 59"/>
                <a:gd name="T14" fmla="*/ 38 w 55"/>
                <a:gd name="T15" fmla="*/ 20 h 59"/>
                <a:gd name="T16" fmla="*/ 48 w 55"/>
                <a:gd name="T17" fmla="*/ 31 h 59"/>
                <a:gd name="T18" fmla="*/ 55 w 55"/>
                <a:gd name="T19" fmla="*/ 43 h 59"/>
                <a:gd name="T20" fmla="*/ 49 w 55"/>
                <a:gd name="T21" fmla="*/ 55 h 59"/>
                <a:gd name="T22" fmla="*/ 38 w 55"/>
                <a:gd name="T23" fmla="*/ 59 h 59"/>
                <a:gd name="T24" fmla="*/ 33 w 55"/>
                <a:gd name="T25" fmla="*/ 58 h 59"/>
                <a:gd name="T26" fmla="*/ 26 w 55"/>
                <a:gd name="T27" fmla="*/ 53 h 59"/>
                <a:gd name="T28" fmla="*/ 5 w 55"/>
                <a:gd name="T29" fmla="*/ 27 h 59"/>
                <a:gd name="T30" fmla="*/ 0 w 55"/>
                <a:gd name="T31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59">
                  <a:moveTo>
                    <a:pt x="0" y="17"/>
                  </a:moveTo>
                  <a:cubicBezTo>
                    <a:pt x="0" y="14"/>
                    <a:pt x="0" y="12"/>
                    <a:pt x="1" y="11"/>
                  </a:cubicBezTo>
                  <a:cubicBezTo>
                    <a:pt x="2" y="9"/>
                    <a:pt x="3" y="8"/>
                    <a:pt x="4" y="6"/>
                  </a:cubicBezTo>
                  <a:cubicBezTo>
                    <a:pt x="6" y="5"/>
                    <a:pt x="7" y="4"/>
                    <a:pt x="7" y="4"/>
                  </a:cubicBezTo>
                  <a:cubicBezTo>
                    <a:pt x="9" y="2"/>
                    <a:pt x="12" y="1"/>
                    <a:pt x="14" y="0"/>
                  </a:cubicBezTo>
                  <a:cubicBezTo>
                    <a:pt x="17" y="0"/>
                    <a:pt x="20" y="1"/>
                    <a:pt x="23" y="3"/>
                  </a:cubicBezTo>
                  <a:cubicBezTo>
                    <a:pt x="26" y="4"/>
                    <a:pt x="29" y="7"/>
                    <a:pt x="31" y="1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48" y="31"/>
                    <a:pt x="48" y="31"/>
                    <a:pt x="48" y="31"/>
                  </a:cubicBezTo>
                  <a:cubicBezTo>
                    <a:pt x="52" y="36"/>
                    <a:pt x="54" y="40"/>
                    <a:pt x="55" y="43"/>
                  </a:cubicBezTo>
                  <a:cubicBezTo>
                    <a:pt x="55" y="47"/>
                    <a:pt x="54" y="52"/>
                    <a:pt x="49" y="55"/>
                  </a:cubicBezTo>
                  <a:cubicBezTo>
                    <a:pt x="45" y="58"/>
                    <a:pt x="41" y="59"/>
                    <a:pt x="38" y="59"/>
                  </a:cubicBezTo>
                  <a:cubicBezTo>
                    <a:pt x="37" y="59"/>
                    <a:pt x="35" y="59"/>
                    <a:pt x="33" y="58"/>
                  </a:cubicBezTo>
                  <a:cubicBezTo>
                    <a:pt x="31" y="57"/>
                    <a:pt x="29" y="55"/>
                    <a:pt x="26" y="53"/>
                  </a:cubicBezTo>
                  <a:cubicBezTo>
                    <a:pt x="23" y="50"/>
                    <a:pt x="5" y="27"/>
                    <a:pt x="5" y="27"/>
                  </a:cubicBezTo>
                  <a:cubicBezTo>
                    <a:pt x="2" y="23"/>
                    <a:pt x="0" y="19"/>
                    <a:pt x="0" y="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FD01A0-E6FF-41CD-AEBD-279232B90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990093" y="5372723"/>
            <a:ext cx="2088038" cy="719230"/>
            <a:chOff x="4532666" y="505937"/>
            <a:chExt cx="2981730" cy="1027064"/>
          </a:xfrm>
        </p:grpSpPr>
        <p:sp>
          <p:nvSpPr>
            <p:cNvPr id="19" name="Freeform 78">
              <a:extLst>
                <a:ext uri="{FF2B5EF4-FFF2-40B4-BE49-F238E27FC236}">
                  <a16:creationId xmlns:a16="http://schemas.microsoft.com/office/drawing/2014/main" id="{811C6308-5554-4129-8881-A95AF512C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4532666" y="754398"/>
              <a:ext cx="694205" cy="713383"/>
            </a:xfrm>
            <a:custGeom>
              <a:avLst/>
              <a:gdLst>
                <a:gd name="T0" fmla="*/ 32 w 58"/>
                <a:gd name="T1" fmla="*/ 56 h 60"/>
                <a:gd name="T2" fmla="*/ 24 w 58"/>
                <a:gd name="T3" fmla="*/ 48 h 60"/>
                <a:gd name="T4" fmla="*/ 14 w 58"/>
                <a:gd name="T5" fmla="*/ 36 h 60"/>
                <a:gd name="T6" fmla="*/ 7 w 58"/>
                <a:gd name="T7" fmla="*/ 29 h 60"/>
                <a:gd name="T8" fmla="*/ 1 w 58"/>
                <a:gd name="T9" fmla="*/ 17 h 60"/>
                <a:gd name="T10" fmla="*/ 7 w 58"/>
                <a:gd name="T11" fmla="*/ 4 h 60"/>
                <a:gd name="T12" fmla="*/ 17 w 58"/>
                <a:gd name="T13" fmla="*/ 1 h 60"/>
                <a:gd name="T14" fmla="*/ 29 w 58"/>
                <a:gd name="T15" fmla="*/ 6 h 60"/>
                <a:gd name="T16" fmla="*/ 31 w 58"/>
                <a:gd name="T17" fmla="*/ 8 h 60"/>
                <a:gd name="T18" fmla="*/ 38 w 58"/>
                <a:gd name="T19" fmla="*/ 15 h 60"/>
                <a:gd name="T20" fmla="*/ 44 w 58"/>
                <a:gd name="T21" fmla="*/ 22 h 60"/>
                <a:gd name="T22" fmla="*/ 54 w 58"/>
                <a:gd name="T23" fmla="*/ 33 h 60"/>
                <a:gd name="T24" fmla="*/ 58 w 58"/>
                <a:gd name="T25" fmla="*/ 44 h 60"/>
                <a:gd name="T26" fmla="*/ 53 w 58"/>
                <a:gd name="T27" fmla="*/ 54 h 60"/>
                <a:gd name="T28" fmla="*/ 42 w 58"/>
                <a:gd name="T29" fmla="*/ 60 h 60"/>
                <a:gd name="T30" fmla="*/ 32 w 58"/>
                <a:gd name="T31" fmla="*/ 5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8" h="60">
                  <a:moveTo>
                    <a:pt x="32" y="56"/>
                  </a:moveTo>
                  <a:cubicBezTo>
                    <a:pt x="30" y="54"/>
                    <a:pt x="31" y="55"/>
                    <a:pt x="24" y="48"/>
                  </a:cubicBezTo>
                  <a:cubicBezTo>
                    <a:pt x="17" y="40"/>
                    <a:pt x="14" y="36"/>
                    <a:pt x="14" y="36"/>
                  </a:cubicBezTo>
                  <a:cubicBezTo>
                    <a:pt x="8" y="30"/>
                    <a:pt x="14" y="37"/>
                    <a:pt x="7" y="29"/>
                  </a:cubicBezTo>
                  <a:cubicBezTo>
                    <a:pt x="3" y="24"/>
                    <a:pt x="1" y="20"/>
                    <a:pt x="1" y="17"/>
                  </a:cubicBezTo>
                  <a:cubicBezTo>
                    <a:pt x="0" y="13"/>
                    <a:pt x="3" y="9"/>
                    <a:pt x="7" y="4"/>
                  </a:cubicBezTo>
                  <a:cubicBezTo>
                    <a:pt x="10" y="2"/>
                    <a:pt x="13" y="0"/>
                    <a:pt x="17" y="1"/>
                  </a:cubicBezTo>
                  <a:cubicBezTo>
                    <a:pt x="21" y="1"/>
                    <a:pt x="25" y="3"/>
                    <a:pt x="29" y="6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3" y="11"/>
                    <a:pt x="37" y="15"/>
                    <a:pt x="38" y="15"/>
                  </a:cubicBezTo>
                  <a:cubicBezTo>
                    <a:pt x="42" y="20"/>
                    <a:pt x="40" y="18"/>
                    <a:pt x="44" y="22"/>
                  </a:cubicBezTo>
                  <a:cubicBezTo>
                    <a:pt x="51" y="29"/>
                    <a:pt x="50" y="29"/>
                    <a:pt x="54" y="33"/>
                  </a:cubicBezTo>
                  <a:cubicBezTo>
                    <a:pt x="57" y="37"/>
                    <a:pt x="58" y="40"/>
                    <a:pt x="58" y="44"/>
                  </a:cubicBezTo>
                  <a:cubicBezTo>
                    <a:pt x="58" y="47"/>
                    <a:pt x="56" y="50"/>
                    <a:pt x="53" y="54"/>
                  </a:cubicBezTo>
                  <a:cubicBezTo>
                    <a:pt x="49" y="58"/>
                    <a:pt x="45" y="60"/>
                    <a:pt x="42" y="60"/>
                  </a:cubicBezTo>
                  <a:cubicBezTo>
                    <a:pt x="39" y="60"/>
                    <a:pt x="36" y="59"/>
                    <a:pt x="32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id="{C28F3A03-B53B-433E-8DF7-6B13336D0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5791465" y="505937"/>
              <a:ext cx="587404" cy="943792"/>
            </a:xfrm>
            <a:custGeom>
              <a:avLst/>
              <a:gdLst>
                <a:gd name="T0" fmla="*/ 15 w 49"/>
                <a:gd name="T1" fmla="*/ 65 h 79"/>
                <a:gd name="T2" fmla="*/ 12 w 49"/>
                <a:gd name="T3" fmla="*/ 54 h 79"/>
                <a:gd name="T4" fmla="*/ 8 w 49"/>
                <a:gd name="T5" fmla="*/ 33 h 79"/>
                <a:gd name="T6" fmla="*/ 38 w 49"/>
                <a:gd name="T7" fmla="*/ 24 h 79"/>
                <a:gd name="T8" fmla="*/ 45 w 49"/>
                <a:gd name="T9" fmla="*/ 70 h 79"/>
                <a:gd name="T10" fmla="*/ 15 w 49"/>
                <a:gd name="T11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79">
                  <a:moveTo>
                    <a:pt x="15" y="65"/>
                  </a:moveTo>
                  <a:cubicBezTo>
                    <a:pt x="14" y="59"/>
                    <a:pt x="13" y="58"/>
                    <a:pt x="12" y="54"/>
                  </a:cubicBezTo>
                  <a:cubicBezTo>
                    <a:pt x="11" y="45"/>
                    <a:pt x="10" y="40"/>
                    <a:pt x="8" y="33"/>
                  </a:cubicBezTo>
                  <a:cubicBezTo>
                    <a:pt x="0" y="9"/>
                    <a:pt x="34" y="0"/>
                    <a:pt x="38" y="24"/>
                  </a:cubicBezTo>
                  <a:cubicBezTo>
                    <a:pt x="43" y="43"/>
                    <a:pt x="49" y="60"/>
                    <a:pt x="45" y="70"/>
                  </a:cubicBezTo>
                  <a:cubicBezTo>
                    <a:pt x="38" y="77"/>
                    <a:pt x="19" y="79"/>
                    <a:pt x="15" y="6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21" name="Freeform 85">
              <a:extLst>
                <a:ext uri="{FF2B5EF4-FFF2-40B4-BE49-F238E27FC236}">
                  <a16:creationId xmlns:a16="http://schemas.microsoft.com/office/drawing/2014/main" id="{E990BBBC-E616-4D0E-9917-A6CA72AA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600114">
              <a:off x="7087193" y="757585"/>
              <a:ext cx="427203" cy="775416"/>
            </a:xfrm>
            <a:custGeom>
              <a:avLst/>
              <a:gdLst>
                <a:gd name="T0" fmla="*/ 36 w 36"/>
                <a:gd name="T1" fmla="*/ 15 h 65"/>
                <a:gd name="T2" fmla="*/ 34 w 36"/>
                <a:gd name="T3" fmla="*/ 5 h 65"/>
                <a:gd name="T4" fmla="*/ 28 w 36"/>
                <a:gd name="T5" fmla="*/ 1 h 65"/>
                <a:gd name="T6" fmla="*/ 23 w 36"/>
                <a:gd name="T7" fmla="*/ 0 h 65"/>
                <a:gd name="T8" fmla="*/ 13 w 36"/>
                <a:gd name="T9" fmla="*/ 1 h 65"/>
                <a:gd name="T10" fmla="*/ 7 w 36"/>
                <a:gd name="T11" fmla="*/ 9 h 65"/>
                <a:gd name="T12" fmla="*/ 4 w 36"/>
                <a:gd name="T13" fmla="*/ 19 h 65"/>
                <a:gd name="T14" fmla="*/ 0 w 36"/>
                <a:gd name="T15" fmla="*/ 44 h 65"/>
                <a:gd name="T16" fmla="*/ 1 w 36"/>
                <a:gd name="T17" fmla="*/ 58 h 65"/>
                <a:gd name="T18" fmla="*/ 8 w 36"/>
                <a:gd name="T19" fmla="*/ 64 h 65"/>
                <a:gd name="T20" fmla="*/ 16 w 36"/>
                <a:gd name="T21" fmla="*/ 65 h 65"/>
                <a:gd name="T22" fmla="*/ 25 w 36"/>
                <a:gd name="T23" fmla="*/ 63 h 65"/>
                <a:gd name="T24" fmla="*/ 31 w 36"/>
                <a:gd name="T25" fmla="*/ 55 h 65"/>
                <a:gd name="T26" fmla="*/ 34 w 36"/>
                <a:gd name="T27" fmla="*/ 40 h 65"/>
                <a:gd name="T28" fmla="*/ 36 w 36"/>
                <a:gd name="T29" fmla="*/ 1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" h="65">
                  <a:moveTo>
                    <a:pt x="36" y="15"/>
                  </a:moveTo>
                  <a:cubicBezTo>
                    <a:pt x="36" y="10"/>
                    <a:pt x="35" y="7"/>
                    <a:pt x="34" y="5"/>
                  </a:cubicBezTo>
                  <a:cubicBezTo>
                    <a:pt x="33" y="3"/>
                    <a:pt x="31" y="2"/>
                    <a:pt x="28" y="1"/>
                  </a:cubicBezTo>
                  <a:cubicBezTo>
                    <a:pt x="27" y="1"/>
                    <a:pt x="25" y="1"/>
                    <a:pt x="23" y="0"/>
                  </a:cubicBezTo>
                  <a:cubicBezTo>
                    <a:pt x="19" y="0"/>
                    <a:pt x="16" y="0"/>
                    <a:pt x="13" y="1"/>
                  </a:cubicBezTo>
                  <a:cubicBezTo>
                    <a:pt x="11" y="2"/>
                    <a:pt x="9" y="4"/>
                    <a:pt x="7" y="9"/>
                  </a:cubicBezTo>
                  <a:cubicBezTo>
                    <a:pt x="6" y="13"/>
                    <a:pt x="5" y="17"/>
                    <a:pt x="4" y="19"/>
                  </a:cubicBezTo>
                  <a:cubicBezTo>
                    <a:pt x="2" y="29"/>
                    <a:pt x="0" y="44"/>
                    <a:pt x="0" y="44"/>
                  </a:cubicBezTo>
                  <a:cubicBezTo>
                    <a:pt x="0" y="50"/>
                    <a:pt x="0" y="55"/>
                    <a:pt x="1" y="58"/>
                  </a:cubicBezTo>
                  <a:cubicBezTo>
                    <a:pt x="2" y="61"/>
                    <a:pt x="5" y="63"/>
                    <a:pt x="8" y="64"/>
                  </a:cubicBezTo>
                  <a:cubicBezTo>
                    <a:pt x="11" y="65"/>
                    <a:pt x="13" y="65"/>
                    <a:pt x="16" y="65"/>
                  </a:cubicBezTo>
                  <a:cubicBezTo>
                    <a:pt x="19" y="65"/>
                    <a:pt x="22" y="64"/>
                    <a:pt x="25" y="63"/>
                  </a:cubicBezTo>
                  <a:cubicBezTo>
                    <a:pt x="28" y="61"/>
                    <a:pt x="30" y="59"/>
                    <a:pt x="31" y="55"/>
                  </a:cubicBezTo>
                  <a:cubicBezTo>
                    <a:pt x="32" y="50"/>
                    <a:pt x="31" y="54"/>
                    <a:pt x="34" y="40"/>
                  </a:cubicBezTo>
                  <a:lnTo>
                    <a:pt x="36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154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TurboID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757362"/>
            <a:ext cx="10728325" cy="47148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proximity labelling enzyme (engineered </a:t>
            </a:r>
            <a:r>
              <a:rPr lang="en-US" b="1" dirty="0">
                <a:solidFill>
                  <a:schemeClr val="bg1"/>
                </a:solidFill>
              </a:rPr>
              <a:t>biotin ligase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</a:rPr>
              <a:t>uses ATP to convert </a:t>
            </a:r>
            <a:r>
              <a:rPr lang="en-US" b="1" dirty="0">
                <a:solidFill>
                  <a:schemeClr val="bg1"/>
                </a:solidFill>
              </a:rPr>
              <a:t>biotin into biotin–AMP</a:t>
            </a:r>
            <a:r>
              <a:rPr lang="en-US" dirty="0">
                <a:solidFill>
                  <a:schemeClr val="bg1"/>
                </a:solidFill>
              </a:rPr>
              <a:t>, a reactive intermediate that covalently labels proximal proteins</a:t>
            </a:r>
          </a:p>
          <a:p>
            <a:r>
              <a:rPr lang="en-US" b="1" dirty="0">
                <a:solidFill>
                  <a:schemeClr val="bg1"/>
                </a:solidFill>
              </a:rPr>
              <a:t>covalent tagging </a:t>
            </a:r>
            <a:r>
              <a:rPr lang="en-US" dirty="0">
                <a:solidFill>
                  <a:schemeClr val="bg1"/>
                </a:solidFill>
              </a:rPr>
              <a:t>is performed in living cells and allows for enrichment and identification by mass spectrometry</a:t>
            </a:r>
          </a:p>
          <a:p>
            <a:r>
              <a:rPr lang="en-US" dirty="0">
                <a:solidFill>
                  <a:schemeClr val="bg1"/>
                </a:solidFill>
              </a:rPr>
              <a:t>has higher activity than previously described biotin ligase–related proximity labeling methods, </a:t>
            </a:r>
            <a:r>
              <a:rPr lang="en-US" b="1" dirty="0">
                <a:solidFill>
                  <a:schemeClr val="bg1"/>
                </a:solidFill>
              </a:rPr>
              <a:t>labelling time 10 min. in cell culture</a:t>
            </a:r>
          </a:p>
          <a:p>
            <a:r>
              <a:rPr lang="en-US" b="1" dirty="0">
                <a:solidFill>
                  <a:schemeClr val="bg1"/>
                </a:solidFill>
              </a:rPr>
              <a:t>Goal</a:t>
            </a:r>
            <a:r>
              <a:rPr lang="en-US" dirty="0">
                <a:solidFill>
                  <a:schemeClr val="bg1"/>
                </a:solidFill>
              </a:rPr>
              <a:t>: subcellular proteomic mapping</a:t>
            </a:r>
          </a:p>
          <a:p>
            <a:r>
              <a:rPr lang="en-US" b="1" dirty="0">
                <a:solidFill>
                  <a:schemeClr val="bg1"/>
                </a:solidFill>
              </a:rPr>
              <a:t>Downside</a:t>
            </a:r>
            <a:r>
              <a:rPr lang="en-US" dirty="0">
                <a:solidFill>
                  <a:schemeClr val="bg1"/>
                </a:solidFill>
              </a:rPr>
              <a:t>: can exhibit </a:t>
            </a:r>
            <a:r>
              <a:rPr lang="en-US" dirty="0" err="1">
                <a:solidFill>
                  <a:schemeClr val="bg1"/>
                </a:solidFill>
              </a:rPr>
              <a:t>biotinylation</a:t>
            </a:r>
            <a:r>
              <a:rPr lang="en-US" dirty="0">
                <a:solidFill>
                  <a:schemeClr val="bg1"/>
                </a:solidFill>
              </a:rPr>
              <a:t> activity before addition of exogenous biotin, high activity and high biotin affinity can cause cellular toxicity</a:t>
            </a:r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651B9CE3-97E0-964C-8264-761CC1972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1812" y="619200"/>
            <a:ext cx="3118726" cy="1302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B7D813-0A2D-EF46-8055-274E5F5D2EF2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4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BBEA2-D6F5-0841-8E9C-9BAF397D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967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C050-3527-B74B-9DEF-A7C14079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6667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E41A-C50D-AC4C-B3F6-B9FB537EA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57350"/>
            <a:ext cx="10728325" cy="411162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Total of 7 files </a:t>
            </a:r>
            <a:r>
              <a:rPr lang="en-US" dirty="0">
                <a:solidFill>
                  <a:schemeClr val="bg1"/>
                </a:solidFill>
              </a:rPr>
              <a:t>(4 x 10 plex, 3 x 16 plex)</a:t>
            </a:r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C98EFADE-4B1F-6F4B-B97E-7A39D6B0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56" y="2833772"/>
            <a:ext cx="5691188" cy="2219379"/>
          </a:xfrm>
          <a:prstGeom prst="rect">
            <a:avLst/>
          </a:prstGeom>
        </p:spPr>
      </p:pic>
      <p:pic>
        <p:nvPicPr>
          <p:cNvPr id="9" name="Picture 8" descr="Table, Excel&#10;&#10;Description automatically generated">
            <a:extLst>
              <a:ext uri="{FF2B5EF4-FFF2-40B4-BE49-F238E27FC236}">
                <a16:creationId xmlns:a16="http://schemas.microsoft.com/office/drawing/2014/main" id="{C7A9B24C-B030-4C4D-9B90-39E34385D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349" y="2833772"/>
            <a:ext cx="5489925" cy="34050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B90AE2-B578-F749-9833-AC147F44C959}"/>
              </a:ext>
            </a:extLst>
          </p:cNvPr>
          <p:cNvSpPr txBox="1"/>
          <p:nvPr/>
        </p:nvSpPr>
        <p:spPr>
          <a:xfrm>
            <a:off x="536156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10 plex: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611F18-92F8-4448-B4B9-C31102FF041A}"/>
              </a:ext>
            </a:extLst>
          </p:cNvPr>
          <p:cNvSpPr txBox="1"/>
          <p:nvPr/>
        </p:nvSpPr>
        <p:spPr>
          <a:xfrm>
            <a:off x="6415087" y="2388028"/>
            <a:ext cx="2695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Example layout 16 plex: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ADD23-DFAB-A54C-AF24-C0DF8CE0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36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Analysis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9693CFF-05E7-E342-ADCD-4E6EBF2F73F0}"/>
              </a:ext>
            </a:extLst>
          </p:cNvPr>
          <p:cNvCxnSpPr/>
          <p:nvPr/>
        </p:nvCxnSpPr>
        <p:spPr>
          <a:xfrm>
            <a:off x="2366081" y="302330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26FEC83-0A19-444D-B1ED-9E75E99D108E}"/>
              </a:ext>
            </a:extLst>
          </p:cNvPr>
          <p:cNvSpPr/>
          <p:nvPr/>
        </p:nvSpPr>
        <p:spPr>
          <a:xfrm>
            <a:off x="2888255" y="2419394"/>
            <a:ext cx="5430188" cy="131598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b="1" dirty="0">
                <a:solidFill>
                  <a:schemeClr val="bg1"/>
                </a:solidFill>
              </a:rPr>
              <a:t>Filter</a:t>
            </a:r>
            <a:r>
              <a:rPr lang="en-US" sz="15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non unique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Remove not fully tryptic peptides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Allowed number of missed cleavage sites: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Min 1 or 2 peptides per protein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3632" y="2400933"/>
            <a:ext cx="554618" cy="554618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AEB9AE0-1154-F14C-937A-DDE61B2F9E1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528250" y="2678242"/>
            <a:ext cx="422699" cy="34508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DD1A67-8332-8D4E-9AE7-AAA7274CC52A}"/>
              </a:ext>
            </a:extLst>
          </p:cNvPr>
          <p:cNvCxnSpPr/>
          <p:nvPr/>
        </p:nvCxnSpPr>
        <p:spPr>
          <a:xfrm>
            <a:off x="8425084" y="3007383"/>
            <a:ext cx="4347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2EEA2B7-5A7E-4C43-9995-1FAAD724831D}"/>
              </a:ext>
            </a:extLst>
          </p:cNvPr>
          <p:cNvSpPr txBox="1"/>
          <p:nvPr/>
        </p:nvSpPr>
        <p:spPr>
          <a:xfrm>
            <a:off x="8908935" y="2660717"/>
            <a:ext cx="287264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Peptide SI per protein </a:t>
            </a:r>
          </a:p>
          <a:p>
            <a:r>
              <a:rPr lang="en-US" sz="1500" dirty="0">
                <a:solidFill>
                  <a:schemeClr val="bg1"/>
                </a:solidFill>
              </a:rPr>
              <a:t>are summed</a:t>
            </a:r>
          </a:p>
          <a:p>
            <a:r>
              <a:rPr lang="en-US" sz="1500" dirty="0">
                <a:solidFill>
                  <a:schemeClr val="bg1"/>
                </a:solidFill>
              </a:rPr>
              <a:t>(=summed protein SI)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E7A6660-3933-B043-92F9-4E40AAE4EDF9}"/>
              </a:ext>
            </a:extLst>
          </p:cNvPr>
          <p:cNvCxnSpPr>
            <a:cxnSpLocks/>
          </p:cNvCxnSpPr>
          <p:nvPr/>
        </p:nvCxnSpPr>
        <p:spPr>
          <a:xfrm>
            <a:off x="10006042" y="3507212"/>
            <a:ext cx="0" cy="69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E1BF30-CEA9-AC48-9331-C0305A946AA9}"/>
              </a:ext>
            </a:extLst>
          </p:cNvPr>
          <p:cNvSpPr txBox="1"/>
          <p:nvPr/>
        </p:nvSpPr>
        <p:spPr>
          <a:xfrm>
            <a:off x="9348027" y="4229987"/>
            <a:ext cx="28726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Processed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A70393-3EC5-CD41-9135-46C248964064}"/>
              </a:ext>
            </a:extLst>
          </p:cNvPr>
          <p:cNvSpPr txBox="1"/>
          <p:nvPr/>
        </p:nvSpPr>
        <p:spPr>
          <a:xfrm>
            <a:off x="1713524" y="3184047"/>
            <a:ext cx="10024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</a:rPr>
              <a:t>Raw file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F7213-68FE-FF4D-AF53-1CD72BE0B4D5}"/>
              </a:ext>
            </a:extLst>
          </p:cNvPr>
          <p:cNvSpPr txBox="1"/>
          <p:nvPr/>
        </p:nvSpPr>
        <p:spPr>
          <a:xfrm>
            <a:off x="692147" y="1341958"/>
            <a:ext cx="30451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raw mass spectrometry data searched against a database of known proteins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007828-2F77-594A-9141-3DB6DEA754DC}"/>
              </a:ext>
            </a:extLst>
          </p:cNvPr>
          <p:cNvCxnSpPr>
            <a:cxnSpLocks/>
          </p:cNvCxnSpPr>
          <p:nvPr/>
        </p:nvCxnSpPr>
        <p:spPr>
          <a:xfrm>
            <a:off x="1250941" y="2106943"/>
            <a:ext cx="0" cy="325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6808399C-4025-F643-B6F0-2B20B9604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z="1500" smtClean="0">
                <a:solidFill>
                  <a:schemeClr val="bg1"/>
                </a:solidFill>
              </a:rPr>
              <a:t>3</a:t>
            </a:fld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B21BEC-87D3-6F4B-958D-D8A8299A8F47}"/>
              </a:ext>
            </a:extLst>
          </p:cNvPr>
          <p:cNvCxnSpPr>
            <a:cxnSpLocks/>
          </p:cNvCxnSpPr>
          <p:nvPr/>
        </p:nvCxnSpPr>
        <p:spPr>
          <a:xfrm flipH="1">
            <a:off x="6372526" y="4783824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Document outline">
            <a:extLst>
              <a:ext uri="{FF2B5EF4-FFF2-40B4-BE49-F238E27FC236}">
                <a16:creationId xmlns:a16="http://schemas.microsoft.com/office/drawing/2014/main" id="{583B257A-72F1-7543-917B-89E83D50E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1365" y="2805945"/>
            <a:ext cx="434716" cy="43471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CE3C9B-3ECB-4748-8A94-F41DFAB98D48}"/>
              </a:ext>
            </a:extLst>
          </p:cNvPr>
          <p:cNvCxnSpPr>
            <a:cxnSpLocks/>
          </p:cNvCxnSpPr>
          <p:nvPr/>
        </p:nvCxnSpPr>
        <p:spPr>
          <a:xfrm flipH="1">
            <a:off x="8425084" y="4748778"/>
            <a:ext cx="13213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5F572BF-9BAF-3C4C-BBA3-261B5E5A1F49}"/>
              </a:ext>
            </a:extLst>
          </p:cNvPr>
          <p:cNvSpPr txBox="1"/>
          <p:nvPr/>
        </p:nvSpPr>
        <p:spPr>
          <a:xfrm>
            <a:off x="6496148" y="4320027"/>
            <a:ext cx="20399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Filtering based on </a:t>
            </a:r>
            <a:r>
              <a:rPr lang="en-US" sz="1500" dirty="0" err="1">
                <a:solidFill>
                  <a:schemeClr val="bg1"/>
                </a:solidFill>
              </a:rPr>
              <a:t>cre</a:t>
            </a:r>
            <a:r>
              <a:rPr lang="en-US" sz="1500" dirty="0">
                <a:solidFill>
                  <a:schemeClr val="bg1"/>
                </a:solidFill>
              </a:rPr>
              <a:t>+ replicates </a:t>
            </a:r>
          </a:p>
          <a:p>
            <a:pPr algn="ctr"/>
            <a:r>
              <a:rPr lang="en-US" sz="1500" dirty="0">
                <a:solidFill>
                  <a:schemeClr val="bg1"/>
                </a:solidFill>
              </a:rPr>
              <a:t>AND</a:t>
            </a:r>
          </a:p>
          <a:p>
            <a:pPr algn="ctr"/>
            <a:r>
              <a:rPr lang="en-US" sz="1500" dirty="0" err="1">
                <a:solidFill>
                  <a:schemeClr val="bg1"/>
                </a:solidFill>
              </a:rPr>
              <a:t>Normalisation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26" name="Graphic 25" descr="Document outline">
            <a:extLst>
              <a:ext uri="{FF2B5EF4-FFF2-40B4-BE49-F238E27FC236}">
                <a16:creationId xmlns:a16="http://schemas.microsoft.com/office/drawing/2014/main" id="{D3682183-3793-4B4C-8D14-0A476D8A5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8001" y="4531420"/>
            <a:ext cx="434716" cy="43471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3DC00C0-2AD0-FE4C-A422-A6B24533B912}"/>
              </a:ext>
            </a:extLst>
          </p:cNvPr>
          <p:cNvSpPr txBox="1"/>
          <p:nvPr/>
        </p:nvSpPr>
        <p:spPr>
          <a:xfrm>
            <a:off x="4502196" y="4624259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Annotate proteins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Using TP and FP lists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9C131-6853-564C-89A0-54699B2A0E19}"/>
              </a:ext>
            </a:extLst>
          </p:cNvPr>
          <p:cNvSpPr txBox="1"/>
          <p:nvPr/>
        </p:nvSpPr>
        <p:spPr>
          <a:xfrm>
            <a:off x="2370482" y="4604721"/>
            <a:ext cx="203994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Calculate Ratios</a:t>
            </a:r>
          </a:p>
          <a:p>
            <a:pPr algn="ctr"/>
            <a:r>
              <a:rPr lang="en-US" sz="800" dirty="0">
                <a:solidFill>
                  <a:schemeClr val="bg1"/>
                </a:solidFill>
              </a:rPr>
              <a:t>Experimental sample/negative control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9053613-1EC4-D54F-976E-FFF4AA907AC5}"/>
              </a:ext>
            </a:extLst>
          </p:cNvPr>
          <p:cNvCxnSpPr>
            <a:cxnSpLocks/>
          </p:cNvCxnSpPr>
          <p:nvPr/>
        </p:nvCxnSpPr>
        <p:spPr>
          <a:xfrm flipH="1">
            <a:off x="4275330" y="4786445"/>
            <a:ext cx="287402" cy="4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4A4979D-B3A4-EA4E-B6EE-C65553BA6693}"/>
              </a:ext>
            </a:extLst>
          </p:cNvPr>
          <p:cNvSpPr txBox="1"/>
          <p:nvPr/>
        </p:nvSpPr>
        <p:spPr>
          <a:xfrm>
            <a:off x="760849" y="5676851"/>
            <a:ext cx="20399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chemeClr val="bg1"/>
                </a:solidFill>
              </a:rPr>
              <a:t>ROC-based analysis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Establish optimal cutoffs per ratio</a:t>
            </a:r>
          </a:p>
          <a:p>
            <a:pPr algn="ctr"/>
            <a:endParaRPr lang="en-US" sz="1500" dirty="0">
              <a:solidFill>
                <a:schemeClr val="bg1"/>
              </a:solidFill>
            </a:endParaRP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934EBD41-A03A-934C-9ED8-9B804DB4DB7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713524" y="4834923"/>
            <a:ext cx="674509" cy="7283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B3BDDD3-CF5E-9540-A58D-4DB676B0F0D5}"/>
              </a:ext>
            </a:extLst>
          </p:cNvPr>
          <p:cNvCxnSpPr>
            <a:cxnSpLocks/>
          </p:cNvCxnSpPr>
          <p:nvPr/>
        </p:nvCxnSpPr>
        <p:spPr>
          <a:xfrm>
            <a:off x="2888255" y="5842279"/>
            <a:ext cx="5360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BF8B94-8B79-3C48-A800-0B0F22837976}"/>
              </a:ext>
            </a:extLst>
          </p:cNvPr>
          <p:cNvSpPr txBox="1"/>
          <p:nvPr/>
        </p:nvSpPr>
        <p:spPr>
          <a:xfrm>
            <a:off x="3427892" y="5581784"/>
            <a:ext cx="22696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Determine biotinylated proteins</a:t>
            </a:r>
          </a:p>
          <a:p>
            <a:pPr algn="ctr"/>
            <a:r>
              <a:rPr lang="en-US" sz="800" b="1" dirty="0">
                <a:solidFill>
                  <a:schemeClr val="bg1"/>
                </a:solidFill>
              </a:rPr>
              <a:t>Report proteins that pass cutoff</a:t>
            </a:r>
          </a:p>
        </p:txBody>
      </p:sp>
    </p:spTree>
    <p:extLst>
      <p:ext uri="{BB962C8B-B14F-4D97-AF65-F5344CB8AC3E}">
        <p14:creationId xmlns:p14="http://schemas.microsoft.com/office/powerpoint/2010/main" val="20995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TP and FP lists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524" y="1453010"/>
            <a:ext cx="10324313" cy="3685767"/>
          </a:xfrm>
        </p:spPr>
        <p:txBody>
          <a:bodyPr>
            <a:normAutofit fontScale="85000" lnSpcReduction="20000"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Lists of TP and FP proteins generated </a:t>
            </a:r>
            <a:r>
              <a:rPr lang="en-US" b="1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basis of annotation from UNIPROT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b="1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TP</a:t>
            </a:r>
            <a:r>
              <a:rPr lang="en-US" dirty="0">
                <a:solidFill>
                  <a:schemeClr val="bg1"/>
                </a:solidFill>
              </a:rPr>
              <a:t> list includes proteins expected to be </a:t>
            </a:r>
            <a:r>
              <a:rPr lang="en-US" b="1" dirty="0">
                <a:solidFill>
                  <a:schemeClr val="bg1"/>
                </a:solidFill>
              </a:rPr>
              <a:t>biotinylated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Endoplasmic Reticulum,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Rough Endoplasmic Reticulum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Golgi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Secreted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Extracellular space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endParaRPr lang="en-US" sz="1600" dirty="0">
              <a:solidFill>
                <a:schemeClr val="bg1"/>
              </a:solidFill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b="1" dirty="0">
                <a:solidFill>
                  <a:schemeClr val="bg1"/>
                </a:solidFill>
              </a:rPr>
              <a:t>FP</a:t>
            </a:r>
            <a:r>
              <a:rPr lang="en-US" dirty="0">
                <a:solidFill>
                  <a:schemeClr val="bg1"/>
                </a:solidFill>
              </a:rPr>
              <a:t> list includes proteins </a:t>
            </a:r>
            <a:r>
              <a:rPr lang="en-US" b="1" dirty="0">
                <a:solidFill>
                  <a:schemeClr val="bg1"/>
                </a:solidFill>
              </a:rPr>
              <a:t>not expected to be biotinylated 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Cytoskeleton</a:t>
            </a:r>
          </a:p>
          <a:p>
            <a:pPr lvl="6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600" dirty="0">
                <a:solidFill>
                  <a:schemeClr val="bg1"/>
                </a:solidFill>
              </a:rPr>
              <a:t>Removed Proteins that have </a:t>
            </a:r>
            <a:r>
              <a:rPr lang="en-US" sz="1600" dirty="0" err="1">
                <a:solidFill>
                  <a:schemeClr val="bg1"/>
                </a:solidFill>
              </a:rPr>
              <a:t>SignalP</a:t>
            </a:r>
            <a:r>
              <a:rPr lang="en-US" sz="1600" dirty="0">
                <a:solidFill>
                  <a:schemeClr val="bg1"/>
                </a:solidFill>
              </a:rPr>
              <a:t> annotation</a:t>
            </a:r>
            <a:endParaRPr lang="en-US" sz="170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17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E71523-F602-E348-A5BD-06FBCA42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BB667-20E9-2148-9D46-594AF0F19BDC}"/>
              </a:ext>
            </a:extLst>
          </p:cNvPr>
          <p:cNvSpPr/>
          <p:nvPr/>
        </p:nvSpPr>
        <p:spPr>
          <a:xfrm>
            <a:off x="3098381" y="5710088"/>
            <a:ext cx="2738535" cy="4069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TP list: </a:t>
            </a:r>
            <a:r>
              <a:rPr lang="en-US" b="1" dirty="0">
                <a:solidFill>
                  <a:schemeClr val="bg1"/>
                </a:solidFill>
              </a:rPr>
              <a:t>3436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BEBF38-E4AD-0C49-A7C7-C2DD577D4EE4}"/>
              </a:ext>
            </a:extLst>
          </p:cNvPr>
          <p:cNvSpPr/>
          <p:nvPr/>
        </p:nvSpPr>
        <p:spPr>
          <a:xfrm>
            <a:off x="6110680" y="5710087"/>
            <a:ext cx="2738535" cy="406937"/>
          </a:xfrm>
          <a:prstGeom prst="rect">
            <a:avLst/>
          </a:prstGeom>
          <a:solidFill>
            <a:srgbClr val="FF7E79">
              <a:alpha val="21961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FP list: </a:t>
            </a:r>
            <a:r>
              <a:rPr lang="en-US" b="1" dirty="0">
                <a:solidFill>
                  <a:schemeClr val="bg1"/>
                </a:solidFill>
              </a:rPr>
              <a:t>4353</a:t>
            </a:r>
            <a:r>
              <a:rPr lang="en-US" dirty="0">
                <a:solidFill>
                  <a:schemeClr val="bg1"/>
                </a:solidFill>
              </a:rPr>
              <a:t> Proteins</a:t>
            </a:r>
          </a:p>
        </p:txBody>
      </p:sp>
    </p:spTree>
    <p:extLst>
      <p:ext uri="{BB962C8B-B14F-4D97-AF65-F5344CB8AC3E}">
        <p14:creationId xmlns:p14="http://schemas.microsoft.com/office/powerpoint/2010/main" val="371129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92889"/>
            <a:ext cx="11052967" cy="22574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same analysis was performed twice: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 peptide per protein (7_files_turbo_id_1pepperprotein) </a:t>
            </a:r>
          </a:p>
          <a:p>
            <a:pPr marL="1371600" lvl="3" indent="0">
              <a:buNone/>
            </a:pPr>
            <a:r>
              <a:rPr lang="en-US" dirty="0">
                <a:solidFill>
                  <a:schemeClr val="bg1"/>
                </a:solidFill>
              </a:rPr>
              <a:t>    At least </a:t>
            </a:r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lang="en-US" dirty="0">
                <a:solidFill>
                  <a:schemeClr val="bg1"/>
                </a:solidFill>
              </a:rPr>
              <a:t> peptides per protein (7_files_turbo_id_2pepperprotein) 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Both folders have following structure:</a:t>
            </a:r>
          </a:p>
          <a:p>
            <a:pPr marL="1371600" lvl="3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Processed Files Results</a:t>
            </a:r>
          </a:p>
        </p:txBody>
      </p:sp>
      <p:pic>
        <p:nvPicPr>
          <p:cNvPr id="7" name="Graphic 6" descr="Open folder with solid fill">
            <a:extLst>
              <a:ext uri="{FF2B5EF4-FFF2-40B4-BE49-F238E27FC236}">
                <a16:creationId xmlns:a16="http://schemas.microsoft.com/office/drawing/2014/main" id="{09A339EC-F7B1-E84C-BB48-79F329F5E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419" y="2078766"/>
            <a:ext cx="319086" cy="319086"/>
          </a:xfrm>
          <a:prstGeom prst="rect">
            <a:avLst/>
          </a:prstGeom>
        </p:spPr>
      </p:pic>
      <p:pic>
        <p:nvPicPr>
          <p:cNvPr id="18" name="Graphic 17" descr="Open folder with solid fill">
            <a:extLst>
              <a:ext uri="{FF2B5EF4-FFF2-40B4-BE49-F238E27FC236}">
                <a16:creationId xmlns:a16="http://schemas.microsoft.com/office/drawing/2014/main" id="{14001DC6-D61B-B745-BB7C-0EA033497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781" y="2483035"/>
            <a:ext cx="339724" cy="339724"/>
          </a:xfrm>
          <a:prstGeom prst="rect">
            <a:avLst/>
          </a:prstGeom>
        </p:spPr>
      </p:pic>
      <p:pic>
        <p:nvPicPr>
          <p:cNvPr id="10" name="Picture 9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DDB62F4B-5928-8F4C-B411-F0C056B15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4972" y="4305526"/>
            <a:ext cx="3808721" cy="188119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E73057F4-FF8C-0545-8922-96918BB373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433" y="4305526"/>
            <a:ext cx="5219700" cy="110156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D42521E-C4FF-5F4D-81A5-2D263A15F5C5}"/>
              </a:ext>
            </a:extLst>
          </p:cNvPr>
          <p:cNvSpPr txBox="1"/>
          <p:nvPr/>
        </p:nvSpPr>
        <p:spPr>
          <a:xfrm>
            <a:off x="1704971" y="3997749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Processed files: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E5AA1A-31A4-3F4E-8E57-50ACEC1ACBBC}"/>
              </a:ext>
            </a:extLst>
          </p:cNvPr>
          <p:cNvSpPr txBox="1"/>
          <p:nvPr/>
        </p:nvSpPr>
        <p:spPr>
          <a:xfrm>
            <a:off x="5871432" y="3997748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Filtered out peptides per file: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8FD3E4-67E1-FF4C-A17F-15E77E09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166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processed file…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6BA1B6-3F1C-8644-83D9-59559B12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9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Update column names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936651"/>
            <a:ext cx="11052967" cy="1836111"/>
          </a:xfrm>
        </p:spPr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Label channels according to provided condition information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Conditions: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iWAT_HF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iWAT_chow</a:t>
            </a:r>
            <a:endParaRPr lang="en-US" b="1" dirty="0">
              <a:solidFill>
                <a:srgbClr val="000000"/>
              </a:solidFill>
              <a:latin typeface="Avenir Next LT Pro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Negative control sample: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cre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-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Experimental sample: </a:t>
            </a:r>
            <a:r>
              <a:rPr lang="en-US" b="1" dirty="0" err="1">
                <a:solidFill>
                  <a:srgbClr val="000000"/>
                </a:solidFill>
                <a:latin typeface="Avenir Next LT Pro"/>
              </a:rPr>
              <a:t>cre</a:t>
            </a:r>
            <a:r>
              <a:rPr lang="en-US" b="1" dirty="0">
                <a:solidFill>
                  <a:srgbClr val="000000"/>
                </a:solidFill>
                <a:latin typeface="Avenir Next LT Pro"/>
              </a:rPr>
              <a:t>+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2521E-C4FF-5F4D-81A5-2D263A15F5C5}"/>
              </a:ext>
            </a:extLst>
          </p:cNvPr>
          <p:cNvSpPr txBox="1"/>
          <p:nvPr/>
        </p:nvSpPr>
        <p:spPr>
          <a:xfrm>
            <a:off x="6693196" y="2700819"/>
            <a:ext cx="2872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Example EV1-100A:</a:t>
            </a:r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4F1777E6-BB9D-B24F-9A7F-15AEEDA3A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500" y="3070217"/>
            <a:ext cx="3505200" cy="3073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6A52FF-0011-3942-A512-2D40B1F4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2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Remove Keratins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936651"/>
            <a:ext cx="11052967" cy="1836111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Remove proteins containing ”Keratin” in name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Keratin contamination caused through handling of samples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EF2228-4E7B-B347-BBEB-041C638F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82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of </a:t>
            </a:r>
            <a:r>
              <a:rPr lang="en-US" dirty="0" err="1">
                <a:solidFill>
                  <a:schemeClr val="bg1"/>
                </a:solidFill>
              </a:rPr>
              <a:t>cre</a:t>
            </a:r>
            <a:r>
              <a:rPr lang="en-US" dirty="0">
                <a:solidFill>
                  <a:schemeClr val="bg1"/>
                </a:solidFill>
              </a:rPr>
              <a:t>+ replicates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82595"/>
            <a:ext cx="11052967" cy="3864074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Filtering is performed based on the experimental sample replicates for each condition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(any 2 channels) out of the 3 or 4 </a:t>
            </a:r>
            <a:r>
              <a:rPr kumimoji="0" lang="en-US" sz="2000" b="0" i="0" u="none" strike="noStrike" kern="1200" cap="none" spc="2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cre</a:t>
            </a:r>
            <a:r>
              <a:rPr kumimoji="0" lang="en-US" sz="20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+ channels should have a min raw signal intensity sum &gt;= 10000 and a coefficient of variation &lt;= 0.5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1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20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132F0F-2CBE-9B4E-8639-91B3C9650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533509"/>
              </p:ext>
            </p:extLst>
          </p:nvPr>
        </p:nvGraphicFramePr>
        <p:xfrm>
          <a:off x="1139033" y="4151706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4000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59F9E0E-2EFE-4E4F-8341-4C70BBC653A3}"/>
              </a:ext>
            </a:extLst>
          </p:cNvPr>
          <p:cNvSpPr txBox="1"/>
          <p:nvPr/>
        </p:nvSpPr>
        <p:spPr>
          <a:xfrm>
            <a:off x="1139033" y="4647014"/>
            <a:ext cx="495696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not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 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at least one pair passed so this uniport ID passes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EF730-B9B2-2845-95EF-E974F2BE351B}"/>
              </a:ext>
            </a:extLst>
          </p:cNvPr>
          <p:cNvSpPr txBox="1"/>
          <p:nvPr/>
        </p:nvSpPr>
        <p:spPr>
          <a:xfrm>
            <a:off x="6096000" y="4695382"/>
            <a:ext cx="4784727" cy="149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2)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1 ) and 3) sum: pass, cv: not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2 ) and 3) sum: pass, cv: pass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r>
              <a:rPr lang="en-US" sz="1400" spc="20" dirty="0">
                <a:solidFill>
                  <a:srgbClr val="000000"/>
                </a:solidFill>
                <a:latin typeface="Avenir Next LT Pro"/>
              </a:rPr>
              <a:t>=</a:t>
            </a:r>
            <a:r>
              <a:rPr kumimoji="0" lang="en-US" sz="14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at least one pair passed so this uniport ID passes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E795C68-EB22-F749-A705-A601021DD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5020"/>
              </p:ext>
            </p:extLst>
          </p:nvPr>
        </p:nvGraphicFramePr>
        <p:xfrm>
          <a:off x="6137440" y="4139087"/>
          <a:ext cx="4784727" cy="3176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4539">
                  <a:extLst>
                    <a:ext uri="{9D8B030D-6E8A-4147-A177-3AD203B41FA5}">
                      <a16:colId xmlns:a16="http://schemas.microsoft.com/office/drawing/2014/main" val="955806452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310811147"/>
                    </a:ext>
                  </a:extLst>
                </a:gridCol>
                <a:gridCol w="1595094">
                  <a:extLst>
                    <a:ext uri="{9D8B030D-6E8A-4147-A177-3AD203B41FA5}">
                      <a16:colId xmlns:a16="http://schemas.microsoft.com/office/drawing/2014/main" val="4159410820"/>
                    </a:ext>
                  </a:extLst>
                </a:gridCol>
              </a:tblGrid>
              <a:tr h="31765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1500000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5000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2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200" dirty="0">
                          <a:effectLst/>
                        </a:rPr>
                        <a:t>6000</a:t>
                      </a:r>
                      <a:endParaRPr lang="en-US" sz="1200" dirty="0">
                        <a:solidFill>
                          <a:srgbClr val="2E2E2E"/>
                        </a:solidFill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511371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6F3C52-A33C-B54E-85E5-94566199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5C82C-B52B-9540-A866-5C8CB5D8D5B5}"/>
              </a:ext>
            </a:extLst>
          </p:cNvPr>
          <p:cNvSpPr/>
          <p:nvPr/>
        </p:nvSpPr>
        <p:spPr>
          <a:xfrm>
            <a:off x="1065540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8439-373F-974D-A664-2A6B8C2B07BD}"/>
              </a:ext>
            </a:extLst>
          </p:cNvPr>
          <p:cNvSpPr/>
          <p:nvPr/>
        </p:nvSpPr>
        <p:spPr>
          <a:xfrm>
            <a:off x="6066214" y="4073236"/>
            <a:ext cx="4927181" cy="22822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29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Preparation of ratios and annotation of proteins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9033" y="1722848"/>
            <a:ext cx="11052967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rgbClr val="000000"/>
                </a:solidFill>
                <a:latin typeface="Avenir Next LT Pro"/>
              </a:rPr>
              <a:t>1) Calculate Ratios per condition (experimental sample/negative control sample)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kumimoji="0" lang="en-US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2) Annotate Proteins as TP or FP (depending in which list they are in) 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rgbClr val="000000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8C0588-2FCC-1F46-B729-8B4FE9451948}"/>
              </a:ext>
            </a:extLst>
          </p:cNvPr>
          <p:cNvSpPr/>
          <p:nvPr/>
        </p:nvSpPr>
        <p:spPr>
          <a:xfrm>
            <a:off x="5784630" y="2617450"/>
            <a:ext cx="4772719" cy="20985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iWAT_HF_cre-_1 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	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  <a:r>
              <a:rPr lang="en-US" sz="1400" dirty="0">
                <a:solidFill>
                  <a:srgbClr val="000000"/>
                </a:solidFill>
                <a:latin typeface="Avenir Next LT Pro"/>
              </a:rPr>
              <a:t>/</a:t>
            </a:r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CA4F1-5E7E-E04F-8E11-8D7E1AFE32C8}"/>
              </a:ext>
            </a:extLst>
          </p:cNvPr>
          <p:cNvSpPr/>
          <p:nvPr/>
        </p:nvSpPr>
        <p:spPr>
          <a:xfrm>
            <a:off x="1944032" y="2482850"/>
            <a:ext cx="2895598" cy="2367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ratio_iWAT_HF_cre+_1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ratio_iWAT_HF_cre+_2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Avenir Next LT Pro"/>
              </a:rPr>
              <a:t>ratio_iWAT_HF_cre+_3</a:t>
            </a: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lang="en-US" sz="1400" dirty="0">
              <a:solidFill>
                <a:srgbClr val="000000"/>
              </a:solidFill>
              <a:latin typeface="Avenir Next LT Pro"/>
            </a:endParaRP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iWAT_HF_cre-1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Avenir Next LT Pro"/>
              </a:rPr>
              <a:t>iWAT_HF_cre-_2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D9888D9-953F-E846-A843-6B402151BBF4}"/>
              </a:ext>
            </a:extLst>
          </p:cNvPr>
          <p:cNvCxnSpPr/>
          <p:nvPr/>
        </p:nvCxnSpPr>
        <p:spPr>
          <a:xfrm>
            <a:off x="5018049" y="3695714"/>
            <a:ext cx="5018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A1D46-FDB2-5F44-9341-CDFEA1505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067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D159-D703-EB46-A775-A9D8DACA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187" y="3176662"/>
            <a:ext cx="10728322" cy="1477328"/>
          </a:xfrm>
        </p:spPr>
        <p:txBody>
          <a:bodyPr/>
          <a:lstStyle/>
          <a:p>
            <a:r>
              <a:rPr lang="en-US" dirty="0"/>
              <a:t>For each calculated ratio…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264F9-6389-6444-9635-3D88909F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69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Approach to determine the final proteome lists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9E25E25-E0B7-A94D-B740-F1553DF6E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785264"/>
            <a:ext cx="10097003" cy="4302149"/>
          </a:xfrm>
        </p:spPr>
        <p:txBody>
          <a:bodyPr>
            <a:normAutofit/>
          </a:bodyPr>
          <a:lstStyle/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receiver operating characteristic (ROC)-based analysis 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with use of curated lists of true-positive (TP) and false-positive (FP) proteins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allows to establish optimal cutoffs</a:t>
            </a:r>
          </a:p>
          <a:p>
            <a:pPr lvl="1">
              <a:spcBef>
                <a:spcPts val="1000"/>
              </a:spcBef>
              <a:buClr>
                <a:srgbClr val="7BAF34"/>
              </a:buClr>
              <a:defRPr/>
            </a:pPr>
            <a:r>
              <a:rPr lang="en-US" dirty="0">
                <a:solidFill>
                  <a:schemeClr val="bg1"/>
                </a:solidFill>
              </a:rPr>
              <a:t>cutoffs maximize the TP proteins and minimize FP proteins in the final lists</a:t>
            </a: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lvl="1" indent="0">
              <a:spcBef>
                <a:spcPts val="1000"/>
              </a:spcBef>
              <a:buClr>
                <a:srgbClr val="7BAF34"/>
              </a:buClr>
              <a:buNone/>
              <a:defRPr/>
            </a:pP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lang="en-US" dirty="0">
              <a:solidFill>
                <a:schemeClr val="bg1"/>
              </a:solidFill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None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7BAF34"/>
              </a:buClr>
              <a:buSzTx/>
              <a:buFont typeface="The Hand Extrablack" panose="03070A02030502020204" pitchFamily="66" charset="0"/>
              <a:buChar char="•"/>
              <a:tabLst/>
              <a:defRPr/>
            </a:pPr>
            <a:endParaRPr kumimoji="0" lang="en-US" sz="2000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8B60-6817-F047-8F7A-F9498084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12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AD780-1245-304B-B966-22D6B9913D65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3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75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Determine biotinylated proteins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866BC88C-639F-2319-22EB-93EBDFA8BB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04815"/>
              </p:ext>
            </p:extLst>
          </p:nvPr>
        </p:nvGraphicFramePr>
        <p:xfrm>
          <a:off x="720000" y="1688282"/>
          <a:ext cx="11052967" cy="4302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FAD2E-AD3D-A84D-A434-9F79D1EA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13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FB78E-CA1E-D94B-B9F8-68A72D7296B0}"/>
              </a:ext>
            </a:extLst>
          </p:cNvPr>
          <p:cNvSpPr txBox="1"/>
          <p:nvPr/>
        </p:nvSpPr>
        <p:spPr>
          <a:xfrm>
            <a:off x="177012" y="6310655"/>
            <a:ext cx="162647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bg1"/>
                </a:solidFill>
                <a:hlinkClick r:id="rId8"/>
              </a:rPr>
              <a:t>Cho et al. (2020)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667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DC6-9E0D-BF41-BD13-30B6C7CD2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EV1-100A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40340F-5FFE-8B49-B655-C71DF317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>
                <a:solidFill>
                  <a:schemeClr val="bg1"/>
                </a:solidFill>
              </a:r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074C166F-E699-4449-B61A-CBDAD498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31" y="1373304"/>
            <a:ext cx="3172518" cy="2115012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EA1EA904-9AC8-A243-80A4-C0893948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656" y="1357864"/>
            <a:ext cx="3172519" cy="2115013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64595F94-47F9-5042-AA5C-79972A865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0131" y="3429862"/>
            <a:ext cx="3172518" cy="2115012"/>
          </a:xfrm>
          <a:prstGeom prst="rect">
            <a:avLst/>
          </a:prstGeom>
        </p:spPr>
      </p:pic>
      <p:pic>
        <p:nvPicPr>
          <p:cNvPr id="17" name="Picture 16" descr="Chart, line chart&#10;&#10;Description automatically generated">
            <a:extLst>
              <a:ext uri="{FF2B5EF4-FFF2-40B4-BE49-F238E27FC236}">
                <a16:creationId xmlns:a16="http://schemas.microsoft.com/office/drawing/2014/main" id="{DE2983DE-279A-A642-8A75-C404CD1DA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1" y="3451370"/>
            <a:ext cx="3172518" cy="2115012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640736E4-B464-194C-9920-E006F6804B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3707" y="1373304"/>
            <a:ext cx="3172520" cy="2115013"/>
          </a:xfrm>
          <a:prstGeom prst="rect">
            <a:avLst/>
          </a:prstGeom>
        </p:spPr>
      </p:pic>
      <p:pic>
        <p:nvPicPr>
          <p:cNvPr id="22" name="Picture 21" descr="Chart, line chart&#10;&#10;Description automatically generated">
            <a:extLst>
              <a:ext uri="{FF2B5EF4-FFF2-40B4-BE49-F238E27FC236}">
                <a16:creationId xmlns:a16="http://schemas.microsoft.com/office/drawing/2014/main" id="{9E714F71-F149-7943-97A6-32AF7E6F7E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7682" y="1425146"/>
            <a:ext cx="3172520" cy="2115013"/>
          </a:xfrm>
          <a:prstGeom prst="rect">
            <a:avLst/>
          </a:prstGeom>
        </p:spPr>
      </p:pic>
      <p:pic>
        <p:nvPicPr>
          <p:cNvPr id="24" name="Picture 23" descr="Chart, line chart&#10;&#10;Description automatically generated">
            <a:extLst>
              <a:ext uri="{FF2B5EF4-FFF2-40B4-BE49-F238E27FC236}">
                <a16:creationId xmlns:a16="http://schemas.microsoft.com/office/drawing/2014/main" id="{B7D2D349-DE45-5D4F-A8C4-F2C2A85EE3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9482" y="3485011"/>
            <a:ext cx="3172518" cy="2115012"/>
          </a:xfrm>
          <a:prstGeom prst="rect">
            <a:avLst/>
          </a:prstGeom>
        </p:spPr>
      </p:pic>
      <p:pic>
        <p:nvPicPr>
          <p:cNvPr id="26" name="Picture 25" descr="Chart, line chart&#10;&#10;Description automatically generated">
            <a:extLst>
              <a:ext uri="{FF2B5EF4-FFF2-40B4-BE49-F238E27FC236}">
                <a16:creationId xmlns:a16="http://schemas.microsoft.com/office/drawing/2014/main" id="{3C1EA658-F9E2-DD4A-A7D2-A071672617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7681" y="3540159"/>
            <a:ext cx="3172521" cy="211501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663A306-696D-D44B-A723-07143DD3F77D}"/>
              </a:ext>
            </a:extLst>
          </p:cNvPr>
          <p:cNvSpPr txBox="1"/>
          <p:nvPr/>
        </p:nvSpPr>
        <p:spPr>
          <a:xfrm>
            <a:off x="5238136" y="1665202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C406F0-776C-6F44-A307-F93121891F12}"/>
              </a:ext>
            </a:extLst>
          </p:cNvPr>
          <p:cNvSpPr txBox="1"/>
          <p:nvPr/>
        </p:nvSpPr>
        <p:spPr>
          <a:xfrm>
            <a:off x="11176434" y="1669095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0.62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EBDA06-111E-6048-8C05-CB2AB52C29C2}"/>
              </a:ext>
            </a:extLst>
          </p:cNvPr>
          <p:cNvSpPr txBox="1"/>
          <p:nvPr/>
        </p:nvSpPr>
        <p:spPr>
          <a:xfrm>
            <a:off x="11193357" y="378879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320B60-69C6-384F-BCA5-8D01E8C6C198}"/>
              </a:ext>
            </a:extLst>
          </p:cNvPr>
          <p:cNvSpPr txBox="1"/>
          <p:nvPr/>
        </p:nvSpPr>
        <p:spPr>
          <a:xfrm>
            <a:off x="5254685" y="3775371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0.96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AF769F-DD1E-2D4D-9E35-F503482F5EDE}"/>
              </a:ext>
            </a:extLst>
          </p:cNvPr>
          <p:cNvSpPr txBox="1"/>
          <p:nvPr/>
        </p:nvSpPr>
        <p:spPr>
          <a:xfrm>
            <a:off x="165631" y="5816592"/>
            <a:ext cx="10474566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above the determined TMT ratio cutoff are considered to be biotinylated proteins</a:t>
            </a:r>
          </a:p>
          <a:p>
            <a:pPr marL="742950" lvl="1" indent="-285750">
              <a:spcBef>
                <a:spcPts val="1000"/>
              </a:spcBef>
              <a:buClr>
                <a:srgbClr val="7BAF34"/>
              </a:buClr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chemeClr val="bg1"/>
                </a:solidFill>
              </a:rPr>
              <a:t>Proteins below the cutoff are considered to be likely nonspecific binders</a:t>
            </a:r>
            <a:endParaRPr kumimoji="0" lang="en-US" b="0" i="0" u="none" strike="noStrike" kern="1200" cap="none" spc="2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3749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Raw Data 100A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15</a:t>
            </a:fld>
            <a:endParaRPr lang="en-US"/>
          </a:p>
        </p:txBody>
      </p:sp>
      <p:pic>
        <p:nvPicPr>
          <p:cNvPr id="9" name="Picture 8" descr="Chart, treemap chart&#10;&#10;Description automatically generated">
            <a:extLst>
              <a:ext uri="{FF2B5EF4-FFF2-40B4-BE49-F238E27FC236}">
                <a16:creationId xmlns:a16="http://schemas.microsoft.com/office/drawing/2014/main" id="{2387D597-0326-B648-BCB5-B207E400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131" y="517216"/>
            <a:ext cx="6025869" cy="6025869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F33AF2D3-0B32-2F40-AA5F-2F4770BD6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16" y="1543102"/>
            <a:ext cx="5284133" cy="459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05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Normalisation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A picture containing text&#10;&#10;Description automatically generated">
            <a:extLst>
              <a:ext uri="{FF2B5EF4-FFF2-40B4-BE49-F238E27FC236}">
                <a16:creationId xmlns:a16="http://schemas.microsoft.com/office/drawing/2014/main" id="{F2538E10-775C-6D45-A442-5820ADA57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24113" y="900855"/>
            <a:ext cx="13271072" cy="57507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16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0E9638-199A-C24C-B187-8FF1435AB8B4}"/>
              </a:ext>
            </a:extLst>
          </p:cNvPr>
          <p:cNvSpPr/>
          <p:nvPr/>
        </p:nvSpPr>
        <p:spPr>
          <a:xfrm>
            <a:off x="7877053" y="1408013"/>
            <a:ext cx="1723603" cy="524363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1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Normalisation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908DB123-AAF4-3D44-B0B5-AA6BF8A7E4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3"/>
          <a:stretch/>
        </p:blipFill>
        <p:spPr>
          <a:xfrm>
            <a:off x="926588" y="1281405"/>
            <a:ext cx="3087061" cy="5294196"/>
          </a:xfrm>
          <a:prstGeom prst="rect">
            <a:avLst/>
          </a:prstGeo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9779BF5C-F3D5-CC44-90C8-E3B069BB72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4"/>
          <a:stretch/>
        </p:blipFill>
        <p:spPr>
          <a:xfrm>
            <a:off x="4369331" y="1328937"/>
            <a:ext cx="3210422" cy="5199132"/>
          </a:xfrm>
          <a:prstGeom prst="rect">
            <a:avLst/>
          </a:prstGeom>
        </p:spPr>
      </p:pic>
      <p:pic>
        <p:nvPicPr>
          <p:cNvPr id="13" name="Picture 12" descr="Chart, scatter chart&#10;&#10;Description automatically generated">
            <a:extLst>
              <a:ext uri="{FF2B5EF4-FFF2-40B4-BE49-F238E27FC236}">
                <a16:creationId xmlns:a16="http://schemas.microsoft.com/office/drawing/2014/main" id="{F73960EA-D489-854A-83CE-B6A888B79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310" y="1441239"/>
            <a:ext cx="3230581" cy="519913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868D88E-8085-FA42-8281-45AFC18EAFF0}"/>
              </a:ext>
            </a:extLst>
          </p:cNvPr>
          <p:cNvSpPr/>
          <p:nvPr/>
        </p:nvSpPr>
        <p:spPr>
          <a:xfrm>
            <a:off x="7877053" y="1408014"/>
            <a:ext cx="3848306" cy="25004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Normalisation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0D1287-FED9-144A-B2FF-40FBE409E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678" y="1610314"/>
            <a:ext cx="10728325" cy="4628485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Normalization is needed to ensure that differences in intensities are indeed due to differential expression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Normalization is necessary before any analysis which involves within or between sample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comparisons of intensities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point of normalization is to change your observations so that they can be described as a normal distribution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Normalization changes the shape of the distribution of our data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Median </a:t>
            </a:r>
            <a:r>
              <a:rPr lang="en-US" dirty="0" err="1">
                <a:solidFill>
                  <a:schemeClr val="bg1"/>
                </a:solidFill>
              </a:rPr>
              <a:t>normalisation</a:t>
            </a:r>
            <a:r>
              <a:rPr lang="en-US" dirty="0">
                <a:solidFill>
                  <a:schemeClr val="bg1"/>
                </a:solidFill>
              </a:rPr>
              <a:t>: samples will have a median of 0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Normalization by </a:t>
            </a:r>
            <a:r>
              <a:rPr lang="en-US" dirty="0" err="1">
                <a:solidFill>
                  <a:schemeClr val="bg1"/>
                </a:solidFill>
              </a:rPr>
              <a:t>TurboID</a:t>
            </a:r>
            <a:r>
              <a:rPr lang="en-US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34563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26" y="298220"/>
            <a:ext cx="2402784" cy="147732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Old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19</a:t>
            </a:fld>
            <a:endParaRPr lang="en-US"/>
          </a:p>
        </p:txBody>
      </p:sp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89E30AFD-FE38-C149-BE0D-E5A652FD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83818"/>
            <a:ext cx="2807817" cy="1871878"/>
          </a:xfrm>
          <a:prstGeom prst="rect">
            <a:avLst/>
          </a:prstGeom>
        </p:spPr>
      </p:pic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73508131-7B79-994E-BA9C-3967065C3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482" y="907464"/>
            <a:ext cx="2807817" cy="1871878"/>
          </a:xfrm>
          <a:prstGeom prst="rect">
            <a:avLst/>
          </a:prstGeom>
        </p:spPr>
      </p:pic>
      <p:pic>
        <p:nvPicPr>
          <p:cNvPr id="15" name="Picture 14" descr="Chart, bar chart&#10;&#10;Description automatically generated">
            <a:extLst>
              <a:ext uri="{FF2B5EF4-FFF2-40B4-BE49-F238E27FC236}">
                <a16:creationId xmlns:a16="http://schemas.microsoft.com/office/drawing/2014/main" id="{EAFCE6DA-22E7-304D-8D6C-5945A3A2C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742" y="2763300"/>
            <a:ext cx="2769075" cy="1846050"/>
          </a:xfrm>
          <a:prstGeom prst="rect">
            <a:avLst/>
          </a:prstGeom>
        </p:spPr>
      </p:pic>
      <p:pic>
        <p:nvPicPr>
          <p:cNvPr id="17" name="Picture 16" descr="Chart, histogram&#10;&#10;Description automatically generated">
            <a:extLst>
              <a:ext uri="{FF2B5EF4-FFF2-40B4-BE49-F238E27FC236}">
                <a16:creationId xmlns:a16="http://schemas.microsoft.com/office/drawing/2014/main" id="{8F13146F-CE5E-B24F-A685-A6B0B83D1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817" y="2881607"/>
            <a:ext cx="2769075" cy="1846050"/>
          </a:xfrm>
          <a:prstGeom prst="rect">
            <a:avLst/>
          </a:prstGeom>
        </p:spPr>
      </p:pic>
      <p:pic>
        <p:nvPicPr>
          <p:cNvPr id="21" name="Picture 20" descr="Chart, bar chart&#10;&#10;Description automatically generated">
            <a:extLst>
              <a:ext uri="{FF2B5EF4-FFF2-40B4-BE49-F238E27FC236}">
                <a16:creationId xmlns:a16="http://schemas.microsoft.com/office/drawing/2014/main" id="{40065EC0-493B-5942-B185-847B893E4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9997" y="4707617"/>
            <a:ext cx="2769076" cy="1846051"/>
          </a:xfrm>
          <a:prstGeom prst="rect">
            <a:avLst/>
          </a:prstGeom>
        </p:spPr>
      </p:pic>
      <p:pic>
        <p:nvPicPr>
          <p:cNvPr id="23" name="Picture 22" descr="Chart, histogram&#10;&#10;Description automatically generated">
            <a:extLst>
              <a:ext uri="{FF2B5EF4-FFF2-40B4-BE49-F238E27FC236}">
                <a16:creationId xmlns:a16="http://schemas.microsoft.com/office/drawing/2014/main" id="{B633E1ED-D048-E940-8A6C-667738F0B2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313" y="4707618"/>
            <a:ext cx="2769075" cy="1846050"/>
          </a:xfrm>
          <a:prstGeom prst="rect">
            <a:avLst/>
          </a:prstGeom>
        </p:spPr>
      </p:pic>
      <p:pic>
        <p:nvPicPr>
          <p:cNvPr id="39" name="Picture 38" descr="Chart, bar chart&#10;&#10;Description automatically generated">
            <a:extLst>
              <a:ext uri="{FF2B5EF4-FFF2-40B4-BE49-F238E27FC236}">
                <a16:creationId xmlns:a16="http://schemas.microsoft.com/office/drawing/2014/main" id="{130C8F4D-AE38-6843-92B6-B674372E1C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399" y="839609"/>
            <a:ext cx="2807817" cy="1871878"/>
          </a:xfrm>
          <a:prstGeom prst="rect">
            <a:avLst/>
          </a:prstGeom>
        </p:spPr>
      </p:pic>
      <p:pic>
        <p:nvPicPr>
          <p:cNvPr id="41" name="Picture 40" descr="Chart, histogram&#10;&#10;Description automatically generated">
            <a:extLst>
              <a:ext uri="{FF2B5EF4-FFF2-40B4-BE49-F238E27FC236}">
                <a16:creationId xmlns:a16="http://schemas.microsoft.com/office/drawing/2014/main" id="{A78E9FB3-C59F-FC49-AD6A-A4C7CA56FA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26924" y="839609"/>
            <a:ext cx="2769076" cy="1846050"/>
          </a:xfrm>
          <a:prstGeom prst="rect">
            <a:avLst/>
          </a:prstGeom>
        </p:spPr>
      </p:pic>
      <p:pic>
        <p:nvPicPr>
          <p:cNvPr id="43" name="Picture 42" descr="Chart, bar chart&#10;&#10;Description automatically generated">
            <a:extLst>
              <a:ext uri="{FF2B5EF4-FFF2-40B4-BE49-F238E27FC236}">
                <a16:creationId xmlns:a16="http://schemas.microsoft.com/office/drawing/2014/main" id="{284F1AFD-8990-F141-BDC9-3BECB8A258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138" y="2763300"/>
            <a:ext cx="2769078" cy="1846052"/>
          </a:xfrm>
          <a:prstGeom prst="rect">
            <a:avLst/>
          </a:prstGeom>
        </p:spPr>
      </p:pic>
      <p:pic>
        <p:nvPicPr>
          <p:cNvPr id="45" name="Picture 44" descr="Chart, histogram&#10;&#10;Description automatically generated">
            <a:extLst>
              <a:ext uri="{FF2B5EF4-FFF2-40B4-BE49-F238E27FC236}">
                <a16:creationId xmlns:a16="http://schemas.microsoft.com/office/drawing/2014/main" id="{36B9717D-74AD-A343-8031-B8472A68D2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5193" y="2789301"/>
            <a:ext cx="2807817" cy="1871878"/>
          </a:xfrm>
          <a:prstGeom prst="rect">
            <a:avLst/>
          </a:prstGeom>
        </p:spPr>
      </p:pic>
      <p:pic>
        <p:nvPicPr>
          <p:cNvPr id="47" name="Picture 46" descr="Chart, bar chart&#10;&#10;Description automatically generated">
            <a:extLst>
              <a:ext uri="{FF2B5EF4-FFF2-40B4-BE49-F238E27FC236}">
                <a16:creationId xmlns:a16="http://schemas.microsoft.com/office/drawing/2014/main" id="{C8F69914-8AB7-3943-9D1F-79CBBD754E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2115" y="4661179"/>
            <a:ext cx="2769076" cy="1846051"/>
          </a:xfrm>
          <a:prstGeom prst="rect">
            <a:avLst/>
          </a:prstGeom>
        </p:spPr>
      </p:pic>
      <p:pic>
        <p:nvPicPr>
          <p:cNvPr id="49" name="Picture 48" descr="Chart, histogram&#10;&#10;Description automatically generated">
            <a:extLst>
              <a:ext uri="{FF2B5EF4-FFF2-40B4-BE49-F238E27FC236}">
                <a16:creationId xmlns:a16="http://schemas.microsoft.com/office/drawing/2014/main" id="{72AF98E7-702F-E945-BE92-B92AA468DF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6653" y="4669953"/>
            <a:ext cx="2844334" cy="189622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23EA6494-33ED-EE40-946B-466DCECFAA8A}"/>
              </a:ext>
            </a:extLst>
          </p:cNvPr>
          <p:cNvSpPr/>
          <p:nvPr/>
        </p:nvSpPr>
        <p:spPr>
          <a:xfrm>
            <a:off x="574702" y="783818"/>
            <a:ext cx="5445802" cy="5989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E17FA8-783F-AD49-A21C-6DA04F93B477}"/>
              </a:ext>
            </a:extLst>
          </p:cNvPr>
          <p:cNvSpPr/>
          <p:nvPr/>
        </p:nvSpPr>
        <p:spPr>
          <a:xfrm>
            <a:off x="6096000" y="781360"/>
            <a:ext cx="5511879" cy="59892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5873DA90-1A54-B540-8668-A39ABAE45D8F}"/>
              </a:ext>
            </a:extLst>
          </p:cNvPr>
          <p:cNvSpPr txBox="1">
            <a:spLocks/>
          </p:cNvSpPr>
          <p:nvPr/>
        </p:nvSpPr>
        <p:spPr>
          <a:xfrm>
            <a:off x="7961066" y="316932"/>
            <a:ext cx="2402784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New results</a:t>
            </a:r>
          </a:p>
        </p:txBody>
      </p:sp>
    </p:spTree>
    <p:extLst>
      <p:ext uri="{BB962C8B-B14F-4D97-AF65-F5344CB8AC3E}">
        <p14:creationId xmlns:p14="http://schemas.microsoft.com/office/powerpoint/2010/main" val="5837383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20</a:t>
            </a:fld>
            <a:endParaRPr lang="en-US"/>
          </a:p>
        </p:txBody>
      </p:sp>
      <p:pic>
        <p:nvPicPr>
          <p:cNvPr id="27" name="Picture 26" descr="Chart, bar chart&#10;&#10;Description automatically generated">
            <a:extLst>
              <a:ext uri="{FF2B5EF4-FFF2-40B4-BE49-F238E27FC236}">
                <a16:creationId xmlns:a16="http://schemas.microsoft.com/office/drawing/2014/main" id="{CF9781AF-F48B-5246-A74A-804AD1D7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933" y="857150"/>
            <a:ext cx="2666198" cy="1777465"/>
          </a:xfrm>
          <a:prstGeom prst="rect">
            <a:avLst/>
          </a:prstGeom>
        </p:spPr>
      </p:pic>
      <p:pic>
        <p:nvPicPr>
          <p:cNvPr id="31" name="Picture 30" descr="Chart, bar chart&#10;&#10;Description automatically generated">
            <a:extLst>
              <a:ext uri="{FF2B5EF4-FFF2-40B4-BE49-F238E27FC236}">
                <a16:creationId xmlns:a16="http://schemas.microsoft.com/office/drawing/2014/main" id="{56BBBD21-F359-804E-BB5F-C57D163A8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155" y="2836318"/>
            <a:ext cx="2666198" cy="1777465"/>
          </a:xfrm>
          <a:prstGeom prst="rect">
            <a:avLst/>
          </a:prstGeom>
        </p:spPr>
      </p:pic>
      <p:pic>
        <p:nvPicPr>
          <p:cNvPr id="33" name="Picture 32" descr="Chart, histogram&#10;&#10;Description automatically generated">
            <a:extLst>
              <a:ext uri="{FF2B5EF4-FFF2-40B4-BE49-F238E27FC236}">
                <a16:creationId xmlns:a16="http://schemas.microsoft.com/office/drawing/2014/main" id="{E3E45B5B-AB30-B24A-BC82-224849844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752" y="2806856"/>
            <a:ext cx="2807817" cy="1871878"/>
          </a:xfrm>
          <a:prstGeom prst="rect">
            <a:avLst/>
          </a:prstGeom>
        </p:spPr>
      </p:pic>
      <p:pic>
        <p:nvPicPr>
          <p:cNvPr id="35" name="Picture 34" descr="Chart, bar chart&#10;&#10;Description automatically generated">
            <a:extLst>
              <a:ext uri="{FF2B5EF4-FFF2-40B4-BE49-F238E27FC236}">
                <a16:creationId xmlns:a16="http://schemas.microsoft.com/office/drawing/2014/main" id="{E6DBD13D-9AB9-6D4D-B505-BF0FE33E7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14" y="4787940"/>
            <a:ext cx="2574539" cy="1716359"/>
          </a:xfrm>
          <a:prstGeom prst="rect">
            <a:avLst/>
          </a:prstGeom>
        </p:spPr>
      </p:pic>
      <p:pic>
        <p:nvPicPr>
          <p:cNvPr id="37" name="Picture 36" descr="Chart, histogram&#10;&#10;Description automatically generated">
            <a:extLst>
              <a:ext uri="{FF2B5EF4-FFF2-40B4-BE49-F238E27FC236}">
                <a16:creationId xmlns:a16="http://schemas.microsoft.com/office/drawing/2014/main" id="{9F6041D2-29BB-7A4D-B13A-42001259A2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9494" y="4787940"/>
            <a:ext cx="2769075" cy="1846050"/>
          </a:xfrm>
          <a:prstGeom prst="rect">
            <a:avLst/>
          </a:prstGeom>
        </p:spPr>
      </p:pic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49C9C7B3-2E54-0C4C-82E3-411D8E5903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494" y="852575"/>
            <a:ext cx="2666198" cy="1777465"/>
          </a:xfrm>
          <a:prstGeom prst="rect">
            <a:avLst/>
          </a:prstGeom>
        </p:spPr>
      </p:pic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16E59271-6EF2-B14E-BFA5-E227C2D4A3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713" y="886691"/>
            <a:ext cx="2527137" cy="1684758"/>
          </a:xfrm>
          <a:prstGeom prst="rect">
            <a:avLst/>
          </a:prstGeom>
        </p:spPr>
      </p:pic>
      <p:pic>
        <p:nvPicPr>
          <p:cNvPr id="10" name="Picture 9" descr="Chart, histogram&#10;&#10;Description automatically generated">
            <a:extLst>
              <a:ext uri="{FF2B5EF4-FFF2-40B4-BE49-F238E27FC236}">
                <a16:creationId xmlns:a16="http://schemas.microsoft.com/office/drawing/2014/main" id="{F7DC1569-B6F7-8F43-8925-202EACB6EF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39850" y="926727"/>
            <a:ext cx="2514369" cy="1676246"/>
          </a:xfrm>
          <a:prstGeom prst="rect">
            <a:avLst/>
          </a:prstGeom>
        </p:spPr>
      </p:pic>
      <p:pic>
        <p:nvPicPr>
          <p:cNvPr id="13" name="Picture 12" descr="Chart, bar chart&#10;&#10;Description automatically generated">
            <a:extLst>
              <a:ext uri="{FF2B5EF4-FFF2-40B4-BE49-F238E27FC236}">
                <a16:creationId xmlns:a16="http://schemas.microsoft.com/office/drawing/2014/main" id="{E8E511BE-EE46-1F43-BE1B-57C98E6EC4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431" y="2685517"/>
            <a:ext cx="2705958" cy="1803972"/>
          </a:xfrm>
          <a:prstGeom prst="rect">
            <a:avLst/>
          </a:prstGeom>
        </p:spPr>
      </p:pic>
      <p:pic>
        <p:nvPicPr>
          <p:cNvPr id="16" name="Picture 15" descr="Chart, histogram&#10;&#10;Description automatically generated">
            <a:extLst>
              <a:ext uri="{FF2B5EF4-FFF2-40B4-BE49-F238E27FC236}">
                <a16:creationId xmlns:a16="http://schemas.microsoft.com/office/drawing/2014/main" id="{0FD4FCC8-12A7-E74B-ADF6-E5D855245A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4712" y="2698770"/>
            <a:ext cx="2666199" cy="1777466"/>
          </a:xfrm>
          <a:prstGeom prst="rect">
            <a:avLst/>
          </a:prstGeom>
        </p:spPr>
      </p:pic>
      <p:pic>
        <p:nvPicPr>
          <p:cNvPr id="19" name="Picture 18" descr="Chart, bar chart&#10;&#10;Description automatically generated">
            <a:extLst>
              <a:ext uri="{FF2B5EF4-FFF2-40B4-BE49-F238E27FC236}">
                <a16:creationId xmlns:a16="http://schemas.microsoft.com/office/drawing/2014/main" id="{5743294B-044D-1645-B679-6844C38328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295" y="4769302"/>
            <a:ext cx="2519895" cy="1679930"/>
          </a:xfrm>
          <a:prstGeom prst="rect">
            <a:avLst/>
          </a:prstGeom>
        </p:spPr>
      </p:pic>
      <p:pic>
        <p:nvPicPr>
          <p:cNvPr id="22" name="Picture 21" descr="Chart, histogram&#10;&#10;Description automatically generated">
            <a:extLst>
              <a:ext uri="{FF2B5EF4-FFF2-40B4-BE49-F238E27FC236}">
                <a16:creationId xmlns:a16="http://schemas.microsoft.com/office/drawing/2014/main" id="{0E170275-25DB-464D-BD6F-A485E93AEAC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9675" y="4744132"/>
            <a:ext cx="2705959" cy="180397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5468AF1-ECAA-7445-A1DE-0A8B980E68A1}"/>
              </a:ext>
            </a:extLst>
          </p:cNvPr>
          <p:cNvSpPr/>
          <p:nvPr/>
        </p:nvSpPr>
        <p:spPr>
          <a:xfrm>
            <a:off x="574702" y="783818"/>
            <a:ext cx="5445802" cy="5989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7D1397-4BB0-174F-ADAB-781C2BFE574C}"/>
              </a:ext>
            </a:extLst>
          </p:cNvPr>
          <p:cNvSpPr/>
          <p:nvPr/>
        </p:nvSpPr>
        <p:spPr>
          <a:xfrm>
            <a:off x="6096000" y="781360"/>
            <a:ext cx="5511879" cy="59892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D57D274E-94A5-244E-B1B7-1158F8A25E06}"/>
              </a:ext>
            </a:extLst>
          </p:cNvPr>
          <p:cNvSpPr txBox="1">
            <a:spLocks/>
          </p:cNvSpPr>
          <p:nvPr/>
        </p:nvSpPr>
        <p:spPr>
          <a:xfrm>
            <a:off x="2181126" y="298220"/>
            <a:ext cx="2402784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Old results</a:t>
            </a:r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A089B4AC-22E4-E64E-8190-8E6AB5CAE68B}"/>
              </a:ext>
            </a:extLst>
          </p:cNvPr>
          <p:cNvSpPr txBox="1">
            <a:spLocks/>
          </p:cNvSpPr>
          <p:nvPr/>
        </p:nvSpPr>
        <p:spPr>
          <a:xfrm>
            <a:off x="7961066" y="316932"/>
            <a:ext cx="2402784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New results</a:t>
            </a:r>
          </a:p>
        </p:txBody>
      </p:sp>
    </p:spTree>
    <p:extLst>
      <p:ext uri="{BB962C8B-B14F-4D97-AF65-F5344CB8AC3E}">
        <p14:creationId xmlns:p14="http://schemas.microsoft.com/office/powerpoint/2010/main" val="264068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 Cutoff pass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 descr="Chart, bar chart, square&#10;&#10;Description automatically generated">
            <a:extLst>
              <a:ext uri="{FF2B5EF4-FFF2-40B4-BE49-F238E27FC236}">
                <a16:creationId xmlns:a16="http://schemas.microsoft.com/office/drawing/2014/main" id="{642F4C56-35C0-ED49-BE52-23F83598C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34" y="2467596"/>
            <a:ext cx="5016051" cy="3344034"/>
          </a:xfrm>
          <a:prstGeom prst="rect">
            <a:avLst/>
          </a:prstGeom>
        </p:spPr>
      </p:pic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547A5685-31EA-B44A-B569-E5B677665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67595"/>
            <a:ext cx="5016052" cy="334403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41040E9-F206-D440-8B64-DA7E99EA53BC}"/>
              </a:ext>
            </a:extLst>
          </p:cNvPr>
          <p:cNvSpPr/>
          <p:nvPr/>
        </p:nvSpPr>
        <p:spPr>
          <a:xfrm>
            <a:off x="574702" y="2545827"/>
            <a:ext cx="5445802" cy="359217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F868B5-B6BB-7A4C-ACAE-55D3EF657335}"/>
              </a:ext>
            </a:extLst>
          </p:cNvPr>
          <p:cNvSpPr/>
          <p:nvPr/>
        </p:nvSpPr>
        <p:spPr>
          <a:xfrm>
            <a:off x="6096000" y="2545827"/>
            <a:ext cx="5511879" cy="3592173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A6C9EF-FDB7-C64E-A08A-57204401D177}"/>
              </a:ext>
            </a:extLst>
          </p:cNvPr>
          <p:cNvSpPr txBox="1"/>
          <p:nvPr/>
        </p:nvSpPr>
        <p:spPr>
          <a:xfrm>
            <a:off x="889934" y="1688948"/>
            <a:ext cx="7006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At least 2 different experimental replicates </a:t>
            </a:r>
            <a:r>
              <a:rPr lang="en-US" dirty="0" err="1">
                <a:solidFill>
                  <a:schemeClr val="bg1"/>
                </a:solidFill>
              </a:rPr>
              <a:t>ratos</a:t>
            </a:r>
            <a:r>
              <a:rPr lang="en-US" dirty="0">
                <a:solidFill>
                  <a:schemeClr val="bg1"/>
                </a:solidFill>
              </a:rPr>
              <a:t> need to pass 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4090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Corey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36A572-8474-B543-A3BE-05ABD685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705" y="1514023"/>
            <a:ext cx="8957008" cy="472477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A0CB4C6-1117-FD44-A806-671125845E89}"/>
              </a:ext>
            </a:extLst>
          </p:cNvPr>
          <p:cNvSpPr/>
          <p:nvPr/>
        </p:nvSpPr>
        <p:spPr>
          <a:xfrm>
            <a:off x="4434434" y="1377220"/>
            <a:ext cx="2848397" cy="249886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26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CE-29BD-4B44-AB15-3213B5320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 cutoff pass PCA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672E-D387-8B4B-BC3B-09204C44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B11FE577-C6C1-9341-B51D-9433866F0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971" y="1905515"/>
            <a:ext cx="4579885" cy="3582331"/>
          </a:xfrm>
          <a:prstGeom prst="rect">
            <a:avLst/>
          </a:prstGeo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91BCC19F-BF68-814F-9B61-0DD0DC5F9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567" y="1781841"/>
            <a:ext cx="4832594" cy="3488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632AE0-5D0E-F340-B84E-B30D037C7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887" y="5270369"/>
            <a:ext cx="4064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84753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DarkSeedLeftStep">
      <a:dk1>
        <a:srgbClr val="000000"/>
      </a:dk1>
      <a:lt1>
        <a:srgbClr val="FFFFFF"/>
      </a:lt1>
      <a:dk2>
        <a:srgbClr val="37371F"/>
      </a:dk2>
      <a:lt2>
        <a:srgbClr val="E8E2E4"/>
      </a:lt2>
      <a:accent1>
        <a:srgbClr val="41B48E"/>
      </a:accent1>
      <a:accent2>
        <a:srgbClr val="36B657"/>
      </a:accent2>
      <a:accent3>
        <a:srgbClr val="54B641"/>
      </a:accent3>
      <a:accent4>
        <a:srgbClr val="7BAF34"/>
      </a:accent4>
      <a:accent5>
        <a:srgbClr val="A5A53B"/>
      </a:accent5>
      <a:accent6>
        <a:srgbClr val="B68236"/>
      </a:accent6>
      <a:hlink>
        <a:srgbClr val="79892D"/>
      </a:hlink>
      <a:folHlink>
        <a:srgbClr val="7F7F7F"/>
      </a:folHlink>
    </a:clrScheme>
    <a:fontScheme name="Blob">
      <a:majorFont>
        <a:latin typeface="Rockwell Nova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1171</Words>
  <Application>Microsoft Macintosh PowerPoint</Application>
  <PresentationFormat>Widescreen</PresentationFormat>
  <Paragraphs>215</Paragraphs>
  <Slides>24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Avenir Next LT Pro</vt:lpstr>
      <vt:lpstr>Calibri</vt:lpstr>
      <vt:lpstr>Cambria</vt:lpstr>
      <vt:lpstr>Rockwell Nova Light</vt:lpstr>
      <vt:lpstr>The Hand Extrablack</vt:lpstr>
      <vt:lpstr>BlobVTI</vt:lpstr>
      <vt:lpstr>TurboID Project </vt:lpstr>
      <vt:lpstr>TurboID</vt:lpstr>
      <vt:lpstr>Experimental Setup</vt:lpstr>
      <vt:lpstr>Analysis Overview</vt:lpstr>
      <vt:lpstr>TP and FP lists </vt:lpstr>
      <vt:lpstr>Processed Files Results</vt:lpstr>
      <vt:lpstr>For each processed file…</vt:lpstr>
      <vt:lpstr>Update column names </vt:lpstr>
      <vt:lpstr>Remove Keratins</vt:lpstr>
      <vt:lpstr>Filtering of cre+ replicates</vt:lpstr>
      <vt:lpstr>Preparation of ratios and annotation of proteins </vt:lpstr>
      <vt:lpstr>For each calculated ratio…</vt:lpstr>
      <vt:lpstr>Approach to determine the final proteome lists</vt:lpstr>
      <vt:lpstr>Determine biotinylated proteins</vt:lpstr>
      <vt:lpstr>Example EV1-100A</vt:lpstr>
      <vt:lpstr>Raw Data 100A</vt:lpstr>
      <vt:lpstr>Normalisation</vt:lpstr>
      <vt:lpstr>Normalisation</vt:lpstr>
      <vt:lpstr>Normalisation</vt:lpstr>
      <vt:lpstr>Old results</vt:lpstr>
      <vt:lpstr>PowerPoint Presentation</vt:lpstr>
      <vt:lpstr>2 Cutoff pass</vt:lpstr>
      <vt:lpstr>Corey</vt:lpstr>
      <vt:lpstr>2 cutoff pass PCA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Turbo ID Project </dc:title>
  <dc:creator>Nathalie Ropek</dc:creator>
  <cp:lastModifiedBy>Nathalie Ropek</cp:lastModifiedBy>
  <cp:revision>19</cp:revision>
  <dcterms:created xsi:type="dcterms:W3CDTF">2022-10-14T14:34:07Z</dcterms:created>
  <dcterms:modified xsi:type="dcterms:W3CDTF">2022-11-16T16:23:02Z</dcterms:modified>
</cp:coreProperties>
</file>