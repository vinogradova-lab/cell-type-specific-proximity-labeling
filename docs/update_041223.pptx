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13" r:id="rId1"/>
  </p:sldMasterIdLst>
  <p:notesMasterIdLst>
    <p:notesMasterId r:id="rId28"/>
  </p:notesMasterIdLst>
  <p:sldIdLst>
    <p:sldId id="330" r:id="rId2"/>
    <p:sldId id="256" r:id="rId3"/>
    <p:sldId id="327" r:id="rId4"/>
    <p:sldId id="289" r:id="rId5"/>
    <p:sldId id="291" r:id="rId6"/>
    <p:sldId id="293" r:id="rId7"/>
    <p:sldId id="294" r:id="rId8"/>
    <p:sldId id="290" r:id="rId9"/>
    <p:sldId id="292" r:id="rId10"/>
    <p:sldId id="295" r:id="rId11"/>
    <p:sldId id="296" r:id="rId12"/>
    <p:sldId id="299" r:id="rId13"/>
    <p:sldId id="300" r:id="rId14"/>
    <p:sldId id="297" r:id="rId15"/>
    <p:sldId id="298" r:id="rId16"/>
    <p:sldId id="301" r:id="rId17"/>
    <p:sldId id="302" r:id="rId18"/>
    <p:sldId id="303" r:id="rId19"/>
    <p:sldId id="328" r:id="rId20"/>
    <p:sldId id="319" r:id="rId21"/>
    <p:sldId id="321" r:id="rId22"/>
    <p:sldId id="322" r:id="rId23"/>
    <p:sldId id="325" r:id="rId24"/>
    <p:sldId id="324" r:id="rId25"/>
    <p:sldId id="326" r:id="rId26"/>
    <p:sldId id="32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DE7E79"/>
    <a:srgbClr val="447228"/>
    <a:srgbClr val="4472C4"/>
    <a:srgbClr val="E60000"/>
    <a:srgbClr val="008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6"/>
    <p:restoredTop sz="95102"/>
  </p:normalViewPr>
  <p:slideViewPr>
    <p:cSldViewPr snapToGrid="0" snapToObjects="1">
      <p:cViewPr varScale="1">
        <p:scale>
          <a:sx n="122" d="100"/>
          <a:sy n="122" d="100"/>
        </p:scale>
        <p:origin x="9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1BF4D-3201-F745-B932-E7F786B71255}" type="datetimeFigureOut">
              <a:rPr lang="en-US" smtClean="0"/>
              <a:t>5/11/23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3C3097-339F-D341-9AE2-47DB3DE0E34B}" type="slidenum">
              <a:rPr lang="en-US" smtClean="0"/>
              <a:t>‹#›</a:t>
            </a:fld>
            <a:endParaRPr lang="en-US"/>
          </a:p>
        </p:txBody>
      </p:sp>
    </p:spTree>
    <p:extLst>
      <p:ext uri="{BB962C8B-B14F-4D97-AF65-F5344CB8AC3E}">
        <p14:creationId xmlns:p14="http://schemas.microsoft.com/office/powerpoint/2010/main" val="3497218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6</a:t>
            </a:fld>
            <a:endParaRPr lang="en-US"/>
          </a:p>
        </p:txBody>
      </p:sp>
    </p:spTree>
    <p:extLst>
      <p:ext uri="{BB962C8B-B14F-4D97-AF65-F5344CB8AC3E}">
        <p14:creationId xmlns:p14="http://schemas.microsoft.com/office/powerpoint/2010/main" val="1709038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8</a:t>
            </a:fld>
            <a:endParaRPr lang="en-US"/>
          </a:p>
        </p:txBody>
      </p:sp>
    </p:spTree>
    <p:extLst>
      <p:ext uri="{BB962C8B-B14F-4D97-AF65-F5344CB8AC3E}">
        <p14:creationId xmlns:p14="http://schemas.microsoft.com/office/powerpoint/2010/main" val="1029506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10</a:t>
            </a:fld>
            <a:endParaRPr lang="en-US"/>
          </a:p>
        </p:txBody>
      </p:sp>
    </p:spTree>
    <p:extLst>
      <p:ext uri="{BB962C8B-B14F-4D97-AF65-F5344CB8AC3E}">
        <p14:creationId xmlns:p14="http://schemas.microsoft.com/office/powerpoint/2010/main" val="3287566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12</a:t>
            </a:fld>
            <a:endParaRPr lang="en-US"/>
          </a:p>
        </p:txBody>
      </p:sp>
    </p:spTree>
    <p:extLst>
      <p:ext uri="{BB962C8B-B14F-4D97-AF65-F5344CB8AC3E}">
        <p14:creationId xmlns:p14="http://schemas.microsoft.com/office/powerpoint/2010/main" val="157033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14</a:t>
            </a:fld>
            <a:endParaRPr lang="en-US"/>
          </a:p>
        </p:txBody>
      </p:sp>
    </p:spTree>
    <p:extLst>
      <p:ext uri="{BB962C8B-B14F-4D97-AF65-F5344CB8AC3E}">
        <p14:creationId xmlns:p14="http://schemas.microsoft.com/office/powerpoint/2010/main" val="2080777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19</a:t>
            </a:fld>
            <a:endParaRPr lang="en-US"/>
          </a:p>
        </p:txBody>
      </p:sp>
    </p:spTree>
    <p:extLst>
      <p:ext uri="{BB962C8B-B14F-4D97-AF65-F5344CB8AC3E}">
        <p14:creationId xmlns:p14="http://schemas.microsoft.com/office/powerpoint/2010/main" val="3585033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20</a:t>
            </a:fld>
            <a:endParaRPr lang="en-US"/>
          </a:p>
        </p:txBody>
      </p:sp>
    </p:spTree>
    <p:extLst>
      <p:ext uri="{BB962C8B-B14F-4D97-AF65-F5344CB8AC3E}">
        <p14:creationId xmlns:p14="http://schemas.microsoft.com/office/powerpoint/2010/main" val="2766349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21</a:t>
            </a:fld>
            <a:endParaRPr lang="en-US"/>
          </a:p>
        </p:txBody>
      </p:sp>
    </p:spTree>
    <p:extLst>
      <p:ext uri="{BB962C8B-B14F-4D97-AF65-F5344CB8AC3E}">
        <p14:creationId xmlns:p14="http://schemas.microsoft.com/office/powerpoint/2010/main" val="724225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22</a:t>
            </a:fld>
            <a:endParaRPr lang="en-US"/>
          </a:p>
        </p:txBody>
      </p:sp>
    </p:spTree>
    <p:extLst>
      <p:ext uri="{BB962C8B-B14F-4D97-AF65-F5344CB8AC3E}">
        <p14:creationId xmlns:p14="http://schemas.microsoft.com/office/powerpoint/2010/main" val="538711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23</a:t>
            </a:fld>
            <a:endParaRPr lang="en-US"/>
          </a:p>
        </p:txBody>
      </p:sp>
    </p:spTree>
    <p:extLst>
      <p:ext uri="{BB962C8B-B14F-4D97-AF65-F5344CB8AC3E}">
        <p14:creationId xmlns:p14="http://schemas.microsoft.com/office/powerpoint/2010/main" val="1946830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24</a:t>
            </a:fld>
            <a:endParaRPr lang="en-US"/>
          </a:p>
        </p:txBody>
      </p:sp>
    </p:spTree>
    <p:extLst>
      <p:ext uri="{BB962C8B-B14F-4D97-AF65-F5344CB8AC3E}">
        <p14:creationId xmlns:p14="http://schemas.microsoft.com/office/powerpoint/2010/main" val="415904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3E81-946A-FD4B-A5BF-D1C95339E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4C2F99-C96C-3148-91B8-6F227588E1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9C0D0F-6448-3840-B99D-4B049583E5C3}"/>
              </a:ext>
            </a:extLst>
          </p:cNvPr>
          <p:cNvSpPr>
            <a:spLocks noGrp="1"/>
          </p:cNvSpPr>
          <p:nvPr>
            <p:ph type="dt" sz="half" idx="10"/>
          </p:nvPr>
        </p:nvSpPr>
        <p:spPr/>
        <p:txBody>
          <a:bodyPr/>
          <a:lstStyle/>
          <a:p>
            <a:fld id="{4D82D62B-C5BC-9A48-B649-B612C2626DF0}" type="datetime2">
              <a:rPr lang="en-US" smtClean="0"/>
              <a:t>Thursday, May 11, 2023</a:t>
            </a:fld>
            <a:endParaRPr lang="en-US" dirty="0"/>
          </a:p>
        </p:txBody>
      </p:sp>
      <p:sp>
        <p:nvSpPr>
          <p:cNvPr id="5" name="Footer Placeholder 4">
            <a:extLst>
              <a:ext uri="{FF2B5EF4-FFF2-40B4-BE49-F238E27FC236}">
                <a16:creationId xmlns:a16="http://schemas.microsoft.com/office/drawing/2014/main" id="{D140A073-062E-6143-B8BE-B399CDDD79AE}"/>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92797A0C-DCB2-9E4E-AEB9-8985AC2D5561}"/>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74127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1A0A7-988E-1743-A790-2F7BCCC21F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771A43-E42E-F44A-9436-732A804F2E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1C855-63B7-8848-B673-9245C72262E8}"/>
              </a:ext>
            </a:extLst>
          </p:cNvPr>
          <p:cNvSpPr>
            <a:spLocks noGrp="1"/>
          </p:cNvSpPr>
          <p:nvPr>
            <p:ph type="dt" sz="half" idx="10"/>
          </p:nvPr>
        </p:nvSpPr>
        <p:spPr/>
        <p:txBody>
          <a:bodyPr/>
          <a:lstStyle/>
          <a:p>
            <a:fld id="{E9A10DC3-F6B5-014A-A9AD-0D47C6506BAB}" type="datetime2">
              <a:rPr lang="en-US" smtClean="0"/>
              <a:t>Thursday, May 11, 2023</a:t>
            </a:fld>
            <a:endParaRPr lang="en-US" dirty="0"/>
          </a:p>
        </p:txBody>
      </p:sp>
      <p:sp>
        <p:nvSpPr>
          <p:cNvPr id="5" name="Footer Placeholder 4">
            <a:extLst>
              <a:ext uri="{FF2B5EF4-FFF2-40B4-BE49-F238E27FC236}">
                <a16:creationId xmlns:a16="http://schemas.microsoft.com/office/drawing/2014/main" id="{F063D553-48F6-194C-8F63-C146AB5FD46B}"/>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920F2AF8-DCE3-AE43-AEE3-850EAA97FC44}"/>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77814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9324-A21F-C84F-A997-47F65D32D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68959F-90AE-0144-AD34-239A0D80FD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6496D3-3431-ED4F-8BA4-B088158151E3}"/>
              </a:ext>
            </a:extLst>
          </p:cNvPr>
          <p:cNvSpPr>
            <a:spLocks noGrp="1"/>
          </p:cNvSpPr>
          <p:nvPr>
            <p:ph type="dt" sz="half" idx="10"/>
          </p:nvPr>
        </p:nvSpPr>
        <p:spPr/>
        <p:txBody>
          <a:bodyPr/>
          <a:lstStyle/>
          <a:p>
            <a:fld id="{A049C287-8CF4-DC48-88B8-6E35669697EC}" type="datetime2">
              <a:rPr lang="en-US" smtClean="0"/>
              <a:t>Thursday, May 11, 2023</a:t>
            </a:fld>
            <a:endParaRPr lang="en-US"/>
          </a:p>
        </p:txBody>
      </p:sp>
      <p:sp>
        <p:nvSpPr>
          <p:cNvPr id="5" name="Footer Placeholder 4">
            <a:extLst>
              <a:ext uri="{FF2B5EF4-FFF2-40B4-BE49-F238E27FC236}">
                <a16:creationId xmlns:a16="http://schemas.microsoft.com/office/drawing/2014/main" id="{BC932982-1A21-984F-B648-2EDB9B0B0F8E}"/>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39CC832D-C319-9649-B35D-C53E093AEE29}"/>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844980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149B-808C-D24D-8877-ACEFC6AF45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733443-8A86-4F48-94FD-81ED2B79E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2BC4DF-4650-FB4D-9F23-19B313FC4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69A489-7672-734C-AED1-C6E7B04D0E3F}"/>
              </a:ext>
            </a:extLst>
          </p:cNvPr>
          <p:cNvSpPr>
            <a:spLocks noGrp="1"/>
          </p:cNvSpPr>
          <p:nvPr>
            <p:ph type="dt" sz="half" idx="10"/>
          </p:nvPr>
        </p:nvSpPr>
        <p:spPr/>
        <p:txBody>
          <a:bodyPr/>
          <a:lstStyle/>
          <a:p>
            <a:fld id="{ADEB5C39-7764-3744-BF89-1BA0C95D9B94}" type="datetime2">
              <a:rPr lang="en-US" smtClean="0"/>
              <a:t>Thursday, May 11, 2023</a:t>
            </a:fld>
            <a:endParaRPr lang="en-US"/>
          </a:p>
        </p:txBody>
      </p:sp>
      <p:sp>
        <p:nvSpPr>
          <p:cNvPr id="6" name="Footer Placeholder 5">
            <a:extLst>
              <a:ext uri="{FF2B5EF4-FFF2-40B4-BE49-F238E27FC236}">
                <a16:creationId xmlns:a16="http://schemas.microsoft.com/office/drawing/2014/main" id="{3707EDA8-FD42-9E43-B585-2FB1C094713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ABFAE4C-9A20-384E-96D9-46182C130978}"/>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60258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9424-B204-DA4D-A261-8A6AB82DD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D6BE27-9B08-2D44-A5DD-3646B660C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7AC73-C28D-C346-AD33-6FBBAB4E8A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3274C1-CA02-1A4E-9EF4-D090FD68EE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CBDD9-76E2-4943-84C7-23993ECA74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44F0E1-6766-654F-91A1-508B72B7AE24}"/>
              </a:ext>
            </a:extLst>
          </p:cNvPr>
          <p:cNvSpPr>
            <a:spLocks noGrp="1"/>
          </p:cNvSpPr>
          <p:nvPr>
            <p:ph type="dt" sz="half" idx="10"/>
          </p:nvPr>
        </p:nvSpPr>
        <p:spPr/>
        <p:txBody>
          <a:bodyPr/>
          <a:lstStyle/>
          <a:p>
            <a:fld id="{4BAB7099-C23E-1745-AF03-0B0C40F6AA6C}" type="datetime2">
              <a:rPr lang="en-US" smtClean="0"/>
              <a:t>Thursday, May 11, 2023</a:t>
            </a:fld>
            <a:endParaRPr lang="en-US"/>
          </a:p>
        </p:txBody>
      </p:sp>
      <p:sp>
        <p:nvSpPr>
          <p:cNvPr id="8" name="Footer Placeholder 7">
            <a:extLst>
              <a:ext uri="{FF2B5EF4-FFF2-40B4-BE49-F238E27FC236}">
                <a16:creationId xmlns:a16="http://schemas.microsoft.com/office/drawing/2014/main" id="{70F1B3F6-5933-924A-A8D2-5BA0605AF33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1B6D5FA3-5E54-6842-AC1E-3506920F21A0}"/>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063957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808D-BC2A-824C-942C-0AE064A2E7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3CCE5E-003E-A04B-B8AC-5DE83AA33B01}"/>
              </a:ext>
            </a:extLst>
          </p:cNvPr>
          <p:cNvSpPr>
            <a:spLocks noGrp="1"/>
          </p:cNvSpPr>
          <p:nvPr>
            <p:ph type="dt" sz="half" idx="10"/>
          </p:nvPr>
        </p:nvSpPr>
        <p:spPr/>
        <p:txBody>
          <a:bodyPr/>
          <a:lstStyle/>
          <a:p>
            <a:fld id="{52B883A0-F701-0F49-9D67-42F97F0F4C65}" type="datetime2">
              <a:rPr lang="en-US" smtClean="0"/>
              <a:t>Thursday, May 11, 2023</a:t>
            </a:fld>
            <a:endParaRPr lang="en-US"/>
          </a:p>
        </p:txBody>
      </p:sp>
      <p:sp>
        <p:nvSpPr>
          <p:cNvPr id="4" name="Footer Placeholder 3">
            <a:extLst>
              <a:ext uri="{FF2B5EF4-FFF2-40B4-BE49-F238E27FC236}">
                <a16:creationId xmlns:a16="http://schemas.microsoft.com/office/drawing/2014/main" id="{BC156BA5-5761-6643-9DC4-C554A41E0EC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180BB2A-6168-3049-9F8F-5C07F8A7B32E}"/>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28101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AFFC16-5F9F-F74E-97C6-550DD4CE8270}"/>
              </a:ext>
            </a:extLst>
          </p:cNvPr>
          <p:cNvSpPr>
            <a:spLocks noGrp="1"/>
          </p:cNvSpPr>
          <p:nvPr>
            <p:ph type="dt" sz="half" idx="10"/>
          </p:nvPr>
        </p:nvSpPr>
        <p:spPr/>
        <p:txBody>
          <a:bodyPr/>
          <a:lstStyle/>
          <a:p>
            <a:fld id="{E6923127-F9F8-8B4E-9CEB-95BF7FFEA85F}" type="datetime2">
              <a:rPr lang="en-US" smtClean="0"/>
              <a:t>Thursday, May 11, 2023</a:t>
            </a:fld>
            <a:endParaRPr lang="en-US"/>
          </a:p>
        </p:txBody>
      </p:sp>
      <p:sp>
        <p:nvSpPr>
          <p:cNvPr id="3" name="Footer Placeholder 2">
            <a:extLst>
              <a:ext uri="{FF2B5EF4-FFF2-40B4-BE49-F238E27FC236}">
                <a16:creationId xmlns:a16="http://schemas.microsoft.com/office/drawing/2014/main" id="{AC0E3E46-25A1-FF43-8A04-5D2C3D138AB7}"/>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6F048B15-E91E-FF45-8ED6-BB994B928002}"/>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769795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4047-C554-EA40-AF86-540307B549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4E612B-509E-1B48-A295-95E828397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48250C-C477-5143-9F6B-A84088F79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5F3DA-1D58-A74A-8601-E31A91243756}"/>
              </a:ext>
            </a:extLst>
          </p:cNvPr>
          <p:cNvSpPr>
            <a:spLocks noGrp="1"/>
          </p:cNvSpPr>
          <p:nvPr>
            <p:ph type="dt" sz="half" idx="10"/>
          </p:nvPr>
        </p:nvSpPr>
        <p:spPr/>
        <p:txBody>
          <a:bodyPr/>
          <a:lstStyle/>
          <a:p>
            <a:fld id="{24AFEB34-53E9-8F42-9ED2-04274EE70207}" type="datetime2">
              <a:rPr lang="en-US" smtClean="0"/>
              <a:t>Thursday, May 11, 2023</a:t>
            </a:fld>
            <a:endParaRPr lang="en-US"/>
          </a:p>
        </p:txBody>
      </p:sp>
      <p:sp>
        <p:nvSpPr>
          <p:cNvPr id="6" name="Footer Placeholder 5">
            <a:extLst>
              <a:ext uri="{FF2B5EF4-FFF2-40B4-BE49-F238E27FC236}">
                <a16:creationId xmlns:a16="http://schemas.microsoft.com/office/drawing/2014/main" id="{F9D4976C-4A75-F147-A79B-188097E16E02}"/>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712616-E3F7-0543-8C96-DAF2A4995469}"/>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251921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F241-8910-0644-B508-4D24CBCDA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619914-324C-FD42-A13F-C61BE61EFC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3C8B3C-F295-A44E-8C5B-CC80D0C90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BC9F1E-AA2C-C546-8413-5345D7B4DC0E}"/>
              </a:ext>
            </a:extLst>
          </p:cNvPr>
          <p:cNvSpPr>
            <a:spLocks noGrp="1"/>
          </p:cNvSpPr>
          <p:nvPr>
            <p:ph type="dt" sz="half" idx="10"/>
          </p:nvPr>
        </p:nvSpPr>
        <p:spPr/>
        <p:txBody>
          <a:bodyPr/>
          <a:lstStyle/>
          <a:p>
            <a:fld id="{78864A2C-3282-224A-8A3B-B1B48911DC1D}" type="datetime2">
              <a:rPr lang="en-US" smtClean="0"/>
              <a:t>Thursday, May 11, 2023</a:t>
            </a:fld>
            <a:endParaRPr lang="en-US"/>
          </a:p>
        </p:txBody>
      </p:sp>
      <p:sp>
        <p:nvSpPr>
          <p:cNvPr id="6" name="Footer Placeholder 5">
            <a:extLst>
              <a:ext uri="{FF2B5EF4-FFF2-40B4-BE49-F238E27FC236}">
                <a16:creationId xmlns:a16="http://schemas.microsoft.com/office/drawing/2014/main" id="{8378F1AB-3458-B949-8001-EBD51E7A6134}"/>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6300183-9D62-B64B-B4D4-33723702C23C}"/>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71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7CD67-4320-0642-B4F9-0821819C40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053E38-BAB1-8944-B64D-5CA2F587C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0DBA4-0063-9641-A1F7-D0B2F62F7D06}"/>
              </a:ext>
            </a:extLst>
          </p:cNvPr>
          <p:cNvSpPr>
            <a:spLocks noGrp="1"/>
          </p:cNvSpPr>
          <p:nvPr>
            <p:ph type="dt" sz="half" idx="10"/>
          </p:nvPr>
        </p:nvSpPr>
        <p:spPr/>
        <p:txBody>
          <a:bodyPr/>
          <a:lstStyle/>
          <a:p>
            <a:fld id="{8C7BF22D-4351-7443-9203-BE328953BFC7}" type="datetime2">
              <a:rPr lang="en-US" smtClean="0"/>
              <a:t>Thursday, May 11, 2023</a:t>
            </a:fld>
            <a:endParaRPr lang="en-US"/>
          </a:p>
        </p:txBody>
      </p:sp>
      <p:sp>
        <p:nvSpPr>
          <p:cNvPr id="5" name="Footer Placeholder 4">
            <a:extLst>
              <a:ext uri="{FF2B5EF4-FFF2-40B4-BE49-F238E27FC236}">
                <a16:creationId xmlns:a16="http://schemas.microsoft.com/office/drawing/2014/main" id="{5F5FC3C5-A448-AD46-89E6-3A2D0BE781B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10A9B59-82DA-6749-AF8A-6731D7BB4856}"/>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748504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C92B2-9197-4C49-A687-69FE7951C8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E8F183-93B3-EF4C-88FF-54EA471D02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54A67-F14A-634E-8BAB-8A297E4B6861}"/>
              </a:ext>
            </a:extLst>
          </p:cNvPr>
          <p:cNvSpPr>
            <a:spLocks noGrp="1"/>
          </p:cNvSpPr>
          <p:nvPr>
            <p:ph type="dt" sz="half" idx="10"/>
          </p:nvPr>
        </p:nvSpPr>
        <p:spPr/>
        <p:txBody>
          <a:bodyPr/>
          <a:lstStyle/>
          <a:p>
            <a:fld id="{9FDF6349-9520-004C-B410-2193F9372E49}" type="datetime2">
              <a:rPr lang="en-US" smtClean="0"/>
              <a:t>Thursday, May 11, 2023</a:t>
            </a:fld>
            <a:endParaRPr lang="en-US"/>
          </a:p>
        </p:txBody>
      </p:sp>
      <p:sp>
        <p:nvSpPr>
          <p:cNvPr id="5" name="Footer Placeholder 4">
            <a:extLst>
              <a:ext uri="{FF2B5EF4-FFF2-40B4-BE49-F238E27FC236}">
                <a16:creationId xmlns:a16="http://schemas.microsoft.com/office/drawing/2014/main" id="{441CC769-B9F8-2D49-BEC2-6D909EFBF6B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62CBDEA-F8C8-B74F-93C7-5FAEA38A8F6B}"/>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069490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9DC372-EC59-7E4B-BEF6-72AFC4334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A87D66-EDB8-8D4A-9D2C-A4AB78C36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756E8-6FCF-9641-9118-E22CAEAF31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398F71-50EE-C442-9A03-D3A19758747B}" type="datetime2">
              <a:rPr lang="en-US" smtClean="0"/>
              <a:t>Thursday, May 11, 2023</a:t>
            </a:fld>
            <a:endParaRPr lang="en-US" dirty="0"/>
          </a:p>
        </p:txBody>
      </p:sp>
      <p:sp>
        <p:nvSpPr>
          <p:cNvPr id="5" name="Footer Placeholder 4">
            <a:extLst>
              <a:ext uri="{FF2B5EF4-FFF2-40B4-BE49-F238E27FC236}">
                <a16:creationId xmlns:a16="http://schemas.microsoft.com/office/drawing/2014/main" id="{51B95A4E-349B-E545-8163-934653362B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B15FEE1F-9E90-B441-96E6-378CD9669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45709247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47884-2CA5-BF45-82F6-CBB123160B8C}"/>
              </a:ext>
            </a:extLst>
          </p:cNvPr>
          <p:cNvSpPr>
            <a:spLocks noGrp="1"/>
          </p:cNvSpPr>
          <p:nvPr>
            <p:ph type="title"/>
          </p:nvPr>
        </p:nvSpPr>
        <p:spPr>
          <a:xfrm>
            <a:off x="838200" y="399720"/>
            <a:ext cx="11002701" cy="1325563"/>
          </a:xfrm>
        </p:spPr>
        <p:txBody>
          <a:bodyPr/>
          <a:lstStyle/>
          <a:p>
            <a:r>
              <a:rPr lang="en-US" b="1" dirty="0">
                <a:latin typeface="Times New Roman" panose="02020603050405020304" pitchFamily="18" charset="0"/>
                <a:cs typeface="Times New Roman" panose="02020603050405020304" pitchFamily="18" charset="0"/>
              </a:rPr>
              <a:t>Location of folders mentioned on next slides</a:t>
            </a:r>
          </a:p>
        </p:txBody>
      </p:sp>
      <p:pic>
        <p:nvPicPr>
          <p:cNvPr id="6" name="Content Placeholder 5" descr="Graphical user interface, text, application, chat or text message&#10;&#10;Description automatically generated">
            <a:extLst>
              <a:ext uri="{FF2B5EF4-FFF2-40B4-BE49-F238E27FC236}">
                <a16:creationId xmlns:a16="http://schemas.microsoft.com/office/drawing/2014/main" id="{12B674AD-FFB9-C443-8977-9A8AB612687F}"/>
              </a:ext>
            </a:extLst>
          </p:cNvPr>
          <p:cNvPicPr>
            <a:picLocks noGrp="1" noChangeAspect="1"/>
          </p:cNvPicPr>
          <p:nvPr>
            <p:ph idx="1"/>
          </p:nvPr>
        </p:nvPicPr>
        <p:blipFill>
          <a:blip r:embed="rId2"/>
          <a:stretch>
            <a:fillRect/>
          </a:stretch>
        </p:blipFill>
        <p:spPr>
          <a:xfrm>
            <a:off x="838200" y="2207089"/>
            <a:ext cx="10515600" cy="3588409"/>
          </a:xfrm>
        </p:spPr>
      </p:pic>
      <p:sp>
        <p:nvSpPr>
          <p:cNvPr id="4" name="Slide Number Placeholder 3">
            <a:extLst>
              <a:ext uri="{FF2B5EF4-FFF2-40B4-BE49-F238E27FC236}">
                <a16:creationId xmlns:a16="http://schemas.microsoft.com/office/drawing/2014/main" id="{C181B70B-0FF1-1744-BC18-C9F378FFED45}"/>
              </a:ext>
            </a:extLst>
          </p:cNvPr>
          <p:cNvSpPr>
            <a:spLocks noGrp="1"/>
          </p:cNvSpPr>
          <p:nvPr>
            <p:ph type="sldNum" sz="quarter" idx="12"/>
          </p:nvPr>
        </p:nvSpPr>
        <p:spPr/>
        <p:txBody>
          <a:bodyPr/>
          <a:lstStyle/>
          <a:p>
            <a:fld id="{1621B6DD-29C1-4FEA-923F-71EA1347694C}" type="slidenum">
              <a:rPr lang="en-US" smtClean="0"/>
              <a:t>0</a:t>
            </a:fld>
            <a:endParaRPr lang="en-US"/>
          </a:p>
        </p:txBody>
      </p:sp>
    </p:spTree>
    <p:extLst>
      <p:ext uri="{BB962C8B-B14F-4D97-AF65-F5344CB8AC3E}">
        <p14:creationId xmlns:p14="http://schemas.microsoft.com/office/powerpoint/2010/main" val="3075773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A636-7CA9-8B4E-B3B8-BABF6E6CACDC}"/>
              </a:ext>
            </a:extLst>
          </p:cNvPr>
          <p:cNvSpPr>
            <a:spLocks noGrp="1"/>
          </p:cNvSpPr>
          <p:nvPr>
            <p:ph type="ctrTitle"/>
          </p:nvPr>
        </p:nvSpPr>
        <p:spPr>
          <a:xfrm>
            <a:off x="1243830" y="1928356"/>
            <a:ext cx="9704340" cy="2075012"/>
          </a:xfrm>
        </p:spPr>
        <p:txBody>
          <a:bodyPr>
            <a:normAutofit/>
          </a:bodyPr>
          <a:lstStyle/>
          <a:p>
            <a:r>
              <a:rPr lang="en-US" b="1" dirty="0">
                <a:latin typeface="Times New Roman" panose="02020603050405020304" pitchFamily="18" charset="0"/>
                <a:cs typeface="Times New Roman" panose="02020603050405020304" pitchFamily="18" charset="0"/>
              </a:rPr>
              <a:t>Normalization comparison</a:t>
            </a:r>
          </a:p>
        </p:txBody>
      </p:sp>
    </p:spTree>
    <p:extLst>
      <p:ext uri="{BB962C8B-B14F-4D97-AF65-F5344CB8AC3E}">
        <p14:creationId xmlns:p14="http://schemas.microsoft.com/office/powerpoint/2010/main" val="270154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13FFBE-64C2-E142-B7B5-BE7324E1848A}"/>
              </a:ext>
            </a:extLst>
          </p:cNvPr>
          <p:cNvSpPr/>
          <p:nvPr/>
        </p:nvSpPr>
        <p:spPr>
          <a:xfrm>
            <a:off x="838199" y="4819839"/>
            <a:ext cx="5178972"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 name="Rectangle 5">
            <a:extLst>
              <a:ext uri="{FF2B5EF4-FFF2-40B4-BE49-F238E27FC236}">
                <a16:creationId xmlns:a16="http://schemas.microsoft.com/office/drawing/2014/main" id="{7D658F12-4D3C-F84F-82CF-EA6CD6069AE0}"/>
              </a:ext>
            </a:extLst>
          </p:cNvPr>
          <p:cNvSpPr/>
          <p:nvPr/>
        </p:nvSpPr>
        <p:spPr>
          <a:xfrm>
            <a:off x="838201" y="3252438"/>
            <a:ext cx="4900448"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 name="Rectangle 4">
            <a:extLst>
              <a:ext uri="{FF2B5EF4-FFF2-40B4-BE49-F238E27FC236}">
                <a16:creationId xmlns:a16="http://schemas.microsoft.com/office/drawing/2014/main" id="{4ADF17E4-0388-264C-806B-B2034ABDAAAF}"/>
              </a:ext>
            </a:extLst>
          </p:cNvPr>
          <p:cNvSpPr/>
          <p:nvPr/>
        </p:nvSpPr>
        <p:spPr>
          <a:xfrm>
            <a:off x="838200" y="1670377"/>
            <a:ext cx="1989083"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18AF885-6122-7F4B-A7B3-8434A17E6928}"/>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Description</a:t>
            </a:r>
            <a:endParaRPr lang="en-US" dirty="0"/>
          </a:p>
        </p:txBody>
      </p:sp>
      <p:sp>
        <p:nvSpPr>
          <p:cNvPr id="3" name="Content Placeholder 2">
            <a:extLst>
              <a:ext uri="{FF2B5EF4-FFF2-40B4-BE49-F238E27FC236}">
                <a16:creationId xmlns:a16="http://schemas.microsoft.com/office/drawing/2014/main" id="{23913AD7-A865-4A44-AD15-21A663E090FE}"/>
              </a:ext>
            </a:extLst>
          </p:cNvPr>
          <p:cNvSpPr>
            <a:spLocks noGrp="1"/>
          </p:cNvSpPr>
          <p:nvPr>
            <p:ph idx="1"/>
          </p:nvPr>
        </p:nvSpPr>
        <p:spPr>
          <a:xfrm>
            <a:off x="838200" y="1825624"/>
            <a:ext cx="10515600" cy="4375479"/>
          </a:xfrm>
        </p:spPr>
        <p:txBody>
          <a:bodyPr>
            <a:normAutofit fontScale="62500" lnSpcReduction="20000"/>
          </a:bodyPr>
          <a:lstStyle/>
          <a:p>
            <a:pPr marL="0" indent="0">
              <a:buNone/>
            </a:pPr>
            <a:r>
              <a:rPr lang="en-US" b="1" i="0" dirty="0">
                <a:solidFill>
                  <a:srgbClr val="1D1C1D"/>
                </a:solidFill>
                <a:effectLst/>
                <a:latin typeface="Slack-Lato"/>
              </a:rPr>
              <a:t>1) 050423_results  </a:t>
            </a:r>
            <a:endParaRPr lang="en-US" dirty="0">
              <a:solidFill>
                <a:srgbClr val="1D1C1D"/>
              </a:solidFill>
              <a:latin typeface="Slack-Lato"/>
            </a:endParaRPr>
          </a:p>
          <a:p>
            <a:pPr marL="0" indent="0">
              <a:buNone/>
            </a:pPr>
            <a:r>
              <a:rPr lang="en-US" dirty="0">
                <a:solidFill>
                  <a:srgbClr val="1D1C1D"/>
                </a:solidFill>
                <a:latin typeface="Slack-Lato"/>
              </a:rPr>
              <a:t>Contains old normalization: Normalization is performed for </a:t>
            </a:r>
            <a:r>
              <a:rPr lang="en-US" dirty="0" err="1">
                <a:solidFill>
                  <a:srgbClr val="1D1C1D"/>
                </a:solidFill>
                <a:latin typeface="Slack-Lato"/>
              </a:rPr>
              <a:t>cre</a:t>
            </a:r>
            <a:r>
              <a:rPr lang="en-US" dirty="0">
                <a:solidFill>
                  <a:srgbClr val="1D1C1D"/>
                </a:solidFill>
                <a:latin typeface="Slack-Lato"/>
              </a:rPr>
              <a:t>+ channels for </a:t>
            </a:r>
            <a:r>
              <a:rPr lang="en-US" b="1" dirty="0">
                <a:solidFill>
                  <a:srgbClr val="1D1C1D"/>
                </a:solidFill>
                <a:latin typeface="Slack-Lato"/>
              </a:rPr>
              <a:t>each condition</a:t>
            </a:r>
          </a:p>
          <a:p>
            <a:pPr marL="457200" lvl="1" indent="0">
              <a:buNone/>
            </a:pPr>
            <a:r>
              <a:rPr lang="en-US" dirty="0">
                <a:solidFill>
                  <a:srgbClr val="1D1C1D"/>
                </a:solidFill>
                <a:latin typeface="Slack-Lato"/>
              </a:rPr>
              <a:t>- Per </a:t>
            </a:r>
            <a:r>
              <a:rPr lang="en-US" dirty="0" err="1">
                <a:solidFill>
                  <a:srgbClr val="1D1C1D"/>
                </a:solidFill>
                <a:latin typeface="Slack-Lato"/>
              </a:rPr>
              <a:t>cre</a:t>
            </a:r>
            <a:r>
              <a:rPr lang="en-US" dirty="0">
                <a:solidFill>
                  <a:srgbClr val="1D1C1D"/>
                </a:solidFill>
                <a:latin typeface="Slack-Lato"/>
              </a:rPr>
              <a:t>+ channel TP proteins with 2+ peptides were used to calculate the median per channel </a:t>
            </a:r>
          </a:p>
          <a:p>
            <a:pPr marL="457200" lvl="1" indent="0">
              <a:buNone/>
            </a:pPr>
            <a:r>
              <a:rPr lang="en-US" dirty="0">
                <a:solidFill>
                  <a:srgbClr val="1D1C1D"/>
                </a:solidFill>
                <a:latin typeface="Slack-Lato"/>
              </a:rPr>
              <a:t>- normalization factors were calculated by dividing (median of </a:t>
            </a:r>
            <a:r>
              <a:rPr lang="en-US" dirty="0" err="1">
                <a:solidFill>
                  <a:srgbClr val="1D1C1D"/>
                </a:solidFill>
                <a:latin typeface="Slack-Lato"/>
              </a:rPr>
              <a:t>cre</a:t>
            </a:r>
            <a:r>
              <a:rPr lang="en-US" dirty="0">
                <a:solidFill>
                  <a:srgbClr val="1D1C1D"/>
                </a:solidFill>
                <a:latin typeface="Slack-Lato"/>
              </a:rPr>
              <a:t>+ channel medians)/(median </a:t>
            </a:r>
            <a:r>
              <a:rPr lang="en-US" dirty="0" err="1">
                <a:solidFill>
                  <a:srgbClr val="1D1C1D"/>
                </a:solidFill>
                <a:latin typeface="Slack-Lato"/>
              </a:rPr>
              <a:t>cre</a:t>
            </a:r>
            <a:r>
              <a:rPr lang="en-US" dirty="0">
                <a:solidFill>
                  <a:srgbClr val="1D1C1D"/>
                </a:solidFill>
                <a:latin typeface="Slack-Lato"/>
              </a:rPr>
              <a:t>+ channel)</a:t>
            </a:r>
          </a:p>
          <a:p>
            <a:pPr marL="457200" lvl="1" indent="0">
              <a:buNone/>
            </a:pPr>
            <a:r>
              <a:rPr lang="en-US" dirty="0">
                <a:solidFill>
                  <a:srgbClr val="1D1C1D"/>
                </a:solidFill>
                <a:latin typeface="Slack-Lato"/>
              </a:rPr>
              <a:t>- each </a:t>
            </a:r>
            <a:r>
              <a:rPr lang="en-US" dirty="0" err="1">
                <a:solidFill>
                  <a:srgbClr val="1D1C1D"/>
                </a:solidFill>
                <a:latin typeface="Slack-Lato"/>
              </a:rPr>
              <a:t>cre</a:t>
            </a:r>
            <a:r>
              <a:rPr lang="en-US" dirty="0">
                <a:solidFill>
                  <a:srgbClr val="1D1C1D"/>
                </a:solidFill>
                <a:latin typeface="Slack-Lato"/>
              </a:rPr>
              <a:t>+ channel was then multiplied with the corresponding normalization factor </a:t>
            </a:r>
          </a:p>
          <a:p>
            <a:pPr marL="0" indent="0">
              <a:buNone/>
            </a:pPr>
            <a:endParaRPr lang="en-US" b="1" i="0" dirty="0">
              <a:solidFill>
                <a:srgbClr val="1D1C1D"/>
              </a:solidFill>
              <a:effectLst/>
              <a:latin typeface="Slack-Lato"/>
            </a:endParaRPr>
          </a:p>
          <a:p>
            <a:pPr marL="0" indent="0">
              <a:buNone/>
            </a:pPr>
            <a:r>
              <a:rPr lang="en-US" b="1" i="0" dirty="0">
                <a:solidFill>
                  <a:srgbClr val="1D1C1D"/>
                </a:solidFill>
                <a:effectLst/>
                <a:latin typeface="Slack-Lato"/>
              </a:rPr>
              <a:t>2) 051123_all_channels_norm_results_dont_use</a:t>
            </a:r>
            <a:endParaRPr lang="en-US" dirty="0"/>
          </a:p>
          <a:p>
            <a:pPr marL="0" indent="0">
              <a:buNone/>
            </a:pPr>
            <a:r>
              <a:rPr lang="en-US" dirty="0">
                <a:solidFill>
                  <a:srgbClr val="1D1C1D"/>
                </a:solidFill>
                <a:latin typeface="Slack-Lato"/>
              </a:rPr>
              <a:t>Median normalization of a</a:t>
            </a:r>
            <a:r>
              <a:rPr lang="en-US" b="0" i="0" dirty="0">
                <a:solidFill>
                  <a:srgbClr val="1D1C1D"/>
                </a:solidFill>
                <a:effectLst/>
                <a:latin typeface="Slack-Lato"/>
              </a:rPr>
              <a:t>ll channels: </a:t>
            </a:r>
          </a:p>
          <a:p>
            <a:pPr lvl="1">
              <a:buFontTx/>
              <a:buChar char="-"/>
            </a:pPr>
            <a:r>
              <a:rPr lang="en-US" dirty="0">
                <a:solidFill>
                  <a:srgbClr val="1D1C1D"/>
                </a:solidFill>
                <a:latin typeface="Slack-Lato"/>
              </a:rPr>
              <a:t>the median for each channel is calculated and norm factors are calculated by dividing the median of column medians by the median of each channel. </a:t>
            </a:r>
          </a:p>
          <a:p>
            <a:pPr lvl="1">
              <a:buFontTx/>
              <a:buChar char="-"/>
            </a:pPr>
            <a:r>
              <a:rPr lang="en-US" dirty="0">
                <a:solidFill>
                  <a:srgbClr val="1D1C1D"/>
                </a:solidFill>
                <a:latin typeface="Slack-Lato"/>
              </a:rPr>
              <a:t>Each value in the column is then multiplied with the corresponding normalization factor</a:t>
            </a:r>
          </a:p>
          <a:p>
            <a:pPr lvl="1">
              <a:buFontTx/>
              <a:buChar char="-"/>
            </a:pPr>
            <a:endParaRPr lang="en-US" b="0" i="0" dirty="0">
              <a:solidFill>
                <a:srgbClr val="1D1C1D"/>
              </a:solidFill>
              <a:effectLst/>
              <a:latin typeface="Slack-Lato"/>
            </a:endParaRPr>
          </a:p>
          <a:p>
            <a:pPr marL="0" indent="0">
              <a:buNone/>
            </a:pPr>
            <a:r>
              <a:rPr lang="en-US" b="1" dirty="0">
                <a:solidFill>
                  <a:srgbClr val="1D1C1D"/>
                </a:solidFill>
                <a:latin typeface="Slack-Lato"/>
              </a:rPr>
              <a:t>3) </a:t>
            </a:r>
            <a:r>
              <a:rPr lang="en-US" b="1" i="0" dirty="0">
                <a:solidFill>
                  <a:srgbClr val="1D1C1D"/>
                </a:solidFill>
                <a:effectLst/>
                <a:latin typeface="Slack-Lato"/>
              </a:rPr>
              <a:t>051123_allcre+_channels_norm_results_dont_use</a:t>
            </a:r>
          </a:p>
          <a:p>
            <a:pPr marL="0" indent="0">
              <a:buNone/>
            </a:pPr>
            <a:r>
              <a:rPr lang="en-US" b="0" i="0" dirty="0">
                <a:solidFill>
                  <a:srgbClr val="1D1C1D"/>
                </a:solidFill>
                <a:effectLst/>
                <a:latin typeface="Slack-Lato"/>
              </a:rPr>
              <a:t>Same as 2) but only the </a:t>
            </a:r>
            <a:r>
              <a:rPr lang="en-US" b="0" i="0" dirty="0" err="1">
                <a:solidFill>
                  <a:srgbClr val="1D1C1D"/>
                </a:solidFill>
                <a:effectLst/>
                <a:latin typeface="Slack-Lato"/>
              </a:rPr>
              <a:t>cre</a:t>
            </a:r>
            <a:r>
              <a:rPr lang="en-US" b="0" i="0" dirty="0">
                <a:solidFill>
                  <a:srgbClr val="1D1C1D"/>
                </a:solidFill>
                <a:effectLst/>
                <a:latin typeface="Slack-Lato"/>
              </a:rPr>
              <a:t>+ channels</a:t>
            </a:r>
            <a:endParaRPr lang="en-US" b="1" dirty="0">
              <a:solidFill>
                <a:srgbClr val="1D1C1D"/>
              </a:solidFill>
              <a:latin typeface="Slack-Lato"/>
            </a:endParaRPr>
          </a:p>
          <a:p>
            <a:pPr lvl="1">
              <a:buFontTx/>
              <a:buChar char="-"/>
            </a:pPr>
            <a:r>
              <a:rPr lang="en-US" b="0" i="0" dirty="0">
                <a:solidFill>
                  <a:srgbClr val="1D1C1D"/>
                </a:solidFill>
                <a:effectLst/>
                <a:latin typeface="Slack-Lato"/>
              </a:rPr>
              <a:t>- I noticed that this normalization is </a:t>
            </a:r>
            <a:r>
              <a:rPr lang="en-US" dirty="0">
                <a:solidFill>
                  <a:srgbClr val="1D1C1D"/>
                </a:solidFill>
                <a:latin typeface="Slack-Lato"/>
              </a:rPr>
              <a:t>most optimal </a:t>
            </a:r>
            <a:r>
              <a:rPr lang="en-US" b="0" i="0" dirty="0">
                <a:solidFill>
                  <a:srgbClr val="1D1C1D"/>
                </a:solidFill>
                <a:effectLst/>
                <a:latin typeface="Slack-Lato"/>
              </a:rPr>
              <a:t>if there are outliers within each </a:t>
            </a:r>
            <a:r>
              <a:rPr lang="en-US" b="0" i="0" dirty="0" err="1">
                <a:solidFill>
                  <a:srgbClr val="1D1C1D"/>
                </a:solidFill>
                <a:effectLst/>
                <a:latin typeface="Slack-Lato"/>
              </a:rPr>
              <a:t>cre</a:t>
            </a:r>
            <a:r>
              <a:rPr lang="en-US" b="0" i="0" dirty="0">
                <a:solidFill>
                  <a:srgbClr val="1D1C1D"/>
                </a:solidFill>
                <a:effectLst/>
                <a:latin typeface="Slack-Lato"/>
              </a:rPr>
              <a:t>+ group (see 100A </a:t>
            </a:r>
            <a:r>
              <a:rPr lang="en-US" b="0" i="0" dirty="0" err="1">
                <a:solidFill>
                  <a:srgbClr val="1D1C1D"/>
                </a:solidFill>
                <a:effectLst/>
                <a:latin typeface="Slack-Lato"/>
              </a:rPr>
              <a:t>pca</a:t>
            </a:r>
            <a:r>
              <a:rPr lang="en-US" b="0" i="0" dirty="0">
                <a:solidFill>
                  <a:srgbClr val="1D1C1D"/>
                </a:solidFill>
                <a:effectLst/>
                <a:latin typeface="Slack-Lato"/>
              </a:rPr>
              <a:t> plot in 03_normalization plots)</a:t>
            </a:r>
          </a:p>
        </p:txBody>
      </p:sp>
      <p:sp>
        <p:nvSpPr>
          <p:cNvPr id="4" name="Slide Number Placeholder 3">
            <a:extLst>
              <a:ext uri="{FF2B5EF4-FFF2-40B4-BE49-F238E27FC236}">
                <a16:creationId xmlns:a16="http://schemas.microsoft.com/office/drawing/2014/main" id="{D1DAEBA7-6C17-4044-9386-2600A32FDC4E}"/>
              </a:ext>
            </a:extLst>
          </p:cNvPr>
          <p:cNvSpPr>
            <a:spLocks noGrp="1"/>
          </p:cNvSpPr>
          <p:nvPr>
            <p:ph type="sldNum" sz="quarter" idx="12"/>
          </p:nvPr>
        </p:nvSpPr>
        <p:spPr/>
        <p:txBody>
          <a:bodyPr/>
          <a:lstStyle/>
          <a:p>
            <a:fld id="{1621B6DD-29C1-4FEA-923F-71EA1347694C}" type="slidenum">
              <a:rPr lang="en-US" smtClean="0"/>
              <a:t>2</a:t>
            </a:fld>
            <a:endParaRPr lang="en-US" dirty="0"/>
          </a:p>
        </p:txBody>
      </p:sp>
      <p:sp>
        <p:nvSpPr>
          <p:cNvPr id="8" name="TextBox 7">
            <a:extLst>
              <a:ext uri="{FF2B5EF4-FFF2-40B4-BE49-F238E27FC236}">
                <a16:creationId xmlns:a16="http://schemas.microsoft.com/office/drawing/2014/main" id="{FD52D4EA-F6AF-3646-ABE9-E70F871B32A8}"/>
              </a:ext>
            </a:extLst>
          </p:cNvPr>
          <p:cNvSpPr txBox="1"/>
          <p:nvPr/>
        </p:nvSpPr>
        <p:spPr>
          <a:xfrm>
            <a:off x="9889170" y="2032235"/>
            <a:ext cx="2091558" cy="1015663"/>
          </a:xfrm>
          <a:prstGeom prst="rect">
            <a:avLst/>
          </a:prstGeom>
          <a:noFill/>
        </p:spPr>
        <p:txBody>
          <a:bodyPr wrap="square" rtlCol="0">
            <a:spAutoFit/>
          </a:bodyPr>
          <a:lstStyle/>
          <a:p>
            <a:pPr algn="ctr"/>
            <a:r>
              <a:rPr lang="en-US" sz="1500" dirty="0">
                <a:solidFill>
                  <a:srgbClr val="C00000"/>
                </a:solidFill>
              </a:rPr>
              <a:t>Issue with this normalization each condition was normalized separately</a:t>
            </a:r>
          </a:p>
        </p:txBody>
      </p:sp>
    </p:spTree>
    <p:extLst>
      <p:ext uri="{BB962C8B-B14F-4D97-AF65-F5344CB8AC3E}">
        <p14:creationId xmlns:p14="http://schemas.microsoft.com/office/powerpoint/2010/main" val="68716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3</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pic>
        <p:nvPicPr>
          <p:cNvPr id="10" name="Picture 9" descr="Chart&#10;&#10;Description automatically generated">
            <a:extLst>
              <a:ext uri="{FF2B5EF4-FFF2-40B4-BE49-F238E27FC236}">
                <a16:creationId xmlns:a16="http://schemas.microsoft.com/office/drawing/2014/main" id="{ED9E480B-E630-4746-9685-4BAAFF8533BC}"/>
              </a:ext>
            </a:extLst>
          </p:cNvPr>
          <p:cNvPicPr>
            <a:picLocks noChangeAspect="1"/>
          </p:cNvPicPr>
          <p:nvPr/>
        </p:nvPicPr>
        <p:blipFill>
          <a:blip r:embed="rId2"/>
          <a:stretch>
            <a:fillRect/>
          </a:stretch>
        </p:blipFill>
        <p:spPr>
          <a:xfrm>
            <a:off x="720000" y="1552096"/>
            <a:ext cx="7884838" cy="4596807"/>
          </a:xfrm>
          <a:prstGeom prst="rect">
            <a:avLst/>
          </a:prstGeom>
        </p:spPr>
      </p:pic>
      <p:pic>
        <p:nvPicPr>
          <p:cNvPr id="13" name="Picture 12" descr="Chart, scatter chart&#10;&#10;Description automatically generated">
            <a:extLst>
              <a:ext uri="{FF2B5EF4-FFF2-40B4-BE49-F238E27FC236}">
                <a16:creationId xmlns:a16="http://schemas.microsoft.com/office/drawing/2014/main" id="{EF4EF116-59FA-6944-B1D4-B1E8071C8D5B}"/>
              </a:ext>
            </a:extLst>
          </p:cNvPr>
          <p:cNvPicPr>
            <a:picLocks noChangeAspect="1"/>
          </p:cNvPicPr>
          <p:nvPr/>
        </p:nvPicPr>
        <p:blipFill>
          <a:blip r:embed="rId3"/>
          <a:stretch>
            <a:fillRect/>
          </a:stretch>
        </p:blipFill>
        <p:spPr>
          <a:xfrm>
            <a:off x="8834998" y="962754"/>
            <a:ext cx="3119167" cy="5186149"/>
          </a:xfrm>
          <a:prstGeom prst="rect">
            <a:avLst/>
          </a:prstGeom>
        </p:spPr>
      </p:pic>
      <p:sp>
        <p:nvSpPr>
          <p:cNvPr id="14" name="Rectangle 13">
            <a:extLst>
              <a:ext uri="{FF2B5EF4-FFF2-40B4-BE49-F238E27FC236}">
                <a16:creationId xmlns:a16="http://schemas.microsoft.com/office/drawing/2014/main" id="{F0CFC0A1-F3CD-CB42-99C4-32668700BA71}"/>
              </a:ext>
            </a:extLst>
          </p:cNvPr>
          <p:cNvSpPr/>
          <p:nvPr/>
        </p:nvSpPr>
        <p:spPr>
          <a:xfrm>
            <a:off x="150125" y="150125"/>
            <a:ext cx="11804040"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 Median of medians, 2+ peptides, TP only </a:t>
            </a:r>
          </a:p>
        </p:txBody>
      </p:sp>
      <p:sp>
        <p:nvSpPr>
          <p:cNvPr id="15" name="Rectangle 14">
            <a:extLst>
              <a:ext uri="{FF2B5EF4-FFF2-40B4-BE49-F238E27FC236}">
                <a16:creationId xmlns:a16="http://schemas.microsoft.com/office/drawing/2014/main" id="{C6549E68-86B1-8241-885F-78194BC6A7F6}"/>
              </a:ext>
            </a:extLst>
          </p:cNvPr>
          <p:cNvSpPr/>
          <p:nvPr/>
        </p:nvSpPr>
        <p:spPr>
          <a:xfrm>
            <a:off x="9376012" y="4585649"/>
            <a:ext cx="354842" cy="365125"/>
          </a:xfrm>
          <a:prstGeom prst="rect">
            <a:avLst/>
          </a:prstGeom>
          <a:no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124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4</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pic>
        <p:nvPicPr>
          <p:cNvPr id="9" name="Picture 8" descr="Chart, scatter chart&#10;&#10;Description automatically generated">
            <a:extLst>
              <a:ext uri="{FF2B5EF4-FFF2-40B4-BE49-F238E27FC236}">
                <a16:creationId xmlns:a16="http://schemas.microsoft.com/office/drawing/2014/main" id="{F0147C89-45FC-2748-8A63-E42D196C27F8}"/>
              </a:ext>
            </a:extLst>
          </p:cNvPr>
          <p:cNvPicPr>
            <a:picLocks noChangeAspect="1"/>
          </p:cNvPicPr>
          <p:nvPr/>
        </p:nvPicPr>
        <p:blipFill>
          <a:blip r:embed="rId2"/>
          <a:stretch>
            <a:fillRect/>
          </a:stretch>
        </p:blipFill>
        <p:spPr>
          <a:xfrm>
            <a:off x="5898383" y="2253391"/>
            <a:ext cx="5788449" cy="3270190"/>
          </a:xfrm>
          <a:prstGeom prst="rect">
            <a:avLst/>
          </a:prstGeom>
        </p:spPr>
      </p:pic>
      <p:pic>
        <p:nvPicPr>
          <p:cNvPr id="14" name="Picture 13" descr="Chart, bar chart&#10;&#10;Description automatically generated">
            <a:extLst>
              <a:ext uri="{FF2B5EF4-FFF2-40B4-BE49-F238E27FC236}">
                <a16:creationId xmlns:a16="http://schemas.microsoft.com/office/drawing/2014/main" id="{2FCC5CA4-23D8-DF49-AC73-4713B388E848}"/>
              </a:ext>
            </a:extLst>
          </p:cNvPr>
          <p:cNvPicPr>
            <a:picLocks noChangeAspect="1"/>
          </p:cNvPicPr>
          <p:nvPr/>
        </p:nvPicPr>
        <p:blipFill>
          <a:blip r:embed="rId3"/>
          <a:stretch>
            <a:fillRect/>
          </a:stretch>
        </p:blipFill>
        <p:spPr>
          <a:xfrm>
            <a:off x="1186313" y="2443449"/>
            <a:ext cx="4371108" cy="2890074"/>
          </a:xfrm>
          <a:prstGeom prst="rect">
            <a:avLst/>
          </a:prstGeom>
        </p:spPr>
      </p:pic>
      <p:sp>
        <p:nvSpPr>
          <p:cNvPr id="7" name="Rectangle 6">
            <a:extLst>
              <a:ext uri="{FF2B5EF4-FFF2-40B4-BE49-F238E27FC236}">
                <a16:creationId xmlns:a16="http://schemas.microsoft.com/office/drawing/2014/main" id="{86F366E5-479A-C742-AC44-E1FCF2E0F165}"/>
              </a:ext>
            </a:extLst>
          </p:cNvPr>
          <p:cNvSpPr/>
          <p:nvPr/>
        </p:nvSpPr>
        <p:spPr>
          <a:xfrm>
            <a:off x="150125" y="150125"/>
            <a:ext cx="11804040"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 Median of medians, 2+ peptides, TP only </a:t>
            </a:r>
          </a:p>
        </p:txBody>
      </p:sp>
    </p:spTree>
    <p:extLst>
      <p:ext uri="{BB962C8B-B14F-4D97-AF65-F5344CB8AC3E}">
        <p14:creationId xmlns:p14="http://schemas.microsoft.com/office/powerpoint/2010/main" val="717942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Chart&#10;&#10;Description automatically generated">
            <a:extLst>
              <a:ext uri="{FF2B5EF4-FFF2-40B4-BE49-F238E27FC236}">
                <a16:creationId xmlns:a16="http://schemas.microsoft.com/office/drawing/2014/main" id="{7A3C264F-EBE6-8F44-9CA1-EAFE85B34247}"/>
              </a:ext>
            </a:extLst>
          </p:cNvPr>
          <p:cNvPicPr>
            <a:picLocks noGrp="1" noChangeAspect="1"/>
          </p:cNvPicPr>
          <p:nvPr>
            <p:ph idx="1"/>
          </p:nvPr>
        </p:nvPicPr>
        <p:blipFill>
          <a:blip r:embed="rId2"/>
          <a:stretch>
            <a:fillRect/>
          </a:stretch>
        </p:blipFill>
        <p:spPr>
          <a:xfrm>
            <a:off x="838200" y="1847850"/>
            <a:ext cx="7487624" cy="4351338"/>
          </a:xfrm>
        </p:spPr>
      </p:pic>
      <p:sp>
        <p:nvSpPr>
          <p:cNvPr id="4" name="Slide Number Placeholder 3">
            <a:extLst>
              <a:ext uri="{FF2B5EF4-FFF2-40B4-BE49-F238E27FC236}">
                <a16:creationId xmlns:a16="http://schemas.microsoft.com/office/drawing/2014/main" id="{C9710A4D-08B5-D149-87D2-055B2CBD7DF9}"/>
              </a:ext>
            </a:extLst>
          </p:cNvPr>
          <p:cNvSpPr>
            <a:spLocks noGrp="1"/>
          </p:cNvSpPr>
          <p:nvPr>
            <p:ph type="sldNum" sz="quarter" idx="12"/>
          </p:nvPr>
        </p:nvSpPr>
        <p:spPr/>
        <p:txBody>
          <a:bodyPr/>
          <a:lstStyle/>
          <a:p>
            <a:fld id="{1621B6DD-29C1-4FEA-923F-71EA1347694C}" type="slidenum">
              <a:rPr lang="en-US" smtClean="0"/>
              <a:t>5</a:t>
            </a:fld>
            <a:endParaRPr lang="en-US"/>
          </a:p>
        </p:txBody>
      </p:sp>
      <p:pic>
        <p:nvPicPr>
          <p:cNvPr id="8" name="Picture 7" descr="Chart, scatter chart&#10;&#10;Description automatically generated">
            <a:extLst>
              <a:ext uri="{FF2B5EF4-FFF2-40B4-BE49-F238E27FC236}">
                <a16:creationId xmlns:a16="http://schemas.microsoft.com/office/drawing/2014/main" id="{6CF34E06-C2D9-5E4A-A41A-0A2AAF847923}"/>
              </a:ext>
            </a:extLst>
          </p:cNvPr>
          <p:cNvPicPr>
            <a:picLocks noChangeAspect="1"/>
          </p:cNvPicPr>
          <p:nvPr/>
        </p:nvPicPr>
        <p:blipFill>
          <a:blip r:embed="rId3"/>
          <a:stretch>
            <a:fillRect/>
          </a:stretch>
        </p:blipFill>
        <p:spPr>
          <a:xfrm>
            <a:off x="8730708" y="1609547"/>
            <a:ext cx="3034121" cy="4827943"/>
          </a:xfrm>
          <a:prstGeom prst="rect">
            <a:avLst/>
          </a:prstGeom>
        </p:spPr>
      </p:pic>
      <p:sp>
        <p:nvSpPr>
          <p:cNvPr id="9" name="Title 1">
            <a:extLst>
              <a:ext uri="{FF2B5EF4-FFF2-40B4-BE49-F238E27FC236}">
                <a16:creationId xmlns:a16="http://schemas.microsoft.com/office/drawing/2014/main" id="{D83F584B-AA6A-7548-BBB5-DF99A272918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28EFD4E-1A85-1945-A31C-56B99555D1D1}"/>
              </a:ext>
            </a:extLst>
          </p:cNvPr>
          <p:cNvSpPr/>
          <p:nvPr/>
        </p:nvSpPr>
        <p:spPr>
          <a:xfrm>
            <a:off x="150125" y="150125"/>
            <a:ext cx="11804040"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sp>
        <p:nvSpPr>
          <p:cNvPr id="12" name="Rectangle 11">
            <a:extLst>
              <a:ext uri="{FF2B5EF4-FFF2-40B4-BE49-F238E27FC236}">
                <a16:creationId xmlns:a16="http://schemas.microsoft.com/office/drawing/2014/main" id="{7D87661E-D0F2-CA41-B80F-B8E5A8861625}"/>
              </a:ext>
            </a:extLst>
          </p:cNvPr>
          <p:cNvSpPr/>
          <p:nvPr/>
        </p:nvSpPr>
        <p:spPr>
          <a:xfrm>
            <a:off x="9225886" y="5568287"/>
            <a:ext cx="846161" cy="464391"/>
          </a:xfrm>
          <a:prstGeom prst="rect">
            <a:avLst/>
          </a:prstGeom>
          <a:no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51E8D12-4DB6-6542-B8D3-BE99AACA271A}"/>
              </a:ext>
            </a:extLst>
          </p:cNvPr>
          <p:cNvSpPr txBox="1"/>
          <p:nvPr/>
        </p:nvSpPr>
        <p:spPr>
          <a:xfrm>
            <a:off x="4166424" y="6356350"/>
            <a:ext cx="6783226" cy="553998"/>
          </a:xfrm>
          <a:prstGeom prst="rect">
            <a:avLst/>
          </a:prstGeom>
          <a:noFill/>
        </p:spPr>
        <p:txBody>
          <a:bodyPr wrap="square" rtlCol="0">
            <a:spAutoFit/>
          </a:bodyPr>
          <a:lstStyle/>
          <a:p>
            <a:pPr algn="ctr"/>
            <a:r>
              <a:rPr lang="en-US" sz="1500" dirty="0">
                <a:solidFill>
                  <a:srgbClr val="C00000"/>
                </a:solidFill>
              </a:rPr>
              <a:t>We started out with adding normalization to improve this so I don’t think median normalization with all channels is the best option </a:t>
            </a:r>
          </a:p>
        </p:txBody>
      </p:sp>
      <p:cxnSp>
        <p:nvCxnSpPr>
          <p:cNvPr id="3" name="Straight Arrow Connector 2">
            <a:extLst>
              <a:ext uri="{FF2B5EF4-FFF2-40B4-BE49-F238E27FC236}">
                <a16:creationId xmlns:a16="http://schemas.microsoft.com/office/drawing/2014/main" id="{5F089012-EFC9-8146-963F-7A1A7732607A}"/>
              </a:ext>
            </a:extLst>
          </p:cNvPr>
          <p:cNvCxnSpPr/>
          <p:nvPr/>
        </p:nvCxnSpPr>
        <p:spPr>
          <a:xfrm flipV="1">
            <a:off x="7951808" y="6032678"/>
            <a:ext cx="972273" cy="323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699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6</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pic>
        <p:nvPicPr>
          <p:cNvPr id="5" name="Picture 4" descr="Chart, scatter chart&#10;&#10;Description automatically generated">
            <a:extLst>
              <a:ext uri="{FF2B5EF4-FFF2-40B4-BE49-F238E27FC236}">
                <a16:creationId xmlns:a16="http://schemas.microsoft.com/office/drawing/2014/main" id="{686313A1-EE0B-194A-B7F1-45296BA6F88B}"/>
              </a:ext>
            </a:extLst>
          </p:cNvPr>
          <p:cNvPicPr>
            <a:picLocks noChangeAspect="1"/>
          </p:cNvPicPr>
          <p:nvPr/>
        </p:nvPicPr>
        <p:blipFill>
          <a:blip r:embed="rId3"/>
          <a:stretch>
            <a:fillRect/>
          </a:stretch>
        </p:blipFill>
        <p:spPr>
          <a:xfrm>
            <a:off x="5648170" y="1835744"/>
            <a:ext cx="5924859" cy="3769718"/>
          </a:xfrm>
          <a:prstGeom prst="rect">
            <a:avLst/>
          </a:prstGeom>
        </p:spPr>
      </p:pic>
      <p:pic>
        <p:nvPicPr>
          <p:cNvPr id="10" name="Picture 9" descr="Chart, bar chart, waterfall chart&#10;&#10;Description automatically generated">
            <a:extLst>
              <a:ext uri="{FF2B5EF4-FFF2-40B4-BE49-F238E27FC236}">
                <a16:creationId xmlns:a16="http://schemas.microsoft.com/office/drawing/2014/main" id="{E709B120-4CAB-A54B-893B-B0EF5699BE47}"/>
              </a:ext>
            </a:extLst>
          </p:cNvPr>
          <p:cNvPicPr>
            <a:picLocks noChangeAspect="1"/>
          </p:cNvPicPr>
          <p:nvPr/>
        </p:nvPicPr>
        <p:blipFill>
          <a:blip r:embed="rId4"/>
          <a:stretch>
            <a:fillRect/>
          </a:stretch>
        </p:blipFill>
        <p:spPr>
          <a:xfrm>
            <a:off x="823088" y="2157070"/>
            <a:ext cx="4729548" cy="3127066"/>
          </a:xfrm>
          <a:prstGeom prst="rect">
            <a:avLst/>
          </a:prstGeom>
        </p:spPr>
      </p:pic>
      <p:sp>
        <p:nvSpPr>
          <p:cNvPr id="7" name="Rectangle 6">
            <a:extLst>
              <a:ext uri="{FF2B5EF4-FFF2-40B4-BE49-F238E27FC236}">
                <a16:creationId xmlns:a16="http://schemas.microsoft.com/office/drawing/2014/main" id="{1C5C4D11-19F9-384E-9DD1-0F43A6C07FFC}"/>
              </a:ext>
            </a:extLst>
          </p:cNvPr>
          <p:cNvSpPr/>
          <p:nvPr/>
        </p:nvSpPr>
        <p:spPr>
          <a:xfrm>
            <a:off x="150125" y="150125"/>
            <a:ext cx="11804040"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spTree>
    <p:extLst>
      <p:ext uri="{BB962C8B-B14F-4D97-AF65-F5344CB8AC3E}">
        <p14:creationId xmlns:p14="http://schemas.microsoft.com/office/powerpoint/2010/main" val="257365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0E3D6-8E83-F14A-AB70-CDC6967D3308}"/>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pic>
        <p:nvPicPr>
          <p:cNvPr id="8" name="Content Placeholder 7" descr="Chart&#10;&#10;Description automatically generated">
            <a:extLst>
              <a:ext uri="{FF2B5EF4-FFF2-40B4-BE49-F238E27FC236}">
                <a16:creationId xmlns:a16="http://schemas.microsoft.com/office/drawing/2014/main" id="{56E98EDF-8C6C-114E-A614-8BCC4BFB3FBF}"/>
              </a:ext>
            </a:extLst>
          </p:cNvPr>
          <p:cNvPicPr>
            <a:picLocks noGrp="1" noChangeAspect="1"/>
          </p:cNvPicPr>
          <p:nvPr>
            <p:ph idx="1"/>
          </p:nvPr>
        </p:nvPicPr>
        <p:blipFill>
          <a:blip r:embed="rId2"/>
          <a:stretch>
            <a:fillRect/>
          </a:stretch>
        </p:blipFill>
        <p:spPr>
          <a:xfrm>
            <a:off x="838200" y="1847850"/>
            <a:ext cx="8038827" cy="4645025"/>
          </a:xfrm>
        </p:spPr>
      </p:pic>
      <p:sp>
        <p:nvSpPr>
          <p:cNvPr id="4" name="Slide Number Placeholder 3">
            <a:extLst>
              <a:ext uri="{FF2B5EF4-FFF2-40B4-BE49-F238E27FC236}">
                <a16:creationId xmlns:a16="http://schemas.microsoft.com/office/drawing/2014/main" id="{C47B308A-51DA-2140-A0FC-20CB59BFBA09}"/>
              </a:ext>
            </a:extLst>
          </p:cNvPr>
          <p:cNvSpPr>
            <a:spLocks noGrp="1"/>
          </p:cNvSpPr>
          <p:nvPr>
            <p:ph type="sldNum" sz="quarter" idx="12"/>
          </p:nvPr>
        </p:nvSpPr>
        <p:spPr/>
        <p:txBody>
          <a:bodyPr/>
          <a:lstStyle/>
          <a:p>
            <a:fld id="{1621B6DD-29C1-4FEA-923F-71EA1347694C}" type="slidenum">
              <a:rPr lang="en-US" smtClean="0"/>
              <a:t>7</a:t>
            </a:fld>
            <a:endParaRPr lang="en-US"/>
          </a:p>
        </p:txBody>
      </p:sp>
      <p:pic>
        <p:nvPicPr>
          <p:cNvPr id="10" name="Picture 9" descr="Chart, scatter chart&#10;&#10;Description automatically generated">
            <a:extLst>
              <a:ext uri="{FF2B5EF4-FFF2-40B4-BE49-F238E27FC236}">
                <a16:creationId xmlns:a16="http://schemas.microsoft.com/office/drawing/2014/main" id="{16DBCDC1-C57A-2D45-BD81-D6916D72EB0C}"/>
              </a:ext>
            </a:extLst>
          </p:cNvPr>
          <p:cNvPicPr>
            <a:picLocks noChangeAspect="1"/>
          </p:cNvPicPr>
          <p:nvPr/>
        </p:nvPicPr>
        <p:blipFill>
          <a:blip r:embed="rId3"/>
          <a:stretch>
            <a:fillRect/>
          </a:stretch>
        </p:blipFill>
        <p:spPr>
          <a:xfrm>
            <a:off x="9149047" y="1847849"/>
            <a:ext cx="2809296" cy="4645025"/>
          </a:xfrm>
          <a:prstGeom prst="rect">
            <a:avLst/>
          </a:prstGeom>
        </p:spPr>
      </p:pic>
      <p:sp>
        <p:nvSpPr>
          <p:cNvPr id="12" name="Rectangle 11">
            <a:extLst>
              <a:ext uri="{FF2B5EF4-FFF2-40B4-BE49-F238E27FC236}">
                <a16:creationId xmlns:a16="http://schemas.microsoft.com/office/drawing/2014/main" id="{18A8DEED-826E-1E42-8E5A-73832A1A1E13}"/>
              </a:ext>
            </a:extLst>
          </p:cNvPr>
          <p:cNvSpPr/>
          <p:nvPr/>
        </p:nvSpPr>
        <p:spPr>
          <a:xfrm>
            <a:off x="150125" y="150125"/>
            <a:ext cx="11804040"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
        <p:nvSpPr>
          <p:cNvPr id="13" name="Rectangle 12">
            <a:extLst>
              <a:ext uri="{FF2B5EF4-FFF2-40B4-BE49-F238E27FC236}">
                <a16:creationId xmlns:a16="http://schemas.microsoft.com/office/drawing/2014/main" id="{656AC89B-7648-7F42-985F-1E83CB34601A}"/>
              </a:ext>
            </a:extLst>
          </p:cNvPr>
          <p:cNvSpPr/>
          <p:nvPr/>
        </p:nvSpPr>
        <p:spPr>
          <a:xfrm>
            <a:off x="9553433" y="5568287"/>
            <a:ext cx="354842" cy="365125"/>
          </a:xfrm>
          <a:prstGeom prst="rect">
            <a:avLst/>
          </a:prstGeom>
          <a:no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E69A14E-0D77-434C-A089-9CD441592A29}"/>
              </a:ext>
            </a:extLst>
          </p:cNvPr>
          <p:cNvSpPr txBox="1"/>
          <p:nvPr/>
        </p:nvSpPr>
        <p:spPr>
          <a:xfrm>
            <a:off x="6516662" y="6465732"/>
            <a:ext cx="6783226" cy="323165"/>
          </a:xfrm>
          <a:prstGeom prst="rect">
            <a:avLst/>
          </a:prstGeom>
          <a:noFill/>
        </p:spPr>
        <p:txBody>
          <a:bodyPr wrap="square" rtlCol="0">
            <a:spAutoFit/>
          </a:bodyPr>
          <a:lstStyle/>
          <a:p>
            <a:pPr algn="ctr"/>
            <a:r>
              <a:rPr lang="en-US" sz="1500" dirty="0">
                <a:solidFill>
                  <a:srgbClr val="C00000"/>
                </a:solidFill>
              </a:rPr>
              <a:t>This looks better</a:t>
            </a:r>
          </a:p>
        </p:txBody>
      </p:sp>
    </p:spTree>
    <p:extLst>
      <p:ext uri="{BB962C8B-B14F-4D97-AF65-F5344CB8AC3E}">
        <p14:creationId xmlns:p14="http://schemas.microsoft.com/office/powerpoint/2010/main" val="1697080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8</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100A</a:t>
            </a:r>
            <a:endParaRPr lang="en-US" b="1" dirty="0">
              <a:latin typeface="Times New Roman" panose="02020603050405020304" pitchFamily="18" charset="0"/>
              <a:cs typeface="Times New Roman" panose="02020603050405020304" pitchFamily="18" charset="0"/>
            </a:endParaRPr>
          </a:p>
        </p:txBody>
      </p:sp>
      <p:pic>
        <p:nvPicPr>
          <p:cNvPr id="9" name="Picture 8" descr="Chart, scatter chart&#10;&#10;Description automatically generated">
            <a:extLst>
              <a:ext uri="{FF2B5EF4-FFF2-40B4-BE49-F238E27FC236}">
                <a16:creationId xmlns:a16="http://schemas.microsoft.com/office/drawing/2014/main" id="{B35921B0-A585-FE43-804B-5E68B4BE5347}"/>
              </a:ext>
            </a:extLst>
          </p:cNvPr>
          <p:cNvPicPr>
            <a:picLocks noChangeAspect="1"/>
          </p:cNvPicPr>
          <p:nvPr/>
        </p:nvPicPr>
        <p:blipFill>
          <a:blip r:embed="rId3"/>
          <a:stretch>
            <a:fillRect/>
          </a:stretch>
        </p:blipFill>
        <p:spPr>
          <a:xfrm>
            <a:off x="5633114" y="2267282"/>
            <a:ext cx="5954972" cy="3364267"/>
          </a:xfrm>
          <a:prstGeom prst="rect">
            <a:avLst/>
          </a:prstGeom>
        </p:spPr>
      </p:pic>
      <p:pic>
        <p:nvPicPr>
          <p:cNvPr id="16" name="Picture 15" descr="Chart, waterfall chart&#10;&#10;Description automatically generated">
            <a:extLst>
              <a:ext uri="{FF2B5EF4-FFF2-40B4-BE49-F238E27FC236}">
                <a16:creationId xmlns:a16="http://schemas.microsoft.com/office/drawing/2014/main" id="{4781BC11-0123-B146-B280-EB98CC151341}"/>
              </a:ext>
            </a:extLst>
          </p:cNvPr>
          <p:cNvPicPr>
            <a:picLocks noChangeAspect="1"/>
          </p:cNvPicPr>
          <p:nvPr/>
        </p:nvPicPr>
        <p:blipFill rotWithShape="1">
          <a:blip r:embed="rId4"/>
          <a:srcRect b="2703"/>
          <a:stretch/>
        </p:blipFill>
        <p:spPr>
          <a:xfrm>
            <a:off x="1131722" y="2658091"/>
            <a:ext cx="4014654" cy="2582650"/>
          </a:xfrm>
          <a:prstGeom prst="rect">
            <a:avLst/>
          </a:prstGeom>
        </p:spPr>
      </p:pic>
      <p:sp>
        <p:nvSpPr>
          <p:cNvPr id="7" name="Rectangle 6">
            <a:extLst>
              <a:ext uri="{FF2B5EF4-FFF2-40B4-BE49-F238E27FC236}">
                <a16:creationId xmlns:a16="http://schemas.microsoft.com/office/drawing/2014/main" id="{F7D95CFD-15C8-6C40-9CCB-56017D8AC01A}"/>
              </a:ext>
            </a:extLst>
          </p:cNvPr>
          <p:cNvSpPr/>
          <p:nvPr/>
        </p:nvSpPr>
        <p:spPr>
          <a:xfrm>
            <a:off x="150125" y="150125"/>
            <a:ext cx="11804040"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Tree>
    <p:extLst>
      <p:ext uri="{BB962C8B-B14F-4D97-AF65-F5344CB8AC3E}">
        <p14:creationId xmlns:p14="http://schemas.microsoft.com/office/powerpoint/2010/main" val="2746279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710A4D-08B5-D149-87D2-055B2CBD7DF9}"/>
              </a:ext>
            </a:extLst>
          </p:cNvPr>
          <p:cNvSpPr>
            <a:spLocks noGrp="1"/>
          </p:cNvSpPr>
          <p:nvPr>
            <p:ph type="sldNum" sz="quarter" idx="12"/>
          </p:nvPr>
        </p:nvSpPr>
        <p:spPr/>
        <p:txBody>
          <a:bodyPr/>
          <a:lstStyle/>
          <a:p>
            <a:fld id="{1621B6DD-29C1-4FEA-923F-71EA1347694C}" type="slidenum">
              <a:rPr lang="en-US" smtClean="0"/>
              <a:t>9</a:t>
            </a:fld>
            <a:endParaRPr lang="en-US"/>
          </a:p>
        </p:txBody>
      </p:sp>
      <p:sp>
        <p:nvSpPr>
          <p:cNvPr id="9" name="Title 1">
            <a:extLst>
              <a:ext uri="{FF2B5EF4-FFF2-40B4-BE49-F238E27FC236}">
                <a16:creationId xmlns:a16="http://schemas.microsoft.com/office/drawing/2014/main" id="{D83F584B-AA6A-7548-BBB5-DF99A272918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0AD5BCD-2A95-754B-84CA-26F9AF50685E}"/>
              </a:ext>
            </a:extLst>
          </p:cNvPr>
          <p:cNvSpPr txBox="1"/>
          <p:nvPr/>
        </p:nvSpPr>
        <p:spPr>
          <a:xfrm>
            <a:off x="4271749" y="1009934"/>
            <a:ext cx="4058099" cy="369332"/>
          </a:xfrm>
          <a:prstGeom prst="rect">
            <a:avLst/>
          </a:prstGeom>
          <a:noFill/>
        </p:spPr>
        <p:txBody>
          <a:bodyPr wrap="none" rtlCol="0">
            <a:spAutoFit/>
          </a:bodyPr>
          <a:lstStyle/>
          <a:p>
            <a:r>
              <a:rPr lang="en-US" dirty="0"/>
              <a:t>Median of medians, 2+ peptides, TP only </a:t>
            </a:r>
          </a:p>
        </p:txBody>
      </p:sp>
      <p:pic>
        <p:nvPicPr>
          <p:cNvPr id="7" name="Picture 6" descr="Chart&#10;&#10;Description automatically generated">
            <a:extLst>
              <a:ext uri="{FF2B5EF4-FFF2-40B4-BE49-F238E27FC236}">
                <a16:creationId xmlns:a16="http://schemas.microsoft.com/office/drawing/2014/main" id="{D776B7D5-15AE-E849-B9D1-00A7B4C51D2A}"/>
              </a:ext>
            </a:extLst>
          </p:cNvPr>
          <p:cNvPicPr>
            <a:picLocks noChangeAspect="1"/>
          </p:cNvPicPr>
          <p:nvPr/>
        </p:nvPicPr>
        <p:blipFill>
          <a:blip r:embed="rId2"/>
          <a:stretch>
            <a:fillRect/>
          </a:stretch>
        </p:blipFill>
        <p:spPr>
          <a:xfrm>
            <a:off x="822814" y="1986589"/>
            <a:ext cx="7520741" cy="4252211"/>
          </a:xfrm>
          <a:prstGeom prst="rect">
            <a:avLst/>
          </a:prstGeom>
        </p:spPr>
      </p:pic>
      <p:pic>
        <p:nvPicPr>
          <p:cNvPr id="12" name="Picture 11" descr="Chart, scatter chart&#10;&#10;Description automatically generated">
            <a:extLst>
              <a:ext uri="{FF2B5EF4-FFF2-40B4-BE49-F238E27FC236}">
                <a16:creationId xmlns:a16="http://schemas.microsoft.com/office/drawing/2014/main" id="{729AF7B3-4DBF-D746-8809-C6482DB4444E}"/>
              </a:ext>
            </a:extLst>
          </p:cNvPr>
          <p:cNvPicPr>
            <a:picLocks noChangeAspect="1"/>
          </p:cNvPicPr>
          <p:nvPr/>
        </p:nvPicPr>
        <p:blipFill>
          <a:blip r:embed="rId3"/>
          <a:stretch>
            <a:fillRect/>
          </a:stretch>
        </p:blipFill>
        <p:spPr>
          <a:xfrm>
            <a:off x="8709449" y="1473551"/>
            <a:ext cx="2995842" cy="4695122"/>
          </a:xfrm>
          <a:prstGeom prst="rect">
            <a:avLst/>
          </a:prstGeom>
        </p:spPr>
      </p:pic>
      <p:sp>
        <p:nvSpPr>
          <p:cNvPr id="13" name="Rectangle 12">
            <a:extLst>
              <a:ext uri="{FF2B5EF4-FFF2-40B4-BE49-F238E27FC236}">
                <a16:creationId xmlns:a16="http://schemas.microsoft.com/office/drawing/2014/main" id="{45FC1828-B2D6-3342-91E1-E5F343B8593A}"/>
              </a:ext>
            </a:extLst>
          </p:cNvPr>
          <p:cNvSpPr/>
          <p:nvPr/>
        </p:nvSpPr>
        <p:spPr>
          <a:xfrm>
            <a:off x="150125" y="150125"/>
            <a:ext cx="11804040"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a:t>
            </a:r>
          </a:p>
        </p:txBody>
      </p:sp>
    </p:spTree>
    <p:extLst>
      <p:ext uri="{BB962C8B-B14F-4D97-AF65-F5344CB8AC3E}">
        <p14:creationId xmlns:p14="http://schemas.microsoft.com/office/powerpoint/2010/main" val="3805637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10</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pic>
        <p:nvPicPr>
          <p:cNvPr id="3" name="Picture 2" descr="Chart, waterfall chart&#10;&#10;Description automatically generated">
            <a:extLst>
              <a:ext uri="{FF2B5EF4-FFF2-40B4-BE49-F238E27FC236}">
                <a16:creationId xmlns:a16="http://schemas.microsoft.com/office/drawing/2014/main" id="{0A36A57D-D6C6-DF4A-99B3-C6755BE0AD8A}"/>
              </a:ext>
            </a:extLst>
          </p:cNvPr>
          <p:cNvPicPr>
            <a:picLocks noChangeAspect="1"/>
          </p:cNvPicPr>
          <p:nvPr/>
        </p:nvPicPr>
        <p:blipFill>
          <a:blip r:embed="rId3"/>
          <a:stretch>
            <a:fillRect/>
          </a:stretch>
        </p:blipFill>
        <p:spPr>
          <a:xfrm>
            <a:off x="961487" y="1921113"/>
            <a:ext cx="5168900" cy="3479800"/>
          </a:xfrm>
          <a:prstGeom prst="rect">
            <a:avLst/>
          </a:prstGeom>
        </p:spPr>
      </p:pic>
      <p:pic>
        <p:nvPicPr>
          <p:cNvPr id="8" name="Picture 7" descr="Chart, scatter chart&#10;&#10;Description automatically generated">
            <a:extLst>
              <a:ext uri="{FF2B5EF4-FFF2-40B4-BE49-F238E27FC236}">
                <a16:creationId xmlns:a16="http://schemas.microsoft.com/office/drawing/2014/main" id="{37973C60-67D5-A44A-9557-B32F7FEFA57F}"/>
              </a:ext>
            </a:extLst>
          </p:cNvPr>
          <p:cNvPicPr>
            <a:picLocks noChangeAspect="1"/>
          </p:cNvPicPr>
          <p:nvPr/>
        </p:nvPicPr>
        <p:blipFill>
          <a:blip r:embed="rId4"/>
          <a:stretch>
            <a:fillRect/>
          </a:stretch>
        </p:blipFill>
        <p:spPr>
          <a:xfrm>
            <a:off x="6432986" y="2286237"/>
            <a:ext cx="5161796" cy="2995447"/>
          </a:xfrm>
          <a:prstGeom prst="rect">
            <a:avLst/>
          </a:prstGeom>
        </p:spPr>
      </p:pic>
      <p:sp>
        <p:nvSpPr>
          <p:cNvPr id="7" name="Rectangle 6">
            <a:extLst>
              <a:ext uri="{FF2B5EF4-FFF2-40B4-BE49-F238E27FC236}">
                <a16:creationId xmlns:a16="http://schemas.microsoft.com/office/drawing/2014/main" id="{6F9DB126-53BA-6946-AB64-BFF04276019F}"/>
              </a:ext>
            </a:extLst>
          </p:cNvPr>
          <p:cNvSpPr/>
          <p:nvPr/>
        </p:nvSpPr>
        <p:spPr>
          <a:xfrm>
            <a:off x="150125" y="150125"/>
            <a:ext cx="11804040"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a:t>
            </a:r>
          </a:p>
        </p:txBody>
      </p:sp>
    </p:spTree>
    <p:extLst>
      <p:ext uri="{BB962C8B-B14F-4D97-AF65-F5344CB8AC3E}">
        <p14:creationId xmlns:p14="http://schemas.microsoft.com/office/powerpoint/2010/main" val="63534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710A4D-08B5-D149-87D2-055B2CBD7DF9}"/>
              </a:ext>
            </a:extLst>
          </p:cNvPr>
          <p:cNvSpPr>
            <a:spLocks noGrp="1"/>
          </p:cNvSpPr>
          <p:nvPr>
            <p:ph type="sldNum" sz="quarter" idx="12"/>
          </p:nvPr>
        </p:nvSpPr>
        <p:spPr/>
        <p:txBody>
          <a:bodyPr/>
          <a:lstStyle/>
          <a:p>
            <a:fld id="{1621B6DD-29C1-4FEA-923F-71EA1347694C}" type="slidenum">
              <a:rPr lang="en-US" smtClean="0"/>
              <a:t>11</a:t>
            </a:fld>
            <a:endParaRPr lang="en-US"/>
          </a:p>
        </p:txBody>
      </p:sp>
      <p:sp>
        <p:nvSpPr>
          <p:cNvPr id="9" name="Title 1">
            <a:extLst>
              <a:ext uri="{FF2B5EF4-FFF2-40B4-BE49-F238E27FC236}">
                <a16:creationId xmlns:a16="http://schemas.microsoft.com/office/drawing/2014/main" id="{D83F584B-AA6A-7548-BBB5-DF99A272918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pic>
        <p:nvPicPr>
          <p:cNvPr id="16" name="Content Placeholder 15" descr="Chart&#10;&#10;Description automatically generated">
            <a:extLst>
              <a:ext uri="{FF2B5EF4-FFF2-40B4-BE49-F238E27FC236}">
                <a16:creationId xmlns:a16="http://schemas.microsoft.com/office/drawing/2014/main" id="{F6E524CE-A17F-6844-8D70-1A2E0D020534}"/>
              </a:ext>
            </a:extLst>
          </p:cNvPr>
          <p:cNvPicPr>
            <a:picLocks noGrp="1" noChangeAspect="1"/>
          </p:cNvPicPr>
          <p:nvPr>
            <p:ph idx="1"/>
          </p:nvPr>
        </p:nvPicPr>
        <p:blipFill>
          <a:blip r:embed="rId2"/>
          <a:stretch>
            <a:fillRect/>
          </a:stretch>
        </p:blipFill>
        <p:spPr>
          <a:xfrm>
            <a:off x="720000" y="1676609"/>
            <a:ext cx="7738042" cy="4351338"/>
          </a:xfrm>
        </p:spPr>
      </p:pic>
      <p:pic>
        <p:nvPicPr>
          <p:cNvPr id="18" name="Picture 17" descr="Chart, scatter chart&#10;&#10;Description automatically generated">
            <a:extLst>
              <a:ext uri="{FF2B5EF4-FFF2-40B4-BE49-F238E27FC236}">
                <a16:creationId xmlns:a16="http://schemas.microsoft.com/office/drawing/2014/main" id="{77A1EAC4-C972-164C-8269-4A9662040339}"/>
              </a:ext>
            </a:extLst>
          </p:cNvPr>
          <p:cNvPicPr>
            <a:picLocks noChangeAspect="1"/>
          </p:cNvPicPr>
          <p:nvPr/>
        </p:nvPicPr>
        <p:blipFill>
          <a:blip r:embed="rId3"/>
          <a:stretch>
            <a:fillRect/>
          </a:stretch>
        </p:blipFill>
        <p:spPr>
          <a:xfrm>
            <a:off x="8610600" y="1338337"/>
            <a:ext cx="3285666" cy="5018013"/>
          </a:xfrm>
          <a:prstGeom prst="rect">
            <a:avLst/>
          </a:prstGeom>
        </p:spPr>
      </p:pic>
      <p:sp>
        <p:nvSpPr>
          <p:cNvPr id="19" name="Rectangle 18">
            <a:extLst>
              <a:ext uri="{FF2B5EF4-FFF2-40B4-BE49-F238E27FC236}">
                <a16:creationId xmlns:a16="http://schemas.microsoft.com/office/drawing/2014/main" id="{CBAD3DA3-3E3A-5340-85E8-70B3524FA404}"/>
              </a:ext>
            </a:extLst>
          </p:cNvPr>
          <p:cNvSpPr/>
          <p:nvPr/>
        </p:nvSpPr>
        <p:spPr>
          <a:xfrm>
            <a:off x="182141" y="189296"/>
            <a:ext cx="11804040"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spTree>
    <p:extLst>
      <p:ext uri="{BB962C8B-B14F-4D97-AF65-F5344CB8AC3E}">
        <p14:creationId xmlns:p14="http://schemas.microsoft.com/office/powerpoint/2010/main" val="2035182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12</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pic>
        <p:nvPicPr>
          <p:cNvPr id="3" name="Picture 2" descr="Chart, bar chart&#10;&#10;Description automatically generated">
            <a:extLst>
              <a:ext uri="{FF2B5EF4-FFF2-40B4-BE49-F238E27FC236}">
                <a16:creationId xmlns:a16="http://schemas.microsoft.com/office/drawing/2014/main" id="{1FE08BB9-3085-0447-893B-D8E6D1F348AF}"/>
              </a:ext>
            </a:extLst>
          </p:cNvPr>
          <p:cNvPicPr>
            <a:picLocks noChangeAspect="1"/>
          </p:cNvPicPr>
          <p:nvPr/>
        </p:nvPicPr>
        <p:blipFill>
          <a:blip r:embed="rId3"/>
          <a:stretch>
            <a:fillRect/>
          </a:stretch>
        </p:blipFill>
        <p:spPr>
          <a:xfrm>
            <a:off x="866227" y="2108712"/>
            <a:ext cx="4781943" cy="3321448"/>
          </a:xfrm>
          <a:prstGeom prst="rect">
            <a:avLst/>
          </a:prstGeom>
        </p:spPr>
      </p:pic>
      <p:pic>
        <p:nvPicPr>
          <p:cNvPr id="8" name="Picture 7" descr="Chart, scatter chart&#10;&#10;Description automatically generated">
            <a:extLst>
              <a:ext uri="{FF2B5EF4-FFF2-40B4-BE49-F238E27FC236}">
                <a16:creationId xmlns:a16="http://schemas.microsoft.com/office/drawing/2014/main" id="{D555137A-0936-CE4F-AEBC-CDADB4F77AD6}"/>
              </a:ext>
            </a:extLst>
          </p:cNvPr>
          <p:cNvPicPr>
            <a:picLocks noChangeAspect="1"/>
          </p:cNvPicPr>
          <p:nvPr/>
        </p:nvPicPr>
        <p:blipFill>
          <a:blip r:embed="rId4"/>
          <a:stretch>
            <a:fillRect/>
          </a:stretch>
        </p:blipFill>
        <p:spPr>
          <a:xfrm>
            <a:off x="5839487" y="2279176"/>
            <a:ext cx="5975748" cy="3150984"/>
          </a:xfrm>
          <a:prstGeom prst="rect">
            <a:avLst/>
          </a:prstGeom>
        </p:spPr>
      </p:pic>
      <p:sp>
        <p:nvSpPr>
          <p:cNvPr id="7" name="Rectangle 6">
            <a:extLst>
              <a:ext uri="{FF2B5EF4-FFF2-40B4-BE49-F238E27FC236}">
                <a16:creationId xmlns:a16="http://schemas.microsoft.com/office/drawing/2014/main" id="{1B8FA8BC-1837-FA48-9AAE-0012D5B8E941}"/>
              </a:ext>
            </a:extLst>
          </p:cNvPr>
          <p:cNvSpPr/>
          <p:nvPr/>
        </p:nvSpPr>
        <p:spPr>
          <a:xfrm>
            <a:off x="182141" y="189296"/>
            <a:ext cx="11804040"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spTree>
    <p:extLst>
      <p:ext uri="{BB962C8B-B14F-4D97-AF65-F5344CB8AC3E}">
        <p14:creationId xmlns:p14="http://schemas.microsoft.com/office/powerpoint/2010/main" val="433717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0E3D6-8E83-F14A-AB70-CDC6967D3308}"/>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47B308A-51DA-2140-A0FC-20CB59BFBA09}"/>
              </a:ext>
            </a:extLst>
          </p:cNvPr>
          <p:cNvSpPr>
            <a:spLocks noGrp="1"/>
          </p:cNvSpPr>
          <p:nvPr>
            <p:ph type="sldNum" sz="quarter" idx="12"/>
          </p:nvPr>
        </p:nvSpPr>
        <p:spPr/>
        <p:txBody>
          <a:bodyPr/>
          <a:lstStyle/>
          <a:p>
            <a:fld id="{1621B6DD-29C1-4FEA-923F-71EA1347694C}" type="slidenum">
              <a:rPr lang="en-US" smtClean="0"/>
              <a:t>13</a:t>
            </a:fld>
            <a:endParaRPr lang="en-US"/>
          </a:p>
        </p:txBody>
      </p:sp>
      <p:pic>
        <p:nvPicPr>
          <p:cNvPr id="18" name="Content Placeholder 17" descr="Chart&#10;&#10;Description automatically generated">
            <a:extLst>
              <a:ext uri="{FF2B5EF4-FFF2-40B4-BE49-F238E27FC236}">
                <a16:creationId xmlns:a16="http://schemas.microsoft.com/office/drawing/2014/main" id="{FBBD396C-1A8B-3A4E-9A35-4621D5A66117}"/>
              </a:ext>
            </a:extLst>
          </p:cNvPr>
          <p:cNvPicPr>
            <a:picLocks noGrp="1" noChangeAspect="1"/>
          </p:cNvPicPr>
          <p:nvPr>
            <p:ph idx="1"/>
          </p:nvPr>
        </p:nvPicPr>
        <p:blipFill>
          <a:blip r:embed="rId2"/>
          <a:stretch>
            <a:fillRect/>
          </a:stretch>
        </p:blipFill>
        <p:spPr>
          <a:xfrm>
            <a:off x="962233" y="2050837"/>
            <a:ext cx="7515004" cy="4351338"/>
          </a:xfrm>
        </p:spPr>
      </p:pic>
      <p:pic>
        <p:nvPicPr>
          <p:cNvPr id="20" name="Picture 19" descr="Chart, scatter chart&#10;&#10;Description automatically generated">
            <a:extLst>
              <a:ext uri="{FF2B5EF4-FFF2-40B4-BE49-F238E27FC236}">
                <a16:creationId xmlns:a16="http://schemas.microsoft.com/office/drawing/2014/main" id="{47519663-6875-6B4F-9106-DD4F9B415D8B}"/>
              </a:ext>
            </a:extLst>
          </p:cNvPr>
          <p:cNvPicPr>
            <a:picLocks noChangeAspect="1"/>
          </p:cNvPicPr>
          <p:nvPr/>
        </p:nvPicPr>
        <p:blipFill>
          <a:blip r:embed="rId3"/>
          <a:stretch>
            <a:fillRect/>
          </a:stretch>
        </p:blipFill>
        <p:spPr>
          <a:xfrm>
            <a:off x="8666656" y="1297355"/>
            <a:ext cx="3219846" cy="5058995"/>
          </a:xfrm>
          <a:prstGeom prst="rect">
            <a:avLst/>
          </a:prstGeom>
        </p:spPr>
      </p:pic>
      <p:sp>
        <p:nvSpPr>
          <p:cNvPr id="21" name="Rectangle 20">
            <a:extLst>
              <a:ext uri="{FF2B5EF4-FFF2-40B4-BE49-F238E27FC236}">
                <a16:creationId xmlns:a16="http://schemas.microsoft.com/office/drawing/2014/main" id="{77D292EC-0DA8-5B47-978D-F96EB28AFEE2}"/>
              </a:ext>
            </a:extLst>
          </p:cNvPr>
          <p:cNvSpPr/>
          <p:nvPr/>
        </p:nvSpPr>
        <p:spPr>
          <a:xfrm>
            <a:off x="150125" y="150125"/>
            <a:ext cx="11804040"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Tree>
    <p:extLst>
      <p:ext uri="{BB962C8B-B14F-4D97-AF65-F5344CB8AC3E}">
        <p14:creationId xmlns:p14="http://schemas.microsoft.com/office/powerpoint/2010/main" val="1945123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14</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File 101</a:t>
            </a:r>
            <a:endParaRPr lang="en-US" b="1" dirty="0">
              <a:latin typeface="Times New Roman" panose="02020603050405020304" pitchFamily="18" charset="0"/>
              <a:cs typeface="Times New Roman" panose="02020603050405020304" pitchFamily="18" charset="0"/>
            </a:endParaRPr>
          </a:p>
        </p:txBody>
      </p:sp>
      <p:pic>
        <p:nvPicPr>
          <p:cNvPr id="3" name="Picture 2" descr="Chart, bar chart, waterfall chart&#10;&#10;Description automatically generated">
            <a:extLst>
              <a:ext uri="{FF2B5EF4-FFF2-40B4-BE49-F238E27FC236}">
                <a16:creationId xmlns:a16="http://schemas.microsoft.com/office/drawing/2014/main" id="{A1AB125D-B6A5-3B48-9AB6-7CAC4B921DC6}"/>
              </a:ext>
            </a:extLst>
          </p:cNvPr>
          <p:cNvPicPr>
            <a:picLocks noChangeAspect="1"/>
          </p:cNvPicPr>
          <p:nvPr/>
        </p:nvPicPr>
        <p:blipFill>
          <a:blip r:embed="rId3"/>
          <a:stretch>
            <a:fillRect/>
          </a:stretch>
        </p:blipFill>
        <p:spPr>
          <a:xfrm>
            <a:off x="720000" y="2138978"/>
            <a:ext cx="4795870" cy="3364267"/>
          </a:xfrm>
          <a:prstGeom prst="rect">
            <a:avLst/>
          </a:prstGeom>
        </p:spPr>
      </p:pic>
      <p:pic>
        <p:nvPicPr>
          <p:cNvPr id="7" name="Picture 6" descr="Chart, scatter chart&#10;&#10;Description automatically generated">
            <a:extLst>
              <a:ext uri="{FF2B5EF4-FFF2-40B4-BE49-F238E27FC236}">
                <a16:creationId xmlns:a16="http://schemas.microsoft.com/office/drawing/2014/main" id="{A1046746-9FEB-574A-87ED-CAA8DBBA5BA9}"/>
              </a:ext>
            </a:extLst>
          </p:cNvPr>
          <p:cNvPicPr>
            <a:picLocks noChangeAspect="1"/>
          </p:cNvPicPr>
          <p:nvPr/>
        </p:nvPicPr>
        <p:blipFill>
          <a:blip r:embed="rId4"/>
          <a:stretch>
            <a:fillRect/>
          </a:stretch>
        </p:blipFill>
        <p:spPr>
          <a:xfrm>
            <a:off x="5768454" y="2497017"/>
            <a:ext cx="6004607" cy="3006228"/>
          </a:xfrm>
          <a:prstGeom prst="rect">
            <a:avLst/>
          </a:prstGeom>
        </p:spPr>
      </p:pic>
      <p:sp>
        <p:nvSpPr>
          <p:cNvPr id="8" name="Rectangle 7">
            <a:extLst>
              <a:ext uri="{FF2B5EF4-FFF2-40B4-BE49-F238E27FC236}">
                <a16:creationId xmlns:a16="http://schemas.microsoft.com/office/drawing/2014/main" id="{1BEE76FA-5D6A-5348-8866-3C040F6CBB6E}"/>
              </a:ext>
            </a:extLst>
          </p:cNvPr>
          <p:cNvSpPr/>
          <p:nvPr/>
        </p:nvSpPr>
        <p:spPr>
          <a:xfrm>
            <a:off x="150125" y="150125"/>
            <a:ext cx="11804040"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Tree>
    <p:extLst>
      <p:ext uri="{BB962C8B-B14F-4D97-AF65-F5344CB8AC3E}">
        <p14:creationId xmlns:p14="http://schemas.microsoft.com/office/powerpoint/2010/main" val="1125793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AE50-888F-2344-80BF-D5FD2861CCE2}"/>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PCA comparison after norm, file 101</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07E514-0774-1B49-A6A1-FC5AE60B172A}"/>
              </a:ext>
            </a:extLst>
          </p:cNvPr>
          <p:cNvSpPr>
            <a:spLocks noGrp="1"/>
          </p:cNvSpPr>
          <p:nvPr>
            <p:ph type="sldNum" sz="quarter" idx="12"/>
          </p:nvPr>
        </p:nvSpPr>
        <p:spPr/>
        <p:txBody>
          <a:bodyPr/>
          <a:lstStyle/>
          <a:p>
            <a:fld id="{1621B6DD-29C1-4FEA-923F-71EA1347694C}" type="slidenum">
              <a:rPr lang="en-US" smtClean="0"/>
              <a:t>15</a:t>
            </a:fld>
            <a:endParaRPr lang="en-US"/>
          </a:p>
        </p:txBody>
      </p:sp>
      <p:pic>
        <p:nvPicPr>
          <p:cNvPr id="5" name="Picture 4" descr="Chart, scatter chart&#10;&#10;Description automatically generated">
            <a:extLst>
              <a:ext uri="{FF2B5EF4-FFF2-40B4-BE49-F238E27FC236}">
                <a16:creationId xmlns:a16="http://schemas.microsoft.com/office/drawing/2014/main" id="{4A1994A7-D30F-1444-ABDB-0A4BD4F8AFE8}"/>
              </a:ext>
            </a:extLst>
          </p:cNvPr>
          <p:cNvPicPr>
            <a:picLocks noChangeAspect="1"/>
          </p:cNvPicPr>
          <p:nvPr/>
        </p:nvPicPr>
        <p:blipFill rotWithShape="1">
          <a:blip r:embed="rId2"/>
          <a:srcRect t="49426"/>
          <a:stretch/>
        </p:blipFill>
        <p:spPr>
          <a:xfrm>
            <a:off x="838200" y="2698225"/>
            <a:ext cx="3423156" cy="2713189"/>
          </a:xfrm>
          <a:prstGeom prst="rect">
            <a:avLst/>
          </a:prstGeom>
        </p:spPr>
      </p:pic>
      <p:pic>
        <p:nvPicPr>
          <p:cNvPr id="6" name="Picture 5" descr="Chart, scatter chart&#10;&#10;Description automatically generated">
            <a:extLst>
              <a:ext uri="{FF2B5EF4-FFF2-40B4-BE49-F238E27FC236}">
                <a16:creationId xmlns:a16="http://schemas.microsoft.com/office/drawing/2014/main" id="{91D182F5-7B38-9249-AB61-4FE519ABFA5B}"/>
              </a:ext>
            </a:extLst>
          </p:cNvPr>
          <p:cNvPicPr>
            <a:picLocks noChangeAspect="1"/>
          </p:cNvPicPr>
          <p:nvPr/>
        </p:nvPicPr>
        <p:blipFill rotWithShape="1">
          <a:blip r:embed="rId3"/>
          <a:srcRect t="51201"/>
          <a:stretch/>
        </p:blipFill>
        <p:spPr>
          <a:xfrm>
            <a:off x="8200794" y="2698225"/>
            <a:ext cx="3579121" cy="2744220"/>
          </a:xfrm>
          <a:prstGeom prst="rect">
            <a:avLst/>
          </a:prstGeom>
        </p:spPr>
      </p:pic>
      <p:pic>
        <p:nvPicPr>
          <p:cNvPr id="7" name="Picture 6" descr="Chart, scatter chart&#10;&#10;Description automatically generated">
            <a:extLst>
              <a:ext uri="{FF2B5EF4-FFF2-40B4-BE49-F238E27FC236}">
                <a16:creationId xmlns:a16="http://schemas.microsoft.com/office/drawing/2014/main" id="{365092EC-3403-AB41-965C-6BA4722CEF39}"/>
              </a:ext>
            </a:extLst>
          </p:cNvPr>
          <p:cNvPicPr>
            <a:picLocks noChangeAspect="1"/>
          </p:cNvPicPr>
          <p:nvPr/>
        </p:nvPicPr>
        <p:blipFill rotWithShape="1">
          <a:blip r:embed="rId4"/>
          <a:srcRect t="53025"/>
          <a:stretch/>
        </p:blipFill>
        <p:spPr>
          <a:xfrm>
            <a:off x="4425582" y="2789499"/>
            <a:ext cx="3610986" cy="2590614"/>
          </a:xfrm>
          <a:prstGeom prst="rect">
            <a:avLst/>
          </a:prstGeom>
        </p:spPr>
      </p:pic>
      <p:sp>
        <p:nvSpPr>
          <p:cNvPr id="8" name="Rectangle 7">
            <a:extLst>
              <a:ext uri="{FF2B5EF4-FFF2-40B4-BE49-F238E27FC236}">
                <a16:creationId xmlns:a16="http://schemas.microsoft.com/office/drawing/2014/main" id="{05A3E40D-E7A6-4243-BAB5-96E3AB1F0F2A}"/>
              </a:ext>
            </a:extLst>
          </p:cNvPr>
          <p:cNvSpPr/>
          <p:nvPr/>
        </p:nvSpPr>
        <p:spPr>
          <a:xfrm>
            <a:off x="1118302" y="1944403"/>
            <a:ext cx="2372139"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a:t>
            </a:r>
          </a:p>
        </p:txBody>
      </p:sp>
      <p:sp>
        <p:nvSpPr>
          <p:cNvPr id="9" name="Rectangle 8">
            <a:extLst>
              <a:ext uri="{FF2B5EF4-FFF2-40B4-BE49-F238E27FC236}">
                <a16:creationId xmlns:a16="http://schemas.microsoft.com/office/drawing/2014/main" id="{FE45ADD8-1E79-2144-A024-69DAA0D23E06}"/>
              </a:ext>
            </a:extLst>
          </p:cNvPr>
          <p:cNvSpPr/>
          <p:nvPr/>
        </p:nvSpPr>
        <p:spPr>
          <a:xfrm>
            <a:off x="7979743" y="1959919"/>
            <a:ext cx="3114965"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
        <p:nvSpPr>
          <p:cNvPr id="10" name="Rectangle 9">
            <a:extLst>
              <a:ext uri="{FF2B5EF4-FFF2-40B4-BE49-F238E27FC236}">
                <a16:creationId xmlns:a16="http://schemas.microsoft.com/office/drawing/2014/main" id="{22E7B075-B524-3940-8303-FC26E49C64B5}"/>
              </a:ext>
            </a:extLst>
          </p:cNvPr>
          <p:cNvSpPr/>
          <p:nvPr/>
        </p:nvSpPr>
        <p:spPr>
          <a:xfrm>
            <a:off x="4589808" y="1959919"/>
            <a:ext cx="2584878"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spTree>
    <p:extLst>
      <p:ext uri="{BB962C8B-B14F-4D97-AF65-F5344CB8AC3E}">
        <p14:creationId xmlns:p14="http://schemas.microsoft.com/office/powerpoint/2010/main" val="519694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AE50-888F-2344-80BF-D5FD2861CCE2}"/>
              </a:ext>
            </a:extLst>
          </p:cNvPr>
          <p:cNvSpPr>
            <a:spLocks noGrp="1"/>
          </p:cNvSpPr>
          <p:nvPr>
            <p:ph type="title"/>
          </p:nvPr>
        </p:nvSpPr>
        <p:spPr>
          <a:xfrm>
            <a:off x="838200" y="365125"/>
            <a:ext cx="11221278" cy="1325563"/>
          </a:xfrm>
        </p:spPr>
        <p:txBody>
          <a:bodyPr/>
          <a:lstStyle/>
          <a:p>
            <a:r>
              <a:rPr lang="en-US" sz="4400" b="1" dirty="0">
                <a:latin typeface="Times New Roman" panose="02020603050405020304" pitchFamily="18" charset="0"/>
                <a:cs typeface="Times New Roman" panose="02020603050405020304" pitchFamily="18" charset="0"/>
              </a:rPr>
              <a:t>Volcano plot comparison after norm, file 101</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07E514-0774-1B49-A6A1-FC5AE60B172A}"/>
              </a:ext>
            </a:extLst>
          </p:cNvPr>
          <p:cNvSpPr>
            <a:spLocks noGrp="1"/>
          </p:cNvSpPr>
          <p:nvPr>
            <p:ph type="sldNum" sz="quarter" idx="12"/>
          </p:nvPr>
        </p:nvSpPr>
        <p:spPr/>
        <p:txBody>
          <a:bodyPr/>
          <a:lstStyle/>
          <a:p>
            <a:fld id="{1621B6DD-29C1-4FEA-923F-71EA1347694C}" type="slidenum">
              <a:rPr lang="en-US" smtClean="0"/>
              <a:t>16</a:t>
            </a:fld>
            <a:endParaRPr lang="en-US"/>
          </a:p>
        </p:txBody>
      </p:sp>
      <p:sp>
        <p:nvSpPr>
          <p:cNvPr id="8" name="Rectangle 7">
            <a:extLst>
              <a:ext uri="{FF2B5EF4-FFF2-40B4-BE49-F238E27FC236}">
                <a16:creationId xmlns:a16="http://schemas.microsoft.com/office/drawing/2014/main" id="{05A3E40D-E7A6-4243-BAB5-96E3AB1F0F2A}"/>
              </a:ext>
            </a:extLst>
          </p:cNvPr>
          <p:cNvSpPr/>
          <p:nvPr/>
        </p:nvSpPr>
        <p:spPr>
          <a:xfrm>
            <a:off x="1144806" y="2193775"/>
            <a:ext cx="2372139" cy="46907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a:t>
            </a:r>
          </a:p>
        </p:txBody>
      </p:sp>
      <p:sp>
        <p:nvSpPr>
          <p:cNvPr id="9" name="Rectangle 8">
            <a:extLst>
              <a:ext uri="{FF2B5EF4-FFF2-40B4-BE49-F238E27FC236}">
                <a16:creationId xmlns:a16="http://schemas.microsoft.com/office/drawing/2014/main" id="{FE45ADD8-1E79-2144-A024-69DAA0D23E06}"/>
              </a:ext>
            </a:extLst>
          </p:cNvPr>
          <p:cNvSpPr/>
          <p:nvPr/>
        </p:nvSpPr>
        <p:spPr>
          <a:xfrm>
            <a:off x="8424717" y="2276665"/>
            <a:ext cx="3114965" cy="4690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Only </a:t>
            </a:r>
            <a:r>
              <a:rPr lang="en-US" b="1" dirty="0" err="1">
                <a:solidFill>
                  <a:schemeClr val="tx1"/>
                </a:solidFill>
              </a:rPr>
              <a:t>cre</a:t>
            </a:r>
            <a:r>
              <a:rPr lang="en-US" b="1" dirty="0">
                <a:solidFill>
                  <a:schemeClr val="tx1"/>
                </a:solidFill>
              </a:rPr>
              <a:t>+_channels median </a:t>
            </a:r>
          </a:p>
        </p:txBody>
      </p:sp>
      <p:sp>
        <p:nvSpPr>
          <p:cNvPr id="10" name="Rectangle 9">
            <a:extLst>
              <a:ext uri="{FF2B5EF4-FFF2-40B4-BE49-F238E27FC236}">
                <a16:creationId xmlns:a16="http://schemas.microsoft.com/office/drawing/2014/main" id="{22E7B075-B524-3940-8303-FC26E49C64B5}"/>
              </a:ext>
            </a:extLst>
          </p:cNvPr>
          <p:cNvSpPr/>
          <p:nvPr/>
        </p:nvSpPr>
        <p:spPr>
          <a:xfrm>
            <a:off x="4893641" y="2253244"/>
            <a:ext cx="2584878" cy="4690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Median all channels</a:t>
            </a:r>
          </a:p>
        </p:txBody>
      </p:sp>
      <p:pic>
        <p:nvPicPr>
          <p:cNvPr id="11" name="Picture 10" descr="Chart, scatter chart&#10;&#10;Description automatically generated">
            <a:extLst>
              <a:ext uri="{FF2B5EF4-FFF2-40B4-BE49-F238E27FC236}">
                <a16:creationId xmlns:a16="http://schemas.microsoft.com/office/drawing/2014/main" id="{D8A7DE1E-E05C-5442-8911-A72FBB4845A8}"/>
              </a:ext>
            </a:extLst>
          </p:cNvPr>
          <p:cNvPicPr>
            <a:picLocks noChangeAspect="1"/>
          </p:cNvPicPr>
          <p:nvPr/>
        </p:nvPicPr>
        <p:blipFill rotWithShape="1">
          <a:blip r:embed="rId2"/>
          <a:srcRect r="21185"/>
          <a:stretch/>
        </p:blipFill>
        <p:spPr>
          <a:xfrm>
            <a:off x="332483" y="3094418"/>
            <a:ext cx="3667283" cy="2700210"/>
          </a:xfrm>
          <a:prstGeom prst="rect">
            <a:avLst/>
          </a:prstGeom>
        </p:spPr>
      </p:pic>
      <p:pic>
        <p:nvPicPr>
          <p:cNvPr id="12" name="Picture 11" descr="Chart, scatter chart&#10;&#10;Description automatically generated">
            <a:extLst>
              <a:ext uri="{FF2B5EF4-FFF2-40B4-BE49-F238E27FC236}">
                <a16:creationId xmlns:a16="http://schemas.microsoft.com/office/drawing/2014/main" id="{81FB253E-F2ED-6847-8C81-E3F5794CF803}"/>
              </a:ext>
            </a:extLst>
          </p:cNvPr>
          <p:cNvPicPr>
            <a:picLocks noChangeAspect="1"/>
          </p:cNvPicPr>
          <p:nvPr/>
        </p:nvPicPr>
        <p:blipFill rotWithShape="1">
          <a:blip r:embed="rId3"/>
          <a:srcRect r="21052"/>
          <a:stretch/>
        </p:blipFill>
        <p:spPr>
          <a:xfrm>
            <a:off x="7914757" y="3244760"/>
            <a:ext cx="3944760" cy="2501592"/>
          </a:xfrm>
          <a:prstGeom prst="rect">
            <a:avLst/>
          </a:prstGeom>
        </p:spPr>
      </p:pic>
      <p:pic>
        <p:nvPicPr>
          <p:cNvPr id="13" name="Picture 12" descr="Chart, scatter chart&#10;&#10;Description automatically generated">
            <a:extLst>
              <a:ext uri="{FF2B5EF4-FFF2-40B4-BE49-F238E27FC236}">
                <a16:creationId xmlns:a16="http://schemas.microsoft.com/office/drawing/2014/main" id="{5314DBC1-BC1E-EF4B-8001-6CE739627097}"/>
              </a:ext>
            </a:extLst>
          </p:cNvPr>
          <p:cNvPicPr>
            <a:picLocks noChangeAspect="1"/>
          </p:cNvPicPr>
          <p:nvPr/>
        </p:nvPicPr>
        <p:blipFill rotWithShape="1">
          <a:blip r:embed="rId4"/>
          <a:srcRect r="20110"/>
          <a:stretch/>
        </p:blipFill>
        <p:spPr>
          <a:xfrm>
            <a:off x="3969997" y="3094418"/>
            <a:ext cx="3944760" cy="2603659"/>
          </a:xfrm>
          <a:prstGeom prst="rect">
            <a:avLst/>
          </a:prstGeom>
        </p:spPr>
      </p:pic>
    </p:spTree>
    <p:extLst>
      <p:ext uri="{BB962C8B-B14F-4D97-AF65-F5344CB8AC3E}">
        <p14:creationId xmlns:p14="http://schemas.microsoft.com/office/powerpoint/2010/main" val="1439842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AE50-888F-2344-80BF-D5FD2861CCE2}"/>
              </a:ext>
            </a:extLst>
          </p:cNvPr>
          <p:cNvSpPr>
            <a:spLocks noGrp="1"/>
          </p:cNvSpPr>
          <p:nvPr>
            <p:ph type="title"/>
          </p:nvPr>
        </p:nvSpPr>
        <p:spPr>
          <a:xfrm>
            <a:off x="838200" y="365125"/>
            <a:ext cx="11221278" cy="1325563"/>
          </a:xfrm>
        </p:spPr>
        <p:txBody>
          <a:bodyPr/>
          <a:lstStyle/>
          <a:p>
            <a:r>
              <a:rPr lang="en-US" sz="4400" b="1" dirty="0">
                <a:latin typeface="Times New Roman" panose="02020603050405020304" pitchFamily="18" charset="0"/>
                <a:cs typeface="Times New Roman" panose="02020603050405020304" pitchFamily="18" charset="0"/>
              </a:rPr>
              <a:t>Conclusion and Notes</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07E514-0774-1B49-A6A1-FC5AE60B172A}"/>
              </a:ext>
            </a:extLst>
          </p:cNvPr>
          <p:cNvSpPr>
            <a:spLocks noGrp="1"/>
          </p:cNvSpPr>
          <p:nvPr>
            <p:ph type="sldNum" sz="quarter" idx="12"/>
          </p:nvPr>
        </p:nvSpPr>
        <p:spPr/>
        <p:txBody>
          <a:bodyPr/>
          <a:lstStyle/>
          <a:p>
            <a:fld id="{1621B6DD-29C1-4FEA-923F-71EA1347694C}" type="slidenum">
              <a:rPr lang="en-US" smtClean="0"/>
              <a:t>17</a:t>
            </a:fld>
            <a:endParaRPr lang="en-US"/>
          </a:p>
        </p:txBody>
      </p:sp>
      <p:sp>
        <p:nvSpPr>
          <p:cNvPr id="3" name="TextBox 2">
            <a:extLst>
              <a:ext uri="{FF2B5EF4-FFF2-40B4-BE49-F238E27FC236}">
                <a16:creationId xmlns:a16="http://schemas.microsoft.com/office/drawing/2014/main" id="{9509E07B-7DAF-AB4A-A6D6-1BA09B4773D6}"/>
              </a:ext>
            </a:extLst>
          </p:cNvPr>
          <p:cNvSpPr txBox="1"/>
          <p:nvPr/>
        </p:nvSpPr>
        <p:spPr>
          <a:xfrm>
            <a:off x="1119808" y="1842388"/>
            <a:ext cx="9952383"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Only </a:t>
            </a:r>
            <a:r>
              <a:rPr lang="en-US" b="1" dirty="0" err="1"/>
              <a:t>cre</a:t>
            </a:r>
            <a:r>
              <a:rPr lang="en-US" b="1" dirty="0"/>
              <a:t>+ channels norm </a:t>
            </a:r>
            <a:r>
              <a:rPr lang="en-US" dirty="0"/>
              <a:t>seems to be good for within </a:t>
            </a:r>
            <a:r>
              <a:rPr lang="en-US" dirty="0" err="1"/>
              <a:t>cre</a:t>
            </a:r>
            <a:r>
              <a:rPr lang="en-US" dirty="0"/>
              <a:t>+ channel normalization as well as across the 2 </a:t>
            </a:r>
            <a:r>
              <a:rPr lang="en-US" dirty="0" err="1"/>
              <a:t>cre</a:t>
            </a:r>
            <a:r>
              <a:rPr lang="en-US" dirty="0"/>
              <a:t>+ conditions</a:t>
            </a:r>
          </a:p>
          <a:p>
            <a:pPr marL="285750" indent="-285750" algn="l">
              <a:buFont typeface="Arial" panose="020B0604020202020204" pitchFamily="34" charset="0"/>
              <a:buChar char="•"/>
            </a:pPr>
            <a:r>
              <a:rPr lang="en-US" dirty="0"/>
              <a:t>The number of proteins that pass does not change with the normalizations </a:t>
            </a:r>
            <a:r>
              <a:rPr lang="en-US" b="0" i="0" dirty="0">
                <a:solidFill>
                  <a:srgbClr val="1D1C1D"/>
                </a:solidFill>
                <a:effectLst/>
                <a:latin typeface="Slack-Lato"/>
              </a:rPr>
              <a:t>because we do ROC per channel and since we use the same normalization factor for the whole channel all that changes is the multiplication so an increase for each value with the same number so the highest ratio will still be the highest ratio - we sort from highest to lowest and we calculate the </a:t>
            </a:r>
            <a:r>
              <a:rPr lang="en-US" b="0" i="0" dirty="0" err="1">
                <a:solidFill>
                  <a:srgbClr val="1D1C1D"/>
                </a:solidFill>
                <a:effectLst/>
                <a:latin typeface="Slack-Lato"/>
              </a:rPr>
              <a:t>tpr</a:t>
            </a:r>
            <a:r>
              <a:rPr lang="en-US" b="0" i="0" dirty="0">
                <a:solidFill>
                  <a:srgbClr val="1D1C1D"/>
                </a:solidFill>
                <a:effectLst/>
                <a:latin typeface="Slack-Lato"/>
              </a:rPr>
              <a:t> and </a:t>
            </a:r>
            <a:r>
              <a:rPr lang="en-US" b="0" i="0" dirty="0" err="1">
                <a:solidFill>
                  <a:srgbClr val="1D1C1D"/>
                </a:solidFill>
                <a:effectLst/>
                <a:latin typeface="Slack-Lato"/>
              </a:rPr>
              <a:t>fpr</a:t>
            </a:r>
            <a:r>
              <a:rPr lang="en-US" b="0" i="0" dirty="0">
                <a:solidFill>
                  <a:srgbClr val="1D1C1D"/>
                </a:solidFill>
                <a:effectLst/>
                <a:latin typeface="Slack-Lato"/>
              </a:rPr>
              <a:t> - the cutoff value is not determined by the ratios but by the TPR-FPR value</a:t>
            </a:r>
          </a:p>
          <a:p>
            <a:pPr marL="285750" indent="-285750" algn="l">
              <a:buFont typeface="Arial" panose="020B0604020202020204" pitchFamily="34" charset="0"/>
              <a:buChar char="•"/>
            </a:pPr>
            <a:r>
              <a:rPr lang="en-US" dirty="0">
                <a:solidFill>
                  <a:srgbClr val="1D1C1D"/>
                </a:solidFill>
                <a:latin typeface="Slack-Lato"/>
              </a:rPr>
              <a:t>The reason why volcano plots of blue and green normalization look the same is </a:t>
            </a:r>
            <a:r>
              <a:rPr lang="en-US" b="0" i="0" dirty="0">
                <a:solidFill>
                  <a:srgbClr val="1D1C1D"/>
                </a:solidFill>
                <a:effectLst/>
                <a:latin typeface="Slack-Lato"/>
              </a:rPr>
              <a:t>because without the </a:t>
            </a:r>
            <a:r>
              <a:rPr lang="en-US" b="0" i="0" dirty="0" err="1">
                <a:solidFill>
                  <a:srgbClr val="1D1C1D"/>
                </a:solidFill>
                <a:effectLst/>
                <a:latin typeface="Slack-Lato"/>
              </a:rPr>
              <a:t>cre</a:t>
            </a:r>
            <a:r>
              <a:rPr lang="en-US" b="0" i="0" dirty="0">
                <a:solidFill>
                  <a:srgbClr val="1D1C1D"/>
                </a:solidFill>
                <a:effectLst/>
                <a:latin typeface="Slack-Lato"/>
              </a:rPr>
              <a:t>- channels the median of the channel medians is the same so the normalization factors are the same and it does not have an effect on the values between the 2 normalizations (with and without </a:t>
            </a:r>
            <a:r>
              <a:rPr lang="en-US" b="0" i="0" dirty="0" err="1">
                <a:solidFill>
                  <a:srgbClr val="1D1C1D"/>
                </a:solidFill>
                <a:effectLst/>
                <a:latin typeface="Slack-Lato"/>
              </a:rPr>
              <a:t>cre</a:t>
            </a:r>
            <a:r>
              <a:rPr lang="en-US" b="0" i="0" dirty="0">
                <a:solidFill>
                  <a:srgbClr val="1D1C1D"/>
                </a:solidFill>
                <a:effectLst/>
                <a:latin typeface="Slack-Lato"/>
              </a:rPr>
              <a:t>- channels), the volcano plots are significance and fold change of </a:t>
            </a:r>
            <a:r>
              <a:rPr lang="en-US" b="0" i="0" dirty="0" err="1">
                <a:solidFill>
                  <a:srgbClr val="1D1C1D"/>
                </a:solidFill>
                <a:effectLst/>
                <a:latin typeface="Slack-Lato"/>
              </a:rPr>
              <a:t>cre</a:t>
            </a:r>
            <a:r>
              <a:rPr lang="en-US" b="0" i="0" dirty="0">
                <a:solidFill>
                  <a:srgbClr val="1D1C1D"/>
                </a:solidFill>
                <a:effectLst/>
                <a:latin typeface="Slack-Lato"/>
              </a:rPr>
              <a:t>+ channels of the final protein list so if </a:t>
            </a:r>
            <a:r>
              <a:rPr lang="en-US" b="0" i="0" dirty="0" err="1">
                <a:solidFill>
                  <a:srgbClr val="1D1C1D"/>
                </a:solidFill>
                <a:effectLst/>
                <a:latin typeface="Slack-Lato"/>
              </a:rPr>
              <a:t>cre</a:t>
            </a:r>
            <a:r>
              <a:rPr lang="en-US" b="0" i="0" dirty="0">
                <a:solidFill>
                  <a:srgbClr val="1D1C1D"/>
                </a:solidFill>
                <a:effectLst/>
                <a:latin typeface="Slack-Lato"/>
              </a:rPr>
              <a:t>- are not or are normalized doesn't affect the volcano plot since it is both a median normalization</a:t>
            </a:r>
          </a:p>
        </p:txBody>
      </p:sp>
    </p:spTree>
    <p:extLst>
      <p:ext uri="{BB962C8B-B14F-4D97-AF65-F5344CB8AC3E}">
        <p14:creationId xmlns:p14="http://schemas.microsoft.com/office/powerpoint/2010/main" val="4009573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A636-7CA9-8B4E-B3B8-BABF6E6CACDC}"/>
              </a:ext>
            </a:extLst>
          </p:cNvPr>
          <p:cNvSpPr>
            <a:spLocks noGrp="1"/>
          </p:cNvSpPr>
          <p:nvPr>
            <p:ph type="ctrTitle"/>
          </p:nvPr>
        </p:nvSpPr>
        <p:spPr>
          <a:xfrm>
            <a:off x="1243830" y="1928356"/>
            <a:ext cx="9704340" cy="2075012"/>
          </a:xfrm>
        </p:spPr>
        <p:txBody>
          <a:bodyPr>
            <a:normAutofit/>
          </a:bodyPr>
          <a:lstStyle/>
          <a:p>
            <a:r>
              <a:rPr lang="en-US" b="1" dirty="0">
                <a:latin typeface="Times New Roman" panose="02020603050405020304" pitchFamily="18" charset="0"/>
                <a:cs typeface="Times New Roman" panose="02020603050405020304" pitchFamily="18" charset="0"/>
              </a:rPr>
              <a:t>Improvement of TP/FP lists</a:t>
            </a:r>
          </a:p>
        </p:txBody>
      </p:sp>
    </p:spTree>
    <p:extLst>
      <p:ext uri="{BB962C8B-B14F-4D97-AF65-F5344CB8AC3E}">
        <p14:creationId xmlns:p14="http://schemas.microsoft.com/office/powerpoint/2010/main" val="806671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19</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Description</a:t>
            </a:r>
            <a:endParaRPr lang="en-US"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334BA8F-7D11-7C46-92B4-623B02C91ADB}"/>
              </a:ext>
            </a:extLst>
          </p:cNvPr>
          <p:cNvSpPr>
            <a:spLocks noGrp="1"/>
          </p:cNvSpPr>
          <p:nvPr>
            <p:ph idx="1"/>
          </p:nvPr>
        </p:nvSpPr>
        <p:spPr>
          <a:xfrm>
            <a:off x="1106545" y="1764307"/>
            <a:ext cx="9978909" cy="3864074"/>
          </a:xfrm>
        </p:spPr>
        <p:txBody>
          <a:bodyPr>
            <a:normAutofit fontScale="92500" lnSpcReduction="10000"/>
          </a:bodyPr>
          <a:lstStyle/>
          <a:p>
            <a:pPr>
              <a:lnSpc>
                <a:spcPct val="120000"/>
              </a:lnSpc>
              <a:buClr>
                <a:schemeClr val="tx1"/>
              </a:buClr>
              <a:defRPr/>
            </a:pPr>
            <a:r>
              <a:rPr lang="en-US" sz="2000" i="0" spc="20" dirty="0">
                <a:solidFill>
                  <a:srgbClr val="000000"/>
                </a:solidFill>
                <a:latin typeface="Segoe UI" panose="020B0502040204020203" pitchFamily="34" charset="0"/>
                <a:cs typeface="Segoe UI" panose="020B0502040204020203" pitchFamily="34" charset="0"/>
              </a:rPr>
              <a:t>Corey shared </a:t>
            </a:r>
            <a:r>
              <a:rPr lang="en-US" sz="2000" spc="20" dirty="0" err="1">
                <a:solidFill>
                  <a:srgbClr val="000000"/>
                </a:solidFill>
                <a:latin typeface="Segoe UI" panose="020B0502040204020203" pitchFamily="34" charset="0"/>
                <a:cs typeface="Segoe UI" panose="020B0502040204020203" pitchFamily="34" charset="0"/>
              </a:rPr>
              <a:t>SignalP</a:t>
            </a:r>
            <a:r>
              <a:rPr lang="en-US" sz="2000" spc="20" dirty="0">
                <a:solidFill>
                  <a:srgbClr val="000000"/>
                </a:solidFill>
                <a:latin typeface="Segoe UI" panose="020B0502040204020203" pitchFamily="34" charset="0"/>
                <a:cs typeface="Segoe UI" panose="020B0502040204020203" pitchFamily="34" charset="0"/>
              </a:rPr>
              <a:t> prediction list: </a:t>
            </a:r>
            <a:r>
              <a:rPr lang="en-US" sz="2000" b="1" spc="20" dirty="0" err="1">
                <a:solidFill>
                  <a:srgbClr val="000000"/>
                </a:solidFill>
                <a:latin typeface="Segoe UI" panose="020B0502040204020203" pitchFamily="34" charset="0"/>
                <a:cs typeface="Segoe UI" panose="020B0502040204020203" pitchFamily="34" charset="0"/>
              </a:rPr>
              <a:t>Secretion_Prediction_Resource.csv</a:t>
            </a:r>
            <a:endParaRPr lang="en-US" sz="2000" b="1" spc="20" dirty="0">
              <a:solidFill>
                <a:srgbClr val="000000"/>
              </a:solidFill>
              <a:latin typeface="Segoe UI" panose="020B0502040204020203" pitchFamily="34" charset="0"/>
              <a:cs typeface="Segoe UI" panose="020B0502040204020203" pitchFamily="34" charset="0"/>
            </a:endParaRPr>
          </a:p>
          <a:p>
            <a:pPr marL="0" marR="0" algn="l">
              <a:spcBef>
                <a:spcPts val="0"/>
              </a:spcBef>
              <a:spcAft>
                <a:spcPts val="0"/>
              </a:spcAft>
            </a:pPr>
            <a:r>
              <a:rPr lang="en-US" sz="2000" b="0" i="0" u="none" strike="noStrike" dirty="0">
                <a:solidFill>
                  <a:srgbClr val="000000"/>
                </a:solidFill>
                <a:effectLst/>
                <a:latin typeface="Segoe UI" panose="020B0502040204020203" pitchFamily="34" charset="0"/>
                <a:cs typeface="Segoe UI" panose="020B0502040204020203" pitchFamily="34" charset="0"/>
              </a:rPr>
              <a:t>For each </a:t>
            </a:r>
            <a:r>
              <a:rPr lang="en-US" sz="2000" b="0" i="0" u="none" strike="noStrike" dirty="0" err="1">
                <a:solidFill>
                  <a:srgbClr val="000000"/>
                </a:solidFill>
                <a:effectLst/>
                <a:latin typeface="Segoe UI" panose="020B0502040204020203" pitchFamily="34" charset="0"/>
                <a:cs typeface="Segoe UI" panose="020B0502040204020203" pitchFamily="34" charset="0"/>
              </a:rPr>
              <a:t>uniprot</a:t>
            </a:r>
            <a:r>
              <a:rPr lang="en-US" sz="2000" b="0" i="0" u="none" strike="noStrike" dirty="0">
                <a:solidFill>
                  <a:srgbClr val="000000"/>
                </a:solidFill>
                <a:effectLst/>
                <a:latin typeface="Segoe UI" panose="020B0502040204020203" pitchFamily="34" charset="0"/>
                <a:cs typeface="Segoe UI" panose="020B0502040204020203" pitchFamily="34" charset="0"/>
              </a:rPr>
              <a:t> id we check if the Subcellular location has any of these terms: </a:t>
            </a:r>
          </a:p>
          <a:p>
            <a:pPr marL="457200" lvl="1">
              <a:spcBef>
                <a:spcPts val="0"/>
              </a:spcBef>
            </a:pPr>
            <a:r>
              <a:rPr lang="en-US" sz="2000" b="0" i="0" u="none" strike="noStrike" dirty="0">
                <a:solidFill>
                  <a:srgbClr val="000000"/>
                </a:solidFill>
                <a:effectLst/>
                <a:latin typeface="Segoe UI" panose="020B0502040204020203" pitchFamily="34" charset="0"/>
                <a:cs typeface="Segoe UI" panose="020B0502040204020203" pitchFamily="34" charset="0"/>
              </a:rPr>
              <a:t>Endoplasmic Reticulum</a:t>
            </a:r>
          </a:p>
          <a:p>
            <a:pPr marL="457200" lvl="1">
              <a:spcBef>
                <a:spcPts val="0"/>
              </a:spcBef>
            </a:pPr>
            <a:r>
              <a:rPr lang="en-US" sz="2000" b="0" i="0" u="none" strike="noStrike" dirty="0">
                <a:solidFill>
                  <a:srgbClr val="000000"/>
                </a:solidFill>
                <a:effectLst/>
                <a:latin typeface="Segoe UI" panose="020B0502040204020203" pitchFamily="34" charset="0"/>
                <a:cs typeface="Segoe UI" panose="020B0502040204020203" pitchFamily="34" charset="0"/>
              </a:rPr>
              <a:t>Rough endoplasmic reticulum</a:t>
            </a:r>
          </a:p>
          <a:p>
            <a:pPr marL="457200" lvl="1">
              <a:spcBef>
                <a:spcPts val="0"/>
              </a:spcBef>
            </a:pPr>
            <a:endParaRPr lang="en-US" sz="2000" b="0" i="0" u="none" strike="noStrike" dirty="0">
              <a:solidFill>
                <a:srgbClr val="000000"/>
              </a:solidFill>
              <a:effectLst/>
              <a:latin typeface="Segoe UI" panose="020B0502040204020203" pitchFamily="34" charset="0"/>
              <a:cs typeface="Segoe UI" panose="020B0502040204020203" pitchFamily="34" charset="0"/>
            </a:endParaRPr>
          </a:p>
          <a:p>
            <a:pPr marL="0" marR="0" algn="l">
              <a:spcBef>
                <a:spcPts val="0"/>
              </a:spcBef>
              <a:spcAft>
                <a:spcPts val="0"/>
              </a:spcAft>
            </a:pPr>
            <a:r>
              <a:rPr lang="en-US" sz="2000" b="0" i="0" u="none" strike="noStrike" dirty="0">
                <a:solidFill>
                  <a:srgbClr val="000000"/>
                </a:solidFill>
                <a:effectLst/>
                <a:latin typeface="Segoe UI" panose="020B0502040204020203" pitchFamily="34" charset="0"/>
                <a:cs typeface="Segoe UI" panose="020B0502040204020203" pitchFamily="34" charset="0"/>
              </a:rPr>
              <a:t>If yes, then we check if the </a:t>
            </a:r>
            <a:r>
              <a:rPr lang="en-US" sz="2000" b="1" i="0" u="none" strike="noStrike" dirty="0">
                <a:solidFill>
                  <a:srgbClr val="000000"/>
                </a:solidFill>
                <a:effectLst/>
                <a:latin typeface="Segoe UI" panose="020B0502040204020203" pitchFamily="34" charset="0"/>
                <a:cs typeface="Segoe UI" panose="020B0502040204020203" pitchFamily="34" charset="0"/>
              </a:rPr>
              <a:t>score column </a:t>
            </a:r>
            <a:r>
              <a:rPr lang="en-US" sz="2000" b="0" i="0" u="none" strike="noStrike" dirty="0">
                <a:solidFill>
                  <a:srgbClr val="000000"/>
                </a:solidFill>
                <a:effectLst/>
                <a:latin typeface="Segoe UI" panose="020B0502040204020203" pitchFamily="34" charset="0"/>
                <a:cs typeface="Segoe UI" panose="020B0502040204020203" pitchFamily="34" charset="0"/>
              </a:rPr>
              <a:t>has a value &gt;= 0.7 but the </a:t>
            </a:r>
            <a:r>
              <a:rPr lang="en-US" sz="2000" b="1" i="0" u="none" strike="noStrike" dirty="0" err="1">
                <a:solidFill>
                  <a:srgbClr val="000000"/>
                </a:solidFill>
                <a:effectLst/>
                <a:latin typeface="Segoe UI" panose="020B0502040204020203" pitchFamily="34" charset="0"/>
                <a:cs typeface="Segoe UI" panose="020B0502040204020203" pitchFamily="34" charset="0"/>
              </a:rPr>
              <a:t>UPS_score</a:t>
            </a:r>
            <a:r>
              <a:rPr lang="en-US" sz="2000" b="1" i="0" u="none" strike="noStrike" dirty="0">
                <a:solidFill>
                  <a:srgbClr val="000000"/>
                </a:solidFill>
                <a:effectLst/>
                <a:latin typeface="Segoe UI" panose="020B0502040204020203" pitchFamily="34" charset="0"/>
                <a:cs typeface="Segoe UI" panose="020B0502040204020203" pitchFamily="34" charset="0"/>
              </a:rPr>
              <a:t> </a:t>
            </a:r>
            <a:r>
              <a:rPr lang="en-US" sz="2000" b="0" i="0" u="none" strike="noStrike" dirty="0">
                <a:solidFill>
                  <a:srgbClr val="000000"/>
                </a:solidFill>
                <a:effectLst/>
                <a:latin typeface="Segoe UI" panose="020B0502040204020203" pitchFamily="34" charset="0"/>
                <a:cs typeface="Segoe UI" panose="020B0502040204020203" pitchFamily="34" charset="0"/>
              </a:rPr>
              <a:t>column value is 0</a:t>
            </a:r>
          </a:p>
          <a:p>
            <a:pPr marL="0" marR="0" indent="0" algn="l">
              <a:spcBef>
                <a:spcPts val="0"/>
              </a:spcBef>
              <a:spcAft>
                <a:spcPts val="0"/>
              </a:spcAft>
              <a:buNone/>
            </a:pPr>
            <a:endParaRPr lang="en-US" sz="2000" dirty="0">
              <a:solidFill>
                <a:srgbClr val="000000"/>
              </a:solidFill>
              <a:latin typeface="Segoe UI" panose="020B0502040204020203" pitchFamily="34" charset="0"/>
              <a:cs typeface="Segoe UI" panose="020B0502040204020203" pitchFamily="34" charset="0"/>
            </a:endParaRPr>
          </a:p>
          <a:p>
            <a:pPr marL="0" marR="0" indent="0" algn="l">
              <a:spcBef>
                <a:spcPts val="0"/>
              </a:spcBef>
              <a:spcAft>
                <a:spcPts val="0"/>
              </a:spcAft>
              <a:buNone/>
            </a:pPr>
            <a:r>
              <a:rPr lang="en-US" sz="1400" b="0" u="none" strike="noStrike" dirty="0">
                <a:solidFill>
                  <a:srgbClr val="000000"/>
                </a:solidFill>
                <a:effectLst/>
                <a:latin typeface="Calibri" panose="020F0502020204030204" pitchFamily="34" charset="0"/>
              </a:rPr>
              <a:t>Note from Corey: </a:t>
            </a:r>
            <a:r>
              <a:rPr lang="en-US" sz="1400" b="0" i="1" u="none" strike="noStrike" dirty="0">
                <a:solidFill>
                  <a:srgbClr val="000000"/>
                </a:solidFill>
                <a:effectLst/>
                <a:latin typeface="Calibri" panose="020F0502020204030204" pitchFamily="34" charset="0"/>
              </a:rPr>
              <a:t>The “score” column represents the likelihood of classical secretion, while the “</a:t>
            </a:r>
            <a:r>
              <a:rPr lang="en-US" sz="1400" b="0" i="1" u="none" strike="noStrike" dirty="0" err="1">
                <a:solidFill>
                  <a:srgbClr val="000000"/>
                </a:solidFill>
                <a:effectLst/>
                <a:latin typeface="Calibri" panose="020F0502020204030204" pitchFamily="34" charset="0"/>
              </a:rPr>
              <a:t>UPS_score</a:t>
            </a:r>
            <a:r>
              <a:rPr lang="en-US" sz="1400" b="0" i="1" u="none" strike="noStrike" dirty="0">
                <a:solidFill>
                  <a:srgbClr val="000000"/>
                </a:solidFill>
                <a:effectLst/>
                <a:latin typeface="Calibri" panose="020F0502020204030204" pitchFamily="34" charset="0"/>
              </a:rPr>
              <a:t>” is the likelihood of unclassical secretion. Because we expect to be tagging classically secreted proteins, I would actually </a:t>
            </a:r>
            <a:r>
              <a:rPr lang="en-US" sz="1400" b="1" i="1" u="none" strike="noStrike" dirty="0">
                <a:solidFill>
                  <a:srgbClr val="000000"/>
                </a:solidFill>
                <a:effectLst/>
                <a:latin typeface="Calibri" panose="020F0502020204030204" pitchFamily="34" charset="0"/>
              </a:rPr>
              <a:t>exclude</a:t>
            </a:r>
            <a:r>
              <a:rPr lang="en-US" sz="1400" b="0" i="1" u="none" strike="noStrike" dirty="0">
                <a:solidFill>
                  <a:srgbClr val="000000"/>
                </a:solidFill>
                <a:effectLst/>
                <a:latin typeface="Calibri" panose="020F0502020204030204" pitchFamily="34" charset="0"/>
              </a:rPr>
              <a:t> those proteins from the TP list that have a high </a:t>
            </a:r>
            <a:r>
              <a:rPr lang="en-US" sz="1400" b="0" i="1" u="none" strike="noStrike" dirty="0" err="1">
                <a:solidFill>
                  <a:srgbClr val="000000"/>
                </a:solidFill>
                <a:effectLst/>
                <a:latin typeface="Calibri" panose="020F0502020204030204" pitchFamily="34" charset="0"/>
              </a:rPr>
              <a:t>UPS_score</a:t>
            </a:r>
            <a:r>
              <a:rPr lang="en-US" sz="1400" b="0" i="1" u="none" strike="noStrike" dirty="0">
                <a:solidFill>
                  <a:srgbClr val="000000"/>
                </a:solidFill>
                <a:effectLst/>
                <a:latin typeface="Calibri" panose="020F0502020204030204" pitchFamily="34" charset="0"/>
              </a:rPr>
              <a:t>, as they may not be trafficked through the ER for secretion.</a:t>
            </a:r>
            <a:endParaRPr lang="en-US" sz="2000" b="0" i="1" u="none" strike="noStrike" dirty="0">
              <a:solidFill>
                <a:srgbClr val="000000"/>
              </a:solidFill>
              <a:effectLst/>
              <a:latin typeface="Segoe UI" panose="020B0502040204020203" pitchFamily="34" charset="0"/>
              <a:cs typeface="Segoe UI" panose="020B0502040204020203" pitchFamily="34" charset="0"/>
            </a:endParaRPr>
          </a:p>
          <a:p>
            <a:pPr marL="0" marR="0" indent="0" algn="l">
              <a:spcBef>
                <a:spcPts val="0"/>
              </a:spcBef>
              <a:spcAft>
                <a:spcPts val="0"/>
              </a:spcAft>
              <a:buNone/>
            </a:pPr>
            <a:endParaRPr lang="en-US" sz="2000" b="0" i="0" u="none" strike="noStrike" dirty="0">
              <a:solidFill>
                <a:srgbClr val="000000"/>
              </a:solidFill>
              <a:effectLst/>
              <a:latin typeface="Segoe UI" panose="020B0502040204020203" pitchFamily="34" charset="0"/>
              <a:cs typeface="Segoe UI" panose="020B0502040204020203" pitchFamily="34" charset="0"/>
            </a:endParaRPr>
          </a:p>
          <a:p>
            <a:pPr marL="0" marR="0" algn="l">
              <a:spcBef>
                <a:spcPts val="0"/>
              </a:spcBef>
              <a:spcAft>
                <a:spcPts val="0"/>
              </a:spcAft>
            </a:pPr>
            <a:r>
              <a:rPr lang="en-US" sz="2000" b="0" i="0" u="none" strike="noStrike" dirty="0">
                <a:solidFill>
                  <a:srgbClr val="000000"/>
                </a:solidFill>
                <a:effectLst/>
                <a:latin typeface="Segoe UI" panose="020B0502040204020203" pitchFamily="34" charset="0"/>
                <a:cs typeface="Segoe UI" panose="020B0502040204020203" pitchFamily="34" charset="0"/>
              </a:rPr>
              <a:t>Then for the FP lists use the </a:t>
            </a:r>
            <a:r>
              <a:rPr lang="en-US" sz="2000" b="0" i="0" u="none" strike="noStrike" dirty="0" err="1">
                <a:solidFill>
                  <a:srgbClr val="000000"/>
                </a:solidFill>
                <a:effectLst/>
                <a:latin typeface="Segoe UI" panose="020B0502040204020203" pitchFamily="34" charset="0"/>
                <a:cs typeface="Segoe UI" panose="020B0502040204020203" pitchFamily="34" charset="0"/>
              </a:rPr>
              <a:t>mitomatrix</a:t>
            </a:r>
            <a:r>
              <a:rPr lang="en-US" sz="2000" b="0" i="0" u="none" strike="noStrike" dirty="0">
                <a:solidFill>
                  <a:srgbClr val="000000"/>
                </a:solidFill>
                <a:effectLst/>
                <a:latin typeface="Segoe UI" panose="020B0502040204020203" pitchFamily="34" charset="0"/>
                <a:cs typeface="Segoe UI" panose="020B0502040204020203" pitchFamily="34" charset="0"/>
              </a:rPr>
              <a:t> list – but exclude the proteins with </a:t>
            </a:r>
          </a:p>
          <a:p>
            <a:pPr marL="0" marR="0" indent="0" algn="l">
              <a:spcBef>
                <a:spcPts val="0"/>
              </a:spcBef>
              <a:spcAft>
                <a:spcPts val="0"/>
              </a:spcAft>
              <a:buNone/>
            </a:pPr>
            <a:r>
              <a:rPr lang="en-US" sz="2000" b="1" i="0" u="none" strike="noStrike" dirty="0">
                <a:solidFill>
                  <a:srgbClr val="000000"/>
                </a:solidFill>
                <a:effectLst/>
                <a:latin typeface="Segoe UI" panose="020B0502040204020203" pitchFamily="34" charset="0"/>
                <a:cs typeface="Segoe UI" panose="020B0502040204020203" pitchFamily="34" charset="0"/>
              </a:rPr>
              <a:t>score column </a:t>
            </a:r>
            <a:r>
              <a:rPr lang="en-US" sz="2000" b="0" i="0" u="none" strike="noStrike" dirty="0">
                <a:solidFill>
                  <a:srgbClr val="000000"/>
                </a:solidFill>
                <a:effectLst/>
                <a:latin typeface="Segoe UI" panose="020B0502040204020203" pitchFamily="34" charset="0"/>
                <a:cs typeface="Segoe UI" panose="020B0502040204020203" pitchFamily="34" charset="0"/>
              </a:rPr>
              <a:t>&gt;= 0.7 and </a:t>
            </a:r>
            <a:r>
              <a:rPr lang="en-US" sz="2000" b="1" i="0" u="none" strike="noStrike" dirty="0" err="1">
                <a:solidFill>
                  <a:srgbClr val="000000"/>
                </a:solidFill>
                <a:effectLst/>
                <a:latin typeface="Segoe UI" panose="020B0502040204020203" pitchFamily="34" charset="0"/>
                <a:cs typeface="Segoe UI" panose="020B0502040204020203" pitchFamily="34" charset="0"/>
              </a:rPr>
              <a:t>UPS_score</a:t>
            </a:r>
            <a:r>
              <a:rPr lang="en-US" sz="2000" b="1" i="0" u="none" strike="noStrike" dirty="0">
                <a:solidFill>
                  <a:srgbClr val="000000"/>
                </a:solidFill>
                <a:effectLst/>
                <a:latin typeface="Segoe UI" panose="020B0502040204020203" pitchFamily="34" charset="0"/>
                <a:cs typeface="Segoe UI" panose="020B0502040204020203" pitchFamily="34" charset="0"/>
              </a:rPr>
              <a:t> </a:t>
            </a:r>
            <a:r>
              <a:rPr lang="en-US" sz="2000" b="0" i="0" u="none" strike="noStrike" dirty="0">
                <a:solidFill>
                  <a:srgbClr val="000000"/>
                </a:solidFill>
                <a:effectLst/>
                <a:latin typeface="Segoe UI" panose="020B0502040204020203" pitchFamily="34" charset="0"/>
                <a:cs typeface="Segoe UI" panose="020B0502040204020203" pitchFamily="34" charset="0"/>
              </a:rPr>
              <a:t>column value is 0</a:t>
            </a:r>
          </a:p>
          <a:p>
            <a:pPr marL="0" marR="0" algn="l">
              <a:spcBef>
                <a:spcPts val="0"/>
              </a:spcBef>
              <a:spcAft>
                <a:spcPts val="0"/>
              </a:spcAft>
            </a:pPr>
            <a:endParaRPr lang="en-US" sz="2000" dirty="0">
              <a:solidFill>
                <a:srgbClr val="000000"/>
              </a:solidFill>
              <a:latin typeface="Segoe UI" panose="020B0502040204020203" pitchFamily="34" charset="0"/>
              <a:cs typeface="Segoe UI" panose="020B0502040204020203" pitchFamily="34" charset="0"/>
            </a:endParaRPr>
          </a:p>
          <a:p>
            <a:pPr marL="0" marR="0" algn="l">
              <a:spcBef>
                <a:spcPts val="0"/>
              </a:spcBef>
              <a:spcAft>
                <a:spcPts val="0"/>
              </a:spcAft>
            </a:pPr>
            <a:r>
              <a:rPr lang="en-US" sz="2000" b="0" i="0" u="none" strike="noStrike" dirty="0">
                <a:solidFill>
                  <a:srgbClr val="000000"/>
                </a:solidFill>
                <a:effectLst/>
                <a:latin typeface="Segoe UI" panose="020B0502040204020203" pitchFamily="34" charset="0"/>
                <a:cs typeface="Segoe UI" panose="020B0502040204020203" pitchFamily="34" charset="0"/>
              </a:rPr>
              <a:t>The results for this test are in </a:t>
            </a:r>
            <a:r>
              <a:rPr lang="en-US" sz="2000" b="1" i="0" u="none" strike="noStrike" dirty="0">
                <a:solidFill>
                  <a:srgbClr val="000000"/>
                </a:solidFill>
                <a:effectLst/>
                <a:latin typeface="Segoe UI" panose="020B0502040204020203" pitchFamily="34" charset="0"/>
                <a:cs typeface="Segoe UI" panose="020B0502040204020203" pitchFamily="34" charset="0"/>
              </a:rPr>
              <a:t>051023_newlists_results_dont_use</a:t>
            </a:r>
          </a:p>
          <a:p>
            <a:pPr marL="0" marR="0" indent="0" algn="l">
              <a:spcBef>
                <a:spcPts val="0"/>
              </a:spcBef>
              <a:spcAft>
                <a:spcPts val="0"/>
              </a:spcAft>
              <a:buNone/>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a:buClr>
                <a:srgbClr val="7BAF34"/>
              </a:buClr>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Tree>
    <p:extLst>
      <p:ext uri="{BB962C8B-B14F-4D97-AF65-F5344CB8AC3E}">
        <p14:creationId xmlns:p14="http://schemas.microsoft.com/office/powerpoint/2010/main" val="787388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FB9493-3B31-7442-A8F3-792E4A8E4E18}"/>
              </a:ext>
            </a:extLst>
          </p:cNvPr>
          <p:cNvSpPr/>
          <p:nvPr/>
        </p:nvSpPr>
        <p:spPr>
          <a:xfrm>
            <a:off x="720000" y="3648545"/>
            <a:ext cx="10881450" cy="189738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FDC7938-1D84-FF4D-83EF-7F7E750E52EB}"/>
              </a:ext>
            </a:extLst>
          </p:cNvPr>
          <p:cNvSpPr/>
          <p:nvPr/>
        </p:nvSpPr>
        <p:spPr>
          <a:xfrm>
            <a:off x="720000" y="1611630"/>
            <a:ext cx="10881450" cy="189738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20</a:t>
            </a:fld>
            <a:endParaRPr lang="en-US" dirty="0"/>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Total number of proteins in list </a:t>
            </a:r>
          </a:p>
        </p:txBody>
      </p:sp>
      <p:sp>
        <p:nvSpPr>
          <p:cNvPr id="5" name="Content Placeholder 2">
            <a:extLst>
              <a:ext uri="{FF2B5EF4-FFF2-40B4-BE49-F238E27FC236}">
                <a16:creationId xmlns:a16="http://schemas.microsoft.com/office/drawing/2014/main" id="{D334BA8F-7D11-7C46-92B4-623B02C91ADB}"/>
              </a:ext>
            </a:extLst>
          </p:cNvPr>
          <p:cNvSpPr>
            <a:spLocks noGrp="1"/>
          </p:cNvSpPr>
          <p:nvPr>
            <p:ph idx="1"/>
          </p:nvPr>
        </p:nvSpPr>
        <p:spPr>
          <a:xfrm>
            <a:off x="1106545" y="1764307"/>
            <a:ext cx="9978909" cy="3864074"/>
          </a:xfrm>
        </p:spPr>
        <p:txBody>
          <a:bodyPr>
            <a:normAutofit/>
          </a:bodyPr>
          <a:lstStyle/>
          <a:p>
            <a:pPr marL="0" indent="0">
              <a:lnSpc>
                <a:spcPct val="120000"/>
              </a:lnSpc>
              <a:buClr>
                <a:schemeClr val="tx1"/>
              </a:buClr>
              <a:buNone/>
              <a:defRPr/>
            </a:pPr>
            <a:r>
              <a:rPr lang="en-US" sz="2000" i="0" spc="20" dirty="0">
                <a:solidFill>
                  <a:srgbClr val="000000"/>
                </a:solidFill>
                <a:latin typeface="Segoe UI" panose="020B0502040204020203" pitchFamily="34" charset="0"/>
                <a:cs typeface="Segoe UI" panose="020B0502040204020203" pitchFamily="34" charset="0"/>
              </a:rPr>
              <a:t>Old lists </a:t>
            </a:r>
            <a:endParaRPr lang="en-US" sz="2000" b="1" spc="20" dirty="0">
              <a:solidFill>
                <a:srgbClr val="000000"/>
              </a:solidFill>
              <a:latin typeface="Segoe UI" panose="020B0502040204020203" pitchFamily="34" charset="0"/>
              <a:cs typeface="Segoe UI" panose="020B0502040204020203" pitchFamily="34" charset="0"/>
            </a:endParaRPr>
          </a:p>
          <a:p>
            <a:pPr>
              <a:buClr>
                <a:srgbClr val="7BAF34"/>
              </a:buClr>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0" indent="0">
              <a:lnSpc>
                <a:spcPct val="120000"/>
              </a:lnSpc>
              <a:buClr>
                <a:srgbClr val="7BAF34"/>
              </a:buClr>
              <a:buNone/>
              <a:defRPr/>
            </a:pPr>
            <a:r>
              <a:rPr lang="en-US" sz="2000" i="0" spc="20" dirty="0">
                <a:solidFill>
                  <a:srgbClr val="000000"/>
                </a:solidFill>
                <a:latin typeface="Segoe UI" panose="020B0502040204020203" pitchFamily="34" charset="0"/>
                <a:cs typeface="Segoe UI" panose="020B0502040204020203" pitchFamily="34" charset="0"/>
              </a:rPr>
              <a:t>New lists (with </a:t>
            </a:r>
            <a:r>
              <a:rPr lang="en-US" sz="2000" i="0" spc="20" dirty="0" err="1">
                <a:solidFill>
                  <a:srgbClr val="000000"/>
                </a:solidFill>
                <a:latin typeface="Segoe UI" panose="020B0502040204020203" pitchFamily="34" charset="0"/>
                <a:cs typeface="Segoe UI" panose="020B0502040204020203" pitchFamily="34" charset="0"/>
              </a:rPr>
              <a:t>SignalP</a:t>
            </a:r>
            <a:r>
              <a:rPr lang="en-US" sz="2000" spc="20" dirty="0">
                <a:solidFill>
                  <a:srgbClr val="000000"/>
                </a:solidFill>
                <a:latin typeface="Segoe UI" panose="020B0502040204020203" pitchFamily="34" charset="0"/>
                <a:cs typeface="Segoe UI" panose="020B0502040204020203" pitchFamily="34" charset="0"/>
              </a:rPr>
              <a:t>)</a:t>
            </a:r>
            <a:endParaRPr lang="en-US" sz="2000" b="1" spc="20" dirty="0">
              <a:solidFill>
                <a:srgbClr val="000000"/>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
        <p:nvSpPr>
          <p:cNvPr id="7" name="Rectangle 6">
            <a:extLst>
              <a:ext uri="{FF2B5EF4-FFF2-40B4-BE49-F238E27FC236}">
                <a16:creationId xmlns:a16="http://schemas.microsoft.com/office/drawing/2014/main" id="{03292042-6149-A447-BDAE-2B25DDEF63C4}"/>
              </a:ext>
            </a:extLst>
          </p:cNvPr>
          <p:cNvSpPr/>
          <p:nvPr/>
        </p:nvSpPr>
        <p:spPr>
          <a:xfrm>
            <a:off x="2859766" y="2546812"/>
            <a:ext cx="2738535" cy="406937"/>
          </a:xfrm>
          <a:prstGeom prst="rect">
            <a:avLst/>
          </a:prstGeom>
          <a:solidFill>
            <a:srgbClr val="008A00"/>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TP list: </a:t>
            </a:r>
            <a:r>
              <a:rPr lang="en-US" b="1" dirty="0">
                <a:solidFill>
                  <a:schemeClr val="bg1"/>
                </a:solidFill>
              </a:rPr>
              <a:t>2806</a:t>
            </a:r>
            <a:r>
              <a:rPr lang="en-US" dirty="0">
                <a:solidFill>
                  <a:schemeClr val="bg1"/>
                </a:solidFill>
              </a:rPr>
              <a:t> Proteins</a:t>
            </a:r>
          </a:p>
        </p:txBody>
      </p:sp>
      <p:sp>
        <p:nvSpPr>
          <p:cNvPr id="8" name="Rectangle 7">
            <a:extLst>
              <a:ext uri="{FF2B5EF4-FFF2-40B4-BE49-F238E27FC236}">
                <a16:creationId xmlns:a16="http://schemas.microsoft.com/office/drawing/2014/main" id="{054423E0-2779-0145-99D5-394704B4A2D3}"/>
              </a:ext>
            </a:extLst>
          </p:cNvPr>
          <p:cNvSpPr/>
          <p:nvPr/>
        </p:nvSpPr>
        <p:spPr>
          <a:xfrm>
            <a:off x="5872065" y="2546811"/>
            <a:ext cx="2738535" cy="406937"/>
          </a:xfrm>
          <a:prstGeom prst="rect">
            <a:avLst/>
          </a:prstGeom>
          <a:solidFill>
            <a:srgbClr val="C0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FP list: </a:t>
            </a:r>
            <a:r>
              <a:rPr lang="en-US" b="1" dirty="0">
                <a:solidFill>
                  <a:schemeClr val="bg1"/>
                </a:solidFill>
              </a:rPr>
              <a:t>435</a:t>
            </a:r>
            <a:r>
              <a:rPr lang="en-US" dirty="0">
                <a:solidFill>
                  <a:schemeClr val="bg1"/>
                </a:solidFill>
              </a:rPr>
              <a:t> Proteins</a:t>
            </a:r>
          </a:p>
        </p:txBody>
      </p:sp>
      <p:sp>
        <p:nvSpPr>
          <p:cNvPr id="9" name="Rectangle 8">
            <a:extLst>
              <a:ext uri="{FF2B5EF4-FFF2-40B4-BE49-F238E27FC236}">
                <a16:creationId xmlns:a16="http://schemas.microsoft.com/office/drawing/2014/main" id="{69C8880B-A639-0D4A-BAE4-CDC36D688C9C}"/>
              </a:ext>
            </a:extLst>
          </p:cNvPr>
          <p:cNvSpPr/>
          <p:nvPr/>
        </p:nvSpPr>
        <p:spPr>
          <a:xfrm>
            <a:off x="2859766" y="4690244"/>
            <a:ext cx="2738535" cy="406937"/>
          </a:xfrm>
          <a:prstGeom prst="rect">
            <a:avLst/>
          </a:prstGeom>
          <a:solidFill>
            <a:srgbClr val="008A00"/>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TP list: </a:t>
            </a:r>
            <a:r>
              <a:rPr lang="en-US" b="1" dirty="0">
                <a:solidFill>
                  <a:schemeClr val="bg1"/>
                </a:solidFill>
              </a:rPr>
              <a:t>295</a:t>
            </a:r>
            <a:r>
              <a:rPr lang="en-US" dirty="0">
                <a:solidFill>
                  <a:schemeClr val="bg1"/>
                </a:solidFill>
              </a:rPr>
              <a:t> Proteins</a:t>
            </a:r>
          </a:p>
        </p:txBody>
      </p:sp>
      <p:sp>
        <p:nvSpPr>
          <p:cNvPr id="10" name="Rectangle 9">
            <a:extLst>
              <a:ext uri="{FF2B5EF4-FFF2-40B4-BE49-F238E27FC236}">
                <a16:creationId xmlns:a16="http://schemas.microsoft.com/office/drawing/2014/main" id="{41E29D01-8C5D-2345-86EB-6062B1DFA413}"/>
              </a:ext>
            </a:extLst>
          </p:cNvPr>
          <p:cNvSpPr/>
          <p:nvPr/>
        </p:nvSpPr>
        <p:spPr>
          <a:xfrm>
            <a:off x="5872065" y="4690243"/>
            <a:ext cx="2738535" cy="406937"/>
          </a:xfrm>
          <a:prstGeom prst="rect">
            <a:avLst/>
          </a:prstGeom>
          <a:solidFill>
            <a:srgbClr val="C0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FP list: </a:t>
            </a:r>
            <a:r>
              <a:rPr lang="en-US" b="1" dirty="0">
                <a:solidFill>
                  <a:schemeClr val="bg1"/>
                </a:solidFill>
              </a:rPr>
              <a:t>438</a:t>
            </a:r>
            <a:r>
              <a:rPr lang="en-US" dirty="0">
                <a:solidFill>
                  <a:schemeClr val="bg1"/>
                </a:solidFill>
              </a:rPr>
              <a:t> Proteins</a:t>
            </a:r>
          </a:p>
        </p:txBody>
      </p:sp>
      <p:sp>
        <p:nvSpPr>
          <p:cNvPr id="12" name="TextBox 11">
            <a:extLst>
              <a:ext uri="{FF2B5EF4-FFF2-40B4-BE49-F238E27FC236}">
                <a16:creationId xmlns:a16="http://schemas.microsoft.com/office/drawing/2014/main" id="{35271CA7-79AF-3B43-97E2-F0B551793999}"/>
              </a:ext>
            </a:extLst>
          </p:cNvPr>
          <p:cNvSpPr txBox="1"/>
          <p:nvPr/>
        </p:nvSpPr>
        <p:spPr>
          <a:xfrm>
            <a:off x="5772674" y="5192311"/>
            <a:ext cx="5390710" cy="1246495"/>
          </a:xfrm>
          <a:prstGeom prst="rect">
            <a:avLst/>
          </a:prstGeom>
          <a:noFill/>
        </p:spPr>
        <p:txBody>
          <a:bodyPr wrap="square" rtlCol="0">
            <a:spAutoFit/>
          </a:bodyPr>
          <a:lstStyle/>
          <a:p>
            <a:pPr algn="ctr"/>
            <a:r>
              <a:rPr lang="en-US" sz="1500" dirty="0">
                <a:solidFill>
                  <a:srgbClr val="C00000"/>
                </a:solidFill>
              </a:rPr>
              <a:t>There is more here because in the old list I removed proteins that had a </a:t>
            </a:r>
            <a:r>
              <a:rPr lang="en-US" sz="1500" dirty="0" err="1">
                <a:solidFill>
                  <a:srgbClr val="C00000"/>
                </a:solidFill>
              </a:rPr>
              <a:t>signalP</a:t>
            </a:r>
            <a:r>
              <a:rPr lang="en-US" sz="1500" dirty="0">
                <a:solidFill>
                  <a:srgbClr val="C00000"/>
                </a:solidFill>
              </a:rPr>
              <a:t> annotation from </a:t>
            </a:r>
            <a:r>
              <a:rPr lang="en-US" sz="1500" dirty="0" err="1">
                <a:solidFill>
                  <a:srgbClr val="C00000"/>
                </a:solidFill>
              </a:rPr>
              <a:t>uniprot</a:t>
            </a:r>
            <a:r>
              <a:rPr lang="en-US" sz="1500" dirty="0">
                <a:solidFill>
                  <a:srgbClr val="C00000"/>
                </a:solidFill>
              </a:rPr>
              <a:t>, now I am using the list </a:t>
            </a:r>
            <a:r>
              <a:rPr lang="en-US" sz="1500" dirty="0" err="1">
                <a:solidFill>
                  <a:srgbClr val="C00000"/>
                </a:solidFill>
              </a:rPr>
              <a:t>Coreys</a:t>
            </a:r>
            <a:r>
              <a:rPr lang="en-US" sz="1500" dirty="0">
                <a:solidFill>
                  <a:srgbClr val="C00000"/>
                </a:solidFill>
              </a:rPr>
              <a:t> shared and only exclude the proteins with </a:t>
            </a:r>
          </a:p>
          <a:p>
            <a:pPr algn="ctr"/>
            <a:r>
              <a:rPr lang="en-US" sz="1500" dirty="0">
                <a:solidFill>
                  <a:srgbClr val="C00000"/>
                </a:solidFill>
              </a:rPr>
              <a:t>score column &gt;= 0.7 and </a:t>
            </a:r>
            <a:r>
              <a:rPr lang="en-US" sz="1500" dirty="0" err="1">
                <a:solidFill>
                  <a:srgbClr val="C00000"/>
                </a:solidFill>
              </a:rPr>
              <a:t>UPS_score</a:t>
            </a:r>
            <a:r>
              <a:rPr lang="en-US" sz="1500" dirty="0">
                <a:solidFill>
                  <a:srgbClr val="C00000"/>
                </a:solidFill>
              </a:rPr>
              <a:t> column value is 0</a:t>
            </a:r>
          </a:p>
          <a:p>
            <a:pPr algn="ctr"/>
            <a:endParaRPr lang="en-US" sz="1500" dirty="0">
              <a:solidFill>
                <a:srgbClr val="C00000"/>
              </a:solidFill>
            </a:endParaRPr>
          </a:p>
        </p:txBody>
      </p:sp>
    </p:spTree>
    <p:extLst>
      <p:ext uri="{BB962C8B-B14F-4D97-AF65-F5344CB8AC3E}">
        <p14:creationId xmlns:p14="http://schemas.microsoft.com/office/powerpoint/2010/main" val="187443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D71B86B-BC2D-9047-8277-56342C96644B}"/>
              </a:ext>
            </a:extLst>
          </p:cNvPr>
          <p:cNvSpPr/>
          <p:nvPr/>
        </p:nvSpPr>
        <p:spPr>
          <a:xfrm>
            <a:off x="185770" y="1223118"/>
            <a:ext cx="11859994" cy="277208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78E196A-10A1-3D45-9865-B2B9D48AAD8B}"/>
              </a:ext>
            </a:extLst>
          </p:cNvPr>
          <p:cNvSpPr/>
          <p:nvPr/>
        </p:nvSpPr>
        <p:spPr>
          <a:xfrm>
            <a:off x="166003" y="4019391"/>
            <a:ext cx="11859994" cy="277208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21</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File 100A</a:t>
            </a:r>
          </a:p>
        </p:txBody>
      </p:sp>
      <p:pic>
        <p:nvPicPr>
          <p:cNvPr id="18" name="Picture 17" descr="Chart, histogram&#10;&#10;Description automatically generated">
            <a:extLst>
              <a:ext uri="{FF2B5EF4-FFF2-40B4-BE49-F238E27FC236}">
                <a16:creationId xmlns:a16="http://schemas.microsoft.com/office/drawing/2014/main" id="{95489256-47F2-BF44-BDFC-FA7090669E9D}"/>
              </a:ext>
            </a:extLst>
          </p:cNvPr>
          <p:cNvPicPr>
            <a:picLocks noChangeAspect="1"/>
          </p:cNvPicPr>
          <p:nvPr/>
        </p:nvPicPr>
        <p:blipFill>
          <a:blip r:embed="rId3"/>
          <a:stretch>
            <a:fillRect/>
          </a:stretch>
        </p:blipFill>
        <p:spPr>
          <a:xfrm>
            <a:off x="4115264" y="4106331"/>
            <a:ext cx="4027722" cy="2685148"/>
          </a:xfrm>
          <a:prstGeom prst="rect">
            <a:avLst/>
          </a:prstGeom>
        </p:spPr>
      </p:pic>
      <p:pic>
        <p:nvPicPr>
          <p:cNvPr id="22" name="Picture 21" descr="Chart, histogram&#10;&#10;Description automatically generated">
            <a:extLst>
              <a:ext uri="{FF2B5EF4-FFF2-40B4-BE49-F238E27FC236}">
                <a16:creationId xmlns:a16="http://schemas.microsoft.com/office/drawing/2014/main" id="{BEA2181E-EAEC-F347-80D6-7751373F5E5C}"/>
              </a:ext>
            </a:extLst>
          </p:cNvPr>
          <p:cNvPicPr>
            <a:picLocks noChangeAspect="1"/>
          </p:cNvPicPr>
          <p:nvPr/>
        </p:nvPicPr>
        <p:blipFill>
          <a:blip r:embed="rId4"/>
          <a:stretch>
            <a:fillRect/>
          </a:stretch>
        </p:blipFill>
        <p:spPr>
          <a:xfrm>
            <a:off x="7998275" y="4110098"/>
            <a:ext cx="4027722" cy="2685148"/>
          </a:xfrm>
          <a:prstGeom prst="rect">
            <a:avLst/>
          </a:prstGeom>
        </p:spPr>
      </p:pic>
      <p:pic>
        <p:nvPicPr>
          <p:cNvPr id="26" name="Picture 25" descr="Chart&#10;&#10;Description automatically generated">
            <a:extLst>
              <a:ext uri="{FF2B5EF4-FFF2-40B4-BE49-F238E27FC236}">
                <a16:creationId xmlns:a16="http://schemas.microsoft.com/office/drawing/2014/main" id="{827C3A6E-C342-AD4E-A8D7-5A8373465A5B}"/>
              </a:ext>
            </a:extLst>
          </p:cNvPr>
          <p:cNvPicPr>
            <a:picLocks noChangeAspect="1"/>
          </p:cNvPicPr>
          <p:nvPr/>
        </p:nvPicPr>
        <p:blipFill>
          <a:blip r:embed="rId5"/>
          <a:stretch>
            <a:fillRect/>
          </a:stretch>
        </p:blipFill>
        <p:spPr>
          <a:xfrm>
            <a:off x="185770" y="4067763"/>
            <a:ext cx="4185356" cy="2790237"/>
          </a:xfrm>
          <a:prstGeom prst="rect">
            <a:avLst/>
          </a:prstGeom>
        </p:spPr>
      </p:pic>
      <p:pic>
        <p:nvPicPr>
          <p:cNvPr id="36" name="Picture 35" descr="Chart, bar chart&#10;&#10;Description automatically generated">
            <a:extLst>
              <a:ext uri="{FF2B5EF4-FFF2-40B4-BE49-F238E27FC236}">
                <a16:creationId xmlns:a16="http://schemas.microsoft.com/office/drawing/2014/main" id="{EBF3E255-2A18-3143-9C31-70D177F0733F}"/>
              </a:ext>
            </a:extLst>
          </p:cNvPr>
          <p:cNvPicPr>
            <a:picLocks noChangeAspect="1"/>
          </p:cNvPicPr>
          <p:nvPr/>
        </p:nvPicPr>
        <p:blipFill>
          <a:blip r:embed="rId6"/>
          <a:stretch>
            <a:fillRect/>
          </a:stretch>
        </p:blipFill>
        <p:spPr>
          <a:xfrm>
            <a:off x="185770" y="1244730"/>
            <a:ext cx="4104141" cy="2736094"/>
          </a:xfrm>
          <a:prstGeom prst="rect">
            <a:avLst/>
          </a:prstGeom>
        </p:spPr>
      </p:pic>
      <p:pic>
        <p:nvPicPr>
          <p:cNvPr id="38" name="Picture 37" descr="Chart, histogram&#10;&#10;Description automatically generated">
            <a:extLst>
              <a:ext uri="{FF2B5EF4-FFF2-40B4-BE49-F238E27FC236}">
                <a16:creationId xmlns:a16="http://schemas.microsoft.com/office/drawing/2014/main" id="{E2229430-C6AC-FB4E-8AE2-51FAA7C72206}"/>
              </a:ext>
            </a:extLst>
          </p:cNvPr>
          <p:cNvPicPr>
            <a:picLocks noChangeAspect="1"/>
          </p:cNvPicPr>
          <p:nvPr/>
        </p:nvPicPr>
        <p:blipFill>
          <a:blip r:embed="rId7"/>
          <a:stretch>
            <a:fillRect/>
          </a:stretch>
        </p:blipFill>
        <p:spPr>
          <a:xfrm>
            <a:off x="4140716" y="1329611"/>
            <a:ext cx="3976819" cy="2651213"/>
          </a:xfrm>
          <a:prstGeom prst="rect">
            <a:avLst/>
          </a:prstGeom>
        </p:spPr>
      </p:pic>
      <p:pic>
        <p:nvPicPr>
          <p:cNvPr id="46" name="Picture 45" descr="Chart, histogram&#10;&#10;Description automatically generated">
            <a:extLst>
              <a:ext uri="{FF2B5EF4-FFF2-40B4-BE49-F238E27FC236}">
                <a16:creationId xmlns:a16="http://schemas.microsoft.com/office/drawing/2014/main" id="{EB35A27A-2051-1543-B964-8D1CD44D2D88}"/>
              </a:ext>
            </a:extLst>
          </p:cNvPr>
          <p:cNvPicPr>
            <a:picLocks noChangeAspect="1"/>
          </p:cNvPicPr>
          <p:nvPr/>
        </p:nvPicPr>
        <p:blipFill>
          <a:blip r:embed="rId8"/>
          <a:stretch>
            <a:fillRect/>
          </a:stretch>
        </p:blipFill>
        <p:spPr>
          <a:xfrm>
            <a:off x="7968339" y="1334244"/>
            <a:ext cx="4027722" cy="2685148"/>
          </a:xfrm>
          <a:prstGeom prst="rect">
            <a:avLst/>
          </a:prstGeom>
        </p:spPr>
      </p:pic>
      <p:sp>
        <p:nvSpPr>
          <p:cNvPr id="49" name="Rectangle 48">
            <a:extLst>
              <a:ext uri="{FF2B5EF4-FFF2-40B4-BE49-F238E27FC236}">
                <a16:creationId xmlns:a16="http://schemas.microsoft.com/office/drawing/2014/main" id="{88278AAC-7449-884D-A336-F515E54EDFFF}"/>
              </a:ext>
            </a:extLst>
          </p:cNvPr>
          <p:cNvSpPr/>
          <p:nvPr/>
        </p:nvSpPr>
        <p:spPr>
          <a:xfrm>
            <a:off x="1851660" y="3657600"/>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F6BB9CF-2C8D-F64B-8901-04A6ECA672DA}"/>
              </a:ext>
            </a:extLst>
          </p:cNvPr>
          <p:cNvSpPr/>
          <p:nvPr/>
        </p:nvSpPr>
        <p:spPr>
          <a:xfrm>
            <a:off x="1908810" y="6549390"/>
            <a:ext cx="902970" cy="27534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2763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D71B86B-BC2D-9047-8277-56342C96644B}"/>
              </a:ext>
            </a:extLst>
          </p:cNvPr>
          <p:cNvSpPr/>
          <p:nvPr/>
        </p:nvSpPr>
        <p:spPr>
          <a:xfrm>
            <a:off x="185770" y="1223118"/>
            <a:ext cx="11859994" cy="277208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78E196A-10A1-3D45-9865-B2B9D48AAD8B}"/>
              </a:ext>
            </a:extLst>
          </p:cNvPr>
          <p:cNvSpPr/>
          <p:nvPr/>
        </p:nvSpPr>
        <p:spPr>
          <a:xfrm>
            <a:off x="166003" y="4019391"/>
            <a:ext cx="11859994" cy="277208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22</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File 100A</a:t>
            </a:r>
          </a:p>
        </p:txBody>
      </p:sp>
      <p:pic>
        <p:nvPicPr>
          <p:cNvPr id="3" name="Picture 2" descr="Chart, waterfall chart&#10;&#10;Description automatically generated">
            <a:extLst>
              <a:ext uri="{FF2B5EF4-FFF2-40B4-BE49-F238E27FC236}">
                <a16:creationId xmlns:a16="http://schemas.microsoft.com/office/drawing/2014/main" id="{F39FC88D-A1B8-3744-8F86-CFD0967311EC}"/>
              </a:ext>
            </a:extLst>
          </p:cNvPr>
          <p:cNvPicPr>
            <a:picLocks noChangeAspect="1"/>
          </p:cNvPicPr>
          <p:nvPr/>
        </p:nvPicPr>
        <p:blipFill>
          <a:blip r:embed="rId3"/>
          <a:stretch>
            <a:fillRect/>
          </a:stretch>
        </p:blipFill>
        <p:spPr>
          <a:xfrm>
            <a:off x="1775359" y="4028366"/>
            <a:ext cx="4039664" cy="2693109"/>
          </a:xfrm>
          <a:prstGeom prst="rect">
            <a:avLst/>
          </a:prstGeom>
        </p:spPr>
      </p:pic>
      <p:pic>
        <p:nvPicPr>
          <p:cNvPr id="7" name="Picture 6" descr="Chart&#10;&#10;Description automatically generated">
            <a:extLst>
              <a:ext uri="{FF2B5EF4-FFF2-40B4-BE49-F238E27FC236}">
                <a16:creationId xmlns:a16="http://schemas.microsoft.com/office/drawing/2014/main" id="{E0142D9B-528D-4B4E-9310-90DAA83FC995}"/>
              </a:ext>
            </a:extLst>
          </p:cNvPr>
          <p:cNvPicPr>
            <a:picLocks noChangeAspect="1"/>
          </p:cNvPicPr>
          <p:nvPr/>
        </p:nvPicPr>
        <p:blipFill>
          <a:blip r:embed="rId4"/>
          <a:stretch>
            <a:fillRect/>
          </a:stretch>
        </p:blipFill>
        <p:spPr>
          <a:xfrm>
            <a:off x="1656892" y="1195289"/>
            <a:ext cx="4158131" cy="2772087"/>
          </a:xfrm>
          <a:prstGeom prst="rect">
            <a:avLst/>
          </a:prstGeom>
        </p:spPr>
      </p:pic>
      <p:pic>
        <p:nvPicPr>
          <p:cNvPr id="9" name="Picture 8" descr="Chart, scatter chart&#10;&#10;Description automatically generated">
            <a:extLst>
              <a:ext uri="{FF2B5EF4-FFF2-40B4-BE49-F238E27FC236}">
                <a16:creationId xmlns:a16="http://schemas.microsoft.com/office/drawing/2014/main" id="{061638B9-2092-A54C-8A1E-A083607496D1}"/>
              </a:ext>
            </a:extLst>
          </p:cNvPr>
          <p:cNvPicPr>
            <a:picLocks noChangeAspect="1"/>
          </p:cNvPicPr>
          <p:nvPr/>
        </p:nvPicPr>
        <p:blipFill>
          <a:blip r:embed="rId5"/>
          <a:stretch>
            <a:fillRect/>
          </a:stretch>
        </p:blipFill>
        <p:spPr>
          <a:xfrm>
            <a:off x="6412465" y="4078482"/>
            <a:ext cx="4396270" cy="2653904"/>
          </a:xfrm>
          <a:prstGeom prst="rect">
            <a:avLst/>
          </a:prstGeom>
        </p:spPr>
      </p:pic>
      <p:pic>
        <p:nvPicPr>
          <p:cNvPr id="11" name="Picture 10" descr="Chart, scatter chart&#10;&#10;Description automatically generated">
            <a:extLst>
              <a:ext uri="{FF2B5EF4-FFF2-40B4-BE49-F238E27FC236}">
                <a16:creationId xmlns:a16="http://schemas.microsoft.com/office/drawing/2014/main" id="{291E5E7F-D376-3247-986D-6B28BC9F7A64}"/>
              </a:ext>
            </a:extLst>
          </p:cNvPr>
          <p:cNvPicPr>
            <a:picLocks noChangeAspect="1"/>
          </p:cNvPicPr>
          <p:nvPr/>
        </p:nvPicPr>
        <p:blipFill>
          <a:blip r:embed="rId6"/>
          <a:stretch>
            <a:fillRect/>
          </a:stretch>
        </p:blipFill>
        <p:spPr>
          <a:xfrm>
            <a:off x="6376979" y="1282209"/>
            <a:ext cx="4396270" cy="2653904"/>
          </a:xfrm>
          <a:prstGeom prst="rect">
            <a:avLst/>
          </a:prstGeom>
        </p:spPr>
      </p:pic>
    </p:spTree>
    <p:extLst>
      <p:ext uri="{BB962C8B-B14F-4D97-AF65-F5344CB8AC3E}">
        <p14:creationId xmlns:p14="http://schemas.microsoft.com/office/powerpoint/2010/main" val="721295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D71B86B-BC2D-9047-8277-56342C96644B}"/>
              </a:ext>
            </a:extLst>
          </p:cNvPr>
          <p:cNvSpPr/>
          <p:nvPr/>
        </p:nvSpPr>
        <p:spPr>
          <a:xfrm>
            <a:off x="185770" y="1223118"/>
            <a:ext cx="11859994" cy="277208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78E196A-10A1-3D45-9865-B2B9D48AAD8B}"/>
              </a:ext>
            </a:extLst>
          </p:cNvPr>
          <p:cNvSpPr/>
          <p:nvPr/>
        </p:nvSpPr>
        <p:spPr>
          <a:xfrm>
            <a:off x="166003" y="4019391"/>
            <a:ext cx="11859994" cy="277208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23</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File 101</a:t>
            </a:r>
          </a:p>
        </p:txBody>
      </p:sp>
      <p:pic>
        <p:nvPicPr>
          <p:cNvPr id="3" name="Picture 2" descr="Chart, bar chart&#10;&#10;Description automatically generated">
            <a:extLst>
              <a:ext uri="{FF2B5EF4-FFF2-40B4-BE49-F238E27FC236}">
                <a16:creationId xmlns:a16="http://schemas.microsoft.com/office/drawing/2014/main" id="{C42CFE0A-BEDF-C946-9D0B-671F37F09CB6}"/>
              </a:ext>
            </a:extLst>
          </p:cNvPr>
          <p:cNvPicPr>
            <a:picLocks noChangeAspect="1"/>
          </p:cNvPicPr>
          <p:nvPr/>
        </p:nvPicPr>
        <p:blipFill>
          <a:blip r:embed="rId3"/>
          <a:stretch>
            <a:fillRect/>
          </a:stretch>
        </p:blipFill>
        <p:spPr>
          <a:xfrm>
            <a:off x="400094" y="1378526"/>
            <a:ext cx="3868829" cy="2579219"/>
          </a:xfrm>
          <a:prstGeom prst="rect">
            <a:avLst/>
          </a:prstGeom>
        </p:spPr>
      </p:pic>
      <p:pic>
        <p:nvPicPr>
          <p:cNvPr id="7" name="Picture 6" descr="Chart, histogram&#10;&#10;Description automatically generated">
            <a:extLst>
              <a:ext uri="{FF2B5EF4-FFF2-40B4-BE49-F238E27FC236}">
                <a16:creationId xmlns:a16="http://schemas.microsoft.com/office/drawing/2014/main" id="{6E598A11-EBD0-C149-A63B-39AFD03D2E9D}"/>
              </a:ext>
            </a:extLst>
          </p:cNvPr>
          <p:cNvPicPr>
            <a:picLocks noChangeAspect="1"/>
          </p:cNvPicPr>
          <p:nvPr/>
        </p:nvPicPr>
        <p:blipFill>
          <a:blip r:embed="rId4"/>
          <a:stretch>
            <a:fillRect/>
          </a:stretch>
        </p:blipFill>
        <p:spPr>
          <a:xfrm>
            <a:off x="4166226" y="1310061"/>
            <a:ext cx="3971527" cy="2647684"/>
          </a:xfrm>
          <a:prstGeom prst="rect">
            <a:avLst/>
          </a:prstGeom>
        </p:spPr>
      </p:pic>
      <p:pic>
        <p:nvPicPr>
          <p:cNvPr id="9" name="Picture 8" descr="Chart, histogram&#10;&#10;Description automatically generated">
            <a:extLst>
              <a:ext uri="{FF2B5EF4-FFF2-40B4-BE49-F238E27FC236}">
                <a16:creationId xmlns:a16="http://schemas.microsoft.com/office/drawing/2014/main" id="{CD529632-C68C-D748-A4A6-F64A1954DDED}"/>
              </a:ext>
            </a:extLst>
          </p:cNvPr>
          <p:cNvPicPr>
            <a:picLocks noChangeAspect="1"/>
          </p:cNvPicPr>
          <p:nvPr/>
        </p:nvPicPr>
        <p:blipFill>
          <a:blip r:embed="rId5"/>
          <a:stretch>
            <a:fillRect/>
          </a:stretch>
        </p:blipFill>
        <p:spPr>
          <a:xfrm>
            <a:off x="8047785" y="1310061"/>
            <a:ext cx="3868830" cy="2579220"/>
          </a:xfrm>
          <a:prstGeom prst="rect">
            <a:avLst/>
          </a:prstGeom>
        </p:spPr>
      </p:pic>
      <p:pic>
        <p:nvPicPr>
          <p:cNvPr id="11" name="Picture 10" descr="Chart, waterfall chart&#10;&#10;Description automatically generated">
            <a:extLst>
              <a:ext uri="{FF2B5EF4-FFF2-40B4-BE49-F238E27FC236}">
                <a16:creationId xmlns:a16="http://schemas.microsoft.com/office/drawing/2014/main" id="{EF9A7ED5-A79A-E04F-98DC-15662C37681E}"/>
              </a:ext>
            </a:extLst>
          </p:cNvPr>
          <p:cNvPicPr>
            <a:picLocks noChangeAspect="1"/>
          </p:cNvPicPr>
          <p:nvPr/>
        </p:nvPicPr>
        <p:blipFill>
          <a:blip r:embed="rId6"/>
          <a:stretch>
            <a:fillRect/>
          </a:stretch>
        </p:blipFill>
        <p:spPr>
          <a:xfrm>
            <a:off x="255442" y="4064888"/>
            <a:ext cx="4158131" cy="2772087"/>
          </a:xfrm>
          <a:prstGeom prst="rect">
            <a:avLst/>
          </a:prstGeom>
        </p:spPr>
      </p:pic>
      <p:pic>
        <p:nvPicPr>
          <p:cNvPr id="13" name="Picture 12" descr="Chart, histogram&#10;&#10;Description automatically generated">
            <a:extLst>
              <a:ext uri="{FF2B5EF4-FFF2-40B4-BE49-F238E27FC236}">
                <a16:creationId xmlns:a16="http://schemas.microsoft.com/office/drawing/2014/main" id="{C4364D33-36C3-A643-A54E-130C2F280561}"/>
              </a:ext>
            </a:extLst>
          </p:cNvPr>
          <p:cNvPicPr>
            <a:picLocks noChangeAspect="1"/>
          </p:cNvPicPr>
          <p:nvPr/>
        </p:nvPicPr>
        <p:blipFill>
          <a:blip r:embed="rId7"/>
          <a:stretch>
            <a:fillRect/>
          </a:stretch>
        </p:blipFill>
        <p:spPr>
          <a:xfrm>
            <a:off x="4311875" y="4143793"/>
            <a:ext cx="3971527" cy="2647685"/>
          </a:xfrm>
          <a:prstGeom prst="rect">
            <a:avLst/>
          </a:prstGeom>
        </p:spPr>
      </p:pic>
      <p:pic>
        <p:nvPicPr>
          <p:cNvPr id="15" name="Picture 14" descr="Chart, histogram&#10;&#10;Description automatically generated">
            <a:extLst>
              <a:ext uri="{FF2B5EF4-FFF2-40B4-BE49-F238E27FC236}">
                <a16:creationId xmlns:a16="http://schemas.microsoft.com/office/drawing/2014/main" id="{7A481926-E41F-A145-9C03-0EEB19CA034B}"/>
              </a:ext>
            </a:extLst>
          </p:cNvPr>
          <p:cNvPicPr>
            <a:picLocks noChangeAspect="1"/>
          </p:cNvPicPr>
          <p:nvPr/>
        </p:nvPicPr>
        <p:blipFill>
          <a:blip r:embed="rId8"/>
          <a:stretch>
            <a:fillRect/>
          </a:stretch>
        </p:blipFill>
        <p:spPr>
          <a:xfrm>
            <a:off x="8212630" y="4170772"/>
            <a:ext cx="3703985" cy="2469323"/>
          </a:xfrm>
          <a:prstGeom prst="rect">
            <a:avLst/>
          </a:prstGeom>
        </p:spPr>
      </p:pic>
      <p:sp>
        <p:nvSpPr>
          <p:cNvPr id="27" name="Rectangle 26">
            <a:extLst>
              <a:ext uri="{FF2B5EF4-FFF2-40B4-BE49-F238E27FC236}">
                <a16:creationId xmlns:a16="http://schemas.microsoft.com/office/drawing/2014/main" id="{DAE92C06-EE9B-0242-889B-0E04AAA0AAC9}"/>
              </a:ext>
            </a:extLst>
          </p:cNvPr>
          <p:cNvSpPr/>
          <p:nvPr/>
        </p:nvSpPr>
        <p:spPr>
          <a:xfrm>
            <a:off x="1960862" y="3662476"/>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B9FFC93-6B78-6A4B-8DD1-1335EA7A1020}"/>
              </a:ext>
            </a:extLst>
          </p:cNvPr>
          <p:cNvSpPr/>
          <p:nvPr/>
        </p:nvSpPr>
        <p:spPr>
          <a:xfrm>
            <a:off x="1960862" y="6516129"/>
            <a:ext cx="902970" cy="27534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9131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D71B86B-BC2D-9047-8277-56342C96644B}"/>
              </a:ext>
            </a:extLst>
          </p:cNvPr>
          <p:cNvSpPr/>
          <p:nvPr/>
        </p:nvSpPr>
        <p:spPr>
          <a:xfrm>
            <a:off x="185770" y="1223118"/>
            <a:ext cx="11859994" cy="277208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78E196A-10A1-3D45-9865-B2B9D48AAD8B}"/>
              </a:ext>
            </a:extLst>
          </p:cNvPr>
          <p:cNvSpPr/>
          <p:nvPr/>
        </p:nvSpPr>
        <p:spPr>
          <a:xfrm>
            <a:off x="166003" y="4019391"/>
            <a:ext cx="11859994" cy="277208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24</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File 101</a:t>
            </a:r>
          </a:p>
        </p:txBody>
      </p:sp>
      <p:pic>
        <p:nvPicPr>
          <p:cNvPr id="5" name="Picture 4" descr="Chart, waterfall chart&#10;&#10;Description automatically generated">
            <a:extLst>
              <a:ext uri="{FF2B5EF4-FFF2-40B4-BE49-F238E27FC236}">
                <a16:creationId xmlns:a16="http://schemas.microsoft.com/office/drawing/2014/main" id="{0BB8D6E9-41AC-5740-996C-92651C6A3385}"/>
              </a:ext>
            </a:extLst>
          </p:cNvPr>
          <p:cNvPicPr>
            <a:picLocks noChangeAspect="1"/>
          </p:cNvPicPr>
          <p:nvPr/>
        </p:nvPicPr>
        <p:blipFill>
          <a:blip r:embed="rId3"/>
          <a:stretch>
            <a:fillRect/>
          </a:stretch>
        </p:blipFill>
        <p:spPr>
          <a:xfrm>
            <a:off x="2088051" y="1266589"/>
            <a:ext cx="4027716" cy="2685144"/>
          </a:xfrm>
          <a:prstGeom prst="rect">
            <a:avLst/>
          </a:prstGeom>
        </p:spPr>
      </p:pic>
      <p:pic>
        <p:nvPicPr>
          <p:cNvPr id="10" name="Picture 9" descr="Chart, scatter chart&#10;&#10;Description automatically generated">
            <a:extLst>
              <a:ext uri="{FF2B5EF4-FFF2-40B4-BE49-F238E27FC236}">
                <a16:creationId xmlns:a16="http://schemas.microsoft.com/office/drawing/2014/main" id="{645898AF-DDB0-9B40-B2F5-A9724954A6EA}"/>
              </a:ext>
            </a:extLst>
          </p:cNvPr>
          <p:cNvPicPr>
            <a:picLocks noChangeAspect="1"/>
          </p:cNvPicPr>
          <p:nvPr/>
        </p:nvPicPr>
        <p:blipFill>
          <a:blip r:embed="rId4"/>
          <a:stretch>
            <a:fillRect/>
          </a:stretch>
        </p:blipFill>
        <p:spPr>
          <a:xfrm>
            <a:off x="6506642" y="1370440"/>
            <a:ext cx="4207915" cy="2540200"/>
          </a:xfrm>
          <a:prstGeom prst="rect">
            <a:avLst/>
          </a:prstGeom>
        </p:spPr>
      </p:pic>
      <p:pic>
        <p:nvPicPr>
          <p:cNvPr id="13" name="Picture 12" descr="Chart, waterfall chart&#10;&#10;Description automatically generated">
            <a:extLst>
              <a:ext uri="{FF2B5EF4-FFF2-40B4-BE49-F238E27FC236}">
                <a16:creationId xmlns:a16="http://schemas.microsoft.com/office/drawing/2014/main" id="{8DA4F906-70F7-3243-89EE-A88FE95662CE}"/>
              </a:ext>
            </a:extLst>
          </p:cNvPr>
          <p:cNvPicPr>
            <a:picLocks noChangeAspect="1"/>
          </p:cNvPicPr>
          <p:nvPr/>
        </p:nvPicPr>
        <p:blipFill>
          <a:blip r:embed="rId5"/>
          <a:stretch>
            <a:fillRect/>
          </a:stretch>
        </p:blipFill>
        <p:spPr>
          <a:xfrm>
            <a:off x="2135829" y="4094714"/>
            <a:ext cx="3932159" cy="2621439"/>
          </a:xfrm>
          <a:prstGeom prst="rect">
            <a:avLst/>
          </a:prstGeom>
        </p:spPr>
      </p:pic>
      <p:pic>
        <p:nvPicPr>
          <p:cNvPr id="15" name="Picture 14" descr="Chart, scatter chart&#10;&#10;Description automatically generated">
            <a:extLst>
              <a:ext uri="{FF2B5EF4-FFF2-40B4-BE49-F238E27FC236}">
                <a16:creationId xmlns:a16="http://schemas.microsoft.com/office/drawing/2014/main" id="{B9D1910A-5470-5D4D-9A60-5E0EB5E96A6B}"/>
              </a:ext>
            </a:extLst>
          </p:cNvPr>
          <p:cNvPicPr>
            <a:picLocks noChangeAspect="1"/>
          </p:cNvPicPr>
          <p:nvPr/>
        </p:nvPicPr>
        <p:blipFill>
          <a:blip r:embed="rId6"/>
          <a:stretch>
            <a:fillRect/>
          </a:stretch>
        </p:blipFill>
        <p:spPr>
          <a:xfrm>
            <a:off x="6506642" y="4175954"/>
            <a:ext cx="4207915" cy="2540199"/>
          </a:xfrm>
          <a:prstGeom prst="rect">
            <a:avLst/>
          </a:prstGeom>
        </p:spPr>
      </p:pic>
    </p:spTree>
    <p:extLst>
      <p:ext uri="{BB962C8B-B14F-4D97-AF65-F5344CB8AC3E}">
        <p14:creationId xmlns:p14="http://schemas.microsoft.com/office/powerpoint/2010/main" val="2886417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AE50-888F-2344-80BF-D5FD2861CCE2}"/>
              </a:ext>
            </a:extLst>
          </p:cNvPr>
          <p:cNvSpPr>
            <a:spLocks noGrp="1"/>
          </p:cNvSpPr>
          <p:nvPr>
            <p:ph type="title"/>
          </p:nvPr>
        </p:nvSpPr>
        <p:spPr>
          <a:xfrm>
            <a:off x="838200" y="365125"/>
            <a:ext cx="11221278" cy="1325563"/>
          </a:xfrm>
        </p:spPr>
        <p:txBody>
          <a:bodyPr/>
          <a:lstStyle/>
          <a:p>
            <a:r>
              <a:rPr lang="en-US" sz="4400" b="1" dirty="0">
                <a:latin typeface="Times New Roman" panose="02020603050405020304" pitchFamily="18" charset="0"/>
                <a:cs typeface="Times New Roman" panose="02020603050405020304" pitchFamily="18" charset="0"/>
              </a:rPr>
              <a:t>Conclusion and Notes</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07E514-0774-1B49-A6A1-FC5AE60B172A}"/>
              </a:ext>
            </a:extLst>
          </p:cNvPr>
          <p:cNvSpPr>
            <a:spLocks noGrp="1"/>
          </p:cNvSpPr>
          <p:nvPr>
            <p:ph type="sldNum" sz="quarter" idx="12"/>
          </p:nvPr>
        </p:nvSpPr>
        <p:spPr/>
        <p:txBody>
          <a:bodyPr/>
          <a:lstStyle/>
          <a:p>
            <a:fld id="{1621B6DD-29C1-4FEA-923F-71EA1347694C}" type="slidenum">
              <a:rPr lang="en-US" smtClean="0"/>
              <a:t>25</a:t>
            </a:fld>
            <a:endParaRPr lang="en-US"/>
          </a:p>
        </p:txBody>
      </p:sp>
      <p:sp>
        <p:nvSpPr>
          <p:cNvPr id="3" name="TextBox 2">
            <a:extLst>
              <a:ext uri="{FF2B5EF4-FFF2-40B4-BE49-F238E27FC236}">
                <a16:creationId xmlns:a16="http://schemas.microsoft.com/office/drawing/2014/main" id="{9509E07B-7DAF-AB4A-A6D6-1BA09B4773D6}"/>
              </a:ext>
            </a:extLst>
          </p:cNvPr>
          <p:cNvSpPr txBox="1"/>
          <p:nvPr/>
        </p:nvSpPr>
        <p:spPr>
          <a:xfrm>
            <a:off x="1245704" y="2027583"/>
            <a:ext cx="9952383" cy="1477328"/>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1D1C1D"/>
                </a:solidFill>
                <a:effectLst/>
                <a:latin typeface="Slack-Lato"/>
              </a:rPr>
              <a:t>The number of proteins that pass drops with the new lists </a:t>
            </a:r>
          </a:p>
          <a:p>
            <a:pPr marL="285750" indent="-285750">
              <a:buFont typeface="Arial" panose="020B0604020202020204" pitchFamily="34" charset="0"/>
              <a:buChar char="•"/>
            </a:pPr>
            <a:r>
              <a:rPr lang="en-US" b="0" i="0" dirty="0">
                <a:solidFill>
                  <a:srgbClr val="1D1C1D"/>
                </a:solidFill>
                <a:effectLst/>
                <a:latin typeface="Slack-Lato"/>
              </a:rPr>
              <a:t>The distributions overlap less with the new lists </a:t>
            </a:r>
          </a:p>
          <a:p>
            <a:pPr marL="285750" indent="-285750">
              <a:buFont typeface="Arial" panose="020B0604020202020204" pitchFamily="34" charset="0"/>
              <a:buChar char="•"/>
            </a:pPr>
            <a:r>
              <a:rPr lang="en-US" dirty="0">
                <a:solidFill>
                  <a:srgbClr val="1D1C1D"/>
                </a:solidFill>
                <a:latin typeface="Slack-Lato"/>
              </a:rPr>
              <a:t>I merged the results of old list and new list for files 100A and 101 and sharing them in this email – filtering </a:t>
            </a:r>
            <a:r>
              <a:rPr lang="en-US" dirty="0" err="1">
                <a:solidFill>
                  <a:srgbClr val="1D1C1D"/>
                </a:solidFill>
                <a:latin typeface="Slack-Lato"/>
              </a:rPr>
              <a:t>NEW_LISTS_pep_num</a:t>
            </a:r>
            <a:r>
              <a:rPr lang="en-US" dirty="0">
                <a:solidFill>
                  <a:srgbClr val="1D1C1D"/>
                </a:solidFill>
                <a:latin typeface="Slack-Lato"/>
              </a:rPr>
              <a:t> with “blank” will show the proteins that we disregard with the new lists </a:t>
            </a:r>
            <a:endParaRPr lang="en-US" b="0" i="0" dirty="0">
              <a:solidFill>
                <a:srgbClr val="1D1C1D"/>
              </a:solidFill>
              <a:effectLst/>
              <a:latin typeface="Slack-Lato"/>
            </a:endParaRPr>
          </a:p>
        </p:txBody>
      </p:sp>
    </p:spTree>
    <p:extLst>
      <p:ext uri="{BB962C8B-B14F-4D97-AF65-F5344CB8AC3E}">
        <p14:creationId xmlns:p14="http://schemas.microsoft.com/office/powerpoint/2010/main" val="3198938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3162</TotalTime>
  <Words>927</Words>
  <Application>Microsoft Macintosh PowerPoint</Application>
  <PresentationFormat>Widescreen</PresentationFormat>
  <Paragraphs>136</Paragraphs>
  <Slides>26</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Avenir Next LT Pro</vt:lpstr>
      <vt:lpstr>Calibri</vt:lpstr>
      <vt:lpstr>Calibri Light</vt:lpstr>
      <vt:lpstr>Segoe UI</vt:lpstr>
      <vt:lpstr>Slack-Lato</vt:lpstr>
      <vt:lpstr>The Hand Extrablack</vt:lpstr>
      <vt:lpstr>Times New Roman</vt:lpstr>
      <vt:lpstr>Office Theme</vt:lpstr>
      <vt:lpstr>Location of folders mentioned on next slides</vt:lpstr>
      <vt:lpstr>Normalization comparison</vt:lpstr>
      <vt:lpstr>Description</vt:lpstr>
      <vt:lpstr>PowerPoint Presentation</vt:lpstr>
      <vt:lpstr>PowerPoint Presentation</vt:lpstr>
      <vt:lpstr>PowerPoint Presentation</vt:lpstr>
      <vt:lpstr>PowerPoint Presentation</vt:lpstr>
      <vt:lpstr>File 100A</vt:lpstr>
      <vt:lpstr>PowerPoint Presentation</vt:lpstr>
      <vt:lpstr>PowerPoint Presentation</vt:lpstr>
      <vt:lpstr>PowerPoint Presentation</vt:lpstr>
      <vt:lpstr>PowerPoint Presentation</vt:lpstr>
      <vt:lpstr>PowerPoint Presentation</vt:lpstr>
      <vt:lpstr>File 101</vt:lpstr>
      <vt:lpstr>PowerPoint Presentation</vt:lpstr>
      <vt:lpstr>PCA comparison after norm, file 101</vt:lpstr>
      <vt:lpstr>Volcano plot comparison after norm, file 101</vt:lpstr>
      <vt:lpstr>Conclusion and Notes</vt:lpstr>
      <vt:lpstr>Improvement of TP/FP lists</vt:lpstr>
      <vt:lpstr>PowerPoint Presentation</vt:lpstr>
      <vt:lpstr>PowerPoint Presentation</vt:lpstr>
      <vt:lpstr>PowerPoint Presentation</vt:lpstr>
      <vt:lpstr>PowerPoint Presentation</vt:lpstr>
      <vt:lpstr>PowerPoint Presentation</vt:lpstr>
      <vt:lpstr>PowerPoint Presentation</vt:lpstr>
      <vt:lpstr>Conclusion and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 ID Project </dc:title>
  <dc:creator>Nathalie Ropek</dc:creator>
  <cp:lastModifiedBy>Nathalie Ropek</cp:lastModifiedBy>
  <cp:revision>73</cp:revision>
  <dcterms:created xsi:type="dcterms:W3CDTF">2022-10-14T14:34:07Z</dcterms:created>
  <dcterms:modified xsi:type="dcterms:W3CDTF">2023-05-11T23:02:06Z</dcterms:modified>
</cp:coreProperties>
</file>