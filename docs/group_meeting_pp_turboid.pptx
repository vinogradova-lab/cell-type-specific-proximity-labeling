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13" r:id="rId1"/>
  </p:sldMasterIdLst>
  <p:notesMasterIdLst>
    <p:notesMasterId r:id="rId26"/>
  </p:notesMasterIdLst>
  <p:sldIdLst>
    <p:sldId id="256" r:id="rId2"/>
    <p:sldId id="291" r:id="rId3"/>
    <p:sldId id="292" r:id="rId4"/>
    <p:sldId id="282" r:id="rId5"/>
    <p:sldId id="306" r:id="rId6"/>
    <p:sldId id="310" r:id="rId7"/>
    <p:sldId id="313" r:id="rId8"/>
    <p:sldId id="315" r:id="rId9"/>
    <p:sldId id="283" r:id="rId10"/>
    <p:sldId id="312" r:id="rId11"/>
    <p:sldId id="285" r:id="rId12"/>
    <p:sldId id="286" r:id="rId13"/>
    <p:sldId id="307" r:id="rId14"/>
    <p:sldId id="311" r:id="rId15"/>
    <p:sldId id="270" r:id="rId16"/>
    <p:sldId id="309" r:id="rId17"/>
    <p:sldId id="271" r:id="rId18"/>
    <p:sldId id="316" r:id="rId19"/>
    <p:sldId id="287" r:id="rId20"/>
    <p:sldId id="288" r:id="rId21"/>
    <p:sldId id="294" r:id="rId22"/>
    <p:sldId id="308" r:id="rId23"/>
    <p:sldId id="290" r:id="rId24"/>
    <p:sldId id="28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DE7E79"/>
    <a:srgbClr val="447228"/>
    <a:srgbClr val="4472C4"/>
    <a:srgbClr val="E60000"/>
    <a:srgbClr val="008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02"/>
    <p:restoredTop sz="96871"/>
  </p:normalViewPr>
  <p:slideViewPr>
    <p:cSldViewPr snapToGrid="0" snapToObjects="1">
      <p:cViewPr varScale="1">
        <p:scale>
          <a:sx n="152" d="100"/>
          <a:sy n="152" d="100"/>
        </p:scale>
        <p:origin x="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E8ECD-4AA0-4B75-94A3-C6E66138359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82EEA16-E07E-46B5-B226-54448F4253D5}">
      <dgm:prSet custT="1"/>
      <dgm:spPr/>
      <dgm:t>
        <a:bodyPr/>
        <a:lstStyle/>
        <a:p>
          <a:r>
            <a:rPr lang="en-US" sz="1400" b="1" i="0" dirty="0">
              <a:latin typeface="Segoe UI Semibold" panose="020B0502040204020203" pitchFamily="34" charset="0"/>
              <a:cs typeface="Segoe UI Semibold" panose="020B0502040204020203" pitchFamily="34" charset="0"/>
            </a:rPr>
            <a:t>Normalize</a:t>
          </a:r>
        </a:p>
      </dgm:t>
    </dgm:pt>
    <dgm:pt modelId="{D0A4DB90-0D03-4B0C-87B2-14ACFF45C471}" type="parTrans" cxnId="{E4A9493C-30B8-457E-927E-58F4AF9FF535}">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9CA71EFA-7E03-4F07-85E0-FE73337DD6B3}" type="sibTrans" cxnId="{E4A9493C-30B8-457E-927E-58F4AF9FF535}">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1890A9BC-7214-47C8-9114-399E2E3C4F94}">
      <dgm:prSet custT="1"/>
      <dgm:spPr/>
      <dgm:t>
        <a:bodyPr/>
        <a:lstStyle/>
        <a:p>
          <a:r>
            <a:rPr lang="en-US" sz="1400" b="1" i="0">
              <a:latin typeface="Segoe UI Semibold" panose="020B0502040204020203" pitchFamily="34" charset="0"/>
              <a:cs typeface="Segoe UI Semibold" panose="020B0502040204020203" pitchFamily="34" charset="0"/>
            </a:rPr>
            <a:t>Rank</a:t>
          </a:r>
        </a:p>
      </dgm:t>
    </dgm:pt>
    <dgm:pt modelId="{338DB7B5-85C7-4767-AF5A-387ED5922DC4}" type="parTrans" cxnId="{062757C3-26D4-4D45-9BD4-F88EA2973DFA}">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5D44E006-378E-4245-9E4A-DF1717473AE4}" type="sibTrans" cxnId="{062757C3-26D4-4D45-9BD4-F88EA2973DFA}">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7A49F28F-4D7B-48D0-863D-4D062513B45F}">
      <dgm:prSet custT="1"/>
      <dgm:spPr/>
      <dgm:t>
        <a:bodyPr/>
        <a:lstStyle/>
        <a:p>
          <a:r>
            <a:rPr lang="en-US" sz="1400" b="1" i="0" dirty="0">
              <a:latin typeface="Segoe UI Semibold" panose="020B0502040204020203" pitchFamily="34" charset="0"/>
              <a:cs typeface="Segoe UI Semibold" panose="020B0502040204020203" pitchFamily="34" charset="0"/>
            </a:rPr>
            <a:t>Calculate TPR &amp; FPR</a:t>
          </a:r>
        </a:p>
      </dgm:t>
    </dgm:pt>
    <dgm:pt modelId="{078967D4-4E0B-425C-AAF5-6F98B8967537}" type="parTrans" cxnId="{01E0C336-CCC5-4A55-9FED-3E8899FF1161}">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EA628C7C-502B-4867-B3E0-4B85687993B6}" type="sibTrans" cxnId="{01E0C336-CCC5-4A55-9FED-3E8899FF1161}">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4477CE24-A1CB-43F7-BE25-0CACC51CEDA3}">
      <dgm:prSet custT="1"/>
      <dgm:spPr/>
      <dgm:t>
        <a:bodyPr/>
        <a:lstStyle/>
        <a:p>
          <a:r>
            <a:rPr lang="en-US" sz="1400" b="1" i="0" dirty="0">
              <a:latin typeface="Segoe UI Semibold" panose="020B0502040204020203" pitchFamily="34" charset="0"/>
              <a:cs typeface="Segoe UI Semibold" panose="020B0502040204020203" pitchFamily="34" charset="0"/>
            </a:rPr>
            <a:t>Plot (ROC)</a:t>
          </a:r>
        </a:p>
      </dgm:t>
    </dgm:pt>
    <dgm:pt modelId="{70619F77-F666-4CDD-9705-4EBFAE08FFD9}" type="parTrans" cxnId="{E0A8DB88-125E-4F4F-A82B-678AF62885C8}">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C681D962-C29C-4DFD-90D4-F74E02608C7C}" type="sibTrans" cxnId="{E0A8DB88-125E-4F4F-A82B-678AF62885C8}">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A85124D4-5DF5-4566-8C27-D24C50DCCDB9}">
      <dgm:prSet custT="1"/>
      <dgm:spPr/>
      <dgm:t>
        <a:bodyPr/>
        <a:lstStyle/>
        <a:p>
          <a:r>
            <a:rPr lang="en-US" sz="1400" b="1" i="0" dirty="0">
              <a:latin typeface="Segoe UI Semibold" panose="020B0502040204020203" pitchFamily="34" charset="0"/>
              <a:cs typeface="Segoe UI Semibold" panose="020B0502040204020203" pitchFamily="34" charset="0"/>
            </a:rPr>
            <a:t>Calculate TPR-FPR</a:t>
          </a:r>
        </a:p>
      </dgm:t>
    </dgm:pt>
    <dgm:pt modelId="{D4C97D23-EE2E-4CF8-BED6-89AB01FDFEAF}" type="parTrans" cxnId="{591B33D0-60CF-473B-B914-A867C895D718}">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64FB6077-9B62-4A97-A1EE-BEDFE8EC47A2}" type="sibTrans" cxnId="{591B33D0-60CF-473B-B914-A867C895D718}">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B475EA92-0C13-4ACD-BF53-3DE9885F840B}">
      <dgm:prSet custT="1"/>
      <dgm:spPr/>
      <dgm:t>
        <a:bodyPr/>
        <a:lstStyle/>
        <a:p>
          <a:r>
            <a:rPr lang="en-US" sz="1400" b="1" i="0" dirty="0">
              <a:latin typeface="Segoe UI Semibold" panose="020B0502040204020203" pitchFamily="34" charset="0"/>
              <a:cs typeface="Segoe UI Semibold" panose="020B0502040204020203" pitchFamily="34" charset="0"/>
            </a:rPr>
            <a:t>Find optimal cutoff ratio</a:t>
          </a:r>
        </a:p>
      </dgm:t>
    </dgm:pt>
    <dgm:pt modelId="{FB2550D5-E5C1-4392-9740-B143D5C0261E}" type="parTrans" cxnId="{08686FD9-DC9C-441B-88D3-260510FEDB75}">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992CCC70-BDDE-47C9-9E10-E191779B77D2}" type="sibTrans" cxnId="{08686FD9-DC9C-441B-88D3-260510FEDB75}">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3482D5A5-AC22-41E7-9774-7CE6216B3A13}">
      <dgm:prSet custT="1"/>
      <dgm:spPr/>
      <dgm:t>
        <a:bodyPr/>
        <a:lstStyle/>
        <a:p>
          <a:r>
            <a:rPr lang="en-US" sz="1400" b="1" i="0" dirty="0">
              <a:latin typeface="Segoe UI Semibold" panose="020B0502040204020203" pitchFamily="34" charset="0"/>
              <a:cs typeface="Segoe UI Semibold" panose="020B0502040204020203" pitchFamily="34" charset="0"/>
            </a:rPr>
            <a:t>Plot TPR-FPR</a:t>
          </a:r>
        </a:p>
      </dgm:t>
    </dgm:pt>
    <dgm:pt modelId="{2F81D6E6-9A4D-43ED-B6A4-3AE88985EA3F}" type="parTrans" cxnId="{B40E6B43-2A74-4FB6-B017-A218A20F7C37}">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33A24840-E41D-4B8D-ABE0-B21328FD624B}" type="sibTrans" cxnId="{B40E6B43-2A74-4FB6-B017-A218A20F7C37}">
      <dgm:prSet/>
      <dgm:spPr/>
      <dgm:t>
        <a:bodyPr/>
        <a:lstStyle/>
        <a:p>
          <a:endParaRPr lang="en-US" sz="1400" b="1" i="0">
            <a:latin typeface="Segoe UI Semibold" panose="020B0502040204020203" pitchFamily="34" charset="0"/>
            <a:cs typeface="Segoe UI Semibold" panose="020B0502040204020203" pitchFamily="34" charset="0"/>
          </a:endParaRPr>
        </a:p>
      </dgm:t>
    </dgm:pt>
    <dgm:pt modelId="{D308BB83-10F0-5E4E-B48A-8E0DE04703CE}" type="pres">
      <dgm:prSet presAssocID="{EBFE8ECD-4AA0-4B75-94A3-C6E661383597}" presName="hierChild1" presStyleCnt="0">
        <dgm:presLayoutVars>
          <dgm:chPref val="1"/>
          <dgm:dir/>
          <dgm:animOne val="branch"/>
          <dgm:animLvl val="lvl"/>
          <dgm:resizeHandles/>
        </dgm:presLayoutVars>
      </dgm:prSet>
      <dgm:spPr/>
    </dgm:pt>
    <dgm:pt modelId="{11075BE2-F48C-7248-AAAD-42165D81E231}" type="pres">
      <dgm:prSet presAssocID="{682EEA16-E07E-46B5-B226-54448F4253D5}" presName="hierRoot1" presStyleCnt="0"/>
      <dgm:spPr/>
    </dgm:pt>
    <dgm:pt modelId="{254D8E4E-4473-F24A-BEF8-199763B369AB}" type="pres">
      <dgm:prSet presAssocID="{682EEA16-E07E-46B5-B226-54448F4253D5}" presName="composite" presStyleCnt="0"/>
      <dgm:spPr/>
    </dgm:pt>
    <dgm:pt modelId="{EFB1F846-601B-854E-9768-CF402ED36E3B}" type="pres">
      <dgm:prSet presAssocID="{682EEA16-E07E-46B5-B226-54448F4253D5}" presName="background" presStyleLbl="node0" presStyleIdx="0" presStyleCnt="7"/>
      <dgm:spPr/>
    </dgm:pt>
    <dgm:pt modelId="{1A501FED-2971-AA48-9257-F56A416FD484}" type="pres">
      <dgm:prSet presAssocID="{682EEA16-E07E-46B5-B226-54448F4253D5}" presName="text" presStyleLbl="fgAcc0" presStyleIdx="0" presStyleCnt="7">
        <dgm:presLayoutVars>
          <dgm:chPref val="3"/>
        </dgm:presLayoutVars>
      </dgm:prSet>
      <dgm:spPr/>
    </dgm:pt>
    <dgm:pt modelId="{F4FC969E-9FA8-D541-9F76-7375807CEE7D}" type="pres">
      <dgm:prSet presAssocID="{682EEA16-E07E-46B5-B226-54448F4253D5}" presName="hierChild2" presStyleCnt="0"/>
      <dgm:spPr/>
    </dgm:pt>
    <dgm:pt modelId="{96133B41-A2A5-BF48-8899-1D2A4B608E2F}" type="pres">
      <dgm:prSet presAssocID="{1890A9BC-7214-47C8-9114-399E2E3C4F94}" presName="hierRoot1" presStyleCnt="0"/>
      <dgm:spPr/>
    </dgm:pt>
    <dgm:pt modelId="{52413FF2-F30C-9145-861B-868DC186AD3C}" type="pres">
      <dgm:prSet presAssocID="{1890A9BC-7214-47C8-9114-399E2E3C4F94}" presName="composite" presStyleCnt="0"/>
      <dgm:spPr/>
    </dgm:pt>
    <dgm:pt modelId="{5D0AECF1-63E7-254E-9FA4-5738BB5D6B8D}" type="pres">
      <dgm:prSet presAssocID="{1890A9BC-7214-47C8-9114-399E2E3C4F94}" presName="background" presStyleLbl="node0" presStyleIdx="1" presStyleCnt="7"/>
      <dgm:spPr/>
    </dgm:pt>
    <dgm:pt modelId="{1441434F-63C4-5446-931E-CA8FFAB19BFC}" type="pres">
      <dgm:prSet presAssocID="{1890A9BC-7214-47C8-9114-399E2E3C4F94}" presName="text" presStyleLbl="fgAcc0" presStyleIdx="1" presStyleCnt="7">
        <dgm:presLayoutVars>
          <dgm:chPref val="3"/>
        </dgm:presLayoutVars>
      </dgm:prSet>
      <dgm:spPr/>
    </dgm:pt>
    <dgm:pt modelId="{3D804186-BD19-614F-AFE0-A9BF802A1BF7}" type="pres">
      <dgm:prSet presAssocID="{1890A9BC-7214-47C8-9114-399E2E3C4F94}" presName="hierChild2" presStyleCnt="0"/>
      <dgm:spPr/>
    </dgm:pt>
    <dgm:pt modelId="{99A15624-FF9D-5C4E-9E11-37F3D309A261}" type="pres">
      <dgm:prSet presAssocID="{7A49F28F-4D7B-48D0-863D-4D062513B45F}" presName="hierRoot1" presStyleCnt="0"/>
      <dgm:spPr/>
    </dgm:pt>
    <dgm:pt modelId="{F461EA56-DF73-9646-9183-CA37AEADF0D5}" type="pres">
      <dgm:prSet presAssocID="{7A49F28F-4D7B-48D0-863D-4D062513B45F}" presName="composite" presStyleCnt="0"/>
      <dgm:spPr/>
    </dgm:pt>
    <dgm:pt modelId="{627BF272-5AAB-9646-8AE0-6C1C6406BBF8}" type="pres">
      <dgm:prSet presAssocID="{7A49F28F-4D7B-48D0-863D-4D062513B45F}" presName="background" presStyleLbl="node0" presStyleIdx="2" presStyleCnt="7"/>
      <dgm:spPr/>
    </dgm:pt>
    <dgm:pt modelId="{598861DD-C609-0D40-9E3E-96AB54E11204}" type="pres">
      <dgm:prSet presAssocID="{7A49F28F-4D7B-48D0-863D-4D062513B45F}" presName="text" presStyleLbl="fgAcc0" presStyleIdx="2" presStyleCnt="7">
        <dgm:presLayoutVars>
          <dgm:chPref val="3"/>
        </dgm:presLayoutVars>
      </dgm:prSet>
      <dgm:spPr/>
    </dgm:pt>
    <dgm:pt modelId="{1DA550E0-8ED7-B845-9182-E802761086B7}" type="pres">
      <dgm:prSet presAssocID="{7A49F28F-4D7B-48D0-863D-4D062513B45F}" presName="hierChild2" presStyleCnt="0"/>
      <dgm:spPr/>
    </dgm:pt>
    <dgm:pt modelId="{06004E9B-845D-7A4F-AD1D-06EB87A24BB6}" type="pres">
      <dgm:prSet presAssocID="{4477CE24-A1CB-43F7-BE25-0CACC51CEDA3}" presName="hierRoot1" presStyleCnt="0"/>
      <dgm:spPr/>
    </dgm:pt>
    <dgm:pt modelId="{F68350F7-EE7B-E742-A619-2FB65830E351}" type="pres">
      <dgm:prSet presAssocID="{4477CE24-A1CB-43F7-BE25-0CACC51CEDA3}" presName="composite" presStyleCnt="0"/>
      <dgm:spPr/>
    </dgm:pt>
    <dgm:pt modelId="{816084AB-567B-6443-A798-F3100848E7C1}" type="pres">
      <dgm:prSet presAssocID="{4477CE24-A1CB-43F7-BE25-0CACC51CEDA3}" presName="background" presStyleLbl="node0" presStyleIdx="3" presStyleCnt="7"/>
      <dgm:spPr/>
    </dgm:pt>
    <dgm:pt modelId="{6704D6C8-54BB-524F-80FE-4471D7098CDF}" type="pres">
      <dgm:prSet presAssocID="{4477CE24-A1CB-43F7-BE25-0CACC51CEDA3}" presName="text" presStyleLbl="fgAcc0" presStyleIdx="3" presStyleCnt="7">
        <dgm:presLayoutVars>
          <dgm:chPref val="3"/>
        </dgm:presLayoutVars>
      </dgm:prSet>
      <dgm:spPr/>
    </dgm:pt>
    <dgm:pt modelId="{42ADD689-DDD4-3B4C-9DE1-F241BC90D3FC}" type="pres">
      <dgm:prSet presAssocID="{4477CE24-A1CB-43F7-BE25-0CACC51CEDA3}" presName="hierChild2" presStyleCnt="0"/>
      <dgm:spPr/>
    </dgm:pt>
    <dgm:pt modelId="{8C457084-531D-3248-A766-7350749AC235}" type="pres">
      <dgm:prSet presAssocID="{A85124D4-5DF5-4566-8C27-D24C50DCCDB9}" presName="hierRoot1" presStyleCnt="0"/>
      <dgm:spPr/>
    </dgm:pt>
    <dgm:pt modelId="{4A51E60C-A5C8-A849-A695-8E6B2C4A89EE}" type="pres">
      <dgm:prSet presAssocID="{A85124D4-5DF5-4566-8C27-D24C50DCCDB9}" presName="composite" presStyleCnt="0"/>
      <dgm:spPr/>
    </dgm:pt>
    <dgm:pt modelId="{77DB7131-59FC-8845-8DCA-DA7F6710BE4E}" type="pres">
      <dgm:prSet presAssocID="{A85124D4-5DF5-4566-8C27-D24C50DCCDB9}" presName="background" presStyleLbl="node0" presStyleIdx="4" presStyleCnt="7"/>
      <dgm:spPr/>
    </dgm:pt>
    <dgm:pt modelId="{E0D016C5-713A-7A43-A573-1DE03981F421}" type="pres">
      <dgm:prSet presAssocID="{A85124D4-5DF5-4566-8C27-D24C50DCCDB9}" presName="text" presStyleLbl="fgAcc0" presStyleIdx="4" presStyleCnt="7">
        <dgm:presLayoutVars>
          <dgm:chPref val="3"/>
        </dgm:presLayoutVars>
      </dgm:prSet>
      <dgm:spPr/>
    </dgm:pt>
    <dgm:pt modelId="{397303B9-A272-5A4F-BF75-AC5431F7F4BD}" type="pres">
      <dgm:prSet presAssocID="{A85124D4-5DF5-4566-8C27-D24C50DCCDB9}" presName="hierChild2" presStyleCnt="0"/>
      <dgm:spPr/>
    </dgm:pt>
    <dgm:pt modelId="{AB8E2481-EBDD-324A-AB29-1842033C9E54}" type="pres">
      <dgm:prSet presAssocID="{B475EA92-0C13-4ACD-BF53-3DE9885F840B}" presName="hierRoot1" presStyleCnt="0"/>
      <dgm:spPr/>
    </dgm:pt>
    <dgm:pt modelId="{A7C03B31-FCCD-EF4E-AD0F-FFDD42B74E16}" type="pres">
      <dgm:prSet presAssocID="{B475EA92-0C13-4ACD-BF53-3DE9885F840B}" presName="composite" presStyleCnt="0"/>
      <dgm:spPr/>
    </dgm:pt>
    <dgm:pt modelId="{D7B3EA74-B7F2-F24E-BDFA-F25928A4C6FF}" type="pres">
      <dgm:prSet presAssocID="{B475EA92-0C13-4ACD-BF53-3DE9885F840B}" presName="background" presStyleLbl="node0" presStyleIdx="5" presStyleCnt="7"/>
      <dgm:spPr/>
    </dgm:pt>
    <dgm:pt modelId="{443A38F2-158B-934D-A0BD-63BE1B431328}" type="pres">
      <dgm:prSet presAssocID="{B475EA92-0C13-4ACD-BF53-3DE9885F840B}" presName="text" presStyleLbl="fgAcc0" presStyleIdx="5" presStyleCnt="7">
        <dgm:presLayoutVars>
          <dgm:chPref val="3"/>
        </dgm:presLayoutVars>
      </dgm:prSet>
      <dgm:spPr/>
    </dgm:pt>
    <dgm:pt modelId="{F836BCB3-5030-C742-92EB-D9E690430694}" type="pres">
      <dgm:prSet presAssocID="{B475EA92-0C13-4ACD-BF53-3DE9885F840B}" presName="hierChild2" presStyleCnt="0"/>
      <dgm:spPr/>
    </dgm:pt>
    <dgm:pt modelId="{933F3964-CDC8-964D-A04A-40F425842EC3}" type="pres">
      <dgm:prSet presAssocID="{3482D5A5-AC22-41E7-9774-7CE6216B3A13}" presName="hierRoot1" presStyleCnt="0"/>
      <dgm:spPr/>
    </dgm:pt>
    <dgm:pt modelId="{EEE3C3E7-EE43-0A4B-9D82-B82684FAD35E}" type="pres">
      <dgm:prSet presAssocID="{3482D5A5-AC22-41E7-9774-7CE6216B3A13}" presName="composite" presStyleCnt="0"/>
      <dgm:spPr/>
    </dgm:pt>
    <dgm:pt modelId="{2E60BADC-1038-7B49-A818-76A8A2945419}" type="pres">
      <dgm:prSet presAssocID="{3482D5A5-AC22-41E7-9774-7CE6216B3A13}" presName="background" presStyleLbl="node0" presStyleIdx="6" presStyleCnt="7"/>
      <dgm:spPr/>
    </dgm:pt>
    <dgm:pt modelId="{021E7000-08D5-424A-B33B-F64C19BA226F}" type="pres">
      <dgm:prSet presAssocID="{3482D5A5-AC22-41E7-9774-7CE6216B3A13}" presName="text" presStyleLbl="fgAcc0" presStyleIdx="6" presStyleCnt="7">
        <dgm:presLayoutVars>
          <dgm:chPref val="3"/>
        </dgm:presLayoutVars>
      </dgm:prSet>
      <dgm:spPr/>
    </dgm:pt>
    <dgm:pt modelId="{09E8119F-4858-6A47-A8D3-D49BC0E48C99}" type="pres">
      <dgm:prSet presAssocID="{3482D5A5-AC22-41E7-9774-7CE6216B3A13}" presName="hierChild2" presStyleCnt="0"/>
      <dgm:spPr/>
    </dgm:pt>
  </dgm:ptLst>
  <dgm:cxnLst>
    <dgm:cxn modelId="{01E0C336-CCC5-4A55-9FED-3E8899FF1161}" srcId="{EBFE8ECD-4AA0-4B75-94A3-C6E661383597}" destId="{7A49F28F-4D7B-48D0-863D-4D062513B45F}" srcOrd="2" destOrd="0" parTransId="{078967D4-4E0B-425C-AAF5-6F98B8967537}" sibTransId="{EA628C7C-502B-4867-B3E0-4B85687993B6}"/>
    <dgm:cxn modelId="{0BD47138-5098-384F-844B-35FAA1DB271C}" type="presOf" srcId="{1890A9BC-7214-47C8-9114-399E2E3C4F94}" destId="{1441434F-63C4-5446-931E-CA8FFAB19BFC}" srcOrd="0" destOrd="0" presId="urn:microsoft.com/office/officeart/2005/8/layout/hierarchy1"/>
    <dgm:cxn modelId="{E4A9493C-30B8-457E-927E-58F4AF9FF535}" srcId="{EBFE8ECD-4AA0-4B75-94A3-C6E661383597}" destId="{682EEA16-E07E-46B5-B226-54448F4253D5}" srcOrd="0" destOrd="0" parTransId="{D0A4DB90-0D03-4B0C-87B2-14ACFF45C471}" sibTransId="{9CA71EFA-7E03-4F07-85E0-FE73337DD6B3}"/>
    <dgm:cxn modelId="{B40E6B43-2A74-4FB6-B017-A218A20F7C37}" srcId="{EBFE8ECD-4AA0-4B75-94A3-C6E661383597}" destId="{3482D5A5-AC22-41E7-9774-7CE6216B3A13}" srcOrd="6" destOrd="0" parTransId="{2F81D6E6-9A4D-43ED-B6A4-3AE88985EA3F}" sibTransId="{33A24840-E41D-4B8D-ABE0-B21328FD624B}"/>
    <dgm:cxn modelId="{C3766E6A-8294-0144-A24F-8D483A3F998E}" type="presOf" srcId="{4477CE24-A1CB-43F7-BE25-0CACC51CEDA3}" destId="{6704D6C8-54BB-524F-80FE-4471D7098CDF}" srcOrd="0" destOrd="0" presId="urn:microsoft.com/office/officeart/2005/8/layout/hierarchy1"/>
    <dgm:cxn modelId="{9DBBC982-0D21-214E-9833-C73BCAF66818}" type="presOf" srcId="{3482D5A5-AC22-41E7-9774-7CE6216B3A13}" destId="{021E7000-08D5-424A-B33B-F64C19BA226F}" srcOrd="0" destOrd="0" presId="urn:microsoft.com/office/officeart/2005/8/layout/hierarchy1"/>
    <dgm:cxn modelId="{E0A8DB88-125E-4F4F-A82B-678AF62885C8}" srcId="{EBFE8ECD-4AA0-4B75-94A3-C6E661383597}" destId="{4477CE24-A1CB-43F7-BE25-0CACC51CEDA3}" srcOrd="3" destOrd="0" parTransId="{70619F77-F666-4CDD-9705-4EBFAE08FFD9}" sibTransId="{C681D962-C29C-4DFD-90D4-F74E02608C7C}"/>
    <dgm:cxn modelId="{A4B75B97-0B06-E24B-BAA7-B7F5F9C4E189}" type="presOf" srcId="{7A49F28F-4D7B-48D0-863D-4D062513B45F}" destId="{598861DD-C609-0D40-9E3E-96AB54E11204}" srcOrd="0" destOrd="0" presId="urn:microsoft.com/office/officeart/2005/8/layout/hierarchy1"/>
    <dgm:cxn modelId="{EC30E69A-DE6A-5044-A050-6AE8E7E82F55}" type="presOf" srcId="{A85124D4-5DF5-4566-8C27-D24C50DCCDB9}" destId="{E0D016C5-713A-7A43-A573-1DE03981F421}" srcOrd="0" destOrd="0" presId="urn:microsoft.com/office/officeart/2005/8/layout/hierarchy1"/>
    <dgm:cxn modelId="{C2A799A2-FFE5-F345-AFB3-770AEAE7249A}" type="presOf" srcId="{EBFE8ECD-4AA0-4B75-94A3-C6E661383597}" destId="{D308BB83-10F0-5E4E-B48A-8E0DE04703CE}" srcOrd="0" destOrd="0" presId="urn:microsoft.com/office/officeart/2005/8/layout/hierarchy1"/>
    <dgm:cxn modelId="{062757C3-26D4-4D45-9BD4-F88EA2973DFA}" srcId="{EBFE8ECD-4AA0-4B75-94A3-C6E661383597}" destId="{1890A9BC-7214-47C8-9114-399E2E3C4F94}" srcOrd="1" destOrd="0" parTransId="{338DB7B5-85C7-4767-AF5A-387ED5922DC4}" sibTransId="{5D44E006-378E-4245-9E4A-DF1717473AE4}"/>
    <dgm:cxn modelId="{1EEFB2CE-2DC9-B547-A3FC-ED5E16FC3647}" type="presOf" srcId="{682EEA16-E07E-46B5-B226-54448F4253D5}" destId="{1A501FED-2971-AA48-9257-F56A416FD484}" srcOrd="0" destOrd="0" presId="urn:microsoft.com/office/officeart/2005/8/layout/hierarchy1"/>
    <dgm:cxn modelId="{591B33D0-60CF-473B-B914-A867C895D718}" srcId="{EBFE8ECD-4AA0-4B75-94A3-C6E661383597}" destId="{A85124D4-5DF5-4566-8C27-D24C50DCCDB9}" srcOrd="4" destOrd="0" parTransId="{D4C97D23-EE2E-4CF8-BED6-89AB01FDFEAF}" sibTransId="{64FB6077-9B62-4A97-A1EE-BEDFE8EC47A2}"/>
    <dgm:cxn modelId="{08686FD9-DC9C-441B-88D3-260510FEDB75}" srcId="{EBFE8ECD-4AA0-4B75-94A3-C6E661383597}" destId="{B475EA92-0C13-4ACD-BF53-3DE9885F840B}" srcOrd="5" destOrd="0" parTransId="{FB2550D5-E5C1-4392-9740-B143D5C0261E}" sibTransId="{992CCC70-BDDE-47C9-9E10-E191779B77D2}"/>
    <dgm:cxn modelId="{BEDBAFDA-E4AF-6346-908B-2E8DBB50882F}" type="presOf" srcId="{B475EA92-0C13-4ACD-BF53-3DE9885F840B}" destId="{443A38F2-158B-934D-A0BD-63BE1B431328}" srcOrd="0" destOrd="0" presId="urn:microsoft.com/office/officeart/2005/8/layout/hierarchy1"/>
    <dgm:cxn modelId="{CE1C2389-BF2B-BD4B-84BC-61777EF47B1D}" type="presParOf" srcId="{D308BB83-10F0-5E4E-B48A-8E0DE04703CE}" destId="{11075BE2-F48C-7248-AAAD-42165D81E231}" srcOrd="0" destOrd="0" presId="urn:microsoft.com/office/officeart/2005/8/layout/hierarchy1"/>
    <dgm:cxn modelId="{D3EBE143-386C-6040-B0E5-40BA5FE4DD2E}" type="presParOf" srcId="{11075BE2-F48C-7248-AAAD-42165D81E231}" destId="{254D8E4E-4473-F24A-BEF8-199763B369AB}" srcOrd="0" destOrd="0" presId="urn:microsoft.com/office/officeart/2005/8/layout/hierarchy1"/>
    <dgm:cxn modelId="{8D2E52B2-BF59-F74A-80A3-759CAB6A6352}" type="presParOf" srcId="{254D8E4E-4473-F24A-BEF8-199763B369AB}" destId="{EFB1F846-601B-854E-9768-CF402ED36E3B}" srcOrd="0" destOrd="0" presId="urn:microsoft.com/office/officeart/2005/8/layout/hierarchy1"/>
    <dgm:cxn modelId="{77BA7FEC-95EF-A440-BE85-3198FCC79796}" type="presParOf" srcId="{254D8E4E-4473-F24A-BEF8-199763B369AB}" destId="{1A501FED-2971-AA48-9257-F56A416FD484}" srcOrd="1" destOrd="0" presId="urn:microsoft.com/office/officeart/2005/8/layout/hierarchy1"/>
    <dgm:cxn modelId="{DF8416DD-7531-C74C-9FF4-4F6EFF135888}" type="presParOf" srcId="{11075BE2-F48C-7248-AAAD-42165D81E231}" destId="{F4FC969E-9FA8-D541-9F76-7375807CEE7D}" srcOrd="1" destOrd="0" presId="urn:microsoft.com/office/officeart/2005/8/layout/hierarchy1"/>
    <dgm:cxn modelId="{D3CCDF31-0FF0-AD40-9D3D-A98E2CABD7F6}" type="presParOf" srcId="{D308BB83-10F0-5E4E-B48A-8E0DE04703CE}" destId="{96133B41-A2A5-BF48-8899-1D2A4B608E2F}" srcOrd="1" destOrd="0" presId="urn:microsoft.com/office/officeart/2005/8/layout/hierarchy1"/>
    <dgm:cxn modelId="{EF9CEF53-4A6B-7E48-9E4E-7083F832A5B4}" type="presParOf" srcId="{96133B41-A2A5-BF48-8899-1D2A4B608E2F}" destId="{52413FF2-F30C-9145-861B-868DC186AD3C}" srcOrd="0" destOrd="0" presId="urn:microsoft.com/office/officeart/2005/8/layout/hierarchy1"/>
    <dgm:cxn modelId="{8BCF68A1-E838-D64C-B51C-A6ECC40B65E6}" type="presParOf" srcId="{52413FF2-F30C-9145-861B-868DC186AD3C}" destId="{5D0AECF1-63E7-254E-9FA4-5738BB5D6B8D}" srcOrd="0" destOrd="0" presId="urn:microsoft.com/office/officeart/2005/8/layout/hierarchy1"/>
    <dgm:cxn modelId="{CBE82691-A3F9-BC40-A0BB-A29EB1405B41}" type="presParOf" srcId="{52413FF2-F30C-9145-861B-868DC186AD3C}" destId="{1441434F-63C4-5446-931E-CA8FFAB19BFC}" srcOrd="1" destOrd="0" presId="urn:microsoft.com/office/officeart/2005/8/layout/hierarchy1"/>
    <dgm:cxn modelId="{D8B0B937-3FB8-DD48-A7D4-B2748FB176F6}" type="presParOf" srcId="{96133B41-A2A5-BF48-8899-1D2A4B608E2F}" destId="{3D804186-BD19-614F-AFE0-A9BF802A1BF7}" srcOrd="1" destOrd="0" presId="urn:microsoft.com/office/officeart/2005/8/layout/hierarchy1"/>
    <dgm:cxn modelId="{8F462C1C-0A03-7343-85D2-7B1BE2FF6390}" type="presParOf" srcId="{D308BB83-10F0-5E4E-B48A-8E0DE04703CE}" destId="{99A15624-FF9D-5C4E-9E11-37F3D309A261}" srcOrd="2" destOrd="0" presId="urn:microsoft.com/office/officeart/2005/8/layout/hierarchy1"/>
    <dgm:cxn modelId="{2B47A17D-6AA5-424A-A3AC-3AE79269C171}" type="presParOf" srcId="{99A15624-FF9D-5C4E-9E11-37F3D309A261}" destId="{F461EA56-DF73-9646-9183-CA37AEADF0D5}" srcOrd="0" destOrd="0" presId="urn:microsoft.com/office/officeart/2005/8/layout/hierarchy1"/>
    <dgm:cxn modelId="{1E7E5858-9E09-E349-B44D-CF0F8C5218EF}" type="presParOf" srcId="{F461EA56-DF73-9646-9183-CA37AEADF0D5}" destId="{627BF272-5AAB-9646-8AE0-6C1C6406BBF8}" srcOrd="0" destOrd="0" presId="urn:microsoft.com/office/officeart/2005/8/layout/hierarchy1"/>
    <dgm:cxn modelId="{23B0D0B7-EBF1-DF4F-8430-CECDBFF4C10A}" type="presParOf" srcId="{F461EA56-DF73-9646-9183-CA37AEADF0D5}" destId="{598861DD-C609-0D40-9E3E-96AB54E11204}" srcOrd="1" destOrd="0" presId="urn:microsoft.com/office/officeart/2005/8/layout/hierarchy1"/>
    <dgm:cxn modelId="{7E7B6F90-9889-3144-BC21-637C26CF2131}" type="presParOf" srcId="{99A15624-FF9D-5C4E-9E11-37F3D309A261}" destId="{1DA550E0-8ED7-B845-9182-E802761086B7}" srcOrd="1" destOrd="0" presId="urn:microsoft.com/office/officeart/2005/8/layout/hierarchy1"/>
    <dgm:cxn modelId="{7207B92D-D4D5-4D44-AFD7-E6CC7DE2C838}" type="presParOf" srcId="{D308BB83-10F0-5E4E-B48A-8E0DE04703CE}" destId="{06004E9B-845D-7A4F-AD1D-06EB87A24BB6}" srcOrd="3" destOrd="0" presId="urn:microsoft.com/office/officeart/2005/8/layout/hierarchy1"/>
    <dgm:cxn modelId="{5BFA966E-41FC-B440-ADFE-04C20E3149C5}" type="presParOf" srcId="{06004E9B-845D-7A4F-AD1D-06EB87A24BB6}" destId="{F68350F7-EE7B-E742-A619-2FB65830E351}" srcOrd="0" destOrd="0" presId="urn:microsoft.com/office/officeart/2005/8/layout/hierarchy1"/>
    <dgm:cxn modelId="{2E14153D-869D-174B-BF1B-1634B9DD4F8F}" type="presParOf" srcId="{F68350F7-EE7B-E742-A619-2FB65830E351}" destId="{816084AB-567B-6443-A798-F3100848E7C1}" srcOrd="0" destOrd="0" presId="urn:microsoft.com/office/officeart/2005/8/layout/hierarchy1"/>
    <dgm:cxn modelId="{EA779FF9-1AB9-5742-8458-0CE1FD252136}" type="presParOf" srcId="{F68350F7-EE7B-E742-A619-2FB65830E351}" destId="{6704D6C8-54BB-524F-80FE-4471D7098CDF}" srcOrd="1" destOrd="0" presId="urn:microsoft.com/office/officeart/2005/8/layout/hierarchy1"/>
    <dgm:cxn modelId="{DCAD766F-59AF-764A-AE03-F3D28C33FF1A}" type="presParOf" srcId="{06004E9B-845D-7A4F-AD1D-06EB87A24BB6}" destId="{42ADD689-DDD4-3B4C-9DE1-F241BC90D3FC}" srcOrd="1" destOrd="0" presId="urn:microsoft.com/office/officeart/2005/8/layout/hierarchy1"/>
    <dgm:cxn modelId="{8824689E-48FA-F946-AA82-BC4224F9ECC0}" type="presParOf" srcId="{D308BB83-10F0-5E4E-B48A-8E0DE04703CE}" destId="{8C457084-531D-3248-A766-7350749AC235}" srcOrd="4" destOrd="0" presId="urn:microsoft.com/office/officeart/2005/8/layout/hierarchy1"/>
    <dgm:cxn modelId="{081D6DF6-2CA6-0A48-A352-79A9AEBDA1E9}" type="presParOf" srcId="{8C457084-531D-3248-A766-7350749AC235}" destId="{4A51E60C-A5C8-A849-A695-8E6B2C4A89EE}" srcOrd="0" destOrd="0" presId="urn:microsoft.com/office/officeart/2005/8/layout/hierarchy1"/>
    <dgm:cxn modelId="{1A060460-7618-2640-A125-D777DEA0C14E}" type="presParOf" srcId="{4A51E60C-A5C8-A849-A695-8E6B2C4A89EE}" destId="{77DB7131-59FC-8845-8DCA-DA7F6710BE4E}" srcOrd="0" destOrd="0" presId="urn:microsoft.com/office/officeart/2005/8/layout/hierarchy1"/>
    <dgm:cxn modelId="{F183E82B-35DD-EC4B-ADC0-8433EF5530F4}" type="presParOf" srcId="{4A51E60C-A5C8-A849-A695-8E6B2C4A89EE}" destId="{E0D016C5-713A-7A43-A573-1DE03981F421}" srcOrd="1" destOrd="0" presId="urn:microsoft.com/office/officeart/2005/8/layout/hierarchy1"/>
    <dgm:cxn modelId="{CAC45D5E-8A2B-8B4C-9D6A-49492766A5F3}" type="presParOf" srcId="{8C457084-531D-3248-A766-7350749AC235}" destId="{397303B9-A272-5A4F-BF75-AC5431F7F4BD}" srcOrd="1" destOrd="0" presId="urn:microsoft.com/office/officeart/2005/8/layout/hierarchy1"/>
    <dgm:cxn modelId="{0E22A28C-BE8F-EE47-92BF-8862699E9F53}" type="presParOf" srcId="{D308BB83-10F0-5E4E-B48A-8E0DE04703CE}" destId="{AB8E2481-EBDD-324A-AB29-1842033C9E54}" srcOrd="5" destOrd="0" presId="urn:microsoft.com/office/officeart/2005/8/layout/hierarchy1"/>
    <dgm:cxn modelId="{CC780B18-FC5B-8A4E-9542-F5AC306E75A6}" type="presParOf" srcId="{AB8E2481-EBDD-324A-AB29-1842033C9E54}" destId="{A7C03B31-FCCD-EF4E-AD0F-FFDD42B74E16}" srcOrd="0" destOrd="0" presId="urn:microsoft.com/office/officeart/2005/8/layout/hierarchy1"/>
    <dgm:cxn modelId="{65D8B0BA-0A0C-F943-9551-4C12D5A8ABF1}" type="presParOf" srcId="{A7C03B31-FCCD-EF4E-AD0F-FFDD42B74E16}" destId="{D7B3EA74-B7F2-F24E-BDFA-F25928A4C6FF}" srcOrd="0" destOrd="0" presId="urn:microsoft.com/office/officeart/2005/8/layout/hierarchy1"/>
    <dgm:cxn modelId="{DBFA8A6B-F16A-7443-B63F-DC787BA38A18}" type="presParOf" srcId="{A7C03B31-FCCD-EF4E-AD0F-FFDD42B74E16}" destId="{443A38F2-158B-934D-A0BD-63BE1B431328}" srcOrd="1" destOrd="0" presId="urn:microsoft.com/office/officeart/2005/8/layout/hierarchy1"/>
    <dgm:cxn modelId="{51593FC8-92E8-E149-9C09-CBF22BE73EA3}" type="presParOf" srcId="{AB8E2481-EBDD-324A-AB29-1842033C9E54}" destId="{F836BCB3-5030-C742-92EB-D9E690430694}" srcOrd="1" destOrd="0" presId="urn:microsoft.com/office/officeart/2005/8/layout/hierarchy1"/>
    <dgm:cxn modelId="{A630BF07-F0AF-EC46-BA5E-0FC792D8736B}" type="presParOf" srcId="{D308BB83-10F0-5E4E-B48A-8E0DE04703CE}" destId="{933F3964-CDC8-964D-A04A-40F425842EC3}" srcOrd="6" destOrd="0" presId="urn:microsoft.com/office/officeart/2005/8/layout/hierarchy1"/>
    <dgm:cxn modelId="{A5F85877-2E93-CC47-BAC7-732D91F9E220}" type="presParOf" srcId="{933F3964-CDC8-964D-A04A-40F425842EC3}" destId="{EEE3C3E7-EE43-0A4B-9D82-B82684FAD35E}" srcOrd="0" destOrd="0" presId="urn:microsoft.com/office/officeart/2005/8/layout/hierarchy1"/>
    <dgm:cxn modelId="{AB9CF906-ED7E-EA44-9300-90C148E8D7D2}" type="presParOf" srcId="{EEE3C3E7-EE43-0A4B-9D82-B82684FAD35E}" destId="{2E60BADC-1038-7B49-A818-76A8A2945419}" srcOrd="0" destOrd="0" presId="urn:microsoft.com/office/officeart/2005/8/layout/hierarchy1"/>
    <dgm:cxn modelId="{E793F3E0-104B-5549-8597-C29D3E7EC479}" type="presParOf" srcId="{EEE3C3E7-EE43-0A4B-9D82-B82684FAD35E}" destId="{021E7000-08D5-424A-B33B-F64C19BA226F}" srcOrd="1" destOrd="0" presId="urn:microsoft.com/office/officeart/2005/8/layout/hierarchy1"/>
    <dgm:cxn modelId="{FAADAAE1-51B3-8F4D-80AB-483EF9A291CC}" type="presParOf" srcId="{933F3964-CDC8-964D-A04A-40F425842EC3}" destId="{09E8119F-4858-6A47-A8D3-D49BC0E48C99}"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1F846-601B-854E-9768-CF402ED36E3B}">
      <dsp:nvSpPr>
        <dsp:cNvPr id="0" name=""/>
        <dsp:cNvSpPr/>
      </dsp:nvSpPr>
      <dsp:spPr>
        <a:xfrm>
          <a:off x="9714"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501FED-2971-AA48-9257-F56A416FD484}">
      <dsp:nvSpPr>
        <dsp:cNvPr id="0" name=""/>
        <dsp:cNvSpPr/>
      </dsp:nvSpPr>
      <dsp:spPr>
        <a:xfrm>
          <a:off x="154892"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Normalize</a:t>
          </a:r>
        </a:p>
      </dsp:txBody>
      <dsp:txXfrm>
        <a:off x="179193" y="1829488"/>
        <a:ext cx="1258001" cy="781091"/>
      </dsp:txXfrm>
    </dsp:sp>
    <dsp:sp modelId="{5D0AECF1-63E7-254E-9FA4-5738BB5D6B8D}">
      <dsp:nvSpPr>
        <dsp:cNvPr id="0" name=""/>
        <dsp:cNvSpPr/>
      </dsp:nvSpPr>
      <dsp:spPr>
        <a:xfrm>
          <a:off x="1606673"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41434F-63C4-5446-931E-CA8FFAB19BFC}">
      <dsp:nvSpPr>
        <dsp:cNvPr id="0" name=""/>
        <dsp:cNvSpPr/>
      </dsp:nvSpPr>
      <dsp:spPr>
        <a:xfrm>
          <a:off x="1751852"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a:latin typeface="Segoe UI Semibold" panose="020B0502040204020203" pitchFamily="34" charset="0"/>
              <a:cs typeface="Segoe UI Semibold" panose="020B0502040204020203" pitchFamily="34" charset="0"/>
            </a:rPr>
            <a:t>Rank</a:t>
          </a:r>
        </a:p>
      </dsp:txBody>
      <dsp:txXfrm>
        <a:off x="1776153" y="1829488"/>
        <a:ext cx="1258001" cy="781091"/>
      </dsp:txXfrm>
    </dsp:sp>
    <dsp:sp modelId="{627BF272-5AAB-9646-8AE0-6C1C6406BBF8}">
      <dsp:nvSpPr>
        <dsp:cNvPr id="0" name=""/>
        <dsp:cNvSpPr/>
      </dsp:nvSpPr>
      <dsp:spPr>
        <a:xfrm>
          <a:off x="3203633"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861DD-C609-0D40-9E3E-96AB54E11204}">
      <dsp:nvSpPr>
        <dsp:cNvPr id="0" name=""/>
        <dsp:cNvSpPr/>
      </dsp:nvSpPr>
      <dsp:spPr>
        <a:xfrm>
          <a:off x="3348811"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Calculate TPR &amp; FPR</a:t>
          </a:r>
        </a:p>
      </dsp:txBody>
      <dsp:txXfrm>
        <a:off x="3373112" y="1829488"/>
        <a:ext cx="1258001" cy="781091"/>
      </dsp:txXfrm>
    </dsp:sp>
    <dsp:sp modelId="{816084AB-567B-6443-A798-F3100848E7C1}">
      <dsp:nvSpPr>
        <dsp:cNvPr id="0" name=""/>
        <dsp:cNvSpPr/>
      </dsp:nvSpPr>
      <dsp:spPr>
        <a:xfrm>
          <a:off x="4800592"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04D6C8-54BB-524F-80FE-4471D7098CDF}">
      <dsp:nvSpPr>
        <dsp:cNvPr id="0" name=""/>
        <dsp:cNvSpPr/>
      </dsp:nvSpPr>
      <dsp:spPr>
        <a:xfrm>
          <a:off x="4945770"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Plot (ROC)</a:t>
          </a:r>
        </a:p>
      </dsp:txBody>
      <dsp:txXfrm>
        <a:off x="4970071" y="1829488"/>
        <a:ext cx="1258001" cy="781091"/>
      </dsp:txXfrm>
    </dsp:sp>
    <dsp:sp modelId="{77DB7131-59FC-8845-8DCA-DA7F6710BE4E}">
      <dsp:nvSpPr>
        <dsp:cNvPr id="0" name=""/>
        <dsp:cNvSpPr/>
      </dsp:nvSpPr>
      <dsp:spPr>
        <a:xfrm>
          <a:off x="6397552"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016C5-713A-7A43-A573-1DE03981F421}">
      <dsp:nvSpPr>
        <dsp:cNvPr id="0" name=""/>
        <dsp:cNvSpPr/>
      </dsp:nvSpPr>
      <dsp:spPr>
        <a:xfrm>
          <a:off x="6542730"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Calculate TPR-FPR</a:t>
          </a:r>
        </a:p>
      </dsp:txBody>
      <dsp:txXfrm>
        <a:off x="6567031" y="1829488"/>
        <a:ext cx="1258001" cy="781091"/>
      </dsp:txXfrm>
    </dsp:sp>
    <dsp:sp modelId="{D7B3EA74-B7F2-F24E-BDFA-F25928A4C6FF}">
      <dsp:nvSpPr>
        <dsp:cNvPr id="0" name=""/>
        <dsp:cNvSpPr/>
      </dsp:nvSpPr>
      <dsp:spPr>
        <a:xfrm>
          <a:off x="7994511"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3A38F2-158B-934D-A0BD-63BE1B431328}">
      <dsp:nvSpPr>
        <dsp:cNvPr id="0" name=""/>
        <dsp:cNvSpPr/>
      </dsp:nvSpPr>
      <dsp:spPr>
        <a:xfrm>
          <a:off x="8139689"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Find optimal cutoff ratio</a:t>
          </a:r>
        </a:p>
      </dsp:txBody>
      <dsp:txXfrm>
        <a:off x="8163990" y="1829488"/>
        <a:ext cx="1258001" cy="781091"/>
      </dsp:txXfrm>
    </dsp:sp>
    <dsp:sp modelId="{2E60BADC-1038-7B49-A818-76A8A2945419}">
      <dsp:nvSpPr>
        <dsp:cNvPr id="0" name=""/>
        <dsp:cNvSpPr/>
      </dsp:nvSpPr>
      <dsp:spPr>
        <a:xfrm>
          <a:off x="9591471" y="1667268"/>
          <a:ext cx="1306603" cy="82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1E7000-08D5-424A-B33B-F64C19BA226F}">
      <dsp:nvSpPr>
        <dsp:cNvPr id="0" name=""/>
        <dsp:cNvSpPr/>
      </dsp:nvSpPr>
      <dsp:spPr>
        <a:xfrm>
          <a:off x="9736649" y="1805187"/>
          <a:ext cx="1306603" cy="82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Segoe UI Semibold" panose="020B0502040204020203" pitchFamily="34" charset="0"/>
              <a:cs typeface="Segoe UI Semibold" panose="020B0502040204020203" pitchFamily="34" charset="0"/>
            </a:rPr>
            <a:t>Plot TPR-FPR</a:t>
          </a:r>
        </a:p>
      </dsp:txBody>
      <dsp:txXfrm>
        <a:off x="9760950" y="1829488"/>
        <a:ext cx="1258001" cy="7810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1BF4D-3201-F745-B932-E7F786B71255}" type="datetimeFigureOut">
              <a:rPr lang="en-US" smtClean="0"/>
              <a:t>6/1/23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3C3097-339F-D341-9AE2-47DB3DE0E34B}" type="slidenum">
              <a:rPr lang="en-US" smtClean="0"/>
              <a:t>‹#›</a:t>
            </a:fld>
            <a:endParaRPr lang="en-US"/>
          </a:p>
        </p:txBody>
      </p:sp>
    </p:spTree>
    <p:extLst>
      <p:ext uri="{BB962C8B-B14F-4D97-AF65-F5344CB8AC3E}">
        <p14:creationId xmlns:p14="http://schemas.microsoft.com/office/powerpoint/2010/main" val="3497218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ncbi.nlm.nih.gov/pmc/articles/PMC3916822/"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using the proximity labeling tool to identify proteins that interact with a specific target protein. </a:t>
            </a:r>
          </a:p>
          <a:p>
            <a:endParaRPr lang="en-US" dirty="0"/>
          </a:p>
          <a:p>
            <a:r>
              <a:rPr lang="en-US" dirty="0" err="1"/>
              <a:t>TurboID</a:t>
            </a:r>
            <a:r>
              <a:rPr lang="en-US" dirty="0"/>
              <a:t> is a biotin ligase enzyme that can be fused to a protein of interest. So when the </a:t>
            </a:r>
            <a:r>
              <a:rPr lang="en-US" dirty="0" err="1"/>
              <a:t>turboid</a:t>
            </a:r>
            <a:r>
              <a:rPr lang="en-US" dirty="0"/>
              <a:t> fused protein is expressed and biotin is added to the environment turbo id will biotinylate nearby proteins and we are able to identify the interacting proteins</a:t>
            </a:r>
          </a:p>
          <a:p>
            <a:endParaRPr lang="en-US" dirty="0"/>
          </a:p>
          <a:p>
            <a:r>
              <a:rPr lang="en-US" dirty="0"/>
              <a:t>KDEL-</a:t>
            </a:r>
            <a:r>
              <a:rPr lang="en-US" dirty="0" err="1"/>
              <a:t>TurboID</a:t>
            </a:r>
            <a:r>
              <a:rPr lang="en-US" dirty="0"/>
              <a:t> is a modified version of </a:t>
            </a:r>
            <a:r>
              <a:rPr lang="en-US" dirty="0" err="1"/>
              <a:t>TurboID</a:t>
            </a:r>
            <a:r>
              <a:rPr lang="en-US" dirty="0"/>
              <a:t> that is targeted to the endoplasmic reticulum (ER). This allows KDEL-</a:t>
            </a:r>
            <a:r>
              <a:rPr lang="en-US" dirty="0" err="1"/>
              <a:t>TurboID</a:t>
            </a:r>
            <a:r>
              <a:rPr lang="en-US" dirty="0"/>
              <a:t> to label proteins that are in close proximity to the ER.</a:t>
            </a:r>
          </a:p>
          <a:p>
            <a:endParaRPr lang="en-US" dirty="0"/>
          </a:p>
          <a:p>
            <a:r>
              <a:rPr lang="en-US" dirty="0"/>
              <a:t>Adiponectin-</a:t>
            </a:r>
            <a:r>
              <a:rPr lang="en-US" dirty="0" err="1"/>
              <a:t>Cre</a:t>
            </a:r>
            <a:r>
              <a:rPr lang="en-US" dirty="0"/>
              <a:t>, Albumin-</a:t>
            </a:r>
            <a:r>
              <a:rPr lang="en-US" dirty="0" err="1"/>
              <a:t>Cre</a:t>
            </a:r>
            <a:r>
              <a:rPr lang="en-US" dirty="0"/>
              <a:t>, and CD19-Cre are all types of modified mice that express the </a:t>
            </a:r>
            <a:r>
              <a:rPr lang="en-US" dirty="0" err="1"/>
              <a:t>Cre</a:t>
            </a:r>
            <a:r>
              <a:rPr lang="en-US" dirty="0"/>
              <a:t> recombinase enzyme in specific cell types or tissues. </a:t>
            </a:r>
          </a:p>
          <a:p>
            <a:endParaRPr lang="en-US" dirty="0"/>
          </a:p>
          <a:p>
            <a:r>
              <a:rPr lang="en-US" dirty="0"/>
              <a:t>Adiponectin-</a:t>
            </a:r>
            <a:r>
              <a:rPr lang="en-US" dirty="0" err="1"/>
              <a:t>Cre</a:t>
            </a:r>
            <a:r>
              <a:rPr lang="en-US" dirty="0"/>
              <a:t> mice express </a:t>
            </a:r>
            <a:r>
              <a:rPr lang="en-US" dirty="0" err="1"/>
              <a:t>Cre</a:t>
            </a:r>
            <a:r>
              <a:rPr lang="en-US" dirty="0"/>
              <a:t> recombinase under the control of the adiponectin promoter, which is specifically active in adipose tissue. This allows us to induce genetic modifications specifically in adipocytes (fat cells) or other cells within adipose tissue.</a:t>
            </a:r>
          </a:p>
          <a:p>
            <a:r>
              <a:rPr lang="en-US" dirty="0"/>
              <a:t>Albumin-</a:t>
            </a:r>
            <a:r>
              <a:rPr lang="en-US" dirty="0" err="1"/>
              <a:t>Cre</a:t>
            </a:r>
            <a:r>
              <a:rPr lang="en-US" dirty="0"/>
              <a:t> mice express </a:t>
            </a:r>
            <a:r>
              <a:rPr lang="en-US" dirty="0" err="1"/>
              <a:t>Cre</a:t>
            </a:r>
            <a:r>
              <a:rPr lang="en-US" dirty="0"/>
              <a:t> recombinase under the control of the albumin promoter, which is active in liver cells. This allows us to induce genetic modifications specifically in hepatocytes (liver cells).</a:t>
            </a:r>
          </a:p>
          <a:p>
            <a:r>
              <a:rPr lang="en-US" dirty="0"/>
              <a:t>CD19-Cre mice express </a:t>
            </a:r>
            <a:r>
              <a:rPr lang="en-US" dirty="0" err="1"/>
              <a:t>Cre</a:t>
            </a:r>
            <a:r>
              <a:rPr lang="en-US" dirty="0"/>
              <a:t> recombinase under the control of the CD19 promoter, which is active in B cells of the immune system. This allows us to induce genetic modifications specifically in B cells.</a:t>
            </a:r>
          </a:p>
          <a:p>
            <a:endParaRPr lang="en-US" dirty="0"/>
          </a:p>
          <a:p>
            <a:r>
              <a:rPr lang="en-US" dirty="0"/>
              <a:t>By crossing these </a:t>
            </a:r>
            <a:r>
              <a:rPr lang="en-US" dirty="0" err="1"/>
              <a:t>Cre</a:t>
            </a:r>
            <a:r>
              <a:rPr lang="en-US" dirty="0"/>
              <a:t>-expressing mice with mice that carry a "</a:t>
            </a:r>
            <a:r>
              <a:rPr lang="en-US" dirty="0" err="1"/>
              <a:t>floxed</a:t>
            </a:r>
            <a:r>
              <a:rPr lang="en-US" dirty="0"/>
              <a:t>" gene of interest (a gene that has been flanked by </a:t>
            </a:r>
            <a:r>
              <a:rPr lang="en-US" dirty="0" err="1"/>
              <a:t>loxP</a:t>
            </a:r>
            <a:r>
              <a:rPr lang="en-US" dirty="0"/>
              <a:t> sites), we can selectively delete or modify the gene in specific cell types or tissues. </a:t>
            </a:r>
          </a:p>
        </p:txBody>
      </p:sp>
      <p:sp>
        <p:nvSpPr>
          <p:cNvPr id="4" name="Slide Number Placeholder 3"/>
          <p:cNvSpPr>
            <a:spLocks noGrp="1"/>
          </p:cNvSpPr>
          <p:nvPr>
            <p:ph type="sldNum" sz="quarter" idx="5"/>
          </p:nvPr>
        </p:nvSpPr>
        <p:spPr/>
        <p:txBody>
          <a:bodyPr/>
          <a:lstStyle/>
          <a:p>
            <a:fld id="{5E3C3097-339F-D341-9AE2-47DB3DE0E34B}" type="slidenum">
              <a:rPr lang="en-US" smtClean="0"/>
              <a:t>1</a:t>
            </a:fld>
            <a:endParaRPr lang="en-US"/>
          </a:p>
        </p:txBody>
      </p:sp>
    </p:spTree>
    <p:extLst>
      <p:ext uri="{BB962C8B-B14F-4D97-AF65-F5344CB8AC3E}">
        <p14:creationId xmlns:p14="http://schemas.microsoft.com/office/powerpoint/2010/main" val="129287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4D5156"/>
                </a:solidFill>
                <a:effectLst/>
                <a:latin typeface="arial" panose="020B0604020202020204" pitchFamily="34" charset="0"/>
              </a:rPr>
              <a:t> </a:t>
            </a:r>
            <a:r>
              <a:rPr lang="en-US" dirty="0" err="1"/>
              <a:t>iWAT</a:t>
            </a:r>
            <a:r>
              <a:rPr lang="en-US" dirty="0"/>
              <a:t> and </a:t>
            </a:r>
            <a:r>
              <a:rPr lang="en-US" dirty="0" err="1"/>
              <a:t>eWAT</a:t>
            </a:r>
            <a:r>
              <a:rPr lang="en-US" dirty="0"/>
              <a:t> </a:t>
            </a:r>
            <a:r>
              <a:rPr lang="en-US" dirty="0" err="1"/>
              <a:t>TurboID</a:t>
            </a:r>
            <a:r>
              <a:rPr lang="en-US" dirty="0"/>
              <a:t> are two variants of the KDEL-</a:t>
            </a:r>
            <a:r>
              <a:rPr lang="en-US" dirty="0" err="1"/>
              <a:t>TurboID</a:t>
            </a:r>
            <a:r>
              <a:rPr lang="en-US" dirty="0"/>
              <a:t> proximity labeling tool that are used to identify proteins in specific types of adipose tissue. </a:t>
            </a:r>
          </a:p>
          <a:p>
            <a:endParaRPr lang="en-US" dirty="0"/>
          </a:p>
          <a:p>
            <a:r>
              <a:rPr lang="en-US" dirty="0" err="1"/>
              <a:t>iWAT</a:t>
            </a:r>
            <a:r>
              <a:rPr lang="en-US" dirty="0"/>
              <a:t> stands for "inguinal white adipose tissue," which is a type of subcutaneous white adipose tissue found in the inguinal region of mice. </a:t>
            </a:r>
          </a:p>
          <a:p>
            <a:r>
              <a:rPr lang="en-US" dirty="0" err="1"/>
              <a:t>eWAT</a:t>
            </a:r>
            <a:r>
              <a:rPr lang="en-US" dirty="0"/>
              <a:t> stands for "epididymal white adipose tissue," which is a type of visceral white adipose tissue found in the epididymal region of mice.</a:t>
            </a:r>
          </a:p>
          <a:p>
            <a:endParaRPr lang="en-US" dirty="0"/>
          </a:p>
          <a:p>
            <a:r>
              <a:rPr lang="en-US" dirty="0"/>
              <a:t>By expressing KDEL-</a:t>
            </a:r>
            <a:r>
              <a:rPr lang="en-US" dirty="0" err="1"/>
              <a:t>TurboID</a:t>
            </a:r>
            <a:r>
              <a:rPr lang="en-US" dirty="0"/>
              <a:t> in </a:t>
            </a:r>
            <a:r>
              <a:rPr lang="en-US" dirty="0" err="1"/>
              <a:t>iWAT</a:t>
            </a:r>
            <a:r>
              <a:rPr lang="en-US" dirty="0"/>
              <a:t> or </a:t>
            </a:r>
            <a:r>
              <a:rPr lang="en-US" dirty="0" err="1"/>
              <a:t>eWAT</a:t>
            </a:r>
            <a:r>
              <a:rPr lang="en-US" dirty="0"/>
              <a:t> and labeling nearby proteins with biotin, we can identify proteins that are specifically enriched or depleted in these types of adipose tissue.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9989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samples ran through the mass spec we use IP2 to search the data against a database of known proteins (which is known also as the mouse </a:t>
            </a:r>
            <a:r>
              <a:rPr lang="en-US" dirty="0" err="1"/>
              <a:t>fasta</a:t>
            </a:r>
            <a:r>
              <a:rPr lang="en-US" dirty="0"/>
              <a:t> file – which contains canonical protein sequences) </a:t>
            </a:r>
          </a:p>
          <a:p>
            <a:endParaRPr lang="en-US" dirty="0"/>
          </a:p>
          <a:p>
            <a:r>
              <a:rPr lang="en-US" dirty="0"/>
              <a:t>We then obtain the raw files which you know as census out files and which you also know are not human readable and need to be processed, so after putting the raw files in a readable format we know that each protein will have peptides that were </a:t>
            </a:r>
            <a:r>
              <a:rPr lang="en-US" dirty="0" err="1"/>
              <a:t>indetified</a:t>
            </a:r>
            <a:r>
              <a:rPr lang="en-US" dirty="0"/>
              <a:t> </a:t>
            </a:r>
          </a:p>
          <a:p>
            <a:endParaRPr lang="en-US" dirty="0"/>
          </a:p>
          <a:p>
            <a:r>
              <a:rPr lang="en-US" dirty="0"/>
              <a:t>In order to clean up the data </a:t>
            </a:r>
            <a:r>
              <a:rPr lang="en-US" dirty="0" err="1"/>
              <a:t>fram</a:t>
            </a:r>
            <a:r>
              <a:rPr lang="en-US" dirty="0"/>
              <a:t> peptides that we don’t want to </a:t>
            </a:r>
            <a:r>
              <a:rPr lang="en-US" dirty="0" err="1"/>
              <a:t>qantify</a:t>
            </a:r>
            <a:r>
              <a:rPr lang="en-US" dirty="0"/>
              <a:t> we filter the data by removing non unique </a:t>
            </a:r>
            <a:r>
              <a:rPr lang="en-US" dirty="0" err="1"/>
              <a:t>pepitdes</a:t>
            </a:r>
            <a:r>
              <a:rPr lang="en-US" dirty="0"/>
              <a:t> - non unique peptides are the ones that were identified in more than one protein, we remove not fully tryptic peptides, and we allow only 1 </a:t>
            </a:r>
            <a:r>
              <a:rPr lang="en-US" dirty="0" err="1"/>
              <a:t>msised</a:t>
            </a:r>
            <a:r>
              <a:rPr lang="en-US" dirty="0"/>
              <a:t> cleavage site in the peptide </a:t>
            </a:r>
          </a:p>
          <a:p>
            <a:endParaRPr lang="en-US" dirty="0"/>
          </a:p>
          <a:p>
            <a:r>
              <a:rPr lang="en-US" dirty="0"/>
              <a:t>We also specify a filter to quantify all proteins that were quantified with at least one peptide – but we also create a more stricter output where we only allow proteins that have a min of 2 peptides quantified</a:t>
            </a:r>
          </a:p>
          <a:p>
            <a:endParaRPr lang="en-US" dirty="0"/>
          </a:p>
          <a:p>
            <a:r>
              <a:rPr lang="en-US" dirty="0"/>
              <a:t>Now that we cleaned/filtered our peptides – we sum the signal intensities for each channel which leaves us with one row for this protein and its </a:t>
            </a:r>
            <a:r>
              <a:rPr lang="en-US" dirty="0" err="1"/>
              <a:t>summes</a:t>
            </a:r>
            <a:r>
              <a:rPr lang="en-US" dirty="0"/>
              <a:t> signal intensity per channel, which we call our </a:t>
            </a:r>
            <a:r>
              <a:rPr lang="en-US" dirty="0" err="1"/>
              <a:t>pocessed</a:t>
            </a:r>
            <a:r>
              <a:rPr lang="en-US" dirty="0"/>
              <a:t> file </a:t>
            </a:r>
          </a:p>
        </p:txBody>
      </p:sp>
      <p:sp>
        <p:nvSpPr>
          <p:cNvPr id="4" name="Slide Number Placeholder 3"/>
          <p:cNvSpPr>
            <a:spLocks noGrp="1"/>
          </p:cNvSpPr>
          <p:nvPr>
            <p:ph type="sldNum" sz="quarter" idx="5"/>
          </p:nvPr>
        </p:nvSpPr>
        <p:spPr/>
        <p:txBody>
          <a:bodyPr/>
          <a:lstStyle/>
          <a:p>
            <a:fld id="{5E3C3097-339F-D341-9AE2-47DB3DE0E34B}" type="slidenum">
              <a:rPr lang="en-US" smtClean="0"/>
              <a:t>3</a:t>
            </a:fld>
            <a:endParaRPr lang="en-US"/>
          </a:p>
        </p:txBody>
      </p:sp>
    </p:spTree>
    <p:extLst>
      <p:ext uri="{BB962C8B-B14F-4D97-AF65-F5344CB8AC3E}">
        <p14:creationId xmlns:p14="http://schemas.microsoft.com/office/powerpoint/2010/main" val="1050473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cutout of a processed file which has proteins and the summed peptide signal intensities per channel </a:t>
            </a:r>
          </a:p>
          <a:p>
            <a:r>
              <a:rPr lang="en-US" dirty="0"/>
              <a:t>We also have a column that shows us the number of quantified unique peptides </a:t>
            </a:r>
          </a:p>
          <a:p>
            <a:endParaRPr lang="en-US" dirty="0"/>
          </a:p>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4</a:t>
            </a:fld>
            <a:endParaRPr lang="en-US"/>
          </a:p>
        </p:txBody>
      </p:sp>
    </p:spTree>
    <p:extLst>
      <p:ext uri="{BB962C8B-B14F-4D97-AF65-F5344CB8AC3E}">
        <p14:creationId xmlns:p14="http://schemas.microsoft.com/office/powerpoint/2010/main" val="53686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our processed and human readable files we annotate the quantified proteins – annotation is basically adding more information to the table and in specific we want to add the information weather a protein is a true positive or false positive </a:t>
            </a:r>
          </a:p>
        </p:txBody>
      </p:sp>
      <p:sp>
        <p:nvSpPr>
          <p:cNvPr id="4" name="Slide Number Placeholder 3"/>
          <p:cNvSpPr>
            <a:spLocks noGrp="1"/>
          </p:cNvSpPr>
          <p:nvPr>
            <p:ph type="sldNum" sz="quarter" idx="5"/>
          </p:nvPr>
        </p:nvSpPr>
        <p:spPr/>
        <p:txBody>
          <a:bodyPr/>
          <a:lstStyle/>
          <a:p>
            <a:fld id="{5E3C3097-339F-D341-9AE2-47DB3DE0E34B}" type="slidenum">
              <a:rPr lang="en-US" smtClean="0"/>
              <a:t>5</a:t>
            </a:fld>
            <a:endParaRPr lang="en-US"/>
          </a:p>
        </p:txBody>
      </p:sp>
    </p:spTree>
    <p:extLst>
      <p:ext uri="{BB962C8B-B14F-4D97-AF65-F5344CB8AC3E}">
        <p14:creationId xmlns:p14="http://schemas.microsoft.com/office/powerpoint/2010/main" val="718442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decided to take the mouse </a:t>
            </a:r>
            <a:r>
              <a:rPr lang="en-US" dirty="0" err="1"/>
              <a:t>fasta</a:t>
            </a:r>
            <a:r>
              <a:rPr lang="en-US" dirty="0"/>
              <a:t> file that was used in IP2 to map the peptides to proteins. This is all the proteins we are able to detect with our methodology. So we extract the </a:t>
            </a:r>
            <a:r>
              <a:rPr lang="en-US" dirty="0" err="1"/>
              <a:t>uniprot</a:t>
            </a:r>
            <a:r>
              <a:rPr lang="en-US" dirty="0"/>
              <a:t> ids from the </a:t>
            </a:r>
            <a:r>
              <a:rPr lang="en-US" dirty="0" err="1"/>
              <a:t>fasta</a:t>
            </a:r>
            <a:r>
              <a:rPr lang="en-US" dirty="0"/>
              <a:t> file, we perform </a:t>
            </a:r>
            <a:r>
              <a:rPr lang="en-US" dirty="0" err="1"/>
              <a:t>Uniprot</a:t>
            </a:r>
            <a:r>
              <a:rPr lang="en-US" dirty="0"/>
              <a:t> ID mapping which allows us to get all information available on </a:t>
            </a:r>
            <a:r>
              <a:rPr lang="en-US" dirty="0" err="1"/>
              <a:t>uniprot</a:t>
            </a:r>
            <a:r>
              <a:rPr lang="en-US" dirty="0"/>
              <a:t> for this protein we then save this information as an excel file. </a:t>
            </a:r>
          </a:p>
          <a:p>
            <a:endParaRPr lang="en-US" dirty="0"/>
          </a:p>
          <a:p>
            <a:r>
              <a:rPr lang="en-US" dirty="0"/>
              <a:t>This table acts as our reference table for all proteins we could ever identify and provides all necessary information about them </a:t>
            </a:r>
          </a:p>
          <a:p>
            <a:endParaRPr lang="en-US" dirty="0"/>
          </a:p>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6</a:t>
            </a:fld>
            <a:endParaRPr lang="en-US"/>
          </a:p>
        </p:txBody>
      </p:sp>
    </p:spTree>
    <p:extLst>
      <p:ext uri="{BB962C8B-B14F-4D97-AF65-F5344CB8AC3E}">
        <p14:creationId xmlns:p14="http://schemas.microsoft.com/office/powerpoint/2010/main" val="3267577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know that we expect all proteins to be </a:t>
            </a:r>
            <a:r>
              <a:rPr lang="en-US" dirty="0" err="1"/>
              <a:t>biotynalted</a:t>
            </a:r>
            <a:r>
              <a:rPr lang="en-US" dirty="0"/>
              <a:t> that have the subcellular location as list above we define them as True positives </a:t>
            </a:r>
            <a:endParaRPr kumimoji="0" lang="en-US" i="0" u="none" strike="noStrike" kern="1200" cap="none" spc="20" normalizeH="0" baseline="0" noProof="0" dirty="0">
              <a:ln>
                <a:noFill/>
              </a:ln>
              <a:solidFill>
                <a:srgbClr val="000000"/>
              </a:solidFill>
              <a:effectLst/>
              <a:uLnTx/>
              <a:uFillTx/>
              <a:latin typeface="Avenir Next LT Pro"/>
              <a:ea typeface="+mn-ea"/>
              <a:cs typeface="+mn-cs"/>
            </a:endParaRP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Segoe UI Semibold" panose="020B0502040204020203" pitchFamily="34" charset="0"/>
                <a:cs typeface="Segoe UI Semibold" panose="020B0502040204020203" pitchFamily="34" charset="0"/>
              </a:rPr>
              <a:t>annotation based on Supplementary S1 published by </a:t>
            </a:r>
            <a:r>
              <a:rPr lang="en-US" b="1" dirty="0">
                <a:latin typeface="Segoe UI Semibold" panose="020B0502040204020203" pitchFamily="34" charset="0"/>
                <a:cs typeface="Segoe UI Semibold" panose="020B0502040204020203" pitchFamily="34" charset="0"/>
                <a:hlinkClick r:id="rId3"/>
              </a:rPr>
              <a:t>Rhee et al. 2013</a:t>
            </a:r>
            <a:endParaRPr lang="en-US" b="1" dirty="0">
              <a:latin typeface="Segoe UI Semibold" panose="020B0502040204020203" pitchFamily="34" charset="0"/>
              <a:cs typeface="Segoe UI Semibold"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7</a:t>
            </a:fld>
            <a:endParaRPr lang="en-US"/>
          </a:p>
        </p:txBody>
      </p:sp>
    </p:spTree>
    <p:extLst>
      <p:ext uri="{BB962C8B-B14F-4D97-AF65-F5344CB8AC3E}">
        <p14:creationId xmlns:p14="http://schemas.microsoft.com/office/powerpoint/2010/main" val="3925090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8</a:t>
            </a:fld>
            <a:endParaRPr lang="en-US"/>
          </a:p>
        </p:txBody>
      </p:sp>
    </p:spTree>
    <p:extLst>
      <p:ext uri="{BB962C8B-B14F-4D97-AF65-F5344CB8AC3E}">
        <p14:creationId xmlns:p14="http://schemas.microsoft.com/office/powerpoint/2010/main" val="45632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take care of filtering and normalization </a:t>
            </a:r>
          </a:p>
        </p:txBody>
      </p:sp>
      <p:sp>
        <p:nvSpPr>
          <p:cNvPr id="4" name="Slide Number Placeholder 3"/>
          <p:cNvSpPr>
            <a:spLocks noGrp="1"/>
          </p:cNvSpPr>
          <p:nvPr>
            <p:ph type="sldNum" sz="quarter" idx="5"/>
          </p:nvPr>
        </p:nvSpPr>
        <p:spPr/>
        <p:txBody>
          <a:bodyPr/>
          <a:lstStyle/>
          <a:p>
            <a:fld id="{5E3C3097-339F-D341-9AE2-47DB3DE0E34B}" type="slidenum">
              <a:rPr lang="en-US" smtClean="0"/>
              <a:t>9</a:t>
            </a:fld>
            <a:endParaRPr lang="en-US"/>
          </a:p>
        </p:txBody>
      </p:sp>
    </p:spTree>
    <p:extLst>
      <p:ext uri="{BB962C8B-B14F-4D97-AF65-F5344CB8AC3E}">
        <p14:creationId xmlns:p14="http://schemas.microsoft.com/office/powerpoint/2010/main" val="3436855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type of filtering allows us to keep proteins that seem to have very low values in one condition than the other and might be actually the ones that are interesting so we don’t want to filter those cases out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763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filtered data we apply a median normalization for the </a:t>
            </a:r>
            <a:r>
              <a:rPr lang="en-US" dirty="0" err="1"/>
              <a:t>cre</a:t>
            </a:r>
            <a:r>
              <a:rPr lang="en-US" dirty="0"/>
              <a:t>+ channels </a:t>
            </a:r>
          </a:p>
          <a:p>
            <a:endParaRPr lang="en-US" dirty="0"/>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Per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TP proteins with 2+ peptides are used to calculate the median per channel </a:t>
            </a:r>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normalization factors are calculated by dividing (median of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medians)/(median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a:t>
            </a:r>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each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is then multiplied with the corresponding normalization factor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0476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filtered data we apply a median normalization for the </a:t>
            </a:r>
            <a:r>
              <a:rPr lang="en-US" dirty="0" err="1"/>
              <a:t>cre</a:t>
            </a:r>
            <a:r>
              <a:rPr lang="en-US" dirty="0"/>
              <a:t>+ channels </a:t>
            </a:r>
          </a:p>
          <a:p>
            <a:endParaRPr lang="en-US" dirty="0"/>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Per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TP proteins with 2+ peptides are used to calculate the median per channel </a:t>
            </a:r>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normalization factors are calculated by dividing (median of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medians)/(median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a:t>
            </a:r>
          </a:p>
          <a:p>
            <a:pPr>
              <a:lnSpc>
                <a:spcPct val="120000"/>
              </a:lnSpc>
              <a:buClr>
                <a:schemeClr val="tx1"/>
              </a:buClr>
              <a:defRPr/>
            </a:pP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each </a:t>
            </a:r>
            <a:r>
              <a:rPr kumimoji="0" lang="en-US" sz="12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12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channel is then multiplied with the corresponding normalization factor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7330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our normalized data we calculate the enrichments ratio – the ratio between the </a:t>
            </a:r>
            <a:r>
              <a:rPr lang="en-US" dirty="0" err="1"/>
              <a:t>cre</a:t>
            </a:r>
            <a:r>
              <a:rPr lang="en-US" dirty="0"/>
              <a:t>+ sample and </a:t>
            </a:r>
            <a:r>
              <a:rPr lang="en-US" dirty="0" err="1"/>
              <a:t>cre</a:t>
            </a:r>
            <a:r>
              <a:rPr lang="en-US" dirty="0"/>
              <a:t>- sample </a:t>
            </a:r>
          </a:p>
          <a:p>
            <a:endParaRPr lang="en-US" dirty="0"/>
          </a:p>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13</a:t>
            </a:fld>
            <a:endParaRPr lang="en-US"/>
          </a:p>
        </p:txBody>
      </p:sp>
    </p:spTree>
    <p:extLst>
      <p:ext uri="{BB962C8B-B14F-4D97-AF65-F5344CB8AC3E}">
        <p14:creationId xmlns:p14="http://schemas.microsoft.com/office/powerpoint/2010/main" val="3118439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Cre</a:t>
            </a:r>
            <a:r>
              <a:rPr lang="en-US" dirty="0"/>
              <a:t> recombinase is used to excise or recombine DNA sequences that are flanked by </a:t>
            </a:r>
            <a:r>
              <a:rPr lang="en-US" dirty="0" err="1"/>
              <a:t>loxP</a:t>
            </a:r>
            <a:r>
              <a:rPr lang="en-US" dirty="0"/>
              <a:t> sites.</a:t>
            </a:r>
          </a:p>
          <a:p>
            <a:endParaRPr lang="en-US" dirty="0"/>
          </a:p>
          <a:p>
            <a:r>
              <a:rPr lang="en-US" dirty="0" err="1"/>
              <a:t>Cre</a:t>
            </a:r>
            <a:r>
              <a:rPr lang="en-US" dirty="0"/>
              <a:t>+ samples are samples in which </a:t>
            </a:r>
            <a:r>
              <a:rPr lang="en-US" dirty="0" err="1"/>
              <a:t>Cre</a:t>
            </a:r>
            <a:r>
              <a:rPr lang="en-US" dirty="0"/>
              <a:t> recombinase is present</a:t>
            </a:r>
          </a:p>
          <a:p>
            <a:r>
              <a:rPr lang="en-US" dirty="0" err="1"/>
              <a:t>Cre</a:t>
            </a:r>
            <a:r>
              <a:rPr lang="en-US" dirty="0"/>
              <a:t>- sample are samples in which </a:t>
            </a:r>
            <a:r>
              <a:rPr lang="en-US" dirty="0" err="1"/>
              <a:t>Cre</a:t>
            </a:r>
            <a:r>
              <a:rPr lang="en-US" dirty="0"/>
              <a:t> recombinase is absent</a:t>
            </a:r>
          </a:p>
          <a:p>
            <a:endParaRPr lang="en-US" dirty="0"/>
          </a:p>
          <a:p>
            <a:r>
              <a:rPr lang="en-US" dirty="0"/>
              <a:t>Because </a:t>
            </a:r>
            <a:r>
              <a:rPr lang="en-US" dirty="0" err="1"/>
              <a:t>cre</a:t>
            </a:r>
            <a:r>
              <a:rPr lang="en-US" dirty="0"/>
              <a:t> recombinase is absent it cant xxx</a:t>
            </a:r>
          </a:p>
          <a:p>
            <a:endParaRPr lang="en-US" dirty="0"/>
          </a:p>
          <a:p>
            <a:endParaRPr lang="en-US" dirty="0"/>
          </a:p>
          <a:p>
            <a:r>
              <a:rPr lang="en-US" dirty="0"/>
              <a:t>We do not average the replicates </a:t>
            </a:r>
            <a:r>
              <a:rPr lang="en-US" dirty="0" err="1"/>
              <a:t>soleley</a:t>
            </a:r>
            <a:r>
              <a:rPr lang="en-US" dirty="0"/>
              <a:t> out of the </a:t>
            </a:r>
            <a:r>
              <a:rPr lang="en-US" dirty="0" err="1"/>
              <a:t>reson</a:t>
            </a:r>
            <a:r>
              <a:rPr lang="en-US" dirty="0"/>
              <a:t> to account for changes on a single sample level and make sure we don’t cover anything that could be interesting </a:t>
            </a:r>
          </a:p>
          <a:p>
            <a:endParaRPr lang="en-US" dirty="0"/>
          </a:p>
          <a:p>
            <a:r>
              <a:rPr lang="en-US" dirty="0"/>
              <a:t> </a:t>
            </a:r>
          </a:p>
        </p:txBody>
      </p:sp>
      <p:sp>
        <p:nvSpPr>
          <p:cNvPr id="4" name="Slide Number Placeholder 3"/>
          <p:cNvSpPr>
            <a:spLocks noGrp="1"/>
          </p:cNvSpPr>
          <p:nvPr>
            <p:ph type="sldNum" sz="quarter" idx="5"/>
          </p:nvPr>
        </p:nvSpPr>
        <p:spPr/>
        <p:txBody>
          <a:bodyPr/>
          <a:lstStyle/>
          <a:p>
            <a:fld id="{5E3C3097-339F-D341-9AE2-47DB3DE0E34B}" type="slidenum">
              <a:rPr lang="en-US" smtClean="0"/>
              <a:t>14</a:t>
            </a:fld>
            <a:endParaRPr lang="en-US"/>
          </a:p>
        </p:txBody>
      </p:sp>
    </p:spTree>
    <p:extLst>
      <p:ext uri="{BB962C8B-B14F-4D97-AF65-F5344CB8AC3E}">
        <p14:creationId xmlns:p14="http://schemas.microsoft.com/office/powerpoint/2010/main" val="2279697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perform the ROC based </a:t>
            </a:r>
            <a:r>
              <a:rPr lang="en-US" dirty="0" err="1"/>
              <a:t>anaysis</a:t>
            </a:r>
            <a:r>
              <a:rPr lang="en-US" dirty="0"/>
              <a:t> </a:t>
            </a:r>
          </a:p>
        </p:txBody>
      </p:sp>
      <p:sp>
        <p:nvSpPr>
          <p:cNvPr id="4" name="Slide Number Placeholder 3"/>
          <p:cNvSpPr>
            <a:spLocks noGrp="1"/>
          </p:cNvSpPr>
          <p:nvPr>
            <p:ph type="sldNum" sz="quarter" idx="5"/>
          </p:nvPr>
        </p:nvSpPr>
        <p:spPr/>
        <p:txBody>
          <a:bodyPr/>
          <a:lstStyle/>
          <a:p>
            <a:fld id="{5E3C3097-339F-D341-9AE2-47DB3DE0E34B}" type="slidenum">
              <a:rPr lang="en-US" smtClean="0"/>
              <a:t>15</a:t>
            </a:fld>
            <a:endParaRPr lang="en-US"/>
          </a:p>
        </p:txBody>
      </p:sp>
    </p:spTree>
    <p:extLst>
      <p:ext uri="{BB962C8B-B14F-4D97-AF65-F5344CB8AC3E}">
        <p14:creationId xmlns:p14="http://schemas.microsoft.com/office/powerpoint/2010/main" val="851764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question </a:t>
            </a:r>
          </a:p>
        </p:txBody>
      </p:sp>
      <p:sp>
        <p:nvSpPr>
          <p:cNvPr id="4" name="Slide Number Placeholder 3"/>
          <p:cNvSpPr>
            <a:spLocks noGrp="1"/>
          </p:cNvSpPr>
          <p:nvPr>
            <p:ph type="sldNum" sz="quarter" idx="5"/>
          </p:nvPr>
        </p:nvSpPr>
        <p:spPr/>
        <p:txBody>
          <a:bodyPr/>
          <a:lstStyle/>
          <a:p>
            <a:fld id="{5E3C3097-339F-D341-9AE2-47DB3DE0E34B}" type="slidenum">
              <a:rPr lang="en-US" smtClean="0"/>
              <a:t>16</a:t>
            </a:fld>
            <a:endParaRPr lang="en-US"/>
          </a:p>
        </p:txBody>
      </p:sp>
    </p:spTree>
    <p:extLst>
      <p:ext uri="{BB962C8B-B14F-4D97-AF65-F5344CB8AC3E}">
        <p14:creationId xmlns:p14="http://schemas.microsoft.com/office/powerpoint/2010/main" val="2017846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question </a:t>
            </a:r>
          </a:p>
        </p:txBody>
      </p:sp>
      <p:sp>
        <p:nvSpPr>
          <p:cNvPr id="4" name="Slide Number Placeholder 3"/>
          <p:cNvSpPr>
            <a:spLocks noGrp="1"/>
          </p:cNvSpPr>
          <p:nvPr>
            <p:ph type="sldNum" sz="quarter" idx="5"/>
          </p:nvPr>
        </p:nvSpPr>
        <p:spPr/>
        <p:txBody>
          <a:bodyPr/>
          <a:lstStyle/>
          <a:p>
            <a:fld id="{5E3C3097-339F-D341-9AE2-47DB3DE0E34B}" type="slidenum">
              <a:rPr lang="en-US" smtClean="0"/>
              <a:t>17</a:t>
            </a:fld>
            <a:endParaRPr lang="en-US"/>
          </a:p>
        </p:txBody>
      </p:sp>
    </p:spTree>
    <p:extLst>
      <p:ext uri="{BB962C8B-B14F-4D97-AF65-F5344CB8AC3E}">
        <p14:creationId xmlns:p14="http://schemas.microsoft.com/office/powerpoint/2010/main" val="2796254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0" i="0" dirty="0">
                <a:latin typeface="Segoe UI Semibold" panose="020B0502040204020203" pitchFamily="34" charset="0"/>
                <a:cs typeface="Segoe UI Semibold" panose="020B0502040204020203" pitchFamily="34" charset="0"/>
              </a:rPr>
              <a:t>Remember we are not processing each ratio column in its </a:t>
            </a:r>
            <a:r>
              <a:rPr lang="en-US" sz="1200" b="0" i="0" dirty="0" err="1">
                <a:latin typeface="Segoe UI Semibold" panose="020B0502040204020203" pitchFamily="34" charset="0"/>
                <a:cs typeface="Segoe UI Semibold" panose="020B0502040204020203" pitchFamily="34" charset="0"/>
              </a:rPr>
              <a:t>onw</a:t>
            </a:r>
            <a:r>
              <a:rPr lang="en-US" sz="1200" b="0" i="0" dirty="0">
                <a:latin typeface="Segoe UI Semibold" panose="020B0502040204020203" pitchFamily="34" charset="0"/>
                <a:cs typeface="Segoe UI Semibold" panose="020B0502040204020203" pitchFamily="34" charset="0"/>
              </a:rPr>
              <a:t> </a:t>
            </a:r>
          </a:p>
          <a:p>
            <a:pPr lvl="0"/>
            <a:endParaRPr lang="en-US" sz="1200" b="0" i="0" dirty="0">
              <a:latin typeface="Segoe UI Semibold" panose="020B0502040204020203" pitchFamily="34" charset="0"/>
              <a:cs typeface="Segoe UI Semibold" panose="020B0502040204020203" pitchFamily="34" charset="0"/>
            </a:endParaRPr>
          </a:p>
          <a:p>
            <a:pPr lvl="0"/>
            <a:r>
              <a:rPr lang="en-US" sz="1200" b="0" i="0" dirty="0">
                <a:latin typeface="Segoe UI Semibold" panose="020B0502040204020203" pitchFamily="34" charset="0"/>
                <a:cs typeface="Segoe UI Semibold" panose="020B0502040204020203" pitchFamily="34" charset="0"/>
              </a:rPr>
              <a:t>First step we normalize, this helps us to center the data around 0 later on in our plots</a:t>
            </a:r>
          </a:p>
          <a:p>
            <a:pPr lvl="0"/>
            <a:r>
              <a:rPr lang="en-US" sz="1200" b="0" i="0" dirty="0">
                <a:latin typeface="Segoe UI Semibold" panose="020B0502040204020203" pitchFamily="34" charset="0"/>
                <a:cs typeface="Segoe UI Semibold" panose="020B0502040204020203" pitchFamily="34" charset="0"/>
              </a:rPr>
              <a:t>Next we sort the column by highest to lowest </a:t>
            </a:r>
          </a:p>
          <a:p>
            <a:pPr lvl="0"/>
            <a:r>
              <a:rPr lang="en-US" sz="1200" b="0" i="0" dirty="0">
                <a:latin typeface="Segoe UI Semibold" panose="020B0502040204020203" pitchFamily="34" charset="0"/>
                <a:cs typeface="Segoe UI Semibold" panose="020B0502040204020203" pitchFamily="34" charset="0"/>
              </a:rPr>
              <a:t>Next we </a:t>
            </a:r>
            <a:r>
              <a:rPr lang="en-US" sz="1200" b="0" i="0" dirty="0" err="1">
                <a:latin typeface="Segoe UI Semibold" panose="020B0502040204020203" pitchFamily="34" charset="0"/>
                <a:cs typeface="Segoe UI Semibold" panose="020B0502040204020203" pitchFamily="34" charset="0"/>
              </a:rPr>
              <a:t>calcualte</a:t>
            </a:r>
            <a:r>
              <a:rPr lang="en-US" sz="1200" b="0" i="0" dirty="0">
                <a:latin typeface="Segoe UI Semibold" panose="020B0502040204020203" pitchFamily="34" charset="0"/>
                <a:cs typeface="Segoe UI Semibold" panose="020B0502040204020203" pitchFamily="34" charset="0"/>
              </a:rPr>
              <a:t> the TOR and FPR </a:t>
            </a:r>
          </a:p>
          <a:p>
            <a:pPr lvl="0"/>
            <a:endParaRPr lang="en-US" sz="1200" b="0" i="0" dirty="0">
              <a:latin typeface="Segoe UI Semibold" panose="020B0502040204020203" pitchFamily="34" charset="0"/>
              <a:cs typeface="Segoe UI Semibold"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786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5424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3C3097-339F-D341-9AE2-47DB3DE0E34B}" type="slidenum">
              <a:rPr lang="en-US" smtClean="0"/>
              <a:t>21</a:t>
            </a:fld>
            <a:endParaRPr lang="en-US"/>
          </a:p>
        </p:txBody>
      </p:sp>
    </p:spTree>
    <p:extLst>
      <p:ext uri="{BB962C8B-B14F-4D97-AF65-F5344CB8AC3E}">
        <p14:creationId xmlns:p14="http://schemas.microsoft.com/office/powerpoint/2010/main" val="1652183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question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C3097-339F-D341-9AE2-47DB3DE0E3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924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3E81-946A-FD4B-A5BF-D1C95339E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4C2F99-C96C-3148-91B8-6F227588E1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9C0D0F-6448-3840-B99D-4B049583E5C3}"/>
              </a:ext>
            </a:extLst>
          </p:cNvPr>
          <p:cNvSpPr>
            <a:spLocks noGrp="1"/>
          </p:cNvSpPr>
          <p:nvPr>
            <p:ph type="dt" sz="half" idx="10"/>
          </p:nvPr>
        </p:nvSpPr>
        <p:spPr/>
        <p:txBody>
          <a:bodyPr/>
          <a:lstStyle/>
          <a:p>
            <a:fld id="{4D82D62B-C5BC-9A48-B649-B612C2626DF0}" type="datetime2">
              <a:rPr lang="en-US" smtClean="0"/>
              <a:t>Thursday, June 1, 2023</a:t>
            </a:fld>
            <a:endParaRPr lang="en-US" dirty="0"/>
          </a:p>
        </p:txBody>
      </p:sp>
      <p:sp>
        <p:nvSpPr>
          <p:cNvPr id="5" name="Footer Placeholder 4">
            <a:extLst>
              <a:ext uri="{FF2B5EF4-FFF2-40B4-BE49-F238E27FC236}">
                <a16:creationId xmlns:a16="http://schemas.microsoft.com/office/drawing/2014/main" id="{D140A073-062E-6143-B8BE-B399CDDD79AE}"/>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92797A0C-DCB2-9E4E-AEB9-8985AC2D5561}"/>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74127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1A0A7-988E-1743-A790-2F7BCCC21F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771A43-E42E-F44A-9436-732A804F2E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1C855-63B7-8848-B673-9245C72262E8}"/>
              </a:ext>
            </a:extLst>
          </p:cNvPr>
          <p:cNvSpPr>
            <a:spLocks noGrp="1"/>
          </p:cNvSpPr>
          <p:nvPr>
            <p:ph type="dt" sz="half" idx="10"/>
          </p:nvPr>
        </p:nvSpPr>
        <p:spPr/>
        <p:txBody>
          <a:bodyPr/>
          <a:lstStyle/>
          <a:p>
            <a:fld id="{E9A10DC3-F6B5-014A-A9AD-0D47C6506BAB}" type="datetime2">
              <a:rPr lang="en-US" smtClean="0"/>
              <a:t>Thursday, June 1, 2023</a:t>
            </a:fld>
            <a:endParaRPr lang="en-US" dirty="0"/>
          </a:p>
        </p:txBody>
      </p:sp>
      <p:sp>
        <p:nvSpPr>
          <p:cNvPr id="5" name="Footer Placeholder 4">
            <a:extLst>
              <a:ext uri="{FF2B5EF4-FFF2-40B4-BE49-F238E27FC236}">
                <a16:creationId xmlns:a16="http://schemas.microsoft.com/office/drawing/2014/main" id="{F063D553-48F6-194C-8F63-C146AB5FD46B}"/>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920F2AF8-DCE3-AE43-AEE3-850EAA97FC44}"/>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77814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9324-A21F-C84F-A997-47F65D32D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68959F-90AE-0144-AD34-239A0D80FD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6496D3-3431-ED4F-8BA4-B088158151E3}"/>
              </a:ext>
            </a:extLst>
          </p:cNvPr>
          <p:cNvSpPr>
            <a:spLocks noGrp="1"/>
          </p:cNvSpPr>
          <p:nvPr>
            <p:ph type="dt" sz="half" idx="10"/>
          </p:nvPr>
        </p:nvSpPr>
        <p:spPr/>
        <p:txBody>
          <a:bodyPr/>
          <a:lstStyle/>
          <a:p>
            <a:fld id="{A049C287-8CF4-DC48-88B8-6E35669697EC}" type="datetime2">
              <a:rPr lang="en-US" smtClean="0"/>
              <a:t>Thursday, June 1, 2023</a:t>
            </a:fld>
            <a:endParaRPr lang="en-US"/>
          </a:p>
        </p:txBody>
      </p:sp>
      <p:sp>
        <p:nvSpPr>
          <p:cNvPr id="5" name="Footer Placeholder 4">
            <a:extLst>
              <a:ext uri="{FF2B5EF4-FFF2-40B4-BE49-F238E27FC236}">
                <a16:creationId xmlns:a16="http://schemas.microsoft.com/office/drawing/2014/main" id="{BC932982-1A21-984F-B648-2EDB9B0B0F8E}"/>
              </a:ext>
            </a:extLst>
          </p:cNvPr>
          <p:cNvSpPr>
            <a:spLocks noGrp="1"/>
          </p:cNvSpPr>
          <p:nvPr>
            <p:ph type="ftr" sz="quarter" idx="11"/>
          </p:nvPr>
        </p:nvSpPr>
        <p:spPr/>
        <p:txBody>
          <a:body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39CC832D-C319-9649-B35D-C53E093AEE29}"/>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844980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149B-808C-D24D-8877-ACEFC6AF45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733443-8A86-4F48-94FD-81ED2B79E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2BC4DF-4650-FB4D-9F23-19B313FC4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69A489-7672-734C-AED1-C6E7B04D0E3F}"/>
              </a:ext>
            </a:extLst>
          </p:cNvPr>
          <p:cNvSpPr>
            <a:spLocks noGrp="1"/>
          </p:cNvSpPr>
          <p:nvPr>
            <p:ph type="dt" sz="half" idx="10"/>
          </p:nvPr>
        </p:nvSpPr>
        <p:spPr/>
        <p:txBody>
          <a:bodyPr/>
          <a:lstStyle/>
          <a:p>
            <a:fld id="{ADEB5C39-7764-3744-BF89-1BA0C95D9B94}" type="datetime2">
              <a:rPr lang="en-US" smtClean="0"/>
              <a:t>Thursday, June 1, 2023</a:t>
            </a:fld>
            <a:endParaRPr lang="en-US"/>
          </a:p>
        </p:txBody>
      </p:sp>
      <p:sp>
        <p:nvSpPr>
          <p:cNvPr id="6" name="Footer Placeholder 5">
            <a:extLst>
              <a:ext uri="{FF2B5EF4-FFF2-40B4-BE49-F238E27FC236}">
                <a16:creationId xmlns:a16="http://schemas.microsoft.com/office/drawing/2014/main" id="{3707EDA8-FD42-9E43-B585-2FB1C094713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ABFAE4C-9A20-384E-96D9-46182C130978}"/>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60258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9424-B204-DA4D-A261-8A6AB82DD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D6BE27-9B08-2D44-A5DD-3646B660C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7AC73-C28D-C346-AD33-6FBBAB4E8A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3274C1-CA02-1A4E-9EF4-D090FD68EE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CBDD9-76E2-4943-84C7-23993ECA74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44F0E1-6766-654F-91A1-508B72B7AE24}"/>
              </a:ext>
            </a:extLst>
          </p:cNvPr>
          <p:cNvSpPr>
            <a:spLocks noGrp="1"/>
          </p:cNvSpPr>
          <p:nvPr>
            <p:ph type="dt" sz="half" idx="10"/>
          </p:nvPr>
        </p:nvSpPr>
        <p:spPr/>
        <p:txBody>
          <a:bodyPr/>
          <a:lstStyle/>
          <a:p>
            <a:fld id="{4BAB7099-C23E-1745-AF03-0B0C40F6AA6C}" type="datetime2">
              <a:rPr lang="en-US" smtClean="0"/>
              <a:t>Thursday, June 1, 2023</a:t>
            </a:fld>
            <a:endParaRPr lang="en-US"/>
          </a:p>
        </p:txBody>
      </p:sp>
      <p:sp>
        <p:nvSpPr>
          <p:cNvPr id="8" name="Footer Placeholder 7">
            <a:extLst>
              <a:ext uri="{FF2B5EF4-FFF2-40B4-BE49-F238E27FC236}">
                <a16:creationId xmlns:a16="http://schemas.microsoft.com/office/drawing/2014/main" id="{70F1B3F6-5933-924A-A8D2-5BA0605AF33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1B6D5FA3-5E54-6842-AC1E-3506920F21A0}"/>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063957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808D-BC2A-824C-942C-0AE064A2E7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3CCE5E-003E-A04B-B8AC-5DE83AA33B01}"/>
              </a:ext>
            </a:extLst>
          </p:cNvPr>
          <p:cNvSpPr>
            <a:spLocks noGrp="1"/>
          </p:cNvSpPr>
          <p:nvPr>
            <p:ph type="dt" sz="half" idx="10"/>
          </p:nvPr>
        </p:nvSpPr>
        <p:spPr/>
        <p:txBody>
          <a:bodyPr/>
          <a:lstStyle/>
          <a:p>
            <a:fld id="{52B883A0-F701-0F49-9D67-42F97F0F4C65}" type="datetime2">
              <a:rPr lang="en-US" smtClean="0"/>
              <a:t>Thursday, June 1, 2023</a:t>
            </a:fld>
            <a:endParaRPr lang="en-US"/>
          </a:p>
        </p:txBody>
      </p:sp>
      <p:sp>
        <p:nvSpPr>
          <p:cNvPr id="4" name="Footer Placeholder 3">
            <a:extLst>
              <a:ext uri="{FF2B5EF4-FFF2-40B4-BE49-F238E27FC236}">
                <a16:creationId xmlns:a16="http://schemas.microsoft.com/office/drawing/2014/main" id="{BC156BA5-5761-6643-9DC4-C554A41E0EC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180BB2A-6168-3049-9F8F-5C07F8A7B32E}"/>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28101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AFFC16-5F9F-F74E-97C6-550DD4CE8270}"/>
              </a:ext>
            </a:extLst>
          </p:cNvPr>
          <p:cNvSpPr>
            <a:spLocks noGrp="1"/>
          </p:cNvSpPr>
          <p:nvPr>
            <p:ph type="dt" sz="half" idx="10"/>
          </p:nvPr>
        </p:nvSpPr>
        <p:spPr/>
        <p:txBody>
          <a:bodyPr/>
          <a:lstStyle/>
          <a:p>
            <a:fld id="{E6923127-F9F8-8B4E-9CEB-95BF7FFEA85F}" type="datetime2">
              <a:rPr lang="en-US" smtClean="0"/>
              <a:t>Thursday, June 1, 2023</a:t>
            </a:fld>
            <a:endParaRPr lang="en-US"/>
          </a:p>
        </p:txBody>
      </p:sp>
      <p:sp>
        <p:nvSpPr>
          <p:cNvPr id="3" name="Footer Placeholder 2">
            <a:extLst>
              <a:ext uri="{FF2B5EF4-FFF2-40B4-BE49-F238E27FC236}">
                <a16:creationId xmlns:a16="http://schemas.microsoft.com/office/drawing/2014/main" id="{AC0E3E46-25A1-FF43-8A04-5D2C3D138AB7}"/>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6F048B15-E91E-FF45-8ED6-BB994B928002}"/>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769795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E4047-C554-EA40-AF86-540307B549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4E612B-509E-1B48-A295-95E828397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48250C-C477-5143-9F6B-A84088F79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5F3DA-1D58-A74A-8601-E31A91243756}"/>
              </a:ext>
            </a:extLst>
          </p:cNvPr>
          <p:cNvSpPr>
            <a:spLocks noGrp="1"/>
          </p:cNvSpPr>
          <p:nvPr>
            <p:ph type="dt" sz="half" idx="10"/>
          </p:nvPr>
        </p:nvSpPr>
        <p:spPr/>
        <p:txBody>
          <a:bodyPr/>
          <a:lstStyle/>
          <a:p>
            <a:fld id="{24AFEB34-53E9-8F42-9ED2-04274EE70207}" type="datetime2">
              <a:rPr lang="en-US" smtClean="0"/>
              <a:t>Thursday, June 1, 2023</a:t>
            </a:fld>
            <a:endParaRPr lang="en-US"/>
          </a:p>
        </p:txBody>
      </p:sp>
      <p:sp>
        <p:nvSpPr>
          <p:cNvPr id="6" name="Footer Placeholder 5">
            <a:extLst>
              <a:ext uri="{FF2B5EF4-FFF2-40B4-BE49-F238E27FC236}">
                <a16:creationId xmlns:a16="http://schemas.microsoft.com/office/drawing/2014/main" id="{F9D4976C-4A75-F147-A79B-188097E16E02}"/>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712616-E3F7-0543-8C96-DAF2A4995469}"/>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251921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F241-8910-0644-B508-4D24CBCDA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619914-324C-FD42-A13F-C61BE61EFC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3C8B3C-F295-A44E-8C5B-CC80D0C90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BC9F1E-AA2C-C546-8413-5345D7B4DC0E}"/>
              </a:ext>
            </a:extLst>
          </p:cNvPr>
          <p:cNvSpPr>
            <a:spLocks noGrp="1"/>
          </p:cNvSpPr>
          <p:nvPr>
            <p:ph type="dt" sz="half" idx="10"/>
          </p:nvPr>
        </p:nvSpPr>
        <p:spPr/>
        <p:txBody>
          <a:bodyPr/>
          <a:lstStyle/>
          <a:p>
            <a:fld id="{78864A2C-3282-224A-8A3B-B1B48911DC1D}" type="datetime2">
              <a:rPr lang="en-US" smtClean="0"/>
              <a:t>Thursday, June 1, 2023</a:t>
            </a:fld>
            <a:endParaRPr lang="en-US"/>
          </a:p>
        </p:txBody>
      </p:sp>
      <p:sp>
        <p:nvSpPr>
          <p:cNvPr id="6" name="Footer Placeholder 5">
            <a:extLst>
              <a:ext uri="{FF2B5EF4-FFF2-40B4-BE49-F238E27FC236}">
                <a16:creationId xmlns:a16="http://schemas.microsoft.com/office/drawing/2014/main" id="{8378F1AB-3458-B949-8001-EBD51E7A6134}"/>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6300183-9D62-B64B-B4D4-33723702C23C}"/>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71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7CD67-4320-0642-B4F9-0821819C40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053E38-BAB1-8944-B64D-5CA2F587C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0DBA4-0063-9641-A1F7-D0B2F62F7D06}"/>
              </a:ext>
            </a:extLst>
          </p:cNvPr>
          <p:cNvSpPr>
            <a:spLocks noGrp="1"/>
          </p:cNvSpPr>
          <p:nvPr>
            <p:ph type="dt" sz="half" idx="10"/>
          </p:nvPr>
        </p:nvSpPr>
        <p:spPr/>
        <p:txBody>
          <a:bodyPr/>
          <a:lstStyle/>
          <a:p>
            <a:fld id="{8C7BF22D-4351-7443-9203-BE328953BFC7}" type="datetime2">
              <a:rPr lang="en-US" smtClean="0"/>
              <a:t>Thursday, June 1, 2023</a:t>
            </a:fld>
            <a:endParaRPr lang="en-US"/>
          </a:p>
        </p:txBody>
      </p:sp>
      <p:sp>
        <p:nvSpPr>
          <p:cNvPr id="5" name="Footer Placeholder 4">
            <a:extLst>
              <a:ext uri="{FF2B5EF4-FFF2-40B4-BE49-F238E27FC236}">
                <a16:creationId xmlns:a16="http://schemas.microsoft.com/office/drawing/2014/main" id="{5F5FC3C5-A448-AD46-89E6-3A2D0BE781B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10A9B59-82DA-6749-AF8A-6731D7BB4856}"/>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748504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C92B2-9197-4C49-A687-69FE7951C8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E8F183-93B3-EF4C-88FF-54EA471D02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54A67-F14A-634E-8BAB-8A297E4B6861}"/>
              </a:ext>
            </a:extLst>
          </p:cNvPr>
          <p:cNvSpPr>
            <a:spLocks noGrp="1"/>
          </p:cNvSpPr>
          <p:nvPr>
            <p:ph type="dt" sz="half" idx="10"/>
          </p:nvPr>
        </p:nvSpPr>
        <p:spPr/>
        <p:txBody>
          <a:bodyPr/>
          <a:lstStyle/>
          <a:p>
            <a:fld id="{9FDF6349-9520-004C-B410-2193F9372E49}" type="datetime2">
              <a:rPr lang="en-US" smtClean="0"/>
              <a:t>Thursday, June 1, 2023</a:t>
            </a:fld>
            <a:endParaRPr lang="en-US"/>
          </a:p>
        </p:txBody>
      </p:sp>
      <p:sp>
        <p:nvSpPr>
          <p:cNvPr id="5" name="Footer Placeholder 4">
            <a:extLst>
              <a:ext uri="{FF2B5EF4-FFF2-40B4-BE49-F238E27FC236}">
                <a16:creationId xmlns:a16="http://schemas.microsoft.com/office/drawing/2014/main" id="{441CC769-B9F8-2D49-BEC2-6D909EFBF6B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62CBDEA-F8C8-B74F-93C7-5FAEA38A8F6B}"/>
              </a:ext>
            </a:extLst>
          </p:cNvPr>
          <p:cNvSpPr>
            <a:spLocks noGrp="1"/>
          </p:cNvSpPr>
          <p:nvPr>
            <p:ph type="sldNum" sz="quarter" idx="12"/>
          </p:nvPr>
        </p:nvSpPr>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069490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9DC372-EC59-7E4B-BEF6-72AFC4334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A87D66-EDB8-8D4A-9D2C-A4AB78C36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756E8-6FCF-9641-9118-E22CAEAF31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398F71-50EE-C442-9A03-D3A19758747B}" type="datetime2">
              <a:rPr lang="en-US" smtClean="0"/>
              <a:t>Thursday, June 1, 2023</a:t>
            </a:fld>
            <a:endParaRPr lang="en-US" dirty="0"/>
          </a:p>
        </p:txBody>
      </p:sp>
      <p:sp>
        <p:nvSpPr>
          <p:cNvPr id="5" name="Footer Placeholder 4">
            <a:extLst>
              <a:ext uri="{FF2B5EF4-FFF2-40B4-BE49-F238E27FC236}">
                <a16:creationId xmlns:a16="http://schemas.microsoft.com/office/drawing/2014/main" id="{51B95A4E-349B-E545-8163-934653362B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Sample Footer Text</a:t>
            </a:r>
            <a:endParaRPr lang="en-US" dirty="0"/>
          </a:p>
        </p:txBody>
      </p:sp>
      <p:sp>
        <p:nvSpPr>
          <p:cNvPr id="6" name="Slide Number Placeholder 5">
            <a:extLst>
              <a:ext uri="{FF2B5EF4-FFF2-40B4-BE49-F238E27FC236}">
                <a16:creationId xmlns:a16="http://schemas.microsoft.com/office/drawing/2014/main" id="{B15FEE1F-9E90-B441-96E6-378CD9669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45709247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hyperlink" Target="https://www.nature.com/articles/s41596-020-0399-0"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hyperlink" Target="https://www.nature.com/articles/s41596-020-0399-0"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9.png"/><Relationship Id="rId7" Type="http://schemas.openxmlformats.org/officeDocument/2006/relationships/diagramQuickStyle" Target="../diagrams/quickStyle1.xml"/><Relationship Id="rId12" Type="http://schemas.openxmlformats.org/officeDocument/2006/relationships/image" Target="../media/image22.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21.png"/><Relationship Id="rId5" Type="http://schemas.openxmlformats.org/officeDocument/2006/relationships/diagramData" Target="../diagrams/data1.xml"/><Relationship Id="rId10" Type="http://schemas.openxmlformats.org/officeDocument/2006/relationships/hyperlink" Target="https://www.nature.com/articles/s41596-020-0399-0" TargetMode="External"/><Relationship Id="rId4" Type="http://schemas.openxmlformats.org/officeDocument/2006/relationships/image" Target="../media/image20.png"/><Relationship Id="rId9" Type="http://schemas.microsoft.com/office/2007/relationships/diagramDrawing" Target="../diagrams/drawing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A636-7CA9-8B4E-B3B8-BABF6E6CACDC}"/>
              </a:ext>
            </a:extLst>
          </p:cNvPr>
          <p:cNvSpPr>
            <a:spLocks noGrp="1"/>
          </p:cNvSpPr>
          <p:nvPr>
            <p:ph type="ctrTitle"/>
          </p:nvPr>
        </p:nvSpPr>
        <p:spPr>
          <a:xfrm>
            <a:off x="1243830" y="1928356"/>
            <a:ext cx="9704340" cy="2075012"/>
          </a:xfrm>
        </p:spPr>
        <p:txBody>
          <a:bodyPr>
            <a:normAutofit/>
          </a:bodyPr>
          <a:lstStyle/>
          <a:p>
            <a:r>
              <a:rPr lang="en-US" b="1" dirty="0" err="1">
                <a:latin typeface="Times New Roman" panose="02020603050405020304" pitchFamily="18" charset="0"/>
                <a:cs typeface="Times New Roman" panose="02020603050405020304" pitchFamily="18" charset="0"/>
              </a:rPr>
              <a:t>TurboID</a:t>
            </a: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processing</a:t>
            </a:r>
          </a:p>
        </p:txBody>
      </p:sp>
    </p:spTree>
    <p:extLst>
      <p:ext uri="{BB962C8B-B14F-4D97-AF65-F5344CB8AC3E}">
        <p14:creationId xmlns:p14="http://schemas.microsoft.com/office/powerpoint/2010/main" val="2701548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40326E9-3011-C4CB-901B-2062140D3B85}"/>
              </a:ext>
            </a:extLst>
          </p:cNvPr>
          <p:cNvSpPr>
            <a:spLocks noGrp="1"/>
          </p:cNvSpPr>
          <p:nvPr>
            <p:ph type="title"/>
          </p:nvPr>
        </p:nvSpPr>
        <p:spPr>
          <a:xfrm>
            <a:off x="720000" y="619200"/>
            <a:ext cx="10728322" cy="666675"/>
          </a:xfrm>
        </p:spPr>
        <p:txBody>
          <a:bodyPr>
            <a:normAutofit fontScale="90000"/>
          </a:bodyPr>
          <a:lstStyle/>
          <a:p>
            <a:r>
              <a:rPr lang="en-US" b="1" dirty="0">
                <a:latin typeface="Times New Roman" panose="02020603050405020304" pitchFamily="18" charset="0"/>
                <a:cs typeface="Times New Roman" panose="02020603050405020304" pitchFamily="18" charset="0"/>
              </a:rPr>
              <a:t>Experiment set up #1</a:t>
            </a:r>
          </a:p>
        </p:txBody>
      </p:sp>
      <p:sp>
        <p:nvSpPr>
          <p:cNvPr id="4" name="Slide Number Placeholder 3">
            <a:extLst>
              <a:ext uri="{FF2B5EF4-FFF2-40B4-BE49-F238E27FC236}">
                <a16:creationId xmlns:a16="http://schemas.microsoft.com/office/drawing/2014/main" id="{9A1615B4-4E95-E27B-C812-43A3C3E48D34}"/>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sp>
        <p:nvSpPr>
          <p:cNvPr id="8" name="TextBox 7">
            <a:extLst>
              <a:ext uri="{FF2B5EF4-FFF2-40B4-BE49-F238E27FC236}">
                <a16:creationId xmlns:a16="http://schemas.microsoft.com/office/drawing/2014/main" id="{899F2956-7DFB-1F99-9AB3-97DE2083CC4B}"/>
              </a:ext>
            </a:extLst>
          </p:cNvPr>
          <p:cNvSpPr txBox="1"/>
          <p:nvPr/>
        </p:nvSpPr>
        <p:spPr>
          <a:xfrm>
            <a:off x="906736" y="5828307"/>
            <a:ext cx="9533368"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0C0"/>
                </a:solidFill>
                <a:effectLst/>
                <a:uLnTx/>
                <a:uFillTx/>
                <a:latin typeface="Segoe UI Semibold" panose="020B0502040204020203" pitchFamily="34" charset="0"/>
                <a:cs typeface="Segoe UI Semibold" panose="020B0502040204020203" pitchFamily="34" charset="0"/>
              </a:rPr>
              <a:t>Cell-type specific profiling of secreted and ER-resident proteins under different stress conditions [4 x 16plex TMT + serum]</a:t>
            </a:r>
          </a:p>
        </p:txBody>
      </p:sp>
      <p:pic>
        <p:nvPicPr>
          <p:cNvPr id="11" name="Picture 10" descr="A picture containing text&#10;&#10;Description automatically generated">
            <a:extLst>
              <a:ext uri="{FF2B5EF4-FFF2-40B4-BE49-F238E27FC236}">
                <a16:creationId xmlns:a16="http://schemas.microsoft.com/office/drawing/2014/main" id="{16EE6806-264F-B6C5-9628-A398E13FDA7F}"/>
              </a:ext>
            </a:extLst>
          </p:cNvPr>
          <p:cNvPicPr>
            <a:picLocks noChangeAspect="1"/>
          </p:cNvPicPr>
          <p:nvPr/>
        </p:nvPicPr>
        <p:blipFill>
          <a:blip r:embed="rId3"/>
          <a:stretch>
            <a:fillRect/>
          </a:stretch>
        </p:blipFill>
        <p:spPr>
          <a:xfrm>
            <a:off x="603383" y="804294"/>
            <a:ext cx="10844939" cy="5249412"/>
          </a:xfrm>
          <a:prstGeom prst="rect">
            <a:avLst/>
          </a:prstGeom>
        </p:spPr>
      </p:pic>
    </p:spTree>
    <p:extLst>
      <p:ext uri="{BB962C8B-B14F-4D97-AF65-F5344CB8AC3E}">
        <p14:creationId xmlns:p14="http://schemas.microsoft.com/office/powerpoint/2010/main" val="4242178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40326E9-3011-C4CB-901B-2062140D3B85}"/>
              </a:ext>
            </a:extLst>
          </p:cNvPr>
          <p:cNvSpPr>
            <a:spLocks noGrp="1"/>
          </p:cNvSpPr>
          <p:nvPr>
            <p:ph type="title"/>
          </p:nvPr>
        </p:nvSpPr>
        <p:spPr>
          <a:xfrm>
            <a:off x="720000" y="619200"/>
            <a:ext cx="10728322" cy="666675"/>
          </a:xfrm>
        </p:spPr>
        <p:txBody>
          <a:bodyPr>
            <a:normAutofit fontScale="90000"/>
          </a:bodyPr>
          <a:lstStyle/>
          <a:p>
            <a:r>
              <a:rPr lang="en-US" b="1" dirty="0">
                <a:latin typeface="Times New Roman" panose="02020603050405020304" pitchFamily="18" charset="0"/>
                <a:cs typeface="Times New Roman" panose="02020603050405020304" pitchFamily="18" charset="0"/>
              </a:rPr>
              <a:t>Experiment set up #2</a:t>
            </a:r>
          </a:p>
        </p:txBody>
      </p:sp>
      <p:sp>
        <p:nvSpPr>
          <p:cNvPr id="4" name="Slide Number Placeholder 3">
            <a:extLst>
              <a:ext uri="{FF2B5EF4-FFF2-40B4-BE49-F238E27FC236}">
                <a16:creationId xmlns:a16="http://schemas.microsoft.com/office/drawing/2014/main" id="{9A1615B4-4E95-E27B-C812-43A3C3E48D34}"/>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2</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pic>
        <p:nvPicPr>
          <p:cNvPr id="3" name="Picture 2" descr="A picture containing text, vector graphics&#10;&#10;Description automatically generated">
            <a:extLst>
              <a:ext uri="{FF2B5EF4-FFF2-40B4-BE49-F238E27FC236}">
                <a16:creationId xmlns:a16="http://schemas.microsoft.com/office/drawing/2014/main" id="{F7902526-C845-4FF5-B2AA-011B89E8A419}"/>
              </a:ext>
            </a:extLst>
          </p:cNvPr>
          <p:cNvPicPr>
            <a:picLocks noChangeAspect="1"/>
          </p:cNvPicPr>
          <p:nvPr/>
        </p:nvPicPr>
        <p:blipFill>
          <a:blip r:embed="rId3"/>
          <a:stretch>
            <a:fillRect/>
          </a:stretch>
        </p:blipFill>
        <p:spPr>
          <a:xfrm>
            <a:off x="536929" y="952537"/>
            <a:ext cx="11118142" cy="4619228"/>
          </a:xfrm>
          <a:prstGeom prst="rect">
            <a:avLst/>
          </a:prstGeom>
        </p:spPr>
      </p:pic>
      <p:sp>
        <p:nvSpPr>
          <p:cNvPr id="5" name="TextBox 4">
            <a:extLst>
              <a:ext uri="{FF2B5EF4-FFF2-40B4-BE49-F238E27FC236}">
                <a16:creationId xmlns:a16="http://schemas.microsoft.com/office/drawing/2014/main" id="{99F8D88B-0ECB-4694-6684-DBE9A2E6FCBE}"/>
              </a:ext>
            </a:extLst>
          </p:cNvPr>
          <p:cNvSpPr txBox="1"/>
          <p:nvPr/>
        </p:nvSpPr>
        <p:spPr>
          <a:xfrm>
            <a:off x="906735" y="5828307"/>
            <a:ext cx="1022104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0C0"/>
                </a:solidFill>
                <a:effectLst/>
                <a:uLnTx/>
                <a:uFillTx/>
                <a:latin typeface="Segoe UI Semibold" panose="020B0502040204020203" pitchFamily="34" charset="0"/>
                <a:cs typeface="Segoe UI Semibold" panose="020B0502040204020203" pitchFamily="34" charset="0"/>
              </a:rPr>
              <a:t>Profiling of secreted and ER-resident proteins in distinct white adipose tissues under different dietary conditions [4 x 10plex TMT + serum]</a:t>
            </a:r>
          </a:p>
        </p:txBody>
      </p:sp>
    </p:spTree>
    <p:extLst>
      <p:ext uri="{BB962C8B-B14F-4D97-AF65-F5344CB8AC3E}">
        <p14:creationId xmlns:p14="http://schemas.microsoft.com/office/powerpoint/2010/main" val="4281871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3</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spTree>
    <p:extLst>
      <p:ext uri="{BB962C8B-B14F-4D97-AF65-F5344CB8AC3E}">
        <p14:creationId xmlns:p14="http://schemas.microsoft.com/office/powerpoint/2010/main" val="209953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6" grpId="0"/>
      <p:bldP spid="17"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D4993-6F8F-2344-8CC9-6482C8A6BF57}"/>
              </a:ext>
            </a:extLst>
          </p:cNvPr>
          <p:cNvSpPr>
            <a:spLocks noGrp="1"/>
          </p:cNvSpPr>
          <p:nvPr>
            <p:ph type="title"/>
          </p:nvPr>
        </p:nvSpPr>
        <p:spPr/>
        <p:txBody>
          <a:bodyPr/>
          <a:lstStyle/>
          <a:p>
            <a:r>
              <a:rPr lang="en-US" dirty="0"/>
              <a:t>Processed file</a:t>
            </a:r>
          </a:p>
        </p:txBody>
      </p:sp>
      <p:pic>
        <p:nvPicPr>
          <p:cNvPr id="6" name="Content Placeholder 5" descr="Graphical user interface, table, Excel&#10;&#10;Description automatically generated">
            <a:extLst>
              <a:ext uri="{FF2B5EF4-FFF2-40B4-BE49-F238E27FC236}">
                <a16:creationId xmlns:a16="http://schemas.microsoft.com/office/drawing/2014/main" id="{9AE617A1-1DE2-5C4D-95C8-98002A09EB35}"/>
              </a:ext>
            </a:extLst>
          </p:cNvPr>
          <p:cNvPicPr>
            <a:picLocks noGrp="1" noChangeAspect="1"/>
          </p:cNvPicPr>
          <p:nvPr>
            <p:ph idx="1"/>
          </p:nvPr>
        </p:nvPicPr>
        <p:blipFill rotWithShape="1">
          <a:blip r:embed="rId3"/>
          <a:srcRect t="8487" r="69383"/>
          <a:stretch/>
        </p:blipFill>
        <p:spPr>
          <a:xfrm>
            <a:off x="506436" y="2581836"/>
            <a:ext cx="4512721" cy="3106271"/>
          </a:xfrm>
        </p:spPr>
      </p:pic>
      <p:sp>
        <p:nvSpPr>
          <p:cNvPr id="4" name="Slide Number Placeholder 3">
            <a:extLst>
              <a:ext uri="{FF2B5EF4-FFF2-40B4-BE49-F238E27FC236}">
                <a16:creationId xmlns:a16="http://schemas.microsoft.com/office/drawing/2014/main" id="{738BAF36-FB68-4048-8724-08964907F53A}"/>
              </a:ext>
            </a:extLst>
          </p:cNvPr>
          <p:cNvSpPr>
            <a:spLocks noGrp="1"/>
          </p:cNvSpPr>
          <p:nvPr>
            <p:ph type="sldNum" sz="quarter" idx="12"/>
          </p:nvPr>
        </p:nvSpPr>
        <p:spPr/>
        <p:txBody>
          <a:bodyPr/>
          <a:lstStyle/>
          <a:p>
            <a:fld id="{1621B6DD-29C1-4FEA-923F-71EA1347694C}" type="slidenum">
              <a:rPr lang="en-US" smtClean="0"/>
              <a:t>4</a:t>
            </a:fld>
            <a:endParaRPr lang="en-US"/>
          </a:p>
        </p:txBody>
      </p:sp>
      <p:sp>
        <p:nvSpPr>
          <p:cNvPr id="7" name="TextBox 6">
            <a:extLst>
              <a:ext uri="{FF2B5EF4-FFF2-40B4-BE49-F238E27FC236}">
                <a16:creationId xmlns:a16="http://schemas.microsoft.com/office/drawing/2014/main" id="{79A29AE6-71AD-CE49-9804-B796600DDC06}"/>
              </a:ext>
            </a:extLst>
          </p:cNvPr>
          <p:cNvSpPr txBox="1"/>
          <p:nvPr/>
        </p:nvSpPr>
        <p:spPr>
          <a:xfrm>
            <a:off x="3818418" y="1415460"/>
            <a:ext cx="1780588" cy="923330"/>
          </a:xfrm>
          <a:prstGeom prst="rect">
            <a:avLst/>
          </a:prstGeom>
          <a:noFill/>
        </p:spPr>
        <p:txBody>
          <a:bodyPr wrap="square" rtlCol="0">
            <a:spAutoFit/>
          </a:bodyPr>
          <a:lstStyle/>
          <a:p>
            <a:pPr algn="ctr"/>
            <a:r>
              <a:rPr lang="en-US" dirty="0"/>
              <a:t>quantified unique peptides </a:t>
            </a:r>
          </a:p>
          <a:p>
            <a:endParaRPr lang="en-US" dirty="0"/>
          </a:p>
        </p:txBody>
      </p:sp>
      <p:pic>
        <p:nvPicPr>
          <p:cNvPr id="8" name="Content Placeholder 5" descr="Graphical user interface, table, Excel&#10;&#10;Description automatically generated">
            <a:extLst>
              <a:ext uri="{FF2B5EF4-FFF2-40B4-BE49-F238E27FC236}">
                <a16:creationId xmlns:a16="http://schemas.microsoft.com/office/drawing/2014/main" id="{736E7C5E-3AFC-A34E-A30A-FAF172887819}"/>
              </a:ext>
            </a:extLst>
          </p:cNvPr>
          <p:cNvPicPr>
            <a:picLocks noChangeAspect="1"/>
          </p:cNvPicPr>
          <p:nvPr/>
        </p:nvPicPr>
        <p:blipFill rotWithShape="1">
          <a:blip r:embed="rId3"/>
          <a:srcRect l="34510" t="8487" r="21189"/>
          <a:stretch/>
        </p:blipFill>
        <p:spPr>
          <a:xfrm>
            <a:off x="5001230" y="2581836"/>
            <a:ext cx="6529780" cy="3106271"/>
          </a:xfrm>
          <a:prstGeom prst="rect">
            <a:avLst/>
          </a:prstGeom>
        </p:spPr>
      </p:pic>
      <p:sp>
        <p:nvSpPr>
          <p:cNvPr id="9" name="TextBox 8">
            <a:extLst>
              <a:ext uri="{FF2B5EF4-FFF2-40B4-BE49-F238E27FC236}">
                <a16:creationId xmlns:a16="http://schemas.microsoft.com/office/drawing/2014/main" id="{D9B8D76F-1C73-8746-A1D7-8D22E4BD3A00}"/>
              </a:ext>
            </a:extLst>
          </p:cNvPr>
          <p:cNvSpPr txBox="1"/>
          <p:nvPr/>
        </p:nvSpPr>
        <p:spPr>
          <a:xfrm>
            <a:off x="1986959" y="1817441"/>
            <a:ext cx="956673" cy="369332"/>
          </a:xfrm>
          <a:prstGeom prst="rect">
            <a:avLst/>
          </a:prstGeom>
          <a:noFill/>
        </p:spPr>
        <p:txBody>
          <a:bodyPr wrap="square" rtlCol="0">
            <a:spAutoFit/>
          </a:bodyPr>
          <a:lstStyle/>
          <a:p>
            <a:r>
              <a:rPr lang="en-US" dirty="0"/>
              <a:t>Proteins </a:t>
            </a:r>
          </a:p>
        </p:txBody>
      </p:sp>
      <p:cxnSp>
        <p:nvCxnSpPr>
          <p:cNvPr id="13" name="Straight Arrow Connector 12">
            <a:extLst>
              <a:ext uri="{FF2B5EF4-FFF2-40B4-BE49-F238E27FC236}">
                <a16:creationId xmlns:a16="http://schemas.microsoft.com/office/drawing/2014/main" id="{CA825EDB-AE3D-6449-A120-03DF54FC5547}"/>
              </a:ext>
            </a:extLst>
          </p:cNvPr>
          <p:cNvCxnSpPr>
            <a:cxnSpLocks/>
          </p:cNvCxnSpPr>
          <p:nvPr/>
        </p:nvCxnSpPr>
        <p:spPr>
          <a:xfrm>
            <a:off x="4724400" y="2063561"/>
            <a:ext cx="0" cy="39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06B0D96-D4DB-3F47-A1EA-016F7A7202CE}"/>
              </a:ext>
            </a:extLst>
          </p:cNvPr>
          <p:cNvSpPr txBox="1"/>
          <p:nvPr/>
        </p:nvSpPr>
        <p:spPr>
          <a:xfrm>
            <a:off x="6096000" y="1813087"/>
            <a:ext cx="4605107" cy="369332"/>
          </a:xfrm>
          <a:prstGeom prst="rect">
            <a:avLst/>
          </a:prstGeom>
          <a:noFill/>
        </p:spPr>
        <p:txBody>
          <a:bodyPr wrap="none" rtlCol="0">
            <a:spAutoFit/>
          </a:bodyPr>
          <a:lstStyle/>
          <a:p>
            <a:r>
              <a:rPr lang="en-US" dirty="0"/>
              <a:t>summed Peptide Signal Intensities per Channel</a:t>
            </a:r>
          </a:p>
        </p:txBody>
      </p:sp>
      <p:sp>
        <p:nvSpPr>
          <p:cNvPr id="24" name="Left Brace 23">
            <a:extLst>
              <a:ext uri="{FF2B5EF4-FFF2-40B4-BE49-F238E27FC236}">
                <a16:creationId xmlns:a16="http://schemas.microsoft.com/office/drawing/2014/main" id="{0DE340B9-C4FE-6445-A8A8-D90651CF47BE}"/>
              </a:ext>
            </a:extLst>
          </p:cNvPr>
          <p:cNvSpPr/>
          <p:nvPr/>
        </p:nvSpPr>
        <p:spPr>
          <a:xfrm rot="5400000">
            <a:off x="8080594" y="-753899"/>
            <a:ext cx="315939" cy="62304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Left Brace 24">
            <a:extLst>
              <a:ext uri="{FF2B5EF4-FFF2-40B4-BE49-F238E27FC236}">
                <a16:creationId xmlns:a16="http://schemas.microsoft.com/office/drawing/2014/main" id="{E9B14148-941D-CC45-8A20-B386FA1CBDA9}"/>
              </a:ext>
            </a:extLst>
          </p:cNvPr>
          <p:cNvSpPr/>
          <p:nvPr/>
        </p:nvSpPr>
        <p:spPr>
          <a:xfrm rot="5400000">
            <a:off x="2308126" y="600027"/>
            <a:ext cx="314341" cy="35242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174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0" grpId="0"/>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DE06309-147D-2543-B351-DC41490E55CA}"/>
              </a:ext>
            </a:extLst>
          </p:cNvPr>
          <p:cNvSpPr/>
          <p:nvPr/>
        </p:nvSpPr>
        <p:spPr>
          <a:xfrm>
            <a:off x="7234326" y="3863081"/>
            <a:ext cx="2039947"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5</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cxnSp>
        <p:nvCxnSpPr>
          <p:cNvPr id="33" name="Straight Arrow Connector 32">
            <a:extLst>
              <a:ext uri="{FF2B5EF4-FFF2-40B4-BE49-F238E27FC236}">
                <a16:creationId xmlns:a16="http://schemas.microsoft.com/office/drawing/2014/main" id="{DACE3C9B-3ECB-4748-8A94-F41DFAB98D48}"/>
              </a:ext>
            </a:extLst>
          </p:cNvPr>
          <p:cNvCxnSpPr>
            <a:cxnSpLocks/>
          </p:cNvCxnSpPr>
          <p:nvPr/>
        </p:nvCxnSpPr>
        <p:spPr>
          <a:xfrm flipH="1">
            <a:off x="9523268" y="4350118"/>
            <a:ext cx="590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27" name="TextBox 26">
            <a:extLst>
              <a:ext uri="{FF2B5EF4-FFF2-40B4-BE49-F238E27FC236}">
                <a16:creationId xmlns:a16="http://schemas.microsoft.com/office/drawing/2014/main" id="{13DC00C0-2AD0-FE4C-A422-A6B24533B912}"/>
              </a:ext>
            </a:extLst>
          </p:cNvPr>
          <p:cNvSpPr txBox="1"/>
          <p:nvPr/>
        </p:nvSpPr>
        <p:spPr>
          <a:xfrm>
            <a:off x="7280112" y="4072185"/>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Annotate proteins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Using TP and FP lists</a:t>
            </a:r>
          </a:p>
          <a:p>
            <a:pPr algn="ctr"/>
            <a:endParaRPr lang="en-US" sz="1500" b="1" dirty="0">
              <a:latin typeface="Segoe UI Semibold" panose="020B0502040204020203" pitchFamily="34" charset="0"/>
              <a:cs typeface="Segoe UI Semibold" panose="020B0502040204020203" pitchFamily="34" charset="0"/>
            </a:endParaRPr>
          </a:p>
        </p:txBody>
      </p:sp>
      <p:sp>
        <p:nvSpPr>
          <p:cNvPr id="3" name="Oval 2">
            <a:extLst>
              <a:ext uri="{FF2B5EF4-FFF2-40B4-BE49-F238E27FC236}">
                <a16:creationId xmlns:a16="http://schemas.microsoft.com/office/drawing/2014/main" id="{80774D48-C1E9-A74A-B5B4-B4083E706E43}"/>
              </a:ext>
            </a:extLst>
          </p:cNvPr>
          <p:cNvSpPr/>
          <p:nvPr/>
        </p:nvSpPr>
        <p:spPr>
          <a:xfrm>
            <a:off x="8037908" y="358329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1</a:t>
            </a:r>
          </a:p>
        </p:txBody>
      </p:sp>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spTree>
    <p:extLst>
      <p:ext uri="{BB962C8B-B14F-4D97-AF65-F5344CB8AC3E}">
        <p14:creationId xmlns:p14="http://schemas.microsoft.com/office/powerpoint/2010/main" val="198602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27" grpId="0"/>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E71523-F602-E348-A5BD-06FBCA424748}"/>
              </a:ext>
            </a:extLst>
          </p:cNvPr>
          <p:cNvSpPr>
            <a:spLocks noGrp="1"/>
          </p:cNvSpPr>
          <p:nvPr>
            <p:ph type="sldNum" sz="quarter" idx="12"/>
          </p:nvPr>
        </p:nvSpPr>
        <p:spPr/>
        <p:txBody>
          <a:bodyPr/>
          <a:lstStyle/>
          <a:p>
            <a:fld id="{1621B6DD-29C1-4FEA-923F-71EA1347694C}" type="slidenum">
              <a:rPr lang="en-US" smtClean="0">
                <a:solidFill>
                  <a:schemeClr val="tx1"/>
                </a:solidFill>
              </a:rPr>
              <a:t>6</a:t>
            </a:fld>
            <a:endParaRPr lang="en-US" dirty="0">
              <a:solidFill>
                <a:schemeClr val="tx1"/>
              </a:solidFill>
            </a:endParaRPr>
          </a:p>
        </p:txBody>
      </p:sp>
      <p:sp>
        <p:nvSpPr>
          <p:cNvPr id="5" name="TextBox 4">
            <a:extLst>
              <a:ext uri="{FF2B5EF4-FFF2-40B4-BE49-F238E27FC236}">
                <a16:creationId xmlns:a16="http://schemas.microsoft.com/office/drawing/2014/main" id="{E0301FF1-52B9-A444-878B-C1CE1250D765}"/>
              </a:ext>
            </a:extLst>
          </p:cNvPr>
          <p:cNvSpPr txBox="1"/>
          <p:nvPr/>
        </p:nvSpPr>
        <p:spPr>
          <a:xfrm>
            <a:off x="1996440" y="701040"/>
            <a:ext cx="184731" cy="369332"/>
          </a:xfrm>
          <a:prstGeom prst="rect">
            <a:avLst/>
          </a:prstGeom>
          <a:noFill/>
        </p:spPr>
        <p:txBody>
          <a:bodyPr wrap="none" rtlCol="0">
            <a:spAutoFit/>
          </a:bodyPr>
          <a:lstStyle/>
          <a:p>
            <a:endParaRPr lang="en-US" dirty="0"/>
          </a:p>
        </p:txBody>
      </p:sp>
      <p:sp>
        <p:nvSpPr>
          <p:cNvPr id="9" name="Title 1">
            <a:extLst>
              <a:ext uri="{FF2B5EF4-FFF2-40B4-BE49-F238E27FC236}">
                <a16:creationId xmlns:a16="http://schemas.microsoft.com/office/drawing/2014/main" id="{7FB6CDA6-2E43-7D45-91D7-6DC2618593AE}"/>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Annotation</a:t>
            </a:r>
          </a:p>
        </p:txBody>
      </p:sp>
      <p:sp>
        <p:nvSpPr>
          <p:cNvPr id="10" name="Oval 9">
            <a:extLst>
              <a:ext uri="{FF2B5EF4-FFF2-40B4-BE49-F238E27FC236}">
                <a16:creationId xmlns:a16="http://schemas.microsoft.com/office/drawing/2014/main" id="{FCD8C527-6684-4346-B3F6-7CC4BF824906}"/>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pic>
        <p:nvPicPr>
          <p:cNvPr id="13" name="Graphic 12" descr="Document outline">
            <a:extLst>
              <a:ext uri="{FF2B5EF4-FFF2-40B4-BE49-F238E27FC236}">
                <a16:creationId xmlns:a16="http://schemas.microsoft.com/office/drawing/2014/main" id="{F5DF87B3-5A0E-DA45-94CD-FEFB9E7897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8914" y="4404497"/>
            <a:ext cx="914400" cy="914400"/>
          </a:xfrm>
          <a:prstGeom prst="rect">
            <a:avLst/>
          </a:prstGeom>
        </p:spPr>
      </p:pic>
      <p:sp>
        <p:nvSpPr>
          <p:cNvPr id="14" name="TextBox 13">
            <a:extLst>
              <a:ext uri="{FF2B5EF4-FFF2-40B4-BE49-F238E27FC236}">
                <a16:creationId xmlns:a16="http://schemas.microsoft.com/office/drawing/2014/main" id="{70491C23-CA4D-6F40-9D87-66BD54F36134}"/>
              </a:ext>
            </a:extLst>
          </p:cNvPr>
          <p:cNvSpPr txBox="1"/>
          <p:nvPr/>
        </p:nvSpPr>
        <p:spPr>
          <a:xfrm>
            <a:off x="2145545" y="3929071"/>
            <a:ext cx="1065741" cy="369332"/>
          </a:xfrm>
          <a:prstGeom prst="rect">
            <a:avLst/>
          </a:prstGeom>
          <a:noFill/>
        </p:spPr>
        <p:txBody>
          <a:bodyPr wrap="none" rtlCol="0">
            <a:spAutoFit/>
          </a:bodyPr>
          <a:lstStyle/>
          <a:p>
            <a:r>
              <a:rPr lang="en-US" dirty="0" err="1">
                <a:latin typeface="Segoe UI" panose="020B0502040204020203" pitchFamily="34" charset="0"/>
                <a:cs typeface="Segoe UI" panose="020B0502040204020203" pitchFamily="34" charset="0"/>
              </a:rPr>
              <a:t>Fasta</a:t>
            </a:r>
            <a:r>
              <a:rPr lang="en-US" dirty="0">
                <a:latin typeface="Segoe UI" panose="020B0502040204020203" pitchFamily="34" charset="0"/>
                <a:cs typeface="Segoe UI" panose="020B0502040204020203" pitchFamily="34" charset="0"/>
              </a:rPr>
              <a:t> file</a:t>
            </a:r>
          </a:p>
        </p:txBody>
      </p:sp>
      <p:cxnSp>
        <p:nvCxnSpPr>
          <p:cNvPr id="16" name="Straight Arrow Connector 15">
            <a:extLst>
              <a:ext uri="{FF2B5EF4-FFF2-40B4-BE49-F238E27FC236}">
                <a16:creationId xmlns:a16="http://schemas.microsoft.com/office/drawing/2014/main" id="{62070967-FEC3-1C45-AAD6-6CDA7859024F}"/>
              </a:ext>
            </a:extLst>
          </p:cNvPr>
          <p:cNvCxnSpPr/>
          <p:nvPr/>
        </p:nvCxnSpPr>
        <p:spPr>
          <a:xfrm>
            <a:off x="3692995" y="4717422"/>
            <a:ext cx="926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905C0E-113E-9E4E-AC2F-E4F87E55D151}"/>
              </a:ext>
            </a:extLst>
          </p:cNvPr>
          <p:cNvSpPr txBox="1"/>
          <p:nvPr/>
        </p:nvSpPr>
        <p:spPr>
          <a:xfrm>
            <a:off x="5133967" y="3928288"/>
            <a:ext cx="2222275" cy="369332"/>
          </a:xfrm>
          <a:prstGeom prst="rect">
            <a:avLst/>
          </a:prstGeom>
          <a:noFill/>
        </p:spPr>
        <p:txBody>
          <a:bodyPr wrap="none" rtlCol="0">
            <a:spAutoFit/>
          </a:bodyPr>
          <a:lstStyle/>
          <a:p>
            <a:r>
              <a:rPr lang="en-US" dirty="0" err="1">
                <a:latin typeface="Segoe UI" panose="020B0502040204020203" pitchFamily="34" charset="0"/>
                <a:cs typeface="Segoe UI" panose="020B0502040204020203" pitchFamily="34" charset="0"/>
              </a:rPr>
              <a:t>Uniprot</a:t>
            </a:r>
            <a:r>
              <a:rPr lang="en-US" dirty="0">
                <a:latin typeface="Segoe UI" panose="020B0502040204020203" pitchFamily="34" charset="0"/>
                <a:cs typeface="Segoe UI" panose="020B0502040204020203" pitchFamily="34" charset="0"/>
              </a:rPr>
              <a:t> ID Mapping</a:t>
            </a:r>
          </a:p>
        </p:txBody>
      </p:sp>
      <p:pic>
        <p:nvPicPr>
          <p:cNvPr id="20" name="Graphic 19" descr="Plugged Unplugged outline">
            <a:extLst>
              <a:ext uri="{FF2B5EF4-FFF2-40B4-BE49-F238E27FC236}">
                <a16:creationId xmlns:a16="http://schemas.microsoft.com/office/drawing/2014/main" id="{8847B7D1-A5BC-9645-A7FA-32A95EEB7A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87905" y="4482286"/>
            <a:ext cx="914400" cy="914400"/>
          </a:xfrm>
          <a:prstGeom prst="rect">
            <a:avLst/>
          </a:prstGeom>
        </p:spPr>
      </p:pic>
      <p:cxnSp>
        <p:nvCxnSpPr>
          <p:cNvPr id="22" name="Straight Arrow Connector 21">
            <a:extLst>
              <a:ext uri="{FF2B5EF4-FFF2-40B4-BE49-F238E27FC236}">
                <a16:creationId xmlns:a16="http://schemas.microsoft.com/office/drawing/2014/main" id="{FCF6F7C6-D929-5A47-B14F-B3E45FA20E65}"/>
              </a:ext>
            </a:extLst>
          </p:cNvPr>
          <p:cNvCxnSpPr/>
          <p:nvPr/>
        </p:nvCxnSpPr>
        <p:spPr>
          <a:xfrm>
            <a:off x="7669249" y="4717422"/>
            <a:ext cx="926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Graphic 23" descr="Table outline">
            <a:extLst>
              <a:ext uri="{FF2B5EF4-FFF2-40B4-BE49-F238E27FC236}">
                <a16:creationId xmlns:a16="http://schemas.microsoft.com/office/drawing/2014/main" id="{AA26A324-267E-7747-84BA-38C14333457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41161" y="4297620"/>
            <a:ext cx="914400" cy="914400"/>
          </a:xfrm>
          <a:prstGeom prst="rect">
            <a:avLst/>
          </a:prstGeom>
        </p:spPr>
      </p:pic>
      <p:sp>
        <p:nvSpPr>
          <p:cNvPr id="26" name="TextBox 25">
            <a:extLst>
              <a:ext uri="{FF2B5EF4-FFF2-40B4-BE49-F238E27FC236}">
                <a16:creationId xmlns:a16="http://schemas.microsoft.com/office/drawing/2014/main" id="{4C372CB6-A6C5-C24A-B04B-287DDA06C423}"/>
              </a:ext>
            </a:extLst>
          </p:cNvPr>
          <p:cNvSpPr txBox="1"/>
          <p:nvPr/>
        </p:nvSpPr>
        <p:spPr>
          <a:xfrm>
            <a:off x="8871216" y="3928288"/>
            <a:ext cx="1260089" cy="369332"/>
          </a:xfrm>
          <a:prstGeom prst="rect">
            <a:avLst/>
          </a:prstGeom>
          <a:noFill/>
        </p:spPr>
        <p:txBody>
          <a:bodyPr wrap="none" rtlCol="0">
            <a:spAutoFit/>
          </a:bodyPr>
          <a:lstStyle/>
          <a:p>
            <a:r>
              <a:rPr lang="en-US" dirty="0">
                <a:latin typeface="Segoe UI" panose="020B0502040204020203" pitchFamily="34" charset="0"/>
                <a:cs typeface="Segoe UI" panose="020B0502040204020203" pitchFamily="34" charset="0"/>
              </a:rPr>
              <a:t>Excel table</a:t>
            </a:r>
          </a:p>
        </p:txBody>
      </p:sp>
      <p:sp>
        <p:nvSpPr>
          <p:cNvPr id="28" name="TextBox 27">
            <a:extLst>
              <a:ext uri="{FF2B5EF4-FFF2-40B4-BE49-F238E27FC236}">
                <a16:creationId xmlns:a16="http://schemas.microsoft.com/office/drawing/2014/main" id="{FC7C1442-BE23-5B47-9228-2CE052A03D3B}"/>
              </a:ext>
            </a:extLst>
          </p:cNvPr>
          <p:cNvSpPr txBox="1"/>
          <p:nvPr/>
        </p:nvSpPr>
        <p:spPr>
          <a:xfrm>
            <a:off x="1161809" y="1768296"/>
            <a:ext cx="9621976" cy="1477328"/>
          </a:xfrm>
          <a:prstGeom prst="rect">
            <a:avLst/>
          </a:prstGeom>
          <a:noFill/>
        </p:spPr>
        <p:txBody>
          <a:bodyPr wrap="square" rtlCol="0">
            <a:spAutoFit/>
          </a:bodyPr>
          <a:lstStyle/>
          <a:p>
            <a:r>
              <a:rPr lang="en-US" dirty="0">
                <a:solidFill>
                  <a:schemeClr val="accent6">
                    <a:lumMod val="75000"/>
                  </a:schemeClr>
                </a:solidFill>
                <a:latin typeface="Segoe UI" panose="020B0502040204020203" pitchFamily="34" charset="0"/>
                <a:cs typeface="Segoe UI" panose="020B0502040204020203" pitchFamily="34" charset="0"/>
              </a:rPr>
              <a:t>True positive – a protein in the ER, secreted from the ER or passing through the ER and biotinylated by </a:t>
            </a:r>
            <a:r>
              <a:rPr lang="en-US" dirty="0" err="1">
                <a:solidFill>
                  <a:schemeClr val="accent6">
                    <a:lumMod val="75000"/>
                  </a:schemeClr>
                </a:solidFill>
                <a:latin typeface="Segoe UI" panose="020B0502040204020203" pitchFamily="34" charset="0"/>
                <a:cs typeface="Segoe UI" panose="020B0502040204020203" pitchFamily="34" charset="0"/>
              </a:rPr>
              <a:t>TurboID</a:t>
            </a:r>
            <a:r>
              <a:rPr lang="en-US" dirty="0">
                <a:solidFill>
                  <a:schemeClr val="accent6">
                    <a:lumMod val="75000"/>
                  </a:schemeClr>
                </a:solidFill>
                <a:latin typeface="Segoe UI" panose="020B0502040204020203" pitchFamily="34" charset="0"/>
                <a:cs typeface="Segoe UI" panose="020B0502040204020203" pitchFamily="34" charset="0"/>
              </a:rPr>
              <a:t>, enriched in comparison to control </a:t>
            </a:r>
          </a:p>
          <a:p>
            <a:endParaRPr lang="en-US" dirty="0">
              <a:solidFill>
                <a:srgbClr val="FF7E79"/>
              </a:solidFill>
              <a:latin typeface="Segoe UI" panose="020B0502040204020203" pitchFamily="34" charset="0"/>
              <a:cs typeface="Segoe UI" panose="020B0502040204020203" pitchFamily="34" charset="0"/>
            </a:endParaRPr>
          </a:p>
          <a:p>
            <a:r>
              <a:rPr lang="en-US" dirty="0">
                <a:solidFill>
                  <a:srgbClr val="FF7E79"/>
                </a:solidFill>
                <a:latin typeface="Segoe UI" panose="020B0502040204020203" pitchFamily="34" charset="0"/>
                <a:cs typeface="Segoe UI" panose="020B0502040204020203" pitchFamily="34" charset="0"/>
              </a:rPr>
              <a:t>False positive – a protein that is detected as biotinylated/enriched but is not actually       interacting with the ER, non-specific </a:t>
            </a:r>
            <a:r>
              <a:rPr lang="en-US" dirty="0" err="1">
                <a:solidFill>
                  <a:srgbClr val="FF7E79"/>
                </a:solidFill>
                <a:latin typeface="Segoe UI" panose="020B0502040204020203" pitchFamily="34" charset="0"/>
                <a:cs typeface="Segoe UI" panose="020B0502040204020203" pitchFamily="34" charset="0"/>
              </a:rPr>
              <a:t>biotinylation</a:t>
            </a:r>
            <a:endParaRPr lang="en-US" dirty="0">
              <a:solidFill>
                <a:srgbClr val="FF7E79"/>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1642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948524" y="1453010"/>
            <a:ext cx="10324313" cy="3685767"/>
          </a:xfrm>
        </p:spPr>
        <p:txBody>
          <a:bodyPr>
            <a:normAutofit/>
          </a:bodyPr>
          <a:lstStyle/>
          <a:p>
            <a:pPr marL="457200" lvl="1" indent="0">
              <a:spcBef>
                <a:spcPts val="1000"/>
              </a:spcBef>
              <a:buClr>
                <a:srgbClr val="7BAF34"/>
              </a:buClr>
              <a:buNone/>
              <a:defRPr/>
            </a:pPr>
            <a:endParaRPr lang="en-US" b="1" dirty="0">
              <a:latin typeface="Segoe UI Semibold" panose="020B0502040204020203" pitchFamily="34" charset="0"/>
              <a:cs typeface="Segoe UI Semibold" panose="020B0502040204020203" pitchFamily="34" charset="0"/>
            </a:endParaRPr>
          </a:p>
          <a:p>
            <a:pPr lvl="1">
              <a:spcBef>
                <a:spcPts val="1000"/>
              </a:spcBef>
              <a:buClr>
                <a:schemeClr val="tx1"/>
              </a:buClr>
              <a:defRPr/>
            </a:pPr>
            <a:r>
              <a:rPr lang="en-US" b="1" dirty="0">
                <a:latin typeface="Segoe UI Semibold" panose="020B0502040204020203" pitchFamily="34" charset="0"/>
                <a:cs typeface="Segoe UI Semibold" panose="020B0502040204020203" pitchFamily="34" charset="0"/>
              </a:rPr>
              <a:t>TP list: proteins expected to be biotinylated</a:t>
            </a:r>
          </a:p>
          <a:p>
            <a:pPr marL="3086100" lvl="6" indent="-342900">
              <a:spcBef>
                <a:spcPts val="1000"/>
              </a:spcBef>
              <a:buClr>
                <a:schemeClr val="tx1"/>
              </a:buClr>
              <a:buFont typeface="+mj-lt"/>
              <a:buAutoNum type="arabicPeriod"/>
              <a:defRPr/>
            </a:pPr>
            <a:r>
              <a:rPr lang="en-US" sz="1600" dirty="0">
                <a:latin typeface="Segoe UI" panose="020B0502040204020203" pitchFamily="34" charset="0"/>
                <a:cs typeface="Segoe UI" panose="020B0502040204020203" pitchFamily="34" charset="0"/>
              </a:rPr>
              <a:t>Endoplasmic Reticulum</a:t>
            </a:r>
          </a:p>
          <a:p>
            <a:pPr marL="3086100" lvl="6" indent="-342900">
              <a:spcBef>
                <a:spcPts val="1000"/>
              </a:spcBef>
              <a:buClr>
                <a:schemeClr val="tx1"/>
              </a:buClr>
              <a:buFont typeface="+mj-lt"/>
              <a:buAutoNum type="arabicPeriod"/>
              <a:defRPr/>
            </a:pPr>
            <a:r>
              <a:rPr lang="en-US" sz="1600" dirty="0">
                <a:latin typeface="Segoe UI" panose="020B0502040204020203" pitchFamily="34" charset="0"/>
                <a:cs typeface="Segoe UI" panose="020B0502040204020203" pitchFamily="34" charset="0"/>
              </a:rPr>
              <a:t>Rough Endoplasmic Reticulum</a:t>
            </a:r>
          </a:p>
          <a:p>
            <a:pPr marL="3086100" lvl="6" indent="-342900">
              <a:spcBef>
                <a:spcPts val="1000"/>
              </a:spcBef>
              <a:buClr>
                <a:schemeClr val="tx1"/>
              </a:buClr>
              <a:buFont typeface="+mj-lt"/>
              <a:buAutoNum type="arabicPeriod"/>
              <a:defRPr/>
            </a:pPr>
            <a:r>
              <a:rPr lang="en-US" sz="1600" dirty="0">
                <a:latin typeface="Segoe UI" panose="020B0502040204020203" pitchFamily="34" charset="0"/>
                <a:cs typeface="Segoe UI" panose="020B0502040204020203" pitchFamily="34" charset="0"/>
              </a:rPr>
              <a:t>Golgi </a:t>
            </a:r>
          </a:p>
          <a:p>
            <a:pPr marL="3086100" lvl="6" indent="-342900">
              <a:spcBef>
                <a:spcPts val="1000"/>
              </a:spcBef>
              <a:buClr>
                <a:schemeClr val="tx1"/>
              </a:buClr>
              <a:buFont typeface="+mj-lt"/>
              <a:buAutoNum type="arabicPeriod"/>
              <a:defRPr/>
            </a:pPr>
            <a:r>
              <a:rPr lang="en-US" sz="1600" dirty="0">
                <a:latin typeface="Segoe UI" panose="020B0502040204020203" pitchFamily="34" charset="0"/>
                <a:cs typeface="Segoe UI" panose="020B0502040204020203" pitchFamily="34" charset="0"/>
              </a:rPr>
              <a:t>Secreted</a:t>
            </a:r>
            <a:endParaRPr lang="en-US" sz="1600" b="1" dirty="0">
              <a:latin typeface="Segoe UI Semibold" panose="020B0502040204020203" pitchFamily="34" charset="0"/>
              <a:cs typeface="Segoe UI Semibold" panose="020B0502040204020203" pitchFamily="34" charset="0"/>
            </a:endParaRPr>
          </a:p>
          <a:p>
            <a:pPr lvl="1">
              <a:spcBef>
                <a:spcPts val="1000"/>
              </a:spcBef>
              <a:buClr>
                <a:schemeClr val="tx1"/>
              </a:buClr>
              <a:defRPr/>
            </a:pPr>
            <a:r>
              <a:rPr lang="en-US" b="1" dirty="0">
                <a:latin typeface="Segoe UI Semibold" panose="020B0502040204020203" pitchFamily="34" charset="0"/>
                <a:cs typeface="Segoe UI Semibold" panose="020B0502040204020203" pitchFamily="34" charset="0"/>
              </a:rPr>
              <a:t>FP list: proteins not expected to be biotinylated</a:t>
            </a:r>
          </a:p>
          <a:p>
            <a:pPr marL="3086100" lvl="6" indent="-342900">
              <a:spcBef>
                <a:spcPts val="1000"/>
              </a:spcBef>
              <a:buClr>
                <a:schemeClr val="tx1"/>
              </a:buClr>
              <a:buFont typeface="+mj-lt"/>
              <a:buAutoNum type="arabicPeriod"/>
              <a:defRPr/>
            </a:pPr>
            <a:r>
              <a:rPr lang="en-US" dirty="0" err="1">
                <a:latin typeface="Segoe UI" panose="020B0502040204020203" pitchFamily="34" charset="0"/>
                <a:cs typeface="Segoe UI" panose="020B0502040204020203" pitchFamily="34" charset="0"/>
              </a:rPr>
              <a:t>Mitomatrix</a:t>
            </a:r>
            <a:r>
              <a:rPr lang="en-US" dirty="0">
                <a:latin typeface="Segoe UI" panose="020B0502040204020203" pitchFamily="34" charset="0"/>
                <a:cs typeface="Segoe UI" panose="020B0502040204020203" pitchFamily="34" charset="0"/>
              </a:rPr>
              <a:t> proteins </a:t>
            </a: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1700" b="0" i="0" u="none" strike="noStrike" kern="1200" cap="none" spc="20" normalizeH="0" baseline="0" noProof="0" dirty="0">
              <a:ln>
                <a:noFill/>
              </a:ln>
              <a:effectLst/>
              <a:uLnTx/>
              <a:uFillTx/>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effectLst/>
              <a:uLnTx/>
              <a:uFillTx/>
              <a:ea typeface="+mn-ea"/>
              <a:cs typeface="+mn-cs"/>
            </a:endParaRPr>
          </a:p>
        </p:txBody>
      </p:sp>
      <p:sp>
        <p:nvSpPr>
          <p:cNvPr id="3" name="Slide Number Placeholder 2">
            <a:extLst>
              <a:ext uri="{FF2B5EF4-FFF2-40B4-BE49-F238E27FC236}">
                <a16:creationId xmlns:a16="http://schemas.microsoft.com/office/drawing/2014/main" id="{55E71523-F602-E348-A5BD-06FBCA424748}"/>
              </a:ext>
            </a:extLst>
          </p:cNvPr>
          <p:cNvSpPr>
            <a:spLocks noGrp="1"/>
          </p:cNvSpPr>
          <p:nvPr>
            <p:ph type="sldNum" sz="quarter" idx="12"/>
          </p:nvPr>
        </p:nvSpPr>
        <p:spPr/>
        <p:txBody>
          <a:bodyPr/>
          <a:lstStyle/>
          <a:p>
            <a:fld id="{1621B6DD-29C1-4FEA-923F-71EA1347694C}" type="slidenum">
              <a:rPr lang="en-US" smtClean="0">
                <a:solidFill>
                  <a:schemeClr val="tx1"/>
                </a:solidFill>
              </a:rPr>
              <a:t>7</a:t>
            </a:fld>
            <a:endParaRPr lang="en-US" dirty="0">
              <a:solidFill>
                <a:schemeClr val="tx1"/>
              </a:solidFill>
            </a:endParaRPr>
          </a:p>
        </p:txBody>
      </p:sp>
      <p:sp>
        <p:nvSpPr>
          <p:cNvPr id="4" name="Rectangle 3">
            <a:extLst>
              <a:ext uri="{FF2B5EF4-FFF2-40B4-BE49-F238E27FC236}">
                <a16:creationId xmlns:a16="http://schemas.microsoft.com/office/drawing/2014/main" id="{11ABB667-20E9-2148-9D46-594AF0F19BDC}"/>
              </a:ext>
            </a:extLst>
          </p:cNvPr>
          <p:cNvSpPr/>
          <p:nvPr/>
        </p:nvSpPr>
        <p:spPr>
          <a:xfrm>
            <a:off x="3083701" y="5201522"/>
            <a:ext cx="2738535" cy="406937"/>
          </a:xfrm>
          <a:prstGeom prst="rect">
            <a:avLst/>
          </a:prstGeom>
          <a:solidFill>
            <a:srgbClr val="008A00"/>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TP list: </a:t>
            </a:r>
            <a:r>
              <a:rPr lang="en-US" b="1" dirty="0">
                <a:solidFill>
                  <a:schemeClr val="bg1"/>
                </a:solidFill>
              </a:rPr>
              <a:t>2806</a:t>
            </a:r>
            <a:r>
              <a:rPr lang="en-US" dirty="0">
                <a:solidFill>
                  <a:schemeClr val="bg1"/>
                </a:solidFill>
              </a:rPr>
              <a:t> Proteins</a:t>
            </a:r>
          </a:p>
        </p:txBody>
      </p:sp>
      <p:sp>
        <p:nvSpPr>
          <p:cNvPr id="7" name="Rectangle 6">
            <a:extLst>
              <a:ext uri="{FF2B5EF4-FFF2-40B4-BE49-F238E27FC236}">
                <a16:creationId xmlns:a16="http://schemas.microsoft.com/office/drawing/2014/main" id="{80BEBF38-E4AD-0C49-A7C7-C2DD577D4EE4}"/>
              </a:ext>
            </a:extLst>
          </p:cNvPr>
          <p:cNvSpPr/>
          <p:nvPr/>
        </p:nvSpPr>
        <p:spPr>
          <a:xfrm>
            <a:off x="6096000" y="5201521"/>
            <a:ext cx="2738535" cy="406937"/>
          </a:xfrm>
          <a:prstGeom prst="rect">
            <a:avLst/>
          </a:prstGeom>
          <a:solidFill>
            <a:srgbClr val="C0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solidFill>
                  <a:schemeClr val="bg1"/>
                </a:solidFill>
              </a:rPr>
              <a:t>FP list: </a:t>
            </a:r>
            <a:r>
              <a:rPr lang="en-US" b="1" dirty="0">
                <a:solidFill>
                  <a:schemeClr val="bg1"/>
                </a:solidFill>
              </a:rPr>
              <a:t>435</a:t>
            </a:r>
            <a:r>
              <a:rPr lang="en-US" dirty="0">
                <a:solidFill>
                  <a:schemeClr val="bg1"/>
                </a:solidFill>
              </a:rPr>
              <a:t> Proteins</a:t>
            </a:r>
          </a:p>
        </p:txBody>
      </p:sp>
      <p:sp>
        <p:nvSpPr>
          <p:cNvPr id="5" name="TextBox 4">
            <a:extLst>
              <a:ext uri="{FF2B5EF4-FFF2-40B4-BE49-F238E27FC236}">
                <a16:creationId xmlns:a16="http://schemas.microsoft.com/office/drawing/2014/main" id="{E0301FF1-52B9-A444-878B-C1CE1250D765}"/>
              </a:ext>
            </a:extLst>
          </p:cNvPr>
          <p:cNvSpPr txBox="1"/>
          <p:nvPr/>
        </p:nvSpPr>
        <p:spPr>
          <a:xfrm>
            <a:off x="1996440" y="701040"/>
            <a:ext cx="184731" cy="369332"/>
          </a:xfrm>
          <a:prstGeom prst="rect">
            <a:avLst/>
          </a:prstGeom>
          <a:noFill/>
        </p:spPr>
        <p:txBody>
          <a:bodyPr wrap="none" rtlCol="0">
            <a:spAutoFit/>
          </a:bodyPr>
          <a:lstStyle/>
          <a:p>
            <a:endParaRPr lang="en-US" dirty="0"/>
          </a:p>
        </p:txBody>
      </p:sp>
      <p:sp>
        <p:nvSpPr>
          <p:cNvPr id="9" name="Title 1">
            <a:extLst>
              <a:ext uri="{FF2B5EF4-FFF2-40B4-BE49-F238E27FC236}">
                <a16:creationId xmlns:a16="http://schemas.microsoft.com/office/drawing/2014/main" id="{7FB6CDA6-2E43-7D45-91D7-6DC2618593AE}"/>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TP and FP lists </a:t>
            </a:r>
            <a:endParaRPr lang="en-US" b="1"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FCD8C527-6684-4346-B3F6-7CC4BF824906}"/>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spTree>
    <p:extLst>
      <p:ext uri="{BB962C8B-B14F-4D97-AF65-F5344CB8AC3E}">
        <p14:creationId xmlns:p14="http://schemas.microsoft.com/office/powerpoint/2010/main" val="140388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E71523-F602-E348-A5BD-06FBCA424748}"/>
              </a:ext>
            </a:extLst>
          </p:cNvPr>
          <p:cNvSpPr>
            <a:spLocks noGrp="1"/>
          </p:cNvSpPr>
          <p:nvPr>
            <p:ph type="sldNum" sz="quarter" idx="12"/>
          </p:nvPr>
        </p:nvSpPr>
        <p:spPr/>
        <p:txBody>
          <a:bodyPr/>
          <a:lstStyle/>
          <a:p>
            <a:fld id="{1621B6DD-29C1-4FEA-923F-71EA1347694C}" type="slidenum">
              <a:rPr lang="en-US" smtClean="0">
                <a:solidFill>
                  <a:schemeClr val="tx1"/>
                </a:solidFill>
              </a:rPr>
              <a:t>8</a:t>
            </a:fld>
            <a:endParaRPr lang="en-US" dirty="0">
              <a:solidFill>
                <a:schemeClr val="tx1"/>
              </a:solidFill>
            </a:endParaRPr>
          </a:p>
        </p:txBody>
      </p:sp>
      <p:sp>
        <p:nvSpPr>
          <p:cNvPr id="5" name="TextBox 4">
            <a:extLst>
              <a:ext uri="{FF2B5EF4-FFF2-40B4-BE49-F238E27FC236}">
                <a16:creationId xmlns:a16="http://schemas.microsoft.com/office/drawing/2014/main" id="{E0301FF1-52B9-A444-878B-C1CE1250D765}"/>
              </a:ext>
            </a:extLst>
          </p:cNvPr>
          <p:cNvSpPr txBox="1"/>
          <p:nvPr/>
        </p:nvSpPr>
        <p:spPr>
          <a:xfrm>
            <a:off x="1996440" y="701040"/>
            <a:ext cx="184731" cy="369332"/>
          </a:xfrm>
          <a:prstGeom prst="rect">
            <a:avLst/>
          </a:prstGeom>
          <a:noFill/>
        </p:spPr>
        <p:txBody>
          <a:bodyPr wrap="none" rtlCol="0">
            <a:spAutoFit/>
          </a:bodyPr>
          <a:lstStyle/>
          <a:p>
            <a:endParaRPr lang="en-US" dirty="0"/>
          </a:p>
        </p:txBody>
      </p:sp>
      <p:sp>
        <p:nvSpPr>
          <p:cNvPr id="9" name="Title 1">
            <a:extLst>
              <a:ext uri="{FF2B5EF4-FFF2-40B4-BE49-F238E27FC236}">
                <a16:creationId xmlns:a16="http://schemas.microsoft.com/office/drawing/2014/main" id="{7FB6CDA6-2E43-7D45-91D7-6DC2618593AE}"/>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Annotate processed files</a:t>
            </a:r>
            <a:endParaRPr lang="en-US" b="1"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FCD8C527-6684-4346-B3F6-7CC4BF824906}"/>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pic>
        <p:nvPicPr>
          <p:cNvPr id="6" name="Picture 5" descr="Table&#10;&#10;Description automatically generated">
            <a:extLst>
              <a:ext uri="{FF2B5EF4-FFF2-40B4-BE49-F238E27FC236}">
                <a16:creationId xmlns:a16="http://schemas.microsoft.com/office/drawing/2014/main" id="{1D905569-1227-194B-B2BB-C3F53EAE3C5B}"/>
              </a:ext>
            </a:extLst>
          </p:cNvPr>
          <p:cNvPicPr>
            <a:picLocks noChangeAspect="1"/>
          </p:cNvPicPr>
          <p:nvPr/>
        </p:nvPicPr>
        <p:blipFill>
          <a:blip r:embed="rId3"/>
          <a:stretch>
            <a:fillRect/>
          </a:stretch>
        </p:blipFill>
        <p:spPr>
          <a:xfrm>
            <a:off x="2988819" y="1550268"/>
            <a:ext cx="5704909" cy="4541689"/>
          </a:xfrm>
          <a:prstGeom prst="rect">
            <a:avLst/>
          </a:prstGeom>
        </p:spPr>
      </p:pic>
      <p:sp>
        <p:nvSpPr>
          <p:cNvPr id="12" name="Down Arrow 11">
            <a:extLst>
              <a:ext uri="{FF2B5EF4-FFF2-40B4-BE49-F238E27FC236}">
                <a16:creationId xmlns:a16="http://schemas.microsoft.com/office/drawing/2014/main" id="{6499BD90-BD5B-0B4C-8BF1-CAB67FCAA7D2}"/>
              </a:ext>
            </a:extLst>
          </p:cNvPr>
          <p:cNvSpPr/>
          <p:nvPr/>
        </p:nvSpPr>
        <p:spPr>
          <a:xfrm>
            <a:off x="8177151" y="1070372"/>
            <a:ext cx="313706" cy="365125"/>
          </a:xfrm>
          <a:prstGeom prst="downArrow">
            <a:avLst/>
          </a:prstGeom>
          <a:solidFill>
            <a:srgbClr val="DE7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29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1" nodeType="clickEffect">
                                  <p:stCondLst>
                                    <p:cond delay="0"/>
                                  </p:stCondLst>
                                  <p:childTnLst>
                                    <p:animEffect transition="out" filter="fade">
                                      <p:cBhvr>
                                        <p:cTn id="10" dur="500" tmFilter="0, 0; .2, .5; .8, .5; 1, 0"/>
                                        <p:tgtEl>
                                          <p:spTgt spid="12"/>
                                        </p:tgtEl>
                                      </p:cBhvr>
                                    </p:animEffect>
                                    <p:animScale>
                                      <p:cBhvr>
                                        <p:cTn id="11"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DE06309-147D-2543-B351-DC41490E55CA}"/>
              </a:ext>
            </a:extLst>
          </p:cNvPr>
          <p:cNvSpPr/>
          <p:nvPr/>
        </p:nvSpPr>
        <p:spPr>
          <a:xfrm>
            <a:off x="7234326" y="3863081"/>
            <a:ext cx="2039947"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9</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cxnSp>
        <p:nvCxnSpPr>
          <p:cNvPr id="33" name="Straight Arrow Connector 32">
            <a:extLst>
              <a:ext uri="{FF2B5EF4-FFF2-40B4-BE49-F238E27FC236}">
                <a16:creationId xmlns:a16="http://schemas.microsoft.com/office/drawing/2014/main" id="{DACE3C9B-3ECB-4748-8A94-F41DFAB98D48}"/>
              </a:ext>
            </a:extLst>
          </p:cNvPr>
          <p:cNvCxnSpPr>
            <a:cxnSpLocks/>
          </p:cNvCxnSpPr>
          <p:nvPr/>
        </p:nvCxnSpPr>
        <p:spPr>
          <a:xfrm flipH="1">
            <a:off x="9626600" y="4350118"/>
            <a:ext cx="590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5F572BF-9BAF-3C4C-BBA3-261B5E5A1F49}"/>
              </a:ext>
            </a:extLst>
          </p:cNvPr>
          <p:cNvSpPr txBox="1"/>
          <p:nvPr/>
        </p:nvSpPr>
        <p:spPr>
          <a:xfrm>
            <a:off x="4431890" y="3952515"/>
            <a:ext cx="2287907" cy="784830"/>
          </a:xfrm>
          <a:prstGeom prst="rect">
            <a:avLst/>
          </a:prstGeom>
          <a:noFill/>
        </p:spPr>
        <p:txBody>
          <a:bodyPr wrap="square" rtlCol="0">
            <a:spAutoFit/>
          </a:bodyPr>
          <a:lstStyle/>
          <a:p>
            <a:pPr algn="ctr"/>
            <a:r>
              <a:rPr lang="en-US" sz="1500" b="1" dirty="0" err="1">
                <a:latin typeface="Segoe UI Semibold" panose="020B0502040204020203" pitchFamily="34" charset="0"/>
                <a:cs typeface="Segoe UI Semibold" panose="020B0502040204020203" pitchFamily="34" charset="0"/>
              </a:rPr>
              <a:t>cre</a:t>
            </a:r>
            <a:r>
              <a:rPr lang="en-US" sz="1500" b="1" dirty="0">
                <a:latin typeface="Segoe UI Semibold" panose="020B0502040204020203" pitchFamily="34" charset="0"/>
                <a:cs typeface="Segoe UI Semibold" panose="020B0502040204020203" pitchFamily="34" charset="0"/>
              </a:rPr>
              <a:t>+ replicates filtering </a:t>
            </a:r>
          </a:p>
          <a:p>
            <a:pPr algn="ctr"/>
            <a:r>
              <a:rPr lang="en-US" sz="1500" b="1" dirty="0">
                <a:latin typeface="Segoe UI Semibold" panose="020B0502040204020203" pitchFamily="34" charset="0"/>
                <a:cs typeface="Segoe UI Semibold" panose="020B0502040204020203" pitchFamily="34" charset="0"/>
              </a:rPr>
              <a:t>&amp;</a:t>
            </a:r>
          </a:p>
          <a:p>
            <a:pPr algn="ctr"/>
            <a:r>
              <a:rPr lang="en-US" sz="1500" b="1" dirty="0">
                <a:latin typeface="Segoe UI Semibold" panose="020B0502040204020203" pitchFamily="34" charset="0"/>
                <a:cs typeface="Segoe UI Semibold" panose="020B0502040204020203" pitchFamily="34" charset="0"/>
              </a:rPr>
              <a:t>Normalization</a:t>
            </a:r>
          </a:p>
        </p:txBody>
      </p:sp>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27" name="TextBox 26">
            <a:extLst>
              <a:ext uri="{FF2B5EF4-FFF2-40B4-BE49-F238E27FC236}">
                <a16:creationId xmlns:a16="http://schemas.microsoft.com/office/drawing/2014/main" id="{13DC00C0-2AD0-FE4C-A422-A6B24533B912}"/>
              </a:ext>
            </a:extLst>
          </p:cNvPr>
          <p:cNvSpPr txBox="1"/>
          <p:nvPr/>
        </p:nvSpPr>
        <p:spPr>
          <a:xfrm>
            <a:off x="7280112" y="4072185"/>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Annotate proteins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Using TP and FP lists</a:t>
            </a:r>
          </a:p>
          <a:p>
            <a:pPr algn="ctr"/>
            <a:endParaRPr lang="en-US" sz="1500" b="1" dirty="0">
              <a:latin typeface="Segoe UI Semibold" panose="020B0502040204020203" pitchFamily="34" charset="0"/>
              <a:cs typeface="Segoe UI Semibold" panose="020B0502040204020203" pitchFamily="34" charset="0"/>
            </a:endParaRPr>
          </a:p>
        </p:txBody>
      </p:sp>
      <p:sp>
        <p:nvSpPr>
          <p:cNvPr id="28" name="Rounded Rectangle 27">
            <a:extLst>
              <a:ext uri="{FF2B5EF4-FFF2-40B4-BE49-F238E27FC236}">
                <a16:creationId xmlns:a16="http://schemas.microsoft.com/office/drawing/2014/main" id="{926C8D95-DEA1-6B41-B114-C53B4E627245}"/>
              </a:ext>
            </a:extLst>
          </p:cNvPr>
          <p:cNvSpPr/>
          <p:nvPr/>
        </p:nvSpPr>
        <p:spPr>
          <a:xfrm>
            <a:off x="4395195" y="3710069"/>
            <a:ext cx="2248893" cy="10867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 name="Oval 2">
            <a:extLst>
              <a:ext uri="{FF2B5EF4-FFF2-40B4-BE49-F238E27FC236}">
                <a16:creationId xmlns:a16="http://schemas.microsoft.com/office/drawing/2014/main" id="{80774D48-C1E9-A74A-B5B4-B4083E706E43}"/>
              </a:ext>
            </a:extLst>
          </p:cNvPr>
          <p:cNvSpPr/>
          <p:nvPr/>
        </p:nvSpPr>
        <p:spPr>
          <a:xfrm>
            <a:off x="8037908" y="358329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1</a:t>
            </a:r>
          </a:p>
        </p:txBody>
      </p:sp>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cxnSp>
        <p:nvCxnSpPr>
          <p:cNvPr id="49" name="Straight Arrow Connector 48">
            <a:extLst>
              <a:ext uri="{FF2B5EF4-FFF2-40B4-BE49-F238E27FC236}">
                <a16:creationId xmlns:a16="http://schemas.microsoft.com/office/drawing/2014/main" id="{BF8D5F95-54AB-4547-9373-9B41922377F1}"/>
              </a:ext>
            </a:extLst>
          </p:cNvPr>
          <p:cNvCxnSpPr>
            <a:cxnSpLocks/>
          </p:cNvCxnSpPr>
          <p:nvPr/>
        </p:nvCxnSpPr>
        <p:spPr>
          <a:xfrm flipH="1">
            <a:off x="6795506" y="4278409"/>
            <a:ext cx="287402" cy="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D4B0CA0-CF3F-CA48-A2D0-B1942B46FA3F}"/>
              </a:ext>
            </a:extLst>
          </p:cNvPr>
          <p:cNvSpPr/>
          <p:nvPr/>
        </p:nvSpPr>
        <p:spPr>
          <a:xfrm>
            <a:off x="5282574" y="3447997"/>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2</a:t>
            </a:r>
          </a:p>
        </p:txBody>
      </p:sp>
    </p:spTree>
    <p:extLst>
      <p:ext uri="{BB962C8B-B14F-4D97-AF65-F5344CB8AC3E}">
        <p14:creationId xmlns:p14="http://schemas.microsoft.com/office/powerpoint/2010/main" val="213000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8"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AC163A8-F584-BD46-AC4E-BC61E07F3623}"/>
              </a:ext>
            </a:extLst>
          </p:cNvPr>
          <p:cNvPicPr>
            <a:picLocks noChangeAspect="1"/>
          </p:cNvPicPr>
          <p:nvPr/>
        </p:nvPicPr>
        <p:blipFill rotWithShape="1">
          <a:blip r:embed="rId3"/>
          <a:srcRect l="79702"/>
          <a:stretch/>
        </p:blipFill>
        <p:spPr>
          <a:xfrm>
            <a:off x="8273361" y="3842116"/>
            <a:ext cx="3302168" cy="2006896"/>
          </a:xfrm>
          <a:prstGeom prst="rect">
            <a:avLst/>
          </a:prstGeom>
          <a:ln w="57150">
            <a:solidFill>
              <a:schemeClr val="accent2">
                <a:lumMod val="75000"/>
              </a:schemeClr>
            </a:solidFill>
          </a:ln>
        </p:spPr>
      </p:pic>
      <p:pic>
        <p:nvPicPr>
          <p:cNvPr id="20" name="Picture 19">
            <a:extLst>
              <a:ext uri="{FF2B5EF4-FFF2-40B4-BE49-F238E27FC236}">
                <a16:creationId xmlns:a16="http://schemas.microsoft.com/office/drawing/2014/main" id="{2578D714-C535-E347-B09D-DD5D24BA39B3}"/>
              </a:ext>
            </a:extLst>
          </p:cNvPr>
          <p:cNvPicPr>
            <a:picLocks noChangeAspect="1"/>
          </p:cNvPicPr>
          <p:nvPr/>
        </p:nvPicPr>
        <p:blipFill rotWithShape="1">
          <a:blip r:embed="rId3"/>
          <a:srcRect l="61698" r="20313"/>
          <a:stretch/>
        </p:blipFill>
        <p:spPr>
          <a:xfrm>
            <a:off x="4826471" y="3860574"/>
            <a:ext cx="2926411" cy="2006896"/>
          </a:xfrm>
          <a:prstGeom prst="rect">
            <a:avLst/>
          </a:prstGeom>
          <a:ln w="57150">
            <a:solidFill>
              <a:schemeClr val="accent1">
                <a:lumMod val="75000"/>
              </a:schemeClr>
            </a:solidFill>
          </a:ln>
        </p:spPr>
      </p:pic>
      <p:pic>
        <p:nvPicPr>
          <p:cNvPr id="8" name="Picture 7">
            <a:extLst>
              <a:ext uri="{FF2B5EF4-FFF2-40B4-BE49-F238E27FC236}">
                <a16:creationId xmlns:a16="http://schemas.microsoft.com/office/drawing/2014/main" id="{56C9F4E0-8CBA-F943-A7D8-A79351CA0842}"/>
              </a:ext>
            </a:extLst>
          </p:cNvPr>
          <p:cNvPicPr>
            <a:picLocks noChangeAspect="1"/>
          </p:cNvPicPr>
          <p:nvPr/>
        </p:nvPicPr>
        <p:blipFill rotWithShape="1">
          <a:blip r:embed="rId3"/>
          <a:srcRect r="73907"/>
          <a:stretch/>
        </p:blipFill>
        <p:spPr>
          <a:xfrm>
            <a:off x="309801" y="3823659"/>
            <a:ext cx="4244903" cy="2006896"/>
          </a:xfrm>
          <a:prstGeom prst="rect">
            <a:avLst/>
          </a:prstGeom>
        </p:spPr>
      </p:pic>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1181442" y="1769158"/>
            <a:ext cx="9484635" cy="1746405"/>
          </a:xfrm>
        </p:spPr>
        <p:txBody>
          <a:bodyPr>
            <a:normAutofit/>
          </a:bodyPr>
          <a:lstStyle/>
          <a:p>
            <a:pPr marL="228600" marR="0" lvl="0" indent="-228600" algn="l" defTabSz="914400" rtl="0" eaLnBrk="1" fontAlgn="auto" latinLnBrk="0" hangingPunct="1">
              <a:lnSpc>
                <a:spcPct val="120000"/>
              </a:lnSpc>
              <a:spcBef>
                <a:spcPts val="1000"/>
              </a:spcBef>
              <a:spcAft>
                <a:spcPts val="0"/>
              </a:spcAft>
              <a:buClr>
                <a:schemeClr val="tx1"/>
              </a:buClr>
              <a:buSzTx/>
              <a:buFont typeface="The Hand Extrablack" panose="03070A02030502020204" pitchFamily="66" charset="0"/>
              <a:buChar char="•"/>
              <a:tabLst/>
              <a:defRPr/>
            </a:pPr>
            <a:r>
              <a:rPr kumimoji="0" lang="en-US" sz="2000" b="1" u="none" strike="noStrike" kern="1200" spc="20" normalizeH="0" baseline="0" noProof="0" dirty="0">
                <a:uLnTx/>
                <a:uFillTx/>
                <a:latin typeface="Segoe UI Semibold" panose="020B0502040204020203" pitchFamily="34" charset="0"/>
                <a:cs typeface="Segoe UI Semibold" panose="020B0502040204020203" pitchFamily="34" charset="0"/>
              </a:rPr>
              <a:t>Filtering is performed based on the experimental sample replicates for each condition</a:t>
            </a:r>
          </a:p>
          <a:p>
            <a:pPr marL="228600" marR="0" lvl="0" indent="-228600" algn="l" defTabSz="914400" rtl="0" eaLnBrk="1" fontAlgn="auto" latinLnBrk="0" hangingPunct="1">
              <a:lnSpc>
                <a:spcPct val="120000"/>
              </a:lnSpc>
              <a:spcBef>
                <a:spcPts val="1000"/>
              </a:spcBef>
              <a:spcAft>
                <a:spcPts val="0"/>
              </a:spcAft>
              <a:buClr>
                <a:schemeClr val="tx1"/>
              </a:buClr>
              <a:buSzTx/>
              <a:buFont typeface="The Hand Extrablack" panose="03070A02030502020204" pitchFamily="66" charset="0"/>
              <a:buChar char="•"/>
              <a:tabLst/>
              <a:defRPr/>
            </a:pPr>
            <a:r>
              <a:rPr kumimoji="0" lang="en-US" sz="2000" b="1" u="none" strike="noStrike" kern="1200" spc="20" normalizeH="0" baseline="0" noProof="0" dirty="0">
                <a:uLnTx/>
                <a:uFillTx/>
                <a:latin typeface="Segoe UI Semibold" panose="020B0502040204020203" pitchFamily="34" charset="0"/>
                <a:cs typeface="Segoe UI Semibold" panose="020B0502040204020203" pitchFamily="34" charset="0"/>
              </a:rPr>
              <a:t>At least one pair (any 2 channels) out of all </a:t>
            </a:r>
            <a:r>
              <a:rPr kumimoji="0" lang="en-US" sz="2000" b="1" u="none" strike="noStrike" kern="1200" spc="20" normalizeH="0" baseline="0" noProof="0" dirty="0" err="1">
                <a:uLnTx/>
                <a:uFillTx/>
                <a:latin typeface="Segoe UI Semibold" panose="020B0502040204020203" pitchFamily="34" charset="0"/>
                <a:cs typeface="Segoe UI Semibold" panose="020B0502040204020203" pitchFamily="34" charset="0"/>
              </a:rPr>
              <a:t>cre</a:t>
            </a:r>
            <a:r>
              <a:rPr kumimoji="0" lang="en-US" sz="2000" b="1" u="none" strike="noStrike" kern="1200" spc="20" normalizeH="0" baseline="0" noProof="0" dirty="0">
                <a:uLnTx/>
                <a:uFillTx/>
                <a:latin typeface="Segoe UI Semibold" panose="020B0502040204020203" pitchFamily="34" charset="0"/>
                <a:cs typeface="Segoe UI Semibold" panose="020B0502040204020203" pitchFamily="34" charset="0"/>
              </a:rPr>
              <a:t>+ channels should have a min raw signal intensity sum &gt;= 10000 and a coefficient of variation &lt;= 0.5</a:t>
            </a: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ea typeface="+mn-ea"/>
              <a:cs typeface="+mn-cs"/>
            </a:endParaRPr>
          </a:p>
        </p:txBody>
      </p:sp>
      <p:sp>
        <p:nvSpPr>
          <p:cNvPr id="3" name="Slide Number Placeholder 2">
            <a:extLst>
              <a:ext uri="{FF2B5EF4-FFF2-40B4-BE49-F238E27FC236}">
                <a16:creationId xmlns:a16="http://schemas.microsoft.com/office/drawing/2014/main" id="{1D6F3C52-A33C-B54E-85E5-94566199A529}"/>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10</a:t>
            </a:fld>
            <a:endParaRPr kumimoji="0" lang="en-US" sz="1200" b="0" i="0" u="none" strike="noStrike" kern="1200" cap="none" spc="20" normalizeH="0" baseline="0" noProof="0" dirty="0">
              <a:ln>
                <a:noFill/>
              </a:ln>
              <a:solidFill>
                <a:srgbClr val="000000"/>
              </a:solidFill>
              <a:effectLst/>
              <a:uLnTx/>
              <a:uFillTx/>
              <a:ea typeface="+mn-ea"/>
              <a:cs typeface="+mn-cs"/>
            </a:endParaRPr>
          </a:p>
        </p:txBody>
      </p:sp>
      <p:sp>
        <p:nvSpPr>
          <p:cNvPr id="4" name="Rectangle 3">
            <a:extLst>
              <a:ext uri="{FF2B5EF4-FFF2-40B4-BE49-F238E27FC236}">
                <a16:creationId xmlns:a16="http://schemas.microsoft.com/office/drawing/2014/main" id="{3925C82C-B52B-9540-A866-5C8CB5D8D5B5}"/>
              </a:ext>
            </a:extLst>
          </p:cNvPr>
          <p:cNvSpPr/>
          <p:nvPr/>
        </p:nvSpPr>
        <p:spPr>
          <a:xfrm>
            <a:off x="1065540" y="4073236"/>
            <a:ext cx="4927181" cy="228222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5AD48439-373F-974D-A664-2A6B8C2B07BD}"/>
              </a:ext>
            </a:extLst>
          </p:cNvPr>
          <p:cNvSpPr/>
          <p:nvPr/>
        </p:nvSpPr>
        <p:spPr>
          <a:xfrm>
            <a:off x="6066214" y="4073236"/>
            <a:ext cx="4927181" cy="228222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1" name="Oval 10">
            <a:extLst>
              <a:ext uri="{FF2B5EF4-FFF2-40B4-BE49-F238E27FC236}">
                <a16:creationId xmlns:a16="http://schemas.microsoft.com/office/drawing/2014/main" id="{93CE1D81-A17C-7F49-89F7-29A06F960722}"/>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sp>
        <p:nvSpPr>
          <p:cNvPr id="15" name="Title 1">
            <a:extLst>
              <a:ext uri="{FF2B5EF4-FFF2-40B4-BE49-F238E27FC236}">
                <a16:creationId xmlns:a16="http://schemas.microsoft.com/office/drawing/2014/main" id="{3BC3D0A8-5239-E643-A0C7-95FBC617E36B}"/>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Filtering of </a:t>
            </a:r>
            <a:r>
              <a:rPr lang="en-US" sz="4400" b="1" dirty="0" err="1">
                <a:latin typeface="Times New Roman" panose="02020603050405020304" pitchFamily="18" charset="0"/>
                <a:cs typeface="Times New Roman" panose="02020603050405020304" pitchFamily="18" charset="0"/>
              </a:rPr>
              <a:t>cre</a:t>
            </a:r>
            <a:r>
              <a:rPr lang="en-US" sz="4400" b="1" dirty="0">
                <a:latin typeface="Times New Roman" panose="02020603050405020304" pitchFamily="18" charset="0"/>
                <a:cs typeface="Times New Roman" panose="02020603050405020304" pitchFamily="18" charset="0"/>
              </a:rPr>
              <a:t>+ replicates</a:t>
            </a:r>
            <a:endParaRPr lang="en-US" b="1" dirty="0">
              <a:latin typeface="Times New Roman" panose="02020603050405020304" pitchFamily="18" charset="0"/>
              <a:cs typeface="Times New Roman" panose="02020603050405020304" pitchFamily="18" charset="0"/>
            </a:endParaRPr>
          </a:p>
        </p:txBody>
      </p:sp>
      <p:pic>
        <p:nvPicPr>
          <p:cNvPr id="5" name="Picture 4" descr="Table&#10;&#10;Description automatically generated">
            <a:extLst>
              <a:ext uri="{FF2B5EF4-FFF2-40B4-BE49-F238E27FC236}">
                <a16:creationId xmlns:a16="http://schemas.microsoft.com/office/drawing/2014/main" id="{9D5D66A1-890D-1040-995E-8357896AF266}"/>
              </a:ext>
            </a:extLst>
          </p:cNvPr>
          <p:cNvPicPr>
            <a:picLocks noChangeAspect="1"/>
          </p:cNvPicPr>
          <p:nvPr/>
        </p:nvPicPr>
        <p:blipFill rotWithShape="1">
          <a:blip r:embed="rId4"/>
          <a:srcRect r="75287" b="50619"/>
          <a:stretch/>
        </p:blipFill>
        <p:spPr>
          <a:xfrm>
            <a:off x="196940" y="3823659"/>
            <a:ext cx="4369291" cy="2027707"/>
          </a:xfrm>
          <a:prstGeom prst="rect">
            <a:avLst/>
          </a:prstGeom>
        </p:spPr>
      </p:pic>
      <p:pic>
        <p:nvPicPr>
          <p:cNvPr id="13" name="Picture 12" descr="Table&#10;&#10;Description automatically generated">
            <a:extLst>
              <a:ext uri="{FF2B5EF4-FFF2-40B4-BE49-F238E27FC236}">
                <a16:creationId xmlns:a16="http://schemas.microsoft.com/office/drawing/2014/main" id="{98427C06-8E54-3046-8619-4715174136C2}"/>
              </a:ext>
            </a:extLst>
          </p:cNvPr>
          <p:cNvPicPr>
            <a:picLocks noChangeAspect="1"/>
          </p:cNvPicPr>
          <p:nvPr/>
        </p:nvPicPr>
        <p:blipFill rotWithShape="1">
          <a:blip r:embed="rId4"/>
          <a:srcRect l="59787" r="21581" b="50619"/>
          <a:stretch/>
        </p:blipFill>
        <p:spPr>
          <a:xfrm>
            <a:off x="4647296" y="3859682"/>
            <a:ext cx="3284759" cy="2021907"/>
          </a:xfrm>
          <a:prstGeom prst="rect">
            <a:avLst/>
          </a:prstGeom>
          <a:ln w="57150">
            <a:solidFill>
              <a:schemeClr val="accent1">
                <a:lumMod val="75000"/>
              </a:schemeClr>
            </a:solidFill>
          </a:ln>
        </p:spPr>
      </p:pic>
      <p:pic>
        <p:nvPicPr>
          <p:cNvPr id="16" name="Picture 15" descr="Table&#10;&#10;Description automatically generated">
            <a:extLst>
              <a:ext uri="{FF2B5EF4-FFF2-40B4-BE49-F238E27FC236}">
                <a16:creationId xmlns:a16="http://schemas.microsoft.com/office/drawing/2014/main" id="{965EF181-FB48-3247-9A2F-7FF1ED8C368B}"/>
              </a:ext>
            </a:extLst>
          </p:cNvPr>
          <p:cNvPicPr>
            <a:picLocks noChangeAspect="1"/>
          </p:cNvPicPr>
          <p:nvPr/>
        </p:nvPicPr>
        <p:blipFill rotWithShape="1">
          <a:blip r:embed="rId4"/>
          <a:srcRect l="78550" b="50619"/>
          <a:stretch/>
        </p:blipFill>
        <p:spPr>
          <a:xfrm>
            <a:off x="8136460" y="3841224"/>
            <a:ext cx="3835340" cy="2050634"/>
          </a:xfrm>
          <a:prstGeom prst="rect">
            <a:avLst/>
          </a:prstGeom>
          <a:ln w="57150">
            <a:solidFill>
              <a:schemeClr val="accent2">
                <a:lumMod val="75000"/>
              </a:schemeClr>
            </a:solidFill>
          </a:ln>
        </p:spPr>
      </p:pic>
    </p:spTree>
    <p:extLst>
      <p:ext uri="{BB962C8B-B14F-4D97-AF65-F5344CB8AC3E}">
        <p14:creationId xmlns:p14="http://schemas.microsoft.com/office/powerpoint/2010/main" val="231604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1246598" y="1690688"/>
            <a:ext cx="9817642" cy="3864074"/>
          </a:xfrm>
        </p:spPr>
        <p:txBody>
          <a:bodyPr>
            <a:normAutofit/>
          </a:bodyPr>
          <a:lstStyle/>
          <a:p>
            <a:pPr>
              <a:buClr>
                <a:schemeClr val="tx1"/>
              </a:buClr>
              <a:defRPr/>
            </a:pPr>
            <a:endParaRPr kumimoji="0" lang="en-US" sz="2000" b="0" i="0" u="none" strike="noStrike" kern="1200" cap="none" spc="20" normalizeH="0" baseline="0" noProof="0" dirty="0">
              <a:ln>
                <a:noFill/>
              </a:ln>
              <a:solidFill>
                <a:srgbClr val="000000"/>
              </a:solidFill>
              <a:effectLst/>
              <a:uLnTx/>
              <a:uFillTx/>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
        <p:nvSpPr>
          <p:cNvPr id="3" name="Slide Number Placeholder 2">
            <a:extLst>
              <a:ext uri="{FF2B5EF4-FFF2-40B4-BE49-F238E27FC236}">
                <a16:creationId xmlns:a16="http://schemas.microsoft.com/office/drawing/2014/main" id="{1D6F3C52-A33C-B54E-85E5-94566199A529}"/>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11</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sp>
        <p:nvSpPr>
          <p:cNvPr id="6" name="Title 1">
            <a:extLst>
              <a:ext uri="{FF2B5EF4-FFF2-40B4-BE49-F238E27FC236}">
                <a16:creationId xmlns:a16="http://schemas.microsoft.com/office/drawing/2014/main" id="{6D854372-17C6-6548-A800-FAF1ABA1C1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Median Normalization</a:t>
            </a:r>
            <a:endParaRPr lang="en-US" b="1" dirty="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33FDE3E3-E292-9443-B590-9C99BB3F6F35}"/>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pic>
        <p:nvPicPr>
          <p:cNvPr id="8" name="Picture 7" descr="A picture containing calendar&#10;&#10;Description automatically generated">
            <a:extLst>
              <a:ext uri="{FF2B5EF4-FFF2-40B4-BE49-F238E27FC236}">
                <a16:creationId xmlns:a16="http://schemas.microsoft.com/office/drawing/2014/main" id="{A54E848E-F0AE-ED43-A37D-90808758A277}"/>
              </a:ext>
            </a:extLst>
          </p:cNvPr>
          <p:cNvPicPr>
            <a:picLocks noChangeAspect="1"/>
          </p:cNvPicPr>
          <p:nvPr/>
        </p:nvPicPr>
        <p:blipFill rotWithShape="1">
          <a:blip r:embed="rId3"/>
          <a:srcRect t="11647"/>
          <a:stretch/>
        </p:blipFill>
        <p:spPr>
          <a:xfrm>
            <a:off x="720000" y="1638300"/>
            <a:ext cx="10622791" cy="4880442"/>
          </a:xfrm>
          <a:prstGeom prst="rect">
            <a:avLst/>
          </a:prstGeom>
        </p:spPr>
      </p:pic>
      <p:sp>
        <p:nvSpPr>
          <p:cNvPr id="9" name="Rectangle 8">
            <a:extLst>
              <a:ext uri="{FF2B5EF4-FFF2-40B4-BE49-F238E27FC236}">
                <a16:creationId xmlns:a16="http://schemas.microsoft.com/office/drawing/2014/main" id="{53B03B8A-4CAC-8744-A35C-807FF85D5E17}"/>
              </a:ext>
            </a:extLst>
          </p:cNvPr>
          <p:cNvSpPr/>
          <p:nvPr/>
        </p:nvSpPr>
        <p:spPr>
          <a:xfrm>
            <a:off x="3550024" y="4057344"/>
            <a:ext cx="1070386" cy="909103"/>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231129C-B55D-694B-B473-C4A1BF87FE20}"/>
              </a:ext>
            </a:extLst>
          </p:cNvPr>
          <p:cNvSpPr/>
          <p:nvPr/>
        </p:nvSpPr>
        <p:spPr>
          <a:xfrm>
            <a:off x="8057478" y="4057344"/>
            <a:ext cx="1070386" cy="821249"/>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3CA991-72DC-DE46-96EF-3E704B6A7F57}"/>
              </a:ext>
            </a:extLst>
          </p:cNvPr>
          <p:cNvSpPr/>
          <p:nvPr/>
        </p:nvSpPr>
        <p:spPr>
          <a:xfrm>
            <a:off x="9199582" y="4145198"/>
            <a:ext cx="1070386" cy="821249"/>
          </a:xfrm>
          <a:prstGeom prst="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F38F72-2E9B-AE4A-96C3-E2B16E6F167E}"/>
              </a:ext>
            </a:extLst>
          </p:cNvPr>
          <p:cNvSpPr/>
          <p:nvPr/>
        </p:nvSpPr>
        <p:spPr>
          <a:xfrm>
            <a:off x="4692128" y="4106175"/>
            <a:ext cx="1057834" cy="853592"/>
          </a:xfrm>
          <a:prstGeom prst="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4AAD2F2-8669-D544-B966-9FA08B894177}"/>
              </a:ext>
            </a:extLst>
          </p:cNvPr>
          <p:cNvSpPr txBox="1"/>
          <p:nvPr/>
        </p:nvSpPr>
        <p:spPr>
          <a:xfrm>
            <a:off x="3687830" y="3688012"/>
            <a:ext cx="893386" cy="369332"/>
          </a:xfrm>
          <a:prstGeom prst="rect">
            <a:avLst/>
          </a:prstGeom>
          <a:noFill/>
        </p:spPr>
        <p:txBody>
          <a:bodyPr wrap="none" rtlCol="0">
            <a:spAutoFit/>
          </a:bodyPr>
          <a:lstStyle/>
          <a:p>
            <a:r>
              <a:rPr lang="en-US" b="1" dirty="0">
                <a:solidFill>
                  <a:schemeClr val="accent1">
                    <a:lumMod val="75000"/>
                  </a:schemeClr>
                </a:solidFill>
              </a:rPr>
              <a:t>HF </a:t>
            </a:r>
            <a:r>
              <a:rPr lang="en-US" b="1" dirty="0" err="1">
                <a:solidFill>
                  <a:schemeClr val="accent1">
                    <a:lumMod val="75000"/>
                  </a:schemeClr>
                </a:solidFill>
              </a:rPr>
              <a:t>cre</a:t>
            </a:r>
            <a:r>
              <a:rPr lang="en-US" b="1" dirty="0">
                <a:solidFill>
                  <a:schemeClr val="accent1">
                    <a:lumMod val="75000"/>
                  </a:schemeClr>
                </a:solidFill>
              </a:rPr>
              <a:t>+</a:t>
            </a:r>
          </a:p>
        </p:txBody>
      </p:sp>
      <p:sp>
        <p:nvSpPr>
          <p:cNvPr id="15" name="TextBox 14">
            <a:extLst>
              <a:ext uri="{FF2B5EF4-FFF2-40B4-BE49-F238E27FC236}">
                <a16:creationId xmlns:a16="http://schemas.microsoft.com/office/drawing/2014/main" id="{F592E33E-2BB9-EC49-B274-E09141F37286}"/>
              </a:ext>
            </a:extLst>
          </p:cNvPr>
          <p:cNvSpPr txBox="1"/>
          <p:nvPr/>
        </p:nvSpPr>
        <p:spPr>
          <a:xfrm>
            <a:off x="8163907" y="3699493"/>
            <a:ext cx="893386" cy="369332"/>
          </a:xfrm>
          <a:prstGeom prst="rect">
            <a:avLst/>
          </a:prstGeom>
          <a:noFill/>
        </p:spPr>
        <p:txBody>
          <a:bodyPr wrap="none" rtlCol="0">
            <a:spAutoFit/>
          </a:bodyPr>
          <a:lstStyle/>
          <a:p>
            <a:r>
              <a:rPr lang="en-US" b="1" dirty="0">
                <a:solidFill>
                  <a:schemeClr val="accent1">
                    <a:lumMod val="75000"/>
                  </a:schemeClr>
                </a:solidFill>
              </a:rPr>
              <a:t>HF </a:t>
            </a:r>
            <a:r>
              <a:rPr lang="en-US" b="1" dirty="0" err="1">
                <a:solidFill>
                  <a:schemeClr val="accent1">
                    <a:lumMod val="75000"/>
                  </a:schemeClr>
                </a:solidFill>
              </a:rPr>
              <a:t>cre</a:t>
            </a:r>
            <a:r>
              <a:rPr lang="en-US" b="1" dirty="0">
                <a:solidFill>
                  <a:schemeClr val="accent1">
                    <a:lumMod val="75000"/>
                  </a:schemeClr>
                </a:solidFill>
              </a:rPr>
              <a:t>+</a:t>
            </a:r>
          </a:p>
        </p:txBody>
      </p:sp>
      <p:sp>
        <p:nvSpPr>
          <p:cNvPr id="16" name="TextBox 15">
            <a:extLst>
              <a:ext uri="{FF2B5EF4-FFF2-40B4-BE49-F238E27FC236}">
                <a16:creationId xmlns:a16="http://schemas.microsoft.com/office/drawing/2014/main" id="{DAF5A663-C51A-3243-9D0D-CFC87CE89BA4}"/>
              </a:ext>
            </a:extLst>
          </p:cNvPr>
          <p:cNvSpPr txBox="1"/>
          <p:nvPr/>
        </p:nvSpPr>
        <p:spPr>
          <a:xfrm>
            <a:off x="9226821" y="3801569"/>
            <a:ext cx="1157881" cy="369332"/>
          </a:xfrm>
          <a:prstGeom prst="rect">
            <a:avLst/>
          </a:prstGeom>
          <a:noFill/>
        </p:spPr>
        <p:txBody>
          <a:bodyPr wrap="none" rtlCol="0">
            <a:spAutoFit/>
          </a:bodyPr>
          <a:lstStyle/>
          <a:p>
            <a:r>
              <a:rPr lang="en-US" b="1" dirty="0">
                <a:solidFill>
                  <a:schemeClr val="accent2">
                    <a:lumMod val="75000"/>
                  </a:schemeClr>
                </a:solidFill>
              </a:rPr>
              <a:t>chow </a:t>
            </a:r>
            <a:r>
              <a:rPr lang="en-US" b="1" dirty="0" err="1">
                <a:solidFill>
                  <a:schemeClr val="accent2">
                    <a:lumMod val="75000"/>
                  </a:schemeClr>
                </a:solidFill>
              </a:rPr>
              <a:t>cre</a:t>
            </a:r>
            <a:r>
              <a:rPr lang="en-US" b="1" dirty="0">
                <a:solidFill>
                  <a:schemeClr val="accent2">
                    <a:lumMod val="75000"/>
                  </a:schemeClr>
                </a:solidFill>
              </a:rPr>
              <a:t>+</a:t>
            </a:r>
          </a:p>
        </p:txBody>
      </p:sp>
      <p:sp>
        <p:nvSpPr>
          <p:cNvPr id="17" name="TextBox 16">
            <a:extLst>
              <a:ext uri="{FF2B5EF4-FFF2-40B4-BE49-F238E27FC236}">
                <a16:creationId xmlns:a16="http://schemas.microsoft.com/office/drawing/2014/main" id="{9E6FB9FF-81BF-4F4D-A069-746B508ADE5B}"/>
              </a:ext>
            </a:extLst>
          </p:cNvPr>
          <p:cNvSpPr txBox="1"/>
          <p:nvPr/>
        </p:nvSpPr>
        <p:spPr>
          <a:xfrm>
            <a:off x="4674934" y="3736843"/>
            <a:ext cx="1157881" cy="369332"/>
          </a:xfrm>
          <a:prstGeom prst="rect">
            <a:avLst/>
          </a:prstGeom>
          <a:noFill/>
        </p:spPr>
        <p:txBody>
          <a:bodyPr wrap="none" rtlCol="0">
            <a:spAutoFit/>
          </a:bodyPr>
          <a:lstStyle/>
          <a:p>
            <a:r>
              <a:rPr lang="en-US" b="1" dirty="0">
                <a:solidFill>
                  <a:schemeClr val="accent2">
                    <a:lumMod val="75000"/>
                  </a:schemeClr>
                </a:solidFill>
              </a:rPr>
              <a:t>chow </a:t>
            </a:r>
            <a:r>
              <a:rPr lang="en-US" b="1" dirty="0" err="1">
                <a:solidFill>
                  <a:schemeClr val="accent2">
                    <a:lumMod val="75000"/>
                  </a:schemeClr>
                </a:solidFill>
              </a:rPr>
              <a:t>cre</a:t>
            </a:r>
            <a:r>
              <a:rPr lang="en-US" b="1" dirty="0">
                <a:solidFill>
                  <a:schemeClr val="accent2">
                    <a:lumMod val="75000"/>
                  </a:schemeClr>
                </a:solidFill>
              </a:rPr>
              <a:t>+</a:t>
            </a:r>
          </a:p>
        </p:txBody>
      </p:sp>
      <p:sp>
        <p:nvSpPr>
          <p:cNvPr id="22" name="TextBox 21">
            <a:extLst>
              <a:ext uri="{FF2B5EF4-FFF2-40B4-BE49-F238E27FC236}">
                <a16:creationId xmlns:a16="http://schemas.microsoft.com/office/drawing/2014/main" id="{A7C8736A-6E04-E245-8FCB-496DE2A4D4A3}"/>
              </a:ext>
            </a:extLst>
          </p:cNvPr>
          <p:cNvSpPr txBox="1"/>
          <p:nvPr/>
        </p:nvSpPr>
        <p:spPr>
          <a:xfrm>
            <a:off x="3665989" y="1329810"/>
            <a:ext cx="638893" cy="369332"/>
          </a:xfrm>
          <a:prstGeom prst="rect">
            <a:avLst/>
          </a:prstGeom>
          <a:noFill/>
        </p:spPr>
        <p:txBody>
          <a:bodyPr wrap="none" rtlCol="0">
            <a:spAutoFit/>
          </a:bodyPr>
          <a:lstStyle/>
          <a:p>
            <a:r>
              <a:rPr lang="en-US" dirty="0"/>
              <a:t>RAW</a:t>
            </a:r>
          </a:p>
        </p:txBody>
      </p:sp>
      <p:sp>
        <p:nvSpPr>
          <p:cNvPr id="23" name="TextBox 22">
            <a:extLst>
              <a:ext uri="{FF2B5EF4-FFF2-40B4-BE49-F238E27FC236}">
                <a16:creationId xmlns:a16="http://schemas.microsoft.com/office/drawing/2014/main" id="{789F32DC-1B1E-B44C-AB40-0454AD26A089}"/>
              </a:ext>
            </a:extLst>
          </p:cNvPr>
          <p:cNvSpPr txBox="1"/>
          <p:nvPr/>
        </p:nvSpPr>
        <p:spPr>
          <a:xfrm>
            <a:off x="7805596" y="1314207"/>
            <a:ext cx="1459054" cy="369332"/>
          </a:xfrm>
          <a:prstGeom prst="rect">
            <a:avLst/>
          </a:prstGeom>
          <a:noFill/>
        </p:spPr>
        <p:txBody>
          <a:bodyPr wrap="none" rtlCol="0">
            <a:spAutoFit/>
          </a:bodyPr>
          <a:lstStyle/>
          <a:p>
            <a:r>
              <a:rPr lang="en-US" dirty="0"/>
              <a:t>NORMALIZED</a:t>
            </a:r>
          </a:p>
        </p:txBody>
      </p:sp>
    </p:spTree>
    <p:extLst>
      <p:ext uri="{BB962C8B-B14F-4D97-AF65-F5344CB8AC3E}">
        <p14:creationId xmlns:p14="http://schemas.microsoft.com/office/powerpoint/2010/main" val="399829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Picture 17" descr="Chart, scatter chart&#10;&#10;Description automatically generated">
            <a:extLst>
              <a:ext uri="{FF2B5EF4-FFF2-40B4-BE49-F238E27FC236}">
                <a16:creationId xmlns:a16="http://schemas.microsoft.com/office/drawing/2014/main" id="{9692138E-036C-6446-B717-66582FA7821B}"/>
              </a:ext>
            </a:extLst>
          </p:cNvPr>
          <p:cNvPicPr>
            <a:picLocks noChangeAspect="1"/>
          </p:cNvPicPr>
          <p:nvPr/>
        </p:nvPicPr>
        <p:blipFill rotWithShape="1">
          <a:blip r:embed="rId3"/>
          <a:srcRect t="12731"/>
          <a:stretch/>
        </p:blipFill>
        <p:spPr>
          <a:xfrm>
            <a:off x="753714" y="2283245"/>
            <a:ext cx="5456792" cy="3864074"/>
          </a:xfrm>
          <a:prstGeom prst="rect">
            <a:avLst/>
          </a:prstGeom>
        </p:spPr>
      </p:pic>
      <p:pic>
        <p:nvPicPr>
          <p:cNvPr id="20" name="Picture 19" descr="Chart, scatter chart&#10;&#10;Description automatically generated">
            <a:extLst>
              <a:ext uri="{FF2B5EF4-FFF2-40B4-BE49-F238E27FC236}">
                <a16:creationId xmlns:a16="http://schemas.microsoft.com/office/drawing/2014/main" id="{E5048A56-E30E-6B4B-88D7-8B9D15A6EE6E}"/>
              </a:ext>
            </a:extLst>
          </p:cNvPr>
          <p:cNvPicPr>
            <a:picLocks noChangeAspect="1"/>
          </p:cNvPicPr>
          <p:nvPr/>
        </p:nvPicPr>
        <p:blipFill rotWithShape="1">
          <a:blip r:embed="rId4"/>
          <a:srcRect t="12588"/>
          <a:stretch/>
        </p:blipFill>
        <p:spPr>
          <a:xfrm>
            <a:off x="6328897" y="2283245"/>
            <a:ext cx="5456792" cy="3870372"/>
          </a:xfrm>
          <a:prstGeom prst="rect">
            <a:avLst/>
          </a:prstGeom>
        </p:spPr>
      </p:pic>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1246598" y="1690688"/>
            <a:ext cx="9817642" cy="3864074"/>
          </a:xfrm>
        </p:spPr>
        <p:txBody>
          <a:bodyPr>
            <a:normAutofit/>
          </a:bodyPr>
          <a:lstStyle/>
          <a:p>
            <a:pPr>
              <a:buClr>
                <a:schemeClr val="tx1"/>
              </a:buClr>
              <a:defRPr/>
            </a:pPr>
            <a:endParaRPr kumimoji="0" lang="en-US" sz="2000" b="0" i="0" u="none" strike="noStrike" kern="1200" cap="none" spc="20" normalizeH="0" baseline="0" noProof="0" dirty="0">
              <a:ln>
                <a:noFill/>
              </a:ln>
              <a:solidFill>
                <a:srgbClr val="000000"/>
              </a:solidFill>
              <a:effectLst/>
              <a:uLnTx/>
              <a:uFillTx/>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
        <p:nvSpPr>
          <p:cNvPr id="3" name="Slide Number Placeholder 2">
            <a:extLst>
              <a:ext uri="{FF2B5EF4-FFF2-40B4-BE49-F238E27FC236}">
                <a16:creationId xmlns:a16="http://schemas.microsoft.com/office/drawing/2014/main" id="{1D6F3C52-A33C-B54E-85E5-94566199A529}"/>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12</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sp>
        <p:nvSpPr>
          <p:cNvPr id="6" name="Title 1">
            <a:extLst>
              <a:ext uri="{FF2B5EF4-FFF2-40B4-BE49-F238E27FC236}">
                <a16:creationId xmlns:a16="http://schemas.microsoft.com/office/drawing/2014/main" id="{6D854372-17C6-6548-A800-FAF1ABA1C1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Median Normalization</a:t>
            </a:r>
            <a:endParaRPr lang="en-US" b="1" dirty="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33FDE3E3-E292-9443-B590-9C99BB3F6F35}"/>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1</a:t>
            </a:r>
          </a:p>
        </p:txBody>
      </p:sp>
      <p:sp>
        <p:nvSpPr>
          <p:cNvPr id="9" name="Rectangle 8">
            <a:extLst>
              <a:ext uri="{FF2B5EF4-FFF2-40B4-BE49-F238E27FC236}">
                <a16:creationId xmlns:a16="http://schemas.microsoft.com/office/drawing/2014/main" id="{53B03B8A-4CAC-8744-A35C-807FF85D5E17}"/>
              </a:ext>
            </a:extLst>
          </p:cNvPr>
          <p:cNvSpPr/>
          <p:nvPr/>
        </p:nvSpPr>
        <p:spPr>
          <a:xfrm>
            <a:off x="1475140" y="3358458"/>
            <a:ext cx="1070386" cy="528534"/>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231129C-B55D-694B-B473-C4A1BF87FE20}"/>
              </a:ext>
            </a:extLst>
          </p:cNvPr>
          <p:cNvSpPr/>
          <p:nvPr/>
        </p:nvSpPr>
        <p:spPr>
          <a:xfrm>
            <a:off x="7075592" y="4333461"/>
            <a:ext cx="570912" cy="495817"/>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3CA991-72DC-DE46-96EF-3E704B6A7F57}"/>
              </a:ext>
            </a:extLst>
          </p:cNvPr>
          <p:cNvSpPr/>
          <p:nvPr/>
        </p:nvSpPr>
        <p:spPr>
          <a:xfrm>
            <a:off x="7164091" y="3429000"/>
            <a:ext cx="840605" cy="589601"/>
          </a:xfrm>
          <a:prstGeom prst="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F38F72-2E9B-AE4A-96C3-E2B16E6F167E}"/>
              </a:ext>
            </a:extLst>
          </p:cNvPr>
          <p:cNvSpPr/>
          <p:nvPr/>
        </p:nvSpPr>
        <p:spPr>
          <a:xfrm>
            <a:off x="1466270" y="4220903"/>
            <a:ext cx="1444891" cy="528535"/>
          </a:xfrm>
          <a:prstGeom prst="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4AAD2F2-8669-D544-B966-9FA08B894177}"/>
              </a:ext>
            </a:extLst>
          </p:cNvPr>
          <p:cNvSpPr txBox="1"/>
          <p:nvPr/>
        </p:nvSpPr>
        <p:spPr>
          <a:xfrm>
            <a:off x="1563640" y="2971386"/>
            <a:ext cx="893386" cy="369332"/>
          </a:xfrm>
          <a:prstGeom prst="rect">
            <a:avLst/>
          </a:prstGeom>
          <a:noFill/>
        </p:spPr>
        <p:txBody>
          <a:bodyPr wrap="none" rtlCol="0">
            <a:spAutoFit/>
          </a:bodyPr>
          <a:lstStyle/>
          <a:p>
            <a:r>
              <a:rPr lang="en-US" b="1" dirty="0">
                <a:solidFill>
                  <a:schemeClr val="accent1">
                    <a:lumMod val="75000"/>
                  </a:schemeClr>
                </a:solidFill>
              </a:rPr>
              <a:t>HF </a:t>
            </a:r>
            <a:r>
              <a:rPr lang="en-US" b="1" dirty="0" err="1">
                <a:solidFill>
                  <a:schemeClr val="accent1">
                    <a:lumMod val="75000"/>
                  </a:schemeClr>
                </a:solidFill>
              </a:rPr>
              <a:t>cre</a:t>
            </a:r>
            <a:r>
              <a:rPr lang="en-US" b="1" dirty="0">
                <a:solidFill>
                  <a:schemeClr val="accent1">
                    <a:lumMod val="75000"/>
                  </a:schemeClr>
                </a:solidFill>
              </a:rPr>
              <a:t>+</a:t>
            </a:r>
          </a:p>
        </p:txBody>
      </p:sp>
      <p:sp>
        <p:nvSpPr>
          <p:cNvPr id="15" name="TextBox 14">
            <a:extLst>
              <a:ext uri="{FF2B5EF4-FFF2-40B4-BE49-F238E27FC236}">
                <a16:creationId xmlns:a16="http://schemas.microsoft.com/office/drawing/2014/main" id="{F592E33E-2BB9-EC49-B274-E09141F37286}"/>
              </a:ext>
            </a:extLst>
          </p:cNvPr>
          <p:cNvSpPr txBox="1"/>
          <p:nvPr/>
        </p:nvSpPr>
        <p:spPr>
          <a:xfrm>
            <a:off x="7111310" y="4847614"/>
            <a:ext cx="893386" cy="369332"/>
          </a:xfrm>
          <a:prstGeom prst="rect">
            <a:avLst/>
          </a:prstGeom>
          <a:noFill/>
        </p:spPr>
        <p:txBody>
          <a:bodyPr wrap="none" rtlCol="0">
            <a:spAutoFit/>
          </a:bodyPr>
          <a:lstStyle/>
          <a:p>
            <a:r>
              <a:rPr lang="en-US" b="1" dirty="0">
                <a:solidFill>
                  <a:schemeClr val="accent1">
                    <a:lumMod val="75000"/>
                  </a:schemeClr>
                </a:solidFill>
              </a:rPr>
              <a:t>HF </a:t>
            </a:r>
            <a:r>
              <a:rPr lang="en-US" b="1" dirty="0" err="1">
                <a:solidFill>
                  <a:schemeClr val="accent1">
                    <a:lumMod val="75000"/>
                  </a:schemeClr>
                </a:solidFill>
              </a:rPr>
              <a:t>cre</a:t>
            </a:r>
            <a:r>
              <a:rPr lang="en-US" b="1" dirty="0">
                <a:solidFill>
                  <a:schemeClr val="accent1">
                    <a:lumMod val="75000"/>
                  </a:schemeClr>
                </a:solidFill>
              </a:rPr>
              <a:t>+</a:t>
            </a:r>
          </a:p>
        </p:txBody>
      </p:sp>
      <p:sp>
        <p:nvSpPr>
          <p:cNvPr id="16" name="TextBox 15">
            <a:extLst>
              <a:ext uri="{FF2B5EF4-FFF2-40B4-BE49-F238E27FC236}">
                <a16:creationId xmlns:a16="http://schemas.microsoft.com/office/drawing/2014/main" id="{DAF5A663-C51A-3243-9D0D-CFC87CE89BA4}"/>
              </a:ext>
            </a:extLst>
          </p:cNvPr>
          <p:cNvSpPr txBox="1"/>
          <p:nvPr/>
        </p:nvSpPr>
        <p:spPr>
          <a:xfrm>
            <a:off x="7031844" y="3024335"/>
            <a:ext cx="1157881" cy="369332"/>
          </a:xfrm>
          <a:prstGeom prst="rect">
            <a:avLst/>
          </a:prstGeom>
          <a:noFill/>
        </p:spPr>
        <p:txBody>
          <a:bodyPr wrap="none" rtlCol="0">
            <a:spAutoFit/>
          </a:bodyPr>
          <a:lstStyle/>
          <a:p>
            <a:r>
              <a:rPr lang="en-US" b="1" dirty="0">
                <a:solidFill>
                  <a:schemeClr val="accent2">
                    <a:lumMod val="75000"/>
                  </a:schemeClr>
                </a:solidFill>
              </a:rPr>
              <a:t>chow </a:t>
            </a:r>
            <a:r>
              <a:rPr lang="en-US" b="1" dirty="0" err="1">
                <a:solidFill>
                  <a:schemeClr val="accent2">
                    <a:lumMod val="75000"/>
                  </a:schemeClr>
                </a:solidFill>
              </a:rPr>
              <a:t>cre</a:t>
            </a:r>
            <a:r>
              <a:rPr lang="en-US" b="1" dirty="0">
                <a:solidFill>
                  <a:schemeClr val="accent2">
                    <a:lumMod val="75000"/>
                  </a:schemeClr>
                </a:solidFill>
              </a:rPr>
              <a:t>+</a:t>
            </a:r>
          </a:p>
        </p:txBody>
      </p:sp>
      <p:sp>
        <p:nvSpPr>
          <p:cNvPr id="17" name="TextBox 16">
            <a:extLst>
              <a:ext uri="{FF2B5EF4-FFF2-40B4-BE49-F238E27FC236}">
                <a16:creationId xmlns:a16="http://schemas.microsoft.com/office/drawing/2014/main" id="{9E6FB9FF-81BF-4F4D-A069-746B508ADE5B}"/>
              </a:ext>
            </a:extLst>
          </p:cNvPr>
          <p:cNvSpPr txBox="1"/>
          <p:nvPr/>
        </p:nvSpPr>
        <p:spPr>
          <a:xfrm>
            <a:off x="1609774" y="4749438"/>
            <a:ext cx="1157881" cy="369332"/>
          </a:xfrm>
          <a:prstGeom prst="rect">
            <a:avLst/>
          </a:prstGeom>
          <a:noFill/>
        </p:spPr>
        <p:txBody>
          <a:bodyPr wrap="none" rtlCol="0">
            <a:spAutoFit/>
          </a:bodyPr>
          <a:lstStyle/>
          <a:p>
            <a:r>
              <a:rPr lang="en-US" b="1" dirty="0">
                <a:solidFill>
                  <a:schemeClr val="accent2">
                    <a:lumMod val="75000"/>
                  </a:schemeClr>
                </a:solidFill>
              </a:rPr>
              <a:t>chow </a:t>
            </a:r>
            <a:r>
              <a:rPr lang="en-US" b="1" dirty="0" err="1">
                <a:solidFill>
                  <a:schemeClr val="accent2">
                    <a:lumMod val="75000"/>
                  </a:schemeClr>
                </a:solidFill>
              </a:rPr>
              <a:t>cre</a:t>
            </a:r>
            <a:r>
              <a:rPr lang="en-US" b="1" dirty="0">
                <a:solidFill>
                  <a:schemeClr val="accent2">
                    <a:lumMod val="75000"/>
                  </a:schemeClr>
                </a:solidFill>
              </a:rPr>
              <a:t>+</a:t>
            </a:r>
          </a:p>
        </p:txBody>
      </p:sp>
      <p:sp>
        <p:nvSpPr>
          <p:cNvPr id="19" name="TextBox 18">
            <a:extLst>
              <a:ext uri="{FF2B5EF4-FFF2-40B4-BE49-F238E27FC236}">
                <a16:creationId xmlns:a16="http://schemas.microsoft.com/office/drawing/2014/main" id="{B2306A2F-76E4-6D40-8724-D645938F1BBC}"/>
              </a:ext>
            </a:extLst>
          </p:cNvPr>
          <p:cNvSpPr txBox="1"/>
          <p:nvPr/>
        </p:nvSpPr>
        <p:spPr>
          <a:xfrm>
            <a:off x="2767655" y="1877814"/>
            <a:ext cx="638893" cy="369332"/>
          </a:xfrm>
          <a:prstGeom prst="rect">
            <a:avLst/>
          </a:prstGeom>
          <a:noFill/>
        </p:spPr>
        <p:txBody>
          <a:bodyPr wrap="none" rtlCol="0">
            <a:spAutoFit/>
          </a:bodyPr>
          <a:lstStyle/>
          <a:p>
            <a:r>
              <a:rPr lang="en-US" dirty="0"/>
              <a:t>RAW</a:t>
            </a:r>
          </a:p>
        </p:txBody>
      </p:sp>
      <p:sp>
        <p:nvSpPr>
          <p:cNvPr id="22" name="TextBox 21">
            <a:extLst>
              <a:ext uri="{FF2B5EF4-FFF2-40B4-BE49-F238E27FC236}">
                <a16:creationId xmlns:a16="http://schemas.microsoft.com/office/drawing/2014/main" id="{AE96EFAB-4B6D-6044-9E39-7691406BF2AE}"/>
              </a:ext>
            </a:extLst>
          </p:cNvPr>
          <p:cNvSpPr txBox="1"/>
          <p:nvPr/>
        </p:nvSpPr>
        <p:spPr>
          <a:xfrm>
            <a:off x="7881073" y="1877814"/>
            <a:ext cx="1459054" cy="369332"/>
          </a:xfrm>
          <a:prstGeom prst="rect">
            <a:avLst/>
          </a:prstGeom>
          <a:noFill/>
        </p:spPr>
        <p:txBody>
          <a:bodyPr wrap="none" rtlCol="0">
            <a:spAutoFit/>
          </a:bodyPr>
          <a:lstStyle/>
          <a:p>
            <a:r>
              <a:rPr lang="en-US" dirty="0"/>
              <a:t>NORMALIZED</a:t>
            </a:r>
          </a:p>
        </p:txBody>
      </p:sp>
    </p:spTree>
    <p:extLst>
      <p:ext uri="{BB962C8B-B14F-4D97-AF65-F5344CB8AC3E}">
        <p14:creationId xmlns:p14="http://schemas.microsoft.com/office/powerpoint/2010/main" val="70979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DE06309-147D-2543-B351-DC41490E55CA}"/>
              </a:ext>
            </a:extLst>
          </p:cNvPr>
          <p:cNvSpPr/>
          <p:nvPr/>
        </p:nvSpPr>
        <p:spPr>
          <a:xfrm>
            <a:off x="7234326" y="3863081"/>
            <a:ext cx="2039947"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13</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AB21BEC-87D3-6F4B-958D-D8A8299A8F47}"/>
              </a:ext>
            </a:extLst>
          </p:cNvPr>
          <p:cNvCxnSpPr>
            <a:cxnSpLocks/>
          </p:cNvCxnSpPr>
          <p:nvPr/>
        </p:nvCxnSpPr>
        <p:spPr>
          <a:xfrm flipH="1">
            <a:off x="3836947" y="4278409"/>
            <a:ext cx="420628" cy="9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cxnSp>
        <p:nvCxnSpPr>
          <p:cNvPr id="33" name="Straight Arrow Connector 32">
            <a:extLst>
              <a:ext uri="{FF2B5EF4-FFF2-40B4-BE49-F238E27FC236}">
                <a16:creationId xmlns:a16="http://schemas.microsoft.com/office/drawing/2014/main" id="{DACE3C9B-3ECB-4748-8A94-F41DFAB98D48}"/>
              </a:ext>
            </a:extLst>
          </p:cNvPr>
          <p:cNvCxnSpPr>
            <a:cxnSpLocks/>
          </p:cNvCxnSpPr>
          <p:nvPr/>
        </p:nvCxnSpPr>
        <p:spPr>
          <a:xfrm flipH="1">
            <a:off x="9626600" y="4350118"/>
            <a:ext cx="590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5F572BF-9BAF-3C4C-BBA3-261B5E5A1F49}"/>
              </a:ext>
            </a:extLst>
          </p:cNvPr>
          <p:cNvSpPr txBox="1"/>
          <p:nvPr/>
        </p:nvSpPr>
        <p:spPr>
          <a:xfrm>
            <a:off x="4431890" y="3952515"/>
            <a:ext cx="2287907" cy="784830"/>
          </a:xfrm>
          <a:prstGeom prst="rect">
            <a:avLst/>
          </a:prstGeom>
          <a:noFill/>
        </p:spPr>
        <p:txBody>
          <a:bodyPr wrap="square" rtlCol="0">
            <a:spAutoFit/>
          </a:bodyPr>
          <a:lstStyle/>
          <a:p>
            <a:pPr algn="ctr"/>
            <a:r>
              <a:rPr lang="en-US" sz="1500" b="1" dirty="0" err="1">
                <a:latin typeface="Segoe UI Semibold" panose="020B0502040204020203" pitchFamily="34" charset="0"/>
                <a:cs typeface="Segoe UI Semibold" panose="020B0502040204020203" pitchFamily="34" charset="0"/>
              </a:rPr>
              <a:t>cre</a:t>
            </a:r>
            <a:r>
              <a:rPr lang="en-US" sz="1500" b="1" dirty="0">
                <a:latin typeface="Segoe UI Semibold" panose="020B0502040204020203" pitchFamily="34" charset="0"/>
                <a:cs typeface="Segoe UI Semibold" panose="020B0502040204020203" pitchFamily="34" charset="0"/>
              </a:rPr>
              <a:t>+ replicates filtering </a:t>
            </a:r>
          </a:p>
          <a:p>
            <a:pPr algn="ctr"/>
            <a:r>
              <a:rPr lang="en-US" sz="1500" b="1" dirty="0">
                <a:latin typeface="Segoe UI Semibold" panose="020B0502040204020203" pitchFamily="34" charset="0"/>
                <a:cs typeface="Segoe UI Semibold" panose="020B0502040204020203" pitchFamily="34" charset="0"/>
              </a:rPr>
              <a:t>&amp;</a:t>
            </a:r>
          </a:p>
          <a:p>
            <a:pPr algn="ctr"/>
            <a:r>
              <a:rPr lang="en-US" sz="1500" b="1" dirty="0">
                <a:latin typeface="Segoe UI Semibold" panose="020B0502040204020203" pitchFamily="34" charset="0"/>
                <a:cs typeface="Segoe UI Semibold" panose="020B0502040204020203" pitchFamily="34" charset="0"/>
              </a:rPr>
              <a:t>Normalization</a:t>
            </a:r>
          </a:p>
        </p:txBody>
      </p:sp>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27" name="TextBox 26">
            <a:extLst>
              <a:ext uri="{FF2B5EF4-FFF2-40B4-BE49-F238E27FC236}">
                <a16:creationId xmlns:a16="http://schemas.microsoft.com/office/drawing/2014/main" id="{13DC00C0-2AD0-FE4C-A422-A6B24533B912}"/>
              </a:ext>
            </a:extLst>
          </p:cNvPr>
          <p:cNvSpPr txBox="1"/>
          <p:nvPr/>
        </p:nvSpPr>
        <p:spPr>
          <a:xfrm>
            <a:off x="7280112" y="4072185"/>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Annotate proteins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Using TP and FP lists</a:t>
            </a:r>
          </a:p>
          <a:p>
            <a:pPr algn="ctr"/>
            <a:endParaRPr lang="en-US" sz="1500" b="1" dirty="0">
              <a:latin typeface="Segoe UI Semibold" panose="020B0502040204020203" pitchFamily="34" charset="0"/>
              <a:cs typeface="Segoe UI Semibold" panose="020B0502040204020203" pitchFamily="34" charset="0"/>
            </a:endParaRPr>
          </a:p>
        </p:txBody>
      </p:sp>
      <p:sp>
        <p:nvSpPr>
          <p:cNvPr id="34" name="TextBox 33">
            <a:extLst>
              <a:ext uri="{FF2B5EF4-FFF2-40B4-BE49-F238E27FC236}">
                <a16:creationId xmlns:a16="http://schemas.microsoft.com/office/drawing/2014/main" id="{B739C131-6853-564C-89A0-54699B2A0E19}"/>
              </a:ext>
            </a:extLst>
          </p:cNvPr>
          <p:cNvSpPr txBox="1"/>
          <p:nvPr/>
        </p:nvSpPr>
        <p:spPr>
          <a:xfrm>
            <a:off x="1511630" y="4039198"/>
            <a:ext cx="2039947" cy="446276"/>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Calculate Ratios</a:t>
            </a:r>
          </a:p>
          <a:p>
            <a:pPr algn="ctr"/>
            <a:r>
              <a:rPr lang="en-US" sz="800" b="1" dirty="0">
                <a:latin typeface="Segoe UI Semibold" panose="020B0502040204020203" pitchFamily="34" charset="0"/>
                <a:cs typeface="Segoe UI Semibold" panose="020B0502040204020203" pitchFamily="34" charset="0"/>
              </a:rPr>
              <a:t>Experimental sample/negative control</a:t>
            </a:r>
          </a:p>
        </p:txBody>
      </p:sp>
      <p:sp>
        <p:nvSpPr>
          <p:cNvPr id="28" name="Rounded Rectangle 27">
            <a:extLst>
              <a:ext uri="{FF2B5EF4-FFF2-40B4-BE49-F238E27FC236}">
                <a16:creationId xmlns:a16="http://schemas.microsoft.com/office/drawing/2014/main" id="{926C8D95-DEA1-6B41-B114-C53B4E627245}"/>
              </a:ext>
            </a:extLst>
          </p:cNvPr>
          <p:cNvSpPr/>
          <p:nvPr/>
        </p:nvSpPr>
        <p:spPr>
          <a:xfrm>
            <a:off x="4395195" y="3710069"/>
            <a:ext cx="2248893" cy="10867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 name="Oval 2">
            <a:extLst>
              <a:ext uri="{FF2B5EF4-FFF2-40B4-BE49-F238E27FC236}">
                <a16:creationId xmlns:a16="http://schemas.microsoft.com/office/drawing/2014/main" id="{80774D48-C1E9-A74A-B5B4-B4083E706E43}"/>
              </a:ext>
            </a:extLst>
          </p:cNvPr>
          <p:cNvSpPr/>
          <p:nvPr/>
        </p:nvSpPr>
        <p:spPr>
          <a:xfrm>
            <a:off x="8037908" y="358329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1</a:t>
            </a:r>
          </a:p>
        </p:txBody>
      </p:sp>
      <p:sp>
        <p:nvSpPr>
          <p:cNvPr id="41" name="Rounded Rectangle 40">
            <a:extLst>
              <a:ext uri="{FF2B5EF4-FFF2-40B4-BE49-F238E27FC236}">
                <a16:creationId xmlns:a16="http://schemas.microsoft.com/office/drawing/2014/main" id="{824E2B93-FB54-B74C-8C97-9C89BF9CC222}"/>
              </a:ext>
            </a:extLst>
          </p:cNvPr>
          <p:cNvSpPr/>
          <p:nvPr/>
        </p:nvSpPr>
        <p:spPr>
          <a:xfrm>
            <a:off x="1322667" y="3821841"/>
            <a:ext cx="2366530"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9" name="Oval 28">
            <a:extLst>
              <a:ext uri="{FF2B5EF4-FFF2-40B4-BE49-F238E27FC236}">
                <a16:creationId xmlns:a16="http://schemas.microsoft.com/office/drawing/2014/main" id="{3A146EDC-8E17-8C44-8CA3-33466D41F7CF}"/>
              </a:ext>
            </a:extLst>
          </p:cNvPr>
          <p:cNvSpPr/>
          <p:nvPr/>
        </p:nvSpPr>
        <p:spPr>
          <a:xfrm>
            <a:off x="2294536" y="356060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3</a:t>
            </a:r>
          </a:p>
        </p:txBody>
      </p:sp>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cxnSp>
        <p:nvCxnSpPr>
          <p:cNvPr id="49" name="Straight Arrow Connector 48">
            <a:extLst>
              <a:ext uri="{FF2B5EF4-FFF2-40B4-BE49-F238E27FC236}">
                <a16:creationId xmlns:a16="http://schemas.microsoft.com/office/drawing/2014/main" id="{BF8D5F95-54AB-4547-9373-9B41922377F1}"/>
              </a:ext>
            </a:extLst>
          </p:cNvPr>
          <p:cNvCxnSpPr>
            <a:cxnSpLocks/>
          </p:cNvCxnSpPr>
          <p:nvPr/>
        </p:nvCxnSpPr>
        <p:spPr>
          <a:xfrm flipH="1">
            <a:off x="6795506" y="4278409"/>
            <a:ext cx="287402" cy="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D4B0CA0-CF3F-CA48-A2D0-B1942B46FA3F}"/>
              </a:ext>
            </a:extLst>
          </p:cNvPr>
          <p:cNvSpPr/>
          <p:nvPr/>
        </p:nvSpPr>
        <p:spPr>
          <a:xfrm>
            <a:off x="5282574" y="3447997"/>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2</a:t>
            </a:r>
          </a:p>
        </p:txBody>
      </p:sp>
    </p:spTree>
    <p:extLst>
      <p:ext uri="{BB962C8B-B14F-4D97-AF65-F5344CB8AC3E}">
        <p14:creationId xmlns:p14="http://schemas.microsoft.com/office/powerpoint/2010/main" val="146151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1"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569516" y="1872444"/>
            <a:ext cx="11052967" cy="4302149"/>
          </a:xfrm>
        </p:spPr>
        <p:txBody>
          <a:bodyPr>
            <a:normAutofit/>
          </a:bodyPr>
          <a:lstStyle/>
          <a:p>
            <a:pPr lvl="1">
              <a:spcBef>
                <a:spcPts val="1000"/>
              </a:spcBef>
              <a:buClr>
                <a:schemeClr val="tx1"/>
              </a:buClr>
              <a:defRPr/>
            </a:pPr>
            <a:r>
              <a:rPr lang="en-US" sz="2000" b="1" dirty="0">
                <a:solidFill>
                  <a:srgbClr val="000000"/>
                </a:solidFill>
                <a:latin typeface="Segoe UI Semibold" panose="020B0502040204020203" pitchFamily="34" charset="0"/>
                <a:cs typeface="Segoe UI Semibold" panose="020B0502040204020203" pitchFamily="34" charset="0"/>
              </a:rPr>
              <a:t>Calculate Ratios per condition (experimental sample/negative control sample) </a:t>
            </a:r>
          </a:p>
          <a:p>
            <a:pPr lvl="1">
              <a:spcBef>
                <a:spcPts val="1000"/>
              </a:spcBef>
              <a:buClr>
                <a:schemeClr val="tx1"/>
              </a:buClr>
              <a:defRPr/>
            </a:pPr>
            <a:endParaRPr lang="en-US" dirty="0">
              <a:solidFill>
                <a:srgbClr val="000000"/>
              </a:solidFill>
            </a:endParaRPr>
          </a:p>
          <a:p>
            <a:pPr lvl="1">
              <a:spcBef>
                <a:spcPts val="1000"/>
              </a:spcBef>
              <a:buClr>
                <a:schemeClr val="tx1"/>
              </a:buClr>
              <a:defRPr/>
            </a:pPr>
            <a:endParaRPr lang="en-US" dirty="0">
              <a:solidFill>
                <a:srgbClr val="000000"/>
              </a:solidFill>
            </a:endParaRPr>
          </a:p>
          <a:p>
            <a:pPr lvl="1">
              <a:spcBef>
                <a:spcPts val="1000"/>
              </a:spcBef>
              <a:buClr>
                <a:schemeClr val="tx1"/>
              </a:buClr>
              <a:defRPr/>
            </a:pPr>
            <a:endParaRPr lang="en-US" dirty="0">
              <a:solidFill>
                <a:srgbClr val="000000"/>
              </a:solidFill>
            </a:endParaRPr>
          </a:p>
          <a:p>
            <a:pPr lvl="1">
              <a:spcBef>
                <a:spcPts val="1000"/>
              </a:spcBef>
              <a:buClr>
                <a:schemeClr val="tx1"/>
              </a:buClr>
              <a:defRPr/>
            </a:pPr>
            <a:endParaRPr lang="en-US" dirty="0">
              <a:solidFill>
                <a:srgbClr val="000000"/>
              </a:solidFill>
            </a:endParaRPr>
          </a:p>
          <a:p>
            <a:pPr marL="457200" lvl="1" indent="0">
              <a:spcBef>
                <a:spcPts val="1000"/>
              </a:spcBef>
              <a:buClr>
                <a:schemeClr val="tx1"/>
              </a:buClr>
              <a:buNone/>
              <a:defRPr/>
            </a:pPr>
            <a:endParaRPr lang="en-US" dirty="0">
              <a:solidFill>
                <a:srgbClr val="000000"/>
              </a:solidFill>
            </a:endParaRPr>
          </a:p>
          <a:p>
            <a:pPr marL="457200" lvl="1" indent="0">
              <a:spcBef>
                <a:spcPts val="1000"/>
              </a:spcBef>
              <a:buClr>
                <a:schemeClr val="tx1"/>
              </a:buClr>
              <a:buNone/>
              <a:defRPr/>
            </a:pPr>
            <a:endParaRPr lang="en-US" dirty="0">
              <a:solidFill>
                <a:srgbClr val="000000"/>
              </a:solidFill>
            </a:endParaRPr>
          </a:p>
          <a:p>
            <a:pPr marL="457200" lvl="1" indent="0">
              <a:spcBef>
                <a:spcPts val="1000"/>
              </a:spcBef>
              <a:buClr>
                <a:schemeClr val="tx1"/>
              </a:buClr>
              <a:buNone/>
              <a:defRPr/>
            </a:pPr>
            <a:endParaRPr kumimoji="0" lang="en-US" b="0" i="0" u="none" strike="noStrike" kern="1200" cap="none" spc="20" normalizeH="0" baseline="0" noProof="0" dirty="0">
              <a:ln>
                <a:noFill/>
              </a:ln>
              <a:solidFill>
                <a:srgbClr val="000000"/>
              </a:solidFill>
              <a:effectLst/>
              <a:uLnTx/>
              <a:uFillTx/>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
        <p:nvSpPr>
          <p:cNvPr id="4" name="Slide Number Placeholder 3">
            <a:extLst>
              <a:ext uri="{FF2B5EF4-FFF2-40B4-BE49-F238E27FC236}">
                <a16:creationId xmlns:a16="http://schemas.microsoft.com/office/drawing/2014/main" id="{EEFA1D46-FDB2-5F44-9341-CDFEA1505D09}"/>
              </a:ext>
            </a:extLst>
          </p:cNvPr>
          <p:cNvSpPr>
            <a:spLocks noGrp="1"/>
          </p:cNvSpPr>
          <p:nvPr>
            <p:ph type="sldNum" sz="quarter" idx="12"/>
          </p:nvPr>
        </p:nvSpPr>
        <p:spPr/>
        <p:txBody>
          <a:bodyPr/>
          <a:lstStyle/>
          <a:p>
            <a:fld id="{1621B6DD-29C1-4FEA-923F-71EA1347694C}" type="slidenum">
              <a:rPr lang="en-US" smtClean="0">
                <a:solidFill>
                  <a:schemeClr val="tx1"/>
                </a:solidFill>
              </a:rPr>
              <a:t>14</a:t>
            </a:fld>
            <a:endParaRPr lang="en-US" dirty="0">
              <a:solidFill>
                <a:schemeClr val="tx1"/>
              </a:solidFill>
            </a:endParaRPr>
          </a:p>
        </p:txBody>
      </p:sp>
      <p:sp>
        <p:nvSpPr>
          <p:cNvPr id="3" name="Rectangle 2">
            <a:extLst>
              <a:ext uri="{FF2B5EF4-FFF2-40B4-BE49-F238E27FC236}">
                <a16:creationId xmlns:a16="http://schemas.microsoft.com/office/drawing/2014/main" id="{098C0588-2FCC-1F46-B729-8B4FE9451948}"/>
              </a:ext>
            </a:extLst>
          </p:cNvPr>
          <p:cNvSpPr/>
          <p:nvPr/>
        </p:nvSpPr>
        <p:spPr>
          <a:xfrm>
            <a:off x="5784630" y="2617450"/>
            <a:ext cx="4772719" cy="2098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ratio_iWAT_HF_cre+_1</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iWAT_HF_cre-1</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ratio_iWAT_HF_cre+_1</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iWAT_HF_cre-_2 	</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ratio_iWAT_HF_cre+_2</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iWAT_HF_cre-_1 </a:t>
            </a:r>
            <a:r>
              <a:rPr lang="en-US" sz="1400" b="1" dirty="0">
                <a:solidFill>
                  <a:srgbClr val="000000"/>
                </a:solidFill>
                <a:latin typeface="Segoe UI Semibold" panose="020B0502040204020203" pitchFamily="34" charset="0"/>
                <a:cs typeface="Segoe UI Semibold" panose="020B0502040204020203" pitchFamily="34" charset="0"/>
              </a:rPr>
              <a:t>	</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ratio_iWAT_HF_cre+_2</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iWAT_HF_cre-_2 </a:t>
            </a:r>
            <a:r>
              <a:rPr lang="en-US" sz="1400" b="1" dirty="0">
                <a:solidFill>
                  <a:srgbClr val="000000"/>
                </a:solidFill>
                <a:latin typeface="Segoe UI Semibold" panose="020B0502040204020203" pitchFamily="34" charset="0"/>
                <a:cs typeface="Segoe UI Semibold" panose="020B0502040204020203" pitchFamily="34" charset="0"/>
              </a:rPr>
              <a:t>	</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ratio_iWAT_HF_cre+_3</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iWAT_HF_cre-_1 </a:t>
            </a:r>
            <a:r>
              <a:rPr lang="en-US" sz="1400" b="1" dirty="0">
                <a:solidFill>
                  <a:srgbClr val="000000"/>
                </a:solidFill>
                <a:latin typeface="Segoe UI Semibold" panose="020B0502040204020203" pitchFamily="34" charset="0"/>
                <a:cs typeface="Segoe UI Semibold" panose="020B0502040204020203" pitchFamily="34" charset="0"/>
              </a:rPr>
              <a:t>	</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ratio_iWAT_HF_cre+_3</a:t>
            </a:r>
            <a:r>
              <a:rPr lang="en-US" sz="1400" b="1" dirty="0">
                <a:solidFill>
                  <a:srgbClr val="000000"/>
                </a:solidFill>
                <a:latin typeface="Segoe UI Semibold" panose="020B0502040204020203" pitchFamily="34" charset="0"/>
                <a:cs typeface="Segoe UI Semibold" panose="020B0502040204020203" pitchFamily="34" charset="0"/>
              </a:rPr>
              <a:t>/</a:t>
            </a: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iWAT_HF_cre-_2 </a:t>
            </a:r>
          </a:p>
        </p:txBody>
      </p:sp>
      <p:sp>
        <p:nvSpPr>
          <p:cNvPr id="9" name="Rectangle 8">
            <a:extLst>
              <a:ext uri="{FF2B5EF4-FFF2-40B4-BE49-F238E27FC236}">
                <a16:creationId xmlns:a16="http://schemas.microsoft.com/office/drawing/2014/main" id="{784CA4F1-5E7E-E04F-8E11-8D7E1AFE32C8}"/>
              </a:ext>
            </a:extLst>
          </p:cNvPr>
          <p:cNvSpPr/>
          <p:nvPr/>
        </p:nvSpPr>
        <p:spPr>
          <a:xfrm>
            <a:off x="1944032" y="2482850"/>
            <a:ext cx="2895598" cy="23677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ratio_iWAT_HF_cre+_1</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ratio_iWAT_HF_cre+_2</a:t>
            </a:r>
          </a:p>
          <a:p>
            <a:pPr marL="457200" lvl="1" indent="0">
              <a:spcBef>
                <a:spcPts val="1000"/>
              </a:spcBef>
              <a:buClr>
                <a:srgbClr val="7BAF34"/>
              </a:buClr>
              <a:buNone/>
              <a:defRPr/>
            </a:pPr>
            <a:r>
              <a:rPr lang="en-US" sz="1400" b="1" dirty="0">
                <a:solidFill>
                  <a:schemeClr val="accent6">
                    <a:lumMod val="75000"/>
                  </a:schemeClr>
                </a:solidFill>
                <a:latin typeface="Segoe UI Semibold" panose="020B0502040204020203" pitchFamily="34" charset="0"/>
                <a:cs typeface="Segoe UI Semibold" panose="020B0502040204020203" pitchFamily="34" charset="0"/>
              </a:rPr>
              <a:t>ratio_iWAT_HF_cre+_3</a:t>
            </a:r>
          </a:p>
          <a:p>
            <a:pPr marL="457200" lvl="1" indent="0">
              <a:spcBef>
                <a:spcPts val="1000"/>
              </a:spcBef>
              <a:buClr>
                <a:srgbClr val="7BAF34"/>
              </a:buClr>
              <a:buNone/>
              <a:defRPr/>
            </a:pPr>
            <a:endParaRPr lang="en-US" sz="1400" b="1" dirty="0">
              <a:solidFill>
                <a:srgbClr val="000000"/>
              </a:solidFill>
              <a:latin typeface="Segoe UI Semibold" panose="020B0502040204020203" pitchFamily="34" charset="0"/>
              <a:cs typeface="Segoe UI Semibold" panose="020B0502040204020203" pitchFamily="34" charset="0"/>
            </a:endParaRPr>
          </a:p>
          <a:p>
            <a:pPr lvl="1">
              <a:spcBef>
                <a:spcPts val="1000"/>
              </a:spcBef>
              <a:buClr>
                <a:srgbClr val="7BAF34"/>
              </a:buClr>
              <a:defRPr/>
            </a:pP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iWAT_HF_cre-1</a:t>
            </a:r>
          </a:p>
          <a:p>
            <a:pPr lvl="1">
              <a:spcBef>
                <a:spcPts val="1000"/>
              </a:spcBef>
              <a:buClr>
                <a:srgbClr val="7BAF34"/>
              </a:buClr>
              <a:defRPr/>
            </a:pPr>
            <a:r>
              <a:rPr lang="en-US" sz="1400" b="1" dirty="0">
                <a:solidFill>
                  <a:schemeClr val="accent2">
                    <a:lumMod val="75000"/>
                  </a:schemeClr>
                </a:solidFill>
                <a:latin typeface="Segoe UI Semibold" panose="020B0502040204020203" pitchFamily="34" charset="0"/>
                <a:cs typeface="Segoe UI Semibold" panose="020B0502040204020203" pitchFamily="34" charset="0"/>
              </a:rPr>
              <a:t>iWAT_HF_cre-_2 </a:t>
            </a:r>
          </a:p>
        </p:txBody>
      </p:sp>
      <p:cxnSp>
        <p:nvCxnSpPr>
          <p:cNvPr id="5" name="Straight Arrow Connector 4">
            <a:extLst>
              <a:ext uri="{FF2B5EF4-FFF2-40B4-BE49-F238E27FC236}">
                <a16:creationId xmlns:a16="http://schemas.microsoft.com/office/drawing/2014/main" id="{BD9888D9-953F-E846-A843-6B402151BBF4}"/>
              </a:ext>
            </a:extLst>
          </p:cNvPr>
          <p:cNvCxnSpPr/>
          <p:nvPr/>
        </p:nvCxnSpPr>
        <p:spPr>
          <a:xfrm>
            <a:off x="5124729" y="3666710"/>
            <a:ext cx="5018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7F0846A9-96EF-4146-A15B-5B93551E6BC8}"/>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Ratios</a:t>
            </a:r>
            <a:endParaRPr lang="en-US" b="1"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EDF5FEF7-726B-8F47-A645-1826A18C899B}"/>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3</a:t>
            </a:r>
          </a:p>
        </p:txBody>
      </p:sp>
    </p:spTree>
    <p:extLst>
      <p:ext uri="{BB962C8B-B14F-4D97-AF65-F5344CB8AC3E}">
        <p14:creationId xmlns:p14="http://schemas.microsoft.com/office/powerpoint/2010/main" val="1056067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DE06309-147D-2543-B351-DC41490E55CA}"/>
              </a:ext>
            </a:extLst>
          </p:cNvPr>
          <p:cNvSpPr/>
          <p:nvPr/>
        </p:nvSpPr>
        <p:spPr>
          <a:xfrm>
            <a:off x="7234326" y="3863081"/>
            <a:ext cx="2039947"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15</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AB21BEC-87D3-6F4B-958D-D8A8299A8F47}"/>
              </a:ext>
            </a:extLst>
          </p:cNvPr>
          <p:cNvCxnSpPr>
            <a:cxnSpLocks/>
          </p:cNvCxnSpPr>
          <p:nvPr/>
        </p:nvCxnSpPr>
        <p:spPr>
          <a:xfrm flipH="1">
            <a:off x="3836947" y="4278409"/>
            <a:ext cx="420628" cy="9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cxnSp>
        <p:nvCxnSpPr>
          <p:cNvPr id="33" name="Straight Arrow Connector 32">
            <a:extLst>
              <a:ext uri="{FF2B5EF4-FFF2-40B4-BE49-F238E27FC236}">
                <a16:creationId xmlns:a16="http://schemas.microsoft.com/office/drawing/2014/main" id="{DACE3C9B-3ECB-4748-8A94-F41DFAB98D48}"/>
              </a:ext>
            </a:extLst>
          </p:cNvPr>
          <p:cNvCxnSpPr>
            <a:cxnSpLocks/>
          </p:cNvCxnSpPr>
          <p:nvPr/>
        </p:nvCxnSpPr>
        <p:spPr>
          <a:xfrm flipH="1">
            <a:off x="9626600" y="4350118"/>
            <a:ext cx="590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5F572BF-9BAF-3C4C-BBA3-261B5E5A1F49}"/>
              </a:ext>
            </a:extLst>
          </p:cNvPr>
          <p:cNvSpPr txBox="1"/>
          <p:nvPr/>
        </p:nvSpPr>
        <p:spPr>
          <a:xfrm>
            <a:off x="4431890" y="3952515"/>
            <a:ext cx="2287907" cy="784830"/>
          </a:xfrm>
          <a:prstGeom prst="rect">
            <a:avLst/>
          </a:prstGeom>
          <a:noFill/>
        </p:spPr>
        <p:txBody>
          <a:bodyPr wrap="square" rtlCol="0">
            <a:spAutoFit/>
          </a:bodyPr>
          <a:lstStyle/>
          <a:p>
            <a:pPr algn="ctr"/>
            <a:r>
              <a:rPr lang="en-US" sz="1500" b="1" dirty="0" err="1">
                <a:latin typeface="Segoe UI Semibold" panose="020B0502040204020203" pitchFamily="34" charset="0"/>
                <a:cs typeface="Segoe UI Semibold" panose="020B0502040204020203" pitchFamily="34" charset="0"/>
              </a:rPr>
              <a:t>cre</a:t>
            </a:r>
            <a:r>
              <a:rPr lang="en-US" sz="1500" b="1" dirty="0">
                <a:latin typeface="Segoe UI Semibold" panose="020B0502040204020203" pitchFamily="34" charset="0"/>
                <a:cs typeface="Segoe UI Semibold" panose="020B0502040204020203" pitchFamily="34" charset="0"/>
              </a:rPr>
              <a:t>+ replicates filtering </a:t>
            </a:r>
          </a:p>
          <a:p>
            <a:pPr algn="ctr"/>
            <a:r>
              <a:rPr lang="en-US" sz="1500" b="1" dirty="0">
                <a:latin typeface="Segoe UI Semibold" panose="020B0502040204020203" pitchFamily="34" charset="0"/>
                <a:cs typeface="Segoe UI Semibold" panose="020B0502040204020203" pitchFamily="34" charset="0"/>
              </a:rPr>
              <a:t>&amp;</a:t>
            </a:r>
          </a:p>
          <a:p>
            <a:pPr algn="ctr"/>
            <a:r>
              <a:rPr lang="en-US" sz="1500" b="1" dirty="0">
                <a:latin typeface="Segoe UI Semibold" panose="020B0502040204020203" pitchFamily="34" charset="0"/>
                <a:cs typeface="Segoe UI Semibold" panose="020B0502040204020203" pitchFamily="34" charset="0"/>
              </a:rPr>
              <a:t>Normalization</a:t>
            </a:r>
          </a:p>
        </p:txBody>
      </p:sp>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27" name="TextBox 26">
            <a:extLst>
              <a:ext uri="{FF2B5EF4-FFF2-40B4-BE49-F238E27FC236}">
                <a16:creationId xmlns:a16="http://schemas.microsoft.com/office/drawing/2014/main" id="{13DC00C0-2AD0-FE4C-A422-A6B24533B912}"/>
              </a:ext>
            </a:extLst>
          </p:cNvPr>
          <p:cNvSpPr txBox="1"/>
          <p:nvPr/>
        </p:nvSpPr>
        <p:spPr>
          <a:xfrm>
            <a:off x="7280112" y="4072185"/>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Annotate proteins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Using TP and FP lists</a:t>
            </a:r>
          </a:p>
          <a:p>
            <a:pPr algn="ctr"/>
            <a:endParaRPr lang="en-US" sz="1500" b="1" dirty="0">
              <a:latin typeface="Segoe UI Semibold" panose="020B0502040204020203" pitchFamily="34" charset="0"/>
              <a:cs typeface="Segoe UI Semibold" panose="020B0502040204020203" pitchFamily="34" charset="0"/>
            </a:endParaRPr>
          </a:p>
        </p:txBody>
      </p:sp>
      <p:sp>
        <p:nvSpPr>
          <p:cNvPr id="34" name="TextBox 33">
            <a:extLst>
              <a:ext uri="{FF2B5EF4-FFF2-40B4-BE49-F238E27FC236}">
                <a16:creationId xmlns:a16="http://schemas.microsoft.com/office/drawing/2014/main" id="{B739C131-6853-564C-89A0-54699B2A0E19}"/>
              </a:ext>
            </a:extLst>
          </p:cNvPr>
          <p:cNvSpPr txBox="1"/>
          <p:nvPr/>
        </p:nvSpPr>
        <p:spPr>
          <a:xfrm>
            <a:off x="1511630" y="4039198"/>
            <a:ext cx="2039947" cy="446276"/>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Calculate Ratios</a:t>
            </a:r>
          </a:p>
          <a:p>
            <a:pPr algn="ctr"/>
            <a:r>
              <a:rPr lang="en-US" sz="800" b="1" dirty="0">
                <a:latin typeface="Segoe UI Semibold" panose="020B0502040204020203" pitchFamily="34" charset="0"/>
                <a:cs typeface="Segoe UI Semibold" panose="020B0502040204020203" pitchFamily="34" charset="0"/>
              </a:rPr>
              <a:t>Experimental sample/negative control</a:t>
            </a:r>
          </a:p>
        </p:txBody>
      </p:sp>
      <p:sp>
        <p:nvSpPr>
          <p:cNvPr id="38" name="TextBox 37">
            <a:extLst>
              <a:ext uri="{FF2B5EF4-FFF2-40B4-BE49-F238E27FC236}">
                <a16:creationId xmlns:a16="http://schemas.microsoft.com/office/drawing/2014/main" id="{C4A4979D-B3A4-EA4E-B6EE-C65553BA6693}"/>
              </a:ext>
            </a:extLst>
          </p:cNvPr>
          <p:cNvSpPr txBox="1"/>
          <p:nvPr/>
        </p:nvSpPr>
        <p:spPr>
          <a:xfrm>
            <a:off x="1152850" y="5329466"/>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ROC-based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Establish optimal cutoffs per ratio</a:t>
            </a:r>
          </a:p>
          <a:p>
            <a:pPr algn="ctr"/>
            <a:endParaRPr lang="en-US" sz="1500" b="1" dirty="0">
              <a:latin typeface="Segoe UI Semibold" panose="020B0502040204020203" pitchFamily="34" charset="0"/>
              <a:cs typeface="Segoe UI Semibold" panose="020B0502040204020203" pitchFamily="34" charset="0"/>
            </a:endParaRPr>
          </a:p>
        </p:txBody>
      </p:sp>
      <p:sp>
        <p:nvSpPr>
          <p:cNvPr id="28" name="Rounded Rectangle 27">
            <a:extLst>
              <a:ext uri="{FF2B5EF4-FFF2-40B4-BE49-F238E27FC236}">
                <a16:creationId xmlns:a16="http://schemas.microsoft.com/office/drawing/2014/main" id="{926C8D95-DEA1-6B41-B114-C53B4E627245}"/>
              </a:ext>
            </a:extLst>
          </p:cNvPr>
          <p:cNvSpPr/>
          <p:nvPr/>
        </p:nvSpPr>
        <p:spPr>
          <a:xfrm>
            <a:off x="4395195" y="3710069"/>
            <a:ext cx="2248893" cy="10867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 name="Oval 2">
            <a:extLst>
              <a:ext uri="{FF2B5EF4-FFF2-40B4-BE49-F238E27FC236}">
                <a16:creationId xmlns:a16="http://schemas.microsoft.com/office/drawing/2014/main" id="{80774D48-C1E9-A74A-B5B4-B4083E706E43}"/>
              </a:ext>
            </a:extLst>
          </p:cNvPr>
          <p:cNvSpPr/>
          <p:nvPr/>
        </p:nvSpPr>
        <p:spPr>
          <a:xfrm>
            <a:off x="8037908" y="358329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1</a:t>
            </a:r>
          </a:p>
        </p:txBody>
      </p:sp>
      <p:sp>
        <p:nvSpPr>
          <p:cNvPr id="41" name="Rounded Rectangle 40">
            <a:extLst>
              <a:ext uri="{FF2B5EF4-FFF2-40B4-BE49-F238E27FC236}">
                <a16:creationId xmlns:a16="http://schemas.microsoft.com/office/drawing/2014/main" id="{824E2B93-FB54-B74C-8C97-9C89BF9CC222}"/>
              </a:ext>
            </a:extLst>
          </p:cNvPr>
          <p:cNvSpPr/>
          <p:nvPr/>
        </p:nvSpPr>
        <p:spPr>
          <a:xfrm>
            <a:off x="1322667" y="3821841"/>
            <a:ext cx="2366530"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9" name="Oval 28">
            <a:extLst>
              <a:ext uri="{FF2B5EF4-FFF2-40B4-BE49-F238E27FC236}">
                <a16:creationId xmlns:a16="http://schemas.microsoft.com/office/drawing/2014/main" id="{3A146EDC-8E17-8C44-8CA3-33466D41F7CF}"/>
              </a:ext>
            </a:extLst>
          </p:cNvPr>
          <p:cNvSpPr/>
          <p:nvPr/>
        </p:nvSpPr>
        <p:spPr>
          <a:xfrm>
            <a:off x="2294536" y="356060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3</a:t>
            </a:r>
          </a:p>
        </p:txBody>
      </p:sp>
      <p:sp>
        <p:nvSpPr>
          <p:cNvPr id="43" name="Rounded Rectangle 42">
            <a:extLst>
              <a:ext uri="{FF2B5EF4-FFF2-40B4-BE49-F238E27FC236}">
                <a16:creationId xmlns:a16="http://schemas.microsoft.com/office/drawing/2014/main" id="{7E3EB4FB-4AB3-BA40-A8C8-2E887DE0D2F9}"/>
              </a:ext>
            </a:extLst>
          </p:cNvPr>
          <p:cNvSpPr/>
          <p:nvPr/>
        </p:nvSpPr>
        <p:spPr>
          <a:xfrm>
            <a:off x="1106076" y="5272149"/>
            <a:ext cx="2165029" cy="7386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1" name="Oval 30">
            <a:extLst>
              <a:ext uri="{FF2B5EF4-FFF2-40B4-BE49-F238E27FC236}">
                <a16:creationId xmlns:a16="http://schemas.microsoft.com/office/drawing/2014/main" id="{A418E82F-D5D6-0D41-B4BD-6A30BEB6A624}"/>
              </a:ext>
            </a:extLst>
          </p:cNvPr>
          <p:cNvSpPr/>
          <p:nvPr/>
        </p:nvSpPr>
        <p:spPr>
          <a:xfrm>
            <a:off x="1946766" y="5775515"/>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4</a:t>
            </a:r>
          </a:p>
        </p:txBody>
      </p:sp>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cxnSp>
        <p:nvCxnSpPr>
          <p:cNvPr id="49" name="Straight Arrow Connector 48">
            <a:extLst>
              <a:ext uri="{FF2B5EF4-FFF2-40B4-BE49-F238E27FC236}">
                <a16:creationId xmlns:a16="http://schemas.microsoft.com/office/drawing/2014/main" id="{BF8D5F95-54AB-4547-9373-9B41922377F1}"/>
              </a:ext>
            </a:extLst>
          </p:cNvPr>
          <p:cNvCxnSpPr>
            <a:cxnSpLocks/>
          </p:cNvCxnSpPr>
          <p:nvPr/>
        </p:nvCxnSpPr>
        <p:spPr>
          <a:xfrm flipH="1">
            <a:off x="6795506" y="4278409"/>
            <a:ext cx="287402" cy="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D4B0CA0-CF3F-CA48-A2D0-B1942B46FA3F}"/>
              </a:ext>
            </a:extLst>
          </p:cNvPr>
          <p:cNvSpPr/>
          <p:nvPr/>
        </p:nvSpPr>
        <p:spPr>
          <a:xfrm>
            <a:off x="5282574" y="3447997"/>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2</a:t>
            </a:r>
          </a:p>
        </p:txBody>
      </p:sp>
      <p:cxnSp>
        <p:nvCxnSpPr>
          <p:cNvPr id="51" name="Straight Arrow Connector 50">
            <a:extLst>
              <a:ext uri="{FF2B5EF4-FFF2-40B4-BE49-F238E27FC236}">
                <a16:creationId xmlns:a16="http://schemas.microsoft.com/office/drawing/2014/main" id="{C6C60EA7-2E34-C642-9C88-2E33AF39F2FA}"/>
              </a:ext>
            </a:extLst>
          </p:cNvPr>
          <p:cNvCxnSpPr>
            <a:cxnSpLocks/>
          </p:cNvCxnSpPr>
          <p:nvPr/>
        </p:nvCxnSpPr>
        <p:spPr>
          <a:xfrm>
            <a:off x="2183833" y="4766663"/>
            <a:ext cx="0" cy="379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255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3"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F88B60-6817-F047-8F7A-F94980847DB3}"/>
              </a:ext>
            </a:extLst>
          </p:cNvPr>
          <p:cNvSpPr>
            <a:spLocks noGrp="1"/>
          </p:cNvSpPr>
          <p:nvPr>
            <p:ph type="sldNum" sz="quarter" idx="12"/>
          </p:nvPr>
        </p:nvSpPr>
        <p:spPr/>
        <p:txBody>
          <a:bodyPr/>
          <a:lstStyle/>
          <a:p>
            <a:fld id="{1621B6DD-29C1-4FEA-923F-71EA1347694C}" type="slidenum">
              <a:rPr lang="en-US" smtClean="0">
                <a:solidFill>
                  <a:schemeClr val="tx1"/>
                </a:solidFill>
              </a:rPr>
              <a:t>16</a:t>
            </a:fld>
            <a:endParaRPr lang="en-US">
              <a:solidFill>
                <a:schemeClr val="tx1"/>
              </a:solidFill>
            </a:endParaRPr>
          </a:p>
        </p:txBody>
      </p:sp>
      <p:sp>
        <p:nvSpPr>
          <p:cNvPr id="6" name="TextBox 5">
            <a:extLst>
              <a:ext uri="{FF2B5EF4-FFF2-40B4-BE49-F238E27FC236}">
                <a16:creationId xmlns:a16="http://schemas.microsoft.com/office/drawing/2014/main" id="{53EAD780-1245-304B-B966-22D6B9913D65}"/>
              </a:ext>
            </a:extLst>
          </p:cNvPr>
          <p:cNvSpPr txBox="1"/>
          <p:nvPr/>
        </p:nvSpPr>
        <p:spPr>
          <a:xfrm>
            <a:off x="171849" y="6331292"/>
            <a:ext cx="1626471" cy="323165"/>
          </a:xfrm>
          <a:prstGeom prst="rect">
            <a:avLst/>
          </a:prstGeom>
          <a:noFill/>
        </p:spPr>
        <p:txBody>
          <a:bodyPr wrap="none" rtlCol="0">
            <a:spAutoFit/>
          </a:bodyPr>
          <a:lstStyle/>
          <a:p>
            <a:r>
              <a:rPr lang="en-US" sz="1500" dirty="0">
                <a:solidFill>
                  <a:schemeClr val="bg1"/>
                </a:solidFill>
                <a:hlinkClick r:id="rId3"/>
              </a:rPr>
              <a:t>Cho et al. (2020)</a:t>
            </a:r>
            <a:endParaRPr lang="en-US" sz="1500" dirty="0">
              <a:solidFill>
                <a:schemeClr val="bg1"/>
              </a:solidFill>
            </a:endParaRPr>
          </a:p>
        </p:txBody>
      </p:sp>
      <p:sp>
        <p:nvSpPr>
          <p:cNvPr id="8" name="Title 1">
            <a:extLst>
              <a:ext uri="{FF2B5EF4-FFF2-40B4-BE49-F238E27FC236}">
                <a16:creationId xmlns:a16="http://schemas.microsoft.com/office/drawing/2014/main" id="{2D2D5A93-8BC6-9144-BAC8-F678E579ABC0}"/>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Paper reference</a:t>
            </a:r>
            <a:endParaRPr lang="en-US" b="1" dirty="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57DEAEE9-ABBF-1C40-A51B-DBED8963A111}"/>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4</a:t>
            </a:r>
          </a:p>
        </p:txBody>
      </p:sp>
      <p:pic>
        <p:nvPicPr>
          <p:cNvPr id="7" name="Content Placeholder 6" descr="Graphical user interface, text, application, email&#10;&#10;Description automatically generated">
            <a:extLst>
              <a:ext uri="{FF2B5EF4-FFF2-40B4-BE49-F238E27FC236}">
                <a16:creationId xmlns:a16="http://schemas.microsoft.com/office/drawing/2014/main" id="{5C483CA6-E726-0744-8364-02265C36B7C9}"/>
              </a:ext>
            </a:extLst>
          </p:cNvPr>
          <p:cNvPicPr>
            <a:picLocks noGrp="1" noChangeAspect="1"/>
          </p:cNvPicPr>
          <p:nvPr>
            <p:ph idx="1"/>
          </p:nvPr>
        </p:nvPicPr>
        <p:blipFill>
          <a:blip r:embed="rId4"/>
          <a:stretch>
            <a:fillRect/>
          </a:stretch>
        </p:blipFill>
        <p:spPr>
          <a:xfrm>
            <a:off x="838200" y="1936297"/>
            <a:ext cx="10515600" cy="4129993"/>
          </a:xfrm>
        </p:spPr>
      </p:pic>
    </p:spTree>
    <p:extLst>
      <p:ext uri="{BB962C8B-B14F-4D97-AF65-F5344CB8AC3E}">
        <p14:creationId xmlns:p14="http://schemas.microsoft.com/office/powerpoint/2010/main" val="1942475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838200" y="2054201"/>
            <a:ext cx="10097003" cy="4302149"/>
          </a:xfrm>
        </p:spPr>
        <p:txBody>
          <a:bodyPr>
            <a:normAutofit/>
          </a:bodyPr>
          <a:lstStyle/>
          <a:p>
            <a:pPr lvl="1">
              <a:spcBef>
                <a:spcPts val="1000"/>
              </a:spcBef>
              <a:buClr>
                <a:schemeClr val="tx1"/>
              </a:buClr>
              <a:defRPr/>
            </a:pPr>
            <a:r>
              <a:rPr lang="en-US" sz="2000" b="1" dirty="0">
                <a:latin typeface="Segoe UI Semibold" panose="020B0502040204020203" pitchFamily="34" charset="0"/>
                <a:cs typeface="Segoe UI Semibold" panose="020B0502040204020203" pitchFamily="34" charset="0"/>
              </a:rPr>
              <a:t>receiver operating characteristic (ROC)-based analysis </a:t>
            </a:r>
          </a:p>
          <a:p>
            <a:pPr lvl="1">
              <a:spcBef>
                <a:spcPts val="1000"/>
              </a:spcBef>
              <a:buClr>
                <a:schemeClr val="tx1"/>
              </a:buClr>
              <a:defRPr/>
            </a:pPr>
            <a:r>
              <a:rPr lang="en-US" sz="2000" b="1" dirty="0">
                <a:latin typeface="Segoe UI Semibold" panose="020B0502040204020203" pitchFamily="34" charset="0"/>
                <a:cs typeface="Segoe UI Semibold" panose="020B0502040204020203" pitchFamily="34" charset="0"/>
              </a:rPr>
              <a:t>with use of curated lists of true-positive (TP) and false-positive (FP) proteins</a:t>
            </a:r>
          </a:p>
          <a:p>
            <a:pPr lvl="1">
              <a:spcBef>
                <a:spcPts val="1000"/>
              </a:spcBef>
              <a:buClr>
                <a:schemeClr val="tx1"/>
              </a:buClr>
              <a:defRPr/>
            </a:pPr>
            <a:r>
              <a:rPr lang="en-US" sz="2000" b="1" dirty="0">
                <a:latin typeface="Segoe UI Semibold" panose="020B0502040204020203" pitchFamily="34" charset="0"/>
                <a:cs typeface="Segoe UI Semibold" panose="020B0502040204020203" pitchFamily="34" charset="0"/>
              </a:rPr>
              <a:t>allows to establish optimal cutoffs</a:t>
            </a:r>
          </a:p>
          <a:p>
            <a:pPr lvl="1">
              <a:spcBef>
                <a:spcPts val="1000"/>
              </a:spcBef>
              <a:buClr>
                <a:schemeClr val="tx1"/>
              </a:buClr>
              <a:defRPr/>
            </a:pPr>
            <a:r>
              <a:rPr lang="en-US" sz="2000" b="1" dirty="0">
                <a:latin typeface="Segoe UI Semibold" panose="020B0502040204020203" pitchFamily="34" charset="0"/>
                <a:cs typeface="Segoe UI Semibold" panose="020B0502040204020203" pitchFamily="34" charset="0"/>
              </a:rPr>
              <a:t>cutoffs maximize the TP proteins and minimize FP proteins in the final lists</a:t>
            </a:r>
            <a:endParaRPr kumimoji="0" lang="en-US" sz="2000" b="1" u="none" strike="noStrike" kern="1200" cap="none" spc="20" normalizeH="0" baseline="0" noProof="0" dirty="0">
              <a:ln>
                <a:noFill/>
              </a:ln>
              <a:effectLst/>
              <a:uLnTx/>
              <a:uFillTx/>
              <a:latin typeface="Segoe UI Semibold" panose="020B0502040204020203" pitchFamily="34" charset="0"/>
              <a:cs typeface="Segoe UI Semibold" panose="020B0502040204020203" pitchFamily="34" charset="0"/>
            </a:endParaRPr>
          </a:p>
          <a:p>
            <a:pPr marL="457200" lvl="1" indent="0">
              <a:spcBef>
                <a:spcPts val="1000"/>
              </a:spcBef>
              <a:buClr>
                <a:srgbClr val="7BAF34"/>
              </a:buClr>
              <a:buNone/>
              <a:defRPr/>
            </a:pPr>
            <a:endParaRPr kumimoji="0" lang="en-US" b="1" u="none" strike="noStrike" kern="1200" cap="none" spc="20" normalizeH="0" baseline="0" noProof="0" dirty="0">
              <a:ln>
                <a:noFill/>
              </a:ln>
              <a:effectLst/>
              <a:uLnTx/>
              <a:uFillTx/>
              <a:latin typeface="Segoe UI Semibold" panose="020B0502040204020203" pitchFamily="34" charset="0"/>
              <a:cs typeface="Segoe UI Semibold" panose="020B0502040204020203" pitchFamily="34" charset="0"/>
            </a:endParaRPr>
          </a:p>
        </p:txBody>
      </p:sp>
      <p:sp>
        <p:nvSpPr>
          <p:cNvPr id="3" name="Slide Number Placeholder 2">
            <a:extLst>
              <a:ext uri="{FF2B5EF4-FFF2-40B4-BE49-F238E27FC236}">
                <a16:creationId xmlns:a16="http://schemas.microsoft.com/office/drawing/2014/main" id="{5DF88B60-6817-F047-8F7A-F94980847DB3}"/>
              </a:ext>
            </a:extLst>
          </p:cNvPr>
          <p:cNvSpPr>
            <a:spLocks noGrp="1"/>
          </p:cNvSpPr>
          <p:nvPr>
            <p:ph type="sldNum" sz="quarter" idx="12"/>
          </p:nvPr>
        </p:nvSpPr>
        <p:spPr/>
        <p:txBody>
          <a:bodyPr/>
          <a:lstStyle/>
          <a:p>
            <a:fld id="{1621B6DD-29C1-4FEA-923F-71EA1347694C}" type="slidenum">
              <a:rPr lang="en-US" smtClean="0">
                <a:solidFill>
                  <a:schemeClr val="tx1"/>
                </a:solidFill>
              </a:rPr>
              <a:t>17</a:t>
            </a:fld>
            <a:endParaRPr lang="en-US">
              <a:solidFill>
                <a:schemeClr val="tx1"/>
              </a:solidFill>
            </a:endParaRPr>
          </a:p>
        </p:txBody>
      </p:sp>
      <p:sp>
        <p:nvSpPr>
          <p:cNvPr id="6" name="TextBox 5">
            <a:extLst>
              <a:ext uri="{FF2B5EF4-FFF2-40B4-BE49-F238E27FC236}">
                <a16:creationId xmlns:a16="http://schemas.microsoft.com/office/drawing/2014/main" id="{53EAD780-1245-304B-B966-22D6B9913D65}"/>
              </a:ext>
            </a:extLst>
          </p:cNvPr>
          <p:cNvSpPr txBox="1"/>
          <p:nvPr/>
        </p:nvSpPr>
        <p:spPr>
          <a:xfrm>
            <a:off x="171849" y="6331292"/>
            <a:ext cx="1626471" cy="323165"/>
          </a:xfrm>
          <a:prstGeom prst="rect">
            <a:avLst/>
          </a:prstGeom>
          <a:noFill/>
        </p:spPr>
        <p:txBody>
          <a:bodyPr wrap="none" rtlCol="0">
            <a:spAutoFit/>
          </a:bodyPr>
          <a:lstStyle/>
          <a:p>
            <a:r>
              <a:rPr lang="en-US" sz="1500" dirty="0">
                <a:solidFill>
                  <a:schemeClr val="bg1"/>
                </a:solidFill>
                <a:hlinkClick r:id="rId3"/>
              </a:rPr>
              <a:t>Cho et al. (2020)</a:t>
            </a:r>
            <a:endParaRPr lang="en-US" sz="1500" dirty="0">
              <a:solidFill>
                <a:schemeClr val="bg1"/>
              </a:solidFill>
            </a:endParaRPr>
          </a:p>
        </p:txBody>
      </p:sp>
      <p:sp>
        <p:nvSpPr>
          <p:cNvPr id="8" name="Title 1">
            <a:extLst>
              <a:ext uri="{FF2B5EF4-FFF2-40B4-BE49-F238E27FC236}">
                <a16:creationId xmlns:a16="http://schemas.microsoft.com/office/drawing/2014/main" id="{2D2D5A93-8BC6-9144-BAC8-F678E579ABC0}"/>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Final protein lists</a:t>
            </a:r>
            <a:endParaRPr lang="en-US" b="1" dirty="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57DEAEE9-ABBF-1C40-A51B-DBED8963A111}"/>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4</a:t>
            </a:r>
          </a:p>
        </p:txBody>
      </p:sp>
    </p:spTree>
    <p:extLst>
      <p:ext uri="{BB962C8B-B14F-4D97-AF65-F5344CB8AC3E}">
        <p14:creationId xmlns:p14="http://schemas.microsoft.com/office/powerpoint/2010/main" val="450240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Picture 23" descr="Chart, line chart&#10;&#10;Description automatically generated">
            <a:extLst>
              <a:ext uri="{FF2B5EF4-FFF2-40B4-BE49-F238E27FC236}">
                <a16:creationId xmlns:a16="http://schemas.microsoft.com/office/drawing/2014/main" id="{E6E3664C-CF1B-E140-9724-B54FC1DC6DB7}"/>
              </a:ext>
            </a:extLst>
          </p:cNvPr>
          <p:cNvPicPr>
            <a:picLocks noChangeAspect="1"/>
          </p:cNvPicPr>
          <p:nvPr/>
        </p:nvPicPr>
        <p:blipFill>
          <a:blip r:embed="rId3"/>
          <a:stretch>
            <a:fillRect/>
          </a:stretch>
        </p:blipFill>
        <p:spPr>
          <a:xfrm>
            <a:off x="7735487" y="3006575"/>
            <a:ext cx="4390187" cy="2926791"/>
          </a:xfrm>
          <a:prstGeom prst="rect">
            <a:avLst/>
          </a:prstGeom>
        </p:spPr>
      </p:pic>
      <p:pic>
        <p:nvPicPr>
          <p:cNvPr id="12" name="Picture 11" descr="Chart, line chart&#10;&#10;Description automatically generated">
            <a:extLst>
              <a:ext uri="{FF2B5EF4-FFF2-40B4-BE49-F238E27FC236}">
                <a16:creationId xmlns:a16="http://schemas.microsoft.com/office/drawing/2014/main" id="{AE63AB7D-11E3-B842-9E7D-ABD98EFBECB5}"/>
              </a:ext>
            </a:extLst>
          </p:cNvPr>
          <p:cNvPicPr>
            <a:picLocks noChangeAspect="1"/>
          </p:cNvPicPr>
          <p:nvPr/>
        </p:nvPicPr>
        <p:blipFill>
          <a:blip r:embed="rId4"/>
          <a:stretch>
            <a:fillRect/>
          </a:stretch>
        </p:blipFill>
        <p:spPr>
          <a:xfrm>
            <a:off x="7882418" y="3114891"/>
            <a:ext cx="3981934" cy="2654622"/>
          </a:xfrm>
          <a:prstGeom prst="rect">
            <a:avLst/>
          </a:prstGeom>
        </p:spPr>
      </p:pic>
      <p:graphicFrame>
        <p:nvGraphicFramePr>
          <p:cNvPr id="23" name="Content Placeholder 2">
            <a:extLst>
              <a:ext uri="{FF2B5EF4-FFF2-40B4-BE49-F238E27FC236}">
                <a16:creationId xmlns:a16="http://schemas.microsoft.com/office/drawing/2014/main" id="{866BC88C-639F-2319-22EB-93EBDFA8BBBF}"/>
              </a:ext>
            </a:extLst>
          </p:cNvPr>
          <p:cNvGraphicFramePr>
            <a:graphicFrameLocks noGrp="1"/>
          </p:cNvGraphicFramePr>
          <p:nvPr>
            <p:ph idx="1"/>
            <p:extLst>
              <p:ext uri="{D42A27DB-BD31-4B8C-83A1-F6EECF244321}">
                <p14:modId xmlns:p14="http://schemas.microsoft.com/office/powerpoint/2010/main" val="1918494091"/>
              </p:ext>
            </p:extLst>
          </p:nvPr>
        </p:nvGraphicFramePr>
        <p:xfrm>
          <a:off x="669191" y="84101"/>
          <a:ext cx="11052967" cy="43021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Slide Number Placeholder 2">
            <a:extLst>
              <a:ext uri="{FF2B5EF4-FFF2-40B4-BE49-F238E27FC236}">
                <a16:creationId xmlns:a16="http://schemas.microsoft.com/office/drawing/2014/main" id="{3EAFAD2E-AD3D-A84D-A434-9F79D1EA0FEA}"/>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18</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sp>
        <p:nvSpPr>
          <p:cNvPr id="6" name="TextBox 5">
            <a:extLst>
              <a:ext uri="{FF2B5EF4-FFF2-40B4-BE49-F238E27FC236}">
                <a16:creationId xmlns:a16="http://schemas.microsoft.com/office/drawing/2014/main" id="{C95FB78E-CA1E-D94B-B9F8-68A72D7296B0}"/>
              </a:ext>
            </a:extLst>
          </p:cNvPr>
          <p:cNvSpPr txBox="1"/>
          <p:nvPr/>
        </p:nvSpPr>
        <p:spPr>
          <a:xfrm>
            <a:off x="177012" y="6310655"/>
            <a:ext cx="1626471"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venir Next LT Pro"/>
                <a:ea typeface="+mn-ea"/>
                <a:cs typeface="+mn-cs"/>
                <a:hlinkClick r:id="rId10"/>
              </a:rPr>
              <a:t>Cho et al. (2020)</a:t>
            </a:r>
            <a:endParaRPr kumimoji="0" lang="en-US" sz="1500" b="0" i="0" u="none" strike="noStrike" kern="1200" cap="none" spc="0" normalizeH="0" baseline="0" noProof="0" dirty="0">
              <a:ln>
                <a:noFill/>
              </a:ln>
              <a:solidFill>
                <a:srgbClr val="000000"/>
              </a:solidFill>
              <a:effectLst/>
              <a:uLnTx/>
              <a:uFillTx/>
              <a:latin typeface="Avenir Next LT Pro"/>
              <a:ea typeface="+mn-ea"/>
              <a:cs typeface="+mn-cs"/>
            </a:endParaRPr>
          </a:p>
        </p:txBody>
      </p:sp>
      <p:sp>
        <p:nvSpPr>
          <p:cNvPr id="8" name="Title 1">
            <a:extLst>
              <a:ext uri="{FF2B5EF4-FFF2-40B4-BE49-F238E27FC236}">
                <a16:creationId xmlns:a16="http://schemas.microsoft.com/office/drawing/2014/main" id="{27EC28C6-0118-E749-B1CA-21D80F647A0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Determine biotinylated proteins</a:t>
            </a:r>
            <a:endParaRPr lang="en-US" b="1" dirty="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4D5F10DE-79D5-0B44-94D6-66F53ABC8C18}"/>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4</a:t>
            </a:r>
          </a:p>
        </p:txBody>
      </p:sp>
      <p:sp>
        <p:nvSpPr>
          <p:cNvPr id="2" name="TextBox 1">
            <a:extLst>
              <a:ext uri="{FF2B5EF4-FFF2-40B4-BE49-F238E27FC236}">
                <a16:creationId xmlns:a16="http://schemas.microsoft.com/office/drawing/2014/main" id="{819A7E5B-7786-634E-B21B-B0E14AB00A42}"/>
              </a:ext>
            </a:extLst>
          </p:cNvPr>
          <p:cNvSpPr txBox="1"/>
          <p:nvPr/>
        </p:nvSpPr>
        <p:spPr>
          <a:xfrm>
            <a:off x="669191" y="2966637"/>
            <a:ext cx="1626472" cy="784830"/>
          </a:xfrm>
          <a:prstGeom prst="rect">
            <a:avLst/>
          </a:prstGeom>
          <a:noFill/>
        </p:spPr>
        <p:txBody>
          <a:bodyPr wrap="square" rtlCol="0">
            <a:spAutoFit/>
          </a:bodyPr>
          <a:lstStyle/>
          <a:p>
            <a:pPr algn="ctr"/>
            <a:r>
              <a:rPr lang="en-US" sz="1500" dirty="0">
                <a:latin typeface="Segoe UI" panose="020B0502040204020203" pitchFamily="34" charset="0"/>
                <a:cs typeface="Segoe UI" panose="020B0502040204020203" pitchFamily="34" charset="0"/>
              </a:rPr>
              <a:t>By median ratio of proteins labelled as FP</a:t>
            </a:r>
          </a:p>
        </p:txBody>
      </p:sp>
      <p:sp>
        <p:nvSpPr>
          <p:cNvPr id="4" name="Down Arrow 3">
            <a:extLst>
              <a:ext uri="{FF2B5EF4-FFF2-40B4-BE49-F238E27FC236}">
                <a16:creationId xmlns:a16="http://schemas.microsoft.com/office/drawing/2014/main" id="{34ACF1B5-1D19-B94A-B501-5E107047E91C}"/>
              </a:ext>
            </a:extLst>
          </p:cNvPr>
          <p:cNvSpPr/>
          <p:nvPr/>
        </p:nvSpPr>
        <p:spPr>
          <a:xfrm>
            <a:off x="2911061" y="3368515"/>
            <a:ext cx="308758" cy="1317133"/>
          </a:xfrm>
          <a:prstGeom prst="downArrow">
            <a:avLst/>
          </a:prstGeom>
          <a:solidFill>
            <a:srgbClr val="DE7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C7875F-FC2F-B24A-A8B0-37FAECB55692}"/>
              </a:ext>
            </a:extLst>
          </p:cNvPr>
          <p:cNvSpPr txBox="1"/>
          <p:nvPr/>
        </p:nvSpPr>
        <p:spPr>
          <a:xfrm>
            <a:off x="2687489" y="3015174"/>
            <a:ext cx="754758" cy="323165"/>
          </a:xfrm>
          <a:prstGeom prst="rect">
            <a:avLst/>
          </a:prstGeom>
          <a:noFill/>
        </p:spPr>
        <p:txBody>
          <a:bodyPr wrap="none" rtlCol="0">
            <a:spAutoFit/>
          </a:bodyPr>
          <a:lstStyle/>
          <a:p>
            <a:r>
              <a:rPr lang="en-US" sz="1500" dirty="0"/>
              <a:t>highest</a:t>
            </a:r>
          </a:p>
        </p:txBody>
      </p:sp>
      <p:sp>
        <p:nvSpPr>
          <p:cNvPr id="10" name="TextBox 9">
            <a:extLst>
              <a:ext uri="{FF2B5EF4-FFF2-40B4-BE49-F238E27FC236}">
                <a16:creationId xmlns:a16="http://schemas.microsoft.com/office/drawing/2014/main" id="{9E4A0339-4456-0F48-9A98-455ECC62B2CD}"/>
              </a:ext>
            </a:extLst>
          </p:cNvPr>
          <p:cNvSpPr txBox="1"/>
          <p:nvPr/>
        </p:nvSpPr>
        <p:spPr>
          <a:xfrm>
            <a:off x="2687489" y="4685648"/>
            <a:ext cx="699422" cy="323165"/>
          </a:xfrm>
          <a:prstGeom prst="rect">
            <a:avLst/>
          </a:prstGeom>
          <a:noFill/>
        </p:spPr>
        <p:txBody>
          <a:bodyPr wrap="none" rtlCol="0">
            <a:spAutoFit/>
          </a:bodyPr>
          <a:lstStyle/>
          <a:p>
            <a:r>
              <a:rPr lang="en-US" sz="1500" dirty="0"/>
              <a:t>lowest</a:t>
            </a:r>
          </a:p>
        </p:txBody>
      </p:sp>
      <p:graphicFrame>
        <p:nvGraphicFramePr>
          <p:cNvPr id="7" name="Table 10">
            <a:extLst>
              <a:ext uri="{FF2B5EF4-FFF2-40B4-BE49-F238E27FC236}">
                <a16:creationId xmlns:a16="http://schemas.microsoft.com/office/drawing/2014/main" id="{D620FE8F-45D5-9746-9D39-CEB7242423FF}"/>
              </a:ext>
            </a:extLst>
          </p:cNvPr>
          <p:cNvGraphicFramePr>
            <a:graphicFrameLocks noGrp="1"/>
          </p:cNvGraphicFramePr>
          <p:nvPr>
            <p:extLst>
              <p:ext uri="{D42A27DB-BD31-4B8C-83A1-F6EECF244321}">
                <p14:modId xmlns:p14="http://schemas.microsoft.com/office/powerpoint/2010/main" val="2272006787"/>
              </p:ext>
            </p:extLst>
          </p:nvPr>
        </p:nvGraphicFramePr>
        <p:xfrm>
          <a:off x="4374183" y="3142660"/>
          <a:ext cx="3087373" cy="2654622"/>
        </p:xfrm>
        <a:graphic>
          <a:graphicData uri="http://schemas.openxmlformats.org/drawingml/2006/table">
            <a:tbl>
              <a:tblPr firstRow="1" bandRow="1">
                <a:tableStyleId>{5940675A-B579-460E-94D1-54222C63F5DA}</a:tableStyleId>
              </a:tblPr>
              <a:tblGrid>
                <a:gridCol w="639260">
                  <a:extLst>
                    <a:ext uri="{9D8B030D-6E8A-4147-A177-3AD203B41FA5}">
                      <a16:colId xmlns:a16="http://schemas.microsoft.com/office/drawing/2014/main" val="1208596096"/>
                    </a:ext>
                  </a:extLst>
                </a:gridCol>
                <a:gridCol w="448472">
                  <a:extLst>
                    <a:ext uri="{9D8B030D-6E8A-4147-A177-3AD203B41FA5}">
                      <a16:colId xmlns:a16="http://schemas.microsoft.com/office/drawing/2014/main" val="1297812698"/>
                    </a:ext>
                  </a:extLst>
                </a:gridCol>
                <a:gridCol w="578960">
                  <a:extLst>
                    <a:ext uri="{9D8B030D-6E8A-4147-A177-3AD203B41FA5}">
                      <a16:colId xmlns:a16="http://schemas.microsoft.com/office/drawing/2014/main" val="1005104420"/>
                    </a:ext>
                  </a:extLst>
                </a:gridCol>
                <a:gridCol w="517369">
                  <a:extLst>
                    <a:ext uri="{9D8B030D-6E8A-4147-A177-3AD203B41FA5}">
                      <a16:colId xmlns:a16="http://schemas.microsoft.com/office/drawing/2014/main" val="1380481325"/>
                    </a:ext>
                  </a:extLst>
                </a:gridCol>
                <a:gridCol w="451656">
                  <a:extLst>
                    <a:ext uri="{9D8B030D-6E8A-4147-A177-3AD203B41FA5}">
                      <a16:colId xmlns:a16="http://schemas.microsoft.com/office/drawing/2014/main" val="4173101887"/>
                    </a:ext>
                  </a:extLst>
                </a:gridCol>
                <a:gridCol w="451656">
                  <a:extLst>
                    <a:ext uri="{9D8B030D-6E8A-4147-A177-3AD203B41FA5}">
                      <a16:colId xmlns:a16="http://schemas.microsoft.com/office/drawing/2014/main" val="3488238885"/>
                    </a:ext>
                  </a:extLst>
                </a:gridCol>
              </a:tblGrid>
              <a:tr h="376397">
                <a:tc>
                  <a:txBody>
                    <a:bodyPr/>
                    <a:lstStyle/>
                    <a:p>
                      <a:pPr algn="ctr"/>
                      <a:r>
                        <a:rPr lang="en-US" sz="1000" dirty="0"/>
                        <a:t>Protein</a:t>
                      </a:r>
                    </a:p>
                  </a:txBody>
                  <a:tcPr>
                    <a:solidFill>
                      <a:schemeClr val="bg2"/>
                    </a:solidFill>
                  </a:tcPr>
                </a:tc>
                <a:tc>
                  <a:txBody>
                    <a:bodyPr/>
                    <a:lstStyle/>
                    <a:p>
                      <a:pPr algn="ctr"/>
                      <a:r>
                        <a:rPr lang="en-US" sz="1000" dirty="0"/>
                        <a:t>ratio</a:t>
                      </a:r>
                    </a:p>
                  </a:txBody>
                  <a:tcPr>
                    <a:solidFill>
                      <a:schemeClr val="bg2"/>
                    </a:solidFill>
                  </a:tcPr>
                </a:tc>
                <a:tc>
                  <a:txBody>
                    <a:bodyPr/>
                    <a:lstStyle/>
                    <a:p>
                      <a:pPr algn="ctr"/>
                      <a:r>
                        <a:rPr lang="en-US" sz="1000" dirty="0" err="1"/>
                        <a:t>annot</a:t>
                      </a:r>
                      <a:endParaRPr lang="en-US" sz="1000" dirty="0"/>
                    </a:p>
                  </a:txBody>
                  <a:tcPr>
                    <a:solidFill>
                      <a:schemeClr val="bg2"/>
                    </a:solidFill>
                  </a:tcPr>
                </a:tc>
                <a:tc>
                  <a:txBody>
                    <a:bodyPr/>
                    <a:lstStyle/>
                    <a:p>
                      <a:pPr algn="ctr"/>
                      <a:r>
                        <a:rPr lang="en-US" sz="1000" dirty="0"/>
                        <a:t>TPR</a:t>
                      </a:r>
                    </a:p>
                  </a:txBody>
                  <a:tcPr>
                    <a:solidFill>
                      <a:schemeClr val="bg2"/>
                    </a:solidFill>
                  </a:tcPr>
                </a:tc>
                <a:tc>
                  <a:txBody>
                    <a:bodyPr/>
                    <a:lstStyle/>
                    <a:p>
                      <a:pPr algn="ctr"/>
                      <a:r>
                        <a:rPr lang="en-US" sz="1000" dirty="0"/>
                        <a:t>FPR</a:t>
                      </a:r>
                    </a:p>
                  </a:txBody>
                  <a:tcPr>
                    <a:solidFill>
                      <a:schemeClr val="bg2"/>
                    </a:solidFill>
                  </a:tcPr>
                </a:tc>
                <a:tc>
                  <a:txBody>
                    <a:bodyPr/>
                    <a:lstStyle/>
                    <a:p>
                      <a:pPr algn="ctr"/>
                      <a:r>
                        <a:rPr lang="en-US" sz="1000" dirty="0"/>
                        <a:t>TPR-FPR</a:t>
                      </a:r>
                    </a:p>
                  </a:txBody>
                  <a:tcPr>
                    <a:solidFill>
                      <a:schemeClr val="bg2"/>
                    </a:solidFill>
                  </a:tcPr>
                </a:tc>
                <a:extLst>
                  <a:ext uri="{0D108BD9-81ED-4DB2-BD59-A6C34878D82A}">
                    <a16:rowId xmlns:a16="http://schemas.microsoft.com/office/drawing/2014/main" val="1495878295"/>
                  </a:ext>
                </a:extLst>
              </a:tr>
              <a:tr h="376397">
                <a:tc>
                  <a:txBody>
                    <a:bodyPr/>
                    <a:lstStyle/>
                    <a:p>
                      <a:pPr algn="ctr"/>
                      <a:r>
                        <a:rPr lang="en-US" sz="1000" dirty="0">
                          <a:solidFill>
                            <a:srgbClr val="000000"/>
                          </a:solidFill>
                          <a:effectLst/>
                          <a:latin typeface="Helvetica Neue" panose="02000503000000020004" pitchFamily="2" charset="0"/>
                        </a:rPr>
                        <a:t>P03903</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7.23</a:t>
                      </a:r>
                    </a:p>
                    <a:p>
                      <a:pPr algn="ctr" fontAlgn="b"/>
                      <a:endParaRPr lang="en-US" sz="1000" b="0" i="0" u="none" strike="noStrike" dirty="0">
                        <a:solidFill>
                          <a:srgbClr val="000000"/>
                        </a:solidFill>
                        <a:effectLst/>
                        <a:latin typeface="Calibri" panose="020F0502020204030204" pitchFamily="34" charset="0"/>
                      </a:endParaRPr>
                    </a:p>
                  </a:txBody>
                  <a:tcPr marL="9525" marR="9525" marT="9525" marB="0"/>
                </a:tc>
                <a:tc>
                  <a:txBody>
                    <a:bodyPr/>
                    <a:lstStyle/>
                    <a:p>
                      <a:pPr algn="ctr"/>
                      <a:r>
                        <a:rPr lang="en-US" sz="1000" dirty="0"/>
                        <a:t>TP</a:t>
                      </a:r>
                    </a:p>
                  </a:txBody>
                  <a:tcPr/>
                </a:tc>
                <a:tc>
                  <a:txBody>
                    <a:bodyPr/>
                    <a:lstStyle/>
                    <a:p>
                      <a:pPr algn="ctr"/>
                      <a:r>
                        <a:rPr lang="en-US" sz="1000" dirty="0"/>
                        <a:t>0/170</a:t>
                      </a:r>
                    </a:p>
                  </a:txBody>
                  <a:tcPr/>
                </a:tc>
                <a:tc>
                  <a:txBody>
                    <a:bodyPr/>
                    <a:lstStyle/>
                    <a:p>
                      <a:pPr algn="ctr"/>
                      <a:r>
                        <a:rPr lang="en-US" sz="1000" dirty="0"/>
                        <a:t>0/80</a:t>
                      </a:r>
                    </a:p>
                  </a:txBody>
                  <a:tcPr/>
                </a:tc>
                <a:tc>
                  <a:txBody>
                    <a:bodyPr/>
                    <a:lstStyle/>
                    <a:p>
                      <a:pPr algn="ctr"/>
                      <a:r>
                        <a:rPr lang="en-US" sz="1000" dirty="0"/>
                        <a:t>0</a:t>
                      </a:r>
                    </a:p>
                  </a:txBody>
                  <a:tcPr/>
                </a:tc>
                <a:extLst>
                  <a:ext uri="{0D108BD9-81ED-4DB2-BD59-A6C34878D82A}">
                    <a16:rowId xmlns:a16="http://schemas.microsoft.com/office/drawing/2014/main" val="1070786054"/>
                  </a:ext>
                </a:extLst>
              </a:tr>
              <a:tr h="376397">
                <a:tc>
                  <a:txBody>
                    <a:bodyPr/>
                    <a:lstStyle/>
                    <a:p>
                      <a:pPr algn="ctr"/>
                      <a:r>
                        <a:rPr lang="en-US" sz="1000" dirty="0">
                          <a:solidFill>
                            <a:srgbClr val="000000"/>
                          </a:solidFill>
                          <a:effectLst/>
                          <a:latin typeface="Helvetica Neue" panose="02000503000000020004" pitchFamily="2" charset="0"/>
                        </a:rPr>
                        <a:t>Q9EQ32</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5.78</a:t>
                      </a:r>
                    </a:p>
                    <a:p>
                      <a:pPr algn="ctr" fontAlgn="b"/>
                      <a:endParaRPr lang="en-US" sz="1000" b="0" i="0" u="none" strike="noStrike" dirty="0">
                        <a:solidFill>
                          <a:srgbClr val="000000"/>
                        </a:solidFill>
                        <a:effectLst/>
                        <a:latin typeface="Calibri" panose="020F0502020204030204" pitchFamily="34" charset="0"/>
                      </a:endParaRPr>
                    </a:p>
                  </a:txBody>
                  <a:tcPr marL="9525" marR="9525" marT="9525" marB="0"/>
                </a:tc>
                <a:tc>
                  <a:txBody>
                    <a:bodyPr/>
                    <a:lstStyle/>
                    <a:p>
                      <a:pPr algn="ctr"/>
                      <a:r>
                        <a:rPr lang="en-US" sz="1000" dirty="0"/>
                        <a:t>TP</a:t>
                      </a:r>
                    </a:p>
                  </a:txBody>
                  <a:tcPr/>
                </a:tc>
                <a:tc>
                  <a:txBody>
                    <a:bodyPr/>
                    <a:lstStyle/>
                    <a:p>
                      <a:pPr algn="ctr"/>
                      <a:r>
                        <a:rPr lang="en-US" sz="1000" dirty="0"/>
                        <a:t>1/170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0.05</a:t>
                      </a:r>
                    </a:p>
                  </a:txBody>
                  <a:tcPr/>
                </a:tc>
                <a:extLst>
                  <a:ext uri="{0D108BD9-81ED-4DB2-BD59-A6C34878D82A}">
                    <a16:rowId xmlns:a16="http://schemas.microsoft.com/office/drawing/2014/main" val="3447411185"/>
                  </a:ext>
                </a:extLst>
              </a:tr>
              <a:tr h="376397">
                <a:tc>
                  <a:txBody>
                    <a:bodyPr/>
                    <a:lstStyle/>
                    <a:p>
                      <a:pPr algn="ctr"/>
                      <a:r>
                        <a:rPr lang="en-US" sz="1000" dirty="0">
                          <a:solidFill>
                            <a:srgbClr val="000000"/>
                          </a:solidFill>
                          <a:effectLst/>
                          <a:latin typeface="Helvetica Neue" panose="02000503000000020004" pitchFamily="2" charset="0"/>
                        </a:rPr>
                        <a:t>Q3TYS2</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5.49</a:t>
                      </a:r>
                    </a:p>
                    <a:p>
                      <a:pPr algn="ctr" fontAlgn="b"/>
                      <a:endParaRPr lang="en-US" sz="1000" b="0" i="0" u="none" strike="noStrike" dirty="0">
                        <a:solidFill>
                          <a:srgbClr val="000000"/>
                        </a:solidFill>
                        <a:effectLst/>
                        <a:latin typeface="Calibri" panose="020F0502020204030204" pitchFamily="34" charset="0"/>
                      </a:endParaRPr>
                    </a:p>
                  </a:txBody>
                  <a:tcPr marL="9525" marR="9525" marT="9525" marB="0"/>
                </a:tc>
                <a:tc>
                  <a:txBody>
                    <a:bodyPr/>
                    <a:lstStyle/>
                    <a:p>
                      <a:pPr algn="ctr"/>
                      <a:r>
                        <a:rPr lang="en-US" sz="1000" dirty="0"/>
                        <a:t>TP</a:t>
                      </a:r>
                    </a:p>
                  </a:txBody>
                  <a:tcPr/>
                </a:tc>
                <a:tc>
                  <a:txBody>
                    <a:bodyPr/>
                    <a:lstStyle/>
                    <a:p>
                      <a:pPr algn="ctr"/>
                      <a:r>
                        <a:rPr lang="en-US" sz="1000" dirty="0"/>
                        <a:t>2/170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0.3</a:t>
                      </a:r>
                    </a:p>
                  </a:txBody>
                  <a:tcPr/>
                </a:tc>
                <a:extLst>
                  <a:ext uri="{0D108BD9-81ED-4DB2-BD59-A6C34878D82A}">
                    <a16:rowId xmlns:a16="http://schemas.microsoft.com/office/drawing/2014/main" val="455904354"/>
                  </a:ext>
                </a:extLst>
              </a:tr>
              <a:tr h="376397">
                <a:tc>
                  <a:txBody>
                    <a:bodyPr/>
                    <a:lstStyle/>
                    <a:p>
                      <a:pPr algn="ctr"/>
                      <a:r>
                        <a:rPr lang="en-US" sz="1000" dirty="0">
                          <a:solidFill>
                            <a:srgbClr val="000000"/>
                          </a:solidFill>
                          <a:effectLst/>
                          <a:latin typeface="Helvetica Neue" panose="02000503000000020004" pitchFamily="2" charset="0"/>
                        </a:rPr>
                        <a:t>A3KGB4</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5.37</a:t>
                      </a:r>
                    </a:p>
                    <a:p>
                      <a:pPr algn="ctr" fontAlgn="b"/>
                      <a:endParaRPr lang="en-US" sz="1000" b="0" i="0" u="none" strike="noStrike" dirty="0">
                        <a:solidFill>
                          <a:srgbClr val="000000"/>
                        </a:solidFill>
                        <a:effectLst/>
                        <a:latin typeface="Calibri" panose="020F0502020204030204" pitchFamily="34" charset="0"/>
                      </a:endParaRPr>
                    </a:p>
                  </a:txBody>
                  <a:tcPr marL="9525" marR="9525" marT="9525" marB="0"/>
                </a:tc>
                <a:tc>
                  <a:txBody>
                    <a:bodyPr/>
                    <a:lstStyle/>
                    <a:p>
                      <a:pPr algn="ctr"/>
                      <a:endParaRPr lang="en-US" sz="1000" dirty="0"/>
                    </a:p>
                  </a:txBody>
                  <a:tcPr/>
                </a:tc>
                <a:tc>
                  <a:txBody>
                    <a:bodyPr/>
                    <a:lstStyle/>
                    <a:p>
                      <a:pPr algn="ctr"/>
                      <a:r>
                        <a:rPr lang="en-US" sz="1000" dirty="0"/>
                        <a:t>3/170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0.5</a:t>
                      </a:r>
                    </a:p>
                  </a:txBody>
                  <a:tcPr/>
                </a:tc>
                <a:extLst>
                  <a:ext uri="{0D108BD9-81ED-4DB2-BD59-A6C34878D82A}">
                    <a16:rowId xmlns:a16="http://schemas.microsoft.com/office/drawing/2014/main" val="1594879219"/>
                  </a:ext>
                </a:extLst>
              </a:tr>
              <a:tr h="376397">
                <a:tc>
                  <a:txBody>
                    <a:bodyPr/>
                    <a:lstStyle/>
                    <a:p>
                      <a:pPr algn="ctr"/>
                      <a:r>
                        <a:rPr lang="en-US" sz="1000" dirty="0">
                          <a:solidFill>
                            <a:srgbClr val="000000"/>
                          </a:solidFill>
                          <a:effectLst/>
                          <a:latin typeface="Helvetica Neue" panose="02000503000000020004" pitchFamily="2" charset="0"/>
                        </a:rPr>
                        <a:t>Q9D7H3</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5.33</a:t>
                      </a:r>
                    </a:p>
                  </a:txBody>
                  <a:tcPr marL="9525" marR="9525" marT="9525" marB="0"/>
                </a:tc>
                <a:tc>
                  <a:txBody>
                    <a:bodyPr/>
                    <a:lstStyle/>
                    <a:p>
                      <a:pPr algn="ctr"/>
                      <a:endParaRPr lang="en-US" sz="1000" dirty="0"/>
                    </a:p>
                  </a:txBody>
                  <a:tcPr/>
                </a:tc>
                <a:tc>
                  <a:txBody>
                    <a:bodyPr/>
                    <a:lstStyle/>
                    <a:p>
                      <a:pPr algn="ctr"/>
                      <a:r>
                        <a:rPr lang="en-US" sz="1000" dirty="0"/>
                        <a:t>3/170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0.7</a:t>
                      </a:r>
                    </a:p>
                  </a:txBody>
                  <a:tcPr/>
                </a:tc>
                <a:extLst>
                  <a:ext uri="{0D108BD9-81ED-4DB2-BD59-A6C34878D82A}">
                    <a16:rowId xmlns:a16="http://schemas.microsoft.com/office/drawing/2014/main" val="2702846260"/>
                  </a:ext>
                </a:extLst>
              </a:tr>
              <a:tr h="376397">
                <a:tc>
                  <a:txBody>
                    <a:bodyPr/>
                    <a:lstStyle/>
                    <a:p>
                      <a:pPr algn="ctr"/>
                      <a:r>
                        <a:rPr lang="en-US" sz="1000" dirty="0">
                          <a:solidFill>
                            <a:srgbClr val="000000"/>
                          </a:solidFill>
                          <a:effectLst/>
                          <a:latin typeface="Helvetica Neue" panose="02000503000000020004" pitchFamily="2" charset="0"/>
                        </a:rPr>
                        <a:t>Q9CZR8</a:t>
                      </a:r>
                      <a:endParaRPr lang="en-US" sz="1000" dirty="0">
                        <a:effectLst/>
                      </a:endParaRPr>
                    </a:p>
                  </a:txBody>
                  <a:tcPr marL="38100" marR="38100" marT="38100" marB="38100"/>
                </a:tc>
                <a:tc>
                  <a:txBody>
                    <a:bodyPr/>
                    <a:lstStyle/>
                    <a:p>
                      <a:pPr algn="ctr" fontAlgn="b"/>
                      <a:r>
                        <a:rPr lang="en-US" sz="1000" b="0" i="0" u="none" strike="noStrike" dirty="0">
                          <a:solidFill>
                            <a:srgbClr val="000000"/>
                          </a:solidFill>
                          <a:effectLst/>
                          <a:latin typeface="Calibri" panose="020F0502020204030204" pitchFamily="34" charset="0"/>
                        </a:rPr>
                        <a:t>5.31</a:t>
                      </a:r>
                    </a:p>
                  </a:txBody>
                  <a:tcPr marL="9525" marR="9525" marT="9525" marB="0"/>
                </a:tc>
                <a:tc>
                  <a:txBody>
                    <a:bodyPr/>
                    <a:lstStyle/>
                    <a:p>
                      <a:pPr algn="ctr"/>
                      <a:r>
                        <a:rPr lang="en-US" sz="1000" dirty="0"/>
                        <a:t>TP</a:t>
                      </a:r>
                    </a:p>
                  </a:txBody>
                  <a:tcPr/>
                </a:tc>
                <a:tc>
                  <a:txBody>
                    <a:bodyPr/>
                    <a:lstStyle/>
                    <a:p>
                      <a:pPr algn="ctr"/>
                      <a:r>
                        <a:rPr lang="en-US" sz="1000" dirty="0"/>
                        <a:t>4/170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0.8</a:t>
                      </a:r>
                    </a:p>
                  </a:txBody>
                  <a:tcPr/>
                </a:tc>
                <a:extLst>
                  <a:ext uri="{0D108BD9-81ED-4DB2-BD59-A6C34878D82A}">
                    <a16:rowId xmlns:a16="http://schemas.microsoft.com/office/drawing/2014/main" val="834289665"/>
                  </a:ext>
                </a:extLst>
              </a:tr>
            </a:tbl>
          </a:graphicData>
        </a:graphic>
      </p:graphicFrame>
      <p:pic>
        <p:nvPicPr>
          <p:cNvPr id="15" name="Graphic 14" descr="Checkmark with solid fill">
            <a:extLst>
              <a:ext uri="{FF2B5EF4-FFF2-40B4-BE49-F238E27FC236}">
                <a16:creationId xmlns:a16="http://schemas.microsoft.com/office/drawing/2014/main" id="{8B992114-F0CF-1E41-9547-9E91311AFF0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84969" y="2284625"/>
            <a:ext cx="428838" cy="428838"/>
          </a:xfrm>
          <a:prstGeom prst="rect">
            <a:avLst/>
          </a:prstGeom>
        </p:spPr>
      </p:pic>
      <p:pic>
        <p:nvPicPr>
          <p:cNvPr id="17" name="Graphic 16" descr="Checkmark with solid fill">
            <a:extLst>
              <a:ext uri="{FF2B5EF4-FFF2-40B4-BE49-F238E27FC236}">
                <a16:creationId xmlns:a16="http://schemas.microsoft.com/office/drawing/2014/main" id="{EB756B14-9850-D043-B4F7-694A1B287EE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27828" y="2285171"/>
            <a:ext cx="428838" cy="428838"/>
          </a:xfrm>
          <a:prstGeom prst="rect">
            <a:avLst/>
          </a:prstGeom>
        </p:spPr>
      </p:pic>
      <p:pic>
        <p:nvPicPr>
          <p:cNvPr id="18" name="Graphic 17" descr="Checkmark with solid fill">
            <a:extLst>
              <a:ext uri="{FF2B5EF4-FFF2-40B4-BE49-F238E27FC236}">
                <a16:creationId xmlns:a16="http://schemas.microsoft.com/office/drawing/2014/main" id="{D8B98844-BD61-2742-845A-BA7CCBAF418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12257" y="2284625"/>
            <a:ext cx="428838" cy="428838"/>
          </a:xfrm>
          <a:prstGeom prst="rect">
            <a:avLst/>
          </a:prstGeom>
        </p:spPr>
      </p:pic>
      <p:pic>
        <p:nvPicPr>
          <p:cNvPr id="19" name="Graphic 18" descr="Checkmark with solid fill">
            <a:extLst>
              <a:ext uri="{FF2B5EF4-FFF2-40B4-BE49-F238E27FC236}">
                <a16:creationId xmlns:a16="http://schemas.microsoft.com/office/drawing/2014/main" id="{F5CB7522-00D0-1A45-B2AC-AB822E595B8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68435" y="2284625"/>
            <a:ext cx="428838" cy="428838"/>
          </a:xfrm>
          <a:prstGeom prst="rect">
            <a:avLst/>
          </a:prstGeom>
        </p:spPr>
      </p:pic>
      <p:pic>
        <p:nvPicPr>
          <p:cNvPr id="20" name="Graphic 19" descr="Checkmark with solid fill">
            <a:extLst>
              <a:ext uri="{FF2B5EF4-FFF2-40B4-BE49-F238E27FC236}">
                <a16:creationId xmlns:a16="http://schemas.microsoft.com/office/drawing/2014/main" id="{73230245-E0F2-B343-94BA-14EB06BD0B4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24613" y="2284625"/>
            <a:ext cx="428838" cy="428838"/>
          </a:xfrm>
          <a:prstGeom prst="rect">
            <a:avLst/>
          </a:prstGeom>
        </p:spPr>
      </p:pic>
      <p:pic>
        <p:nvPicPr>
          <p:cNvPr id="21" name="Graphic 20" descr="Checkmark with solid fill">
            <a:extLst>
              <a:ext uri="{FF2B5EF4-FFF2-40B4-BE49-F238E27FC236}">
                <a16:creationId xmlns:a16="http://schemas.microsoft.com/office/drawing/2014/main" id="{5CFE03E1-98AF-1E41-862A-1B29E88682D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58966" y="2284625"/>
            <a:ext cx="428838" cy="428838"/>
          </a:xfrm>
          <a:prstGeom prst="rect">
            <a:avLst/>
          </a:prstGeom>
        </p:spPr>
      </p:pic>
      <p:pic>
        <p:nvPicPr>
          <p:cNvPr id="22" name="Graphic 21" descr="Checkmark with solid fill">
            <a:extLst>
              <a:ext uri="{FF2B5EF4-FFF2-40B4-BE49-F238E27FC236}">
                <a16:creationId xmlns:a16="http://schemas.microsoft.com/office/drawing/2014/main" id="{F71640B5-0461-014D-B85A-1B3AB81478F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53110" y="2308707"/>
            <a:ext cx="428838" cy="428838"/>
          </a:xfrm>
          <a:prstGeom prst="rect">
            <a:avLst/>
          </a:prstGeom>
        </p:spPr>
      </p:pic>
      <p:sp>
        <p:nvSpPr>
          <p:cNvPr id="25" name="Rectangle 24">
            <a:extLst>
              <a:ext uri="{FF2B5EF4-FFF2-40B4-BE49-F238E27FC236}">
                <a16:creationId xmlns:a16="http://schemas.microsoft.com/office/drawing/2014/main" id="{E69A9759-00DC-A147-8A4A-0BBDB25E7AE8}"/>
              </a:ext>
            </a:extLst>
          </p:cNvPr>
          <p:cNvSpPr/>
          <p:nvPr/>
        </p:nvSpPr>
        <p:spPr>
          <a:xfrm>
            <a:off x="4999512" y="3142660"/>
            <a:ext cx="451262" cy="2654622"/>
          </a:xfrm>
          <a:prstGeom prst="rect">
            <a:avLst/>
          </a:prstGeom>
          <a:solidFill>
            <a:srgbClr val="4472C4">
              <a:alpha val="1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C39512-5F09-454C-8B53-654276A0C9E7}"/>
              </a:ext>
            </a:extLst>
          </p:cNvPr>
          <p:cNvSpPr/>
          <p:nvPr/>
        </p:nvSpPr>
        <p:spPr>
          <a:xfrm>
            <a:off x="6986053" y="3142660"/>
            <a:ext cx="451262" cy="2654622"/>
          </a:xfrm>
          <a:prstGeom prst="rect">
            <a:avLst/>
          </a:prstGeom>
          <a:solidFill>
            <a:srgbClr val="4472C4">
              <a:alpha val="1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C0C7A50-E47A-F549-8637-9FFBAA6A6568}"/>
              </a:ext>
            </a:extLst>
          </p:cNvPr>
          <p:cNvSpPr/>
          <p:nvPr/>
        </p:nvSpPr>
        <p:spPr>
          <a:xfrm>
            <a:off x="7010602" y="3006575"/>
            <a:ext cx="700644" cy="30412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5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10" grpId="0"/>
      <p:bldP spid="25" grpId="1" animBg="1"/>
      <p:bldP spid="26" grpId="1"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40340F-5FFE-8B49-B655-C71DF317E237}"/>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19</a:t>
            </a:fld>
            <a:endParaRPr kumimoji="0" lang="en-US" sz="1200" b="0" i="0" u="none" strike="noStrike" kern="1200" cap="none" spc="20" normalizeH="0" baseline="0" noProof="0" dirty="0">
              <a:ln>
                <a:noFill/>
              </a:ln>
              <a:solidFill>
                <a:srgbClr val="000000"/>
              </a:solidFill>
              <a:effectLst/>
              <a:uLnTx/>
              <a:uFillTx/>
              <a:latin typeface="Avenir Next LT Pro"/>
              <a:ea typeface="+mn-ea"/>
              <a:cs typeface="+mn-cs"/>
            </a:endParaRPr>
          </a:p>
        </p:txBody>
      </p:sp>
      <p:pic>
        <p:nvPicPr>
          <p:cNvPr id="12" name="Picture 11" descr="Chart, line chart&#10;&#10;Description automatically generated">
            <a:extLst>
              <a:ext uri="{FF2B5EF4-FFF2-40B4-BE49-F238E27FC236}">
                <a16:creationId xmlns:a16="http://schemas.microsoft.com/office/drawing/2014/main" id="{EA1EA904-9AC8-A243-80A4-C089394852CF}"/>
              </a:ext>
            </a:extLst>
          </p:cNvPr>
          <p:cNvPicPr>
            <a:picLocks noChangeAspect="1"/>
          </p:cNvPicPr>
          <p:nvPr/>
        </p:nvPicPr>
        <p:blipFill>
          <a:blip r:embed="rId3"/>
          <a:stretch>
            <a:fillRect/>
          </a:stretch>
        </p:blipFill>
        <p:spPr>
          <a:xfrm>
            <a:off x="3781889" y="1826420"/>
            <a:ext cx="4628221" cy="3085481"/>
          </a:xfrm>
          <a:prstGeom prst="rect">
            <a:avLst/>
          </a:prstGeom>
        </p:spPr>
      </p:pic>
      <p:sp>
        <p:nvSpPr>
          <p:cNvPr id="32" name="TextBox 31">
            <a:extLst>
              <a:ext uri="{FF2B5EF4-FFF2-40B4-BE49-F238E27FC236}">
                <a16:creationId xmlns:a16="http://schemas.microsoft.com/office/drawing/2014/main" id="{AAAF769F-DD1E-2D4D-9E35-F503482F5EDE}"/>
              </a:ext>
            </a:extLst>
          </p:cNvPr>
          <p:cNvSpPr txBox="1"/>
          <p:nvPr/>
        </p:nvSpPr>
        <p:spPr>
          <a:xfrm>
            <a:off x="249655" y="5452446"/>
            <a:ext cx="10474566" cy="774571"/>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1000"/>
              </a:spcBef>
              <a:spcAft>
                <a:spcPts val="0"/>
              </a:spcAft>
              <a:buClr>
                <a:schemeClr val="tx1"/>
              </a:buClr>
              <a:buSzTx/>
              <a:buFont typeface="Arial" panose="020B0604020202020204" pitchFamily="34" charset="0"/>
              <a:buChar char="•"/>
              <a:tabLst/>
              <a:defRPr/>
            </a:pPr>
            <a:r>
              <a:rPr kumimoji="0" lang="en-US" sz="18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Proteins above the determined TMT ratio cutoff are considered to be biotinylated proteins</a:t>
            </a:r>
          </a:p>
          <a:p>
            <a:pPr marL="742950" marR="0" lvl="1" indent="-285750" algn="l" defTabSz="914400" rtl="0" eaLnBrk="1" fontAlgn="auto" latinLnBrk="0" hangingPunct="1">
              <a:lnSpc>
                <a:spcPct val="100000"/>
              </a:lnSpc>
              <a:spcBef>
                <a:spcPts val="1000"/>
              </a:spcBef>
              <a:spcAft>
                <a:spcPts val="0"/>
              </a:spcAft>
              <a:buClr>
                <a:schemeClr val="tx1"/>
              </a:buClr>
              <a:buSzTx/>
              <a:buFont typeface="Arial" panose="020B0604020202020204" pitchFamily="34" charset="0"/>
              <a:buChar char="•"/>
              <a:tabLst/>
              <a:defRPr/>
            </a:pPr>
            <a:r>
              <a:rPr kumimoji="0" lang="en-US" sz="18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Proteins below the cutoff are considered to be likely nonspecific binders</a:t>
            </a:r>
            <a:endParaRPr kumimoji="0" lang="en-US" sz="18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endParaRPr>
          </a:p>
        </p:txBody>
      </p:sp>
      <p:sp>
        <p:nvSpPr>
          <p:cNvPr id="20" name="Title 1">
            <a:extLst>
              <a:ext uri="{FF2B5EF4-FFF2-40B4-BE49-F238E27FC236}">
                <a16:creationId xmlns:a16="http://schemas.microsoft.com/office/drawing/2014/main" id="{23F973E6-C002-2742-8444-E3D6062B976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Interpretation</a:t>
            </a:r>
            <a:endParaRPr lang="en-US" b="1" dirty="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9CBAC1F1-1463-C94A-9349-24934A025EAE}"/>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4</a:t>
            </a:r>
          </a:p>
        </p:txBody>
      </p:sp>
      <p:sp>
        <p:nvSpPr>
          <p:cNvPr id="2" name="Rectangle 1">
            <a:extLst>
              <a:ext uri="{FF2B5EF4-FFF2-40B4-BE49-F238E27FC236}">
                <a16:creationId xmlns:a16="http://schemas.microsoft.com/office/drawing/2014/main" id="{4D48C11B-6640-7340-B38B-DD5E18867A4B}"/>
              </a:ext>
            </a:extLst>
          </p:cNvPr>
          <p:cNvSpPr/>
          <p:nvPr/>
        </p:nvSpPr>
        <p:spPr>
          <a:xfrm>
            <a:off x="6095999" y="2196935"/>
            <a:ext cx="1850171" cy="2339439"/>
          </a:xfrm>
          <a:prstGeom prst="rect">
            <a:avLst/>
          </a:prstGeom>
          <a:solidFill>
            <a:srgbClr val="447228">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F0F935E-B6A7-B245-869D-F5B7A45017C3}"/>
              </a:ext>
            </a:extLst>
          </p:cNvPr>
          <p:cNvSpPr txBox="1"/>
          <p:nvPr/>
        </p:nvSpPr>
        <p:spPr>
          <a:xfrm>
            <a:off x="6556756" y="2360992"/>
            <a:ext cx="1305870" cy="369332"/>
          </a:xfrm>
          <a:prstGeom prst="rect">
            <a:avLst/>
          </a:prstGeom>
          <a:noFill/>
        </p:spPr>
        <p:txBody>
          <a:bodyPr wrap="none" rtlCol="0">
            <a:spAutoFit/>
          </a:bodyPr>
          <a:lstStyle/>
          <a:p>
            <a:r>
              <a:rPr lang="en-US" dirty="0"/>
              <a:t>biotinylated</a:t>
            </a:r>
          </a:p>
        </p:txBody>
      </p:sp>
    </p:spTree>
    <p:extLst>
      <p:ext uri="{BB962C8B-B14F-4D97-AF65-F5344CB8AC3E}">
        <p14:creationId xmlns:p14="http://schemas.microsoft.com/office/powerpoint/2010/main" val="1459409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4E672E-D387-8B4B-BC3B-09204C445C1A}"/>
              </a:ext>
            </a:extLst>
          </p:cNvPr>
          <p:cNvSpPr>
            <a:spLocks noGrp="1"/>
          </p:cNvSpPr>
          <p:nvPr>
            <p:ph type="sldNum" sz="quarter" idx="12"/>
          </p:nvPr>
        </p:nvSpPr>
        <p:spPr/>
        <p:txBody>
          <a:bodyPr/>
          <a:lstStyle/>
          <a:p>
            <a:fld id="{1621B6DD-29C1-4FEA-923F-71EA1347694C}" type="slidenum">
              <a:rPr lang="en-US" smtClean="0">
                <a:solidFill>
                  <a:schemeClr val="tx1"/>
                </a:solidFill>
              </a:rPr>
              <a:t>20</a:t>
            </a:fld>
            <a:endParaRPr lang="en-US">
              <a:solidFill>
                <a:schemeClr val="tx1"/>
              </a:solidFill>
            </a:endParaRPr>
          </a:p>
        </p:txBody>
      </p:sp>
      <p:pic>
        <p:nvPicPr>
          <p:cNvPr id="67" name="Picture 66" descr="Chart, histogram&#10;&#10;Description automatically generated">
            <a:extLst>
              <a:ext uri="{FF2B5EF4-FFF2-40B4-BE49-F238E27FC236}">
                <a16:creationId xmlns:a16="http://schemas.microsoft.com/office/drawing/2014/main" id="{9B9A1E52-27E5-E14B-912C-8BFAEC8180BB}"/>
              </a:ext>
            </a:extLst>
          </p:cNvPr>
          <p:cNvPicPr>
            <a:picLocks noChangeAspect="1"/>
          </p:cNvPicPr>
          <p:nvPr/>
        </p:nvPicPr>
        <p:blipFill>
          <a:blip r:embed="rId2"/>
          <a:stretch>
            <a:fillRect/>
          </a:stretch>
        </p:blipFill>
        <p:spPr>
          <a:xfrm>
            <a:off x="6274626" y="2221154"/>
            <a:ext cx="5165063" cy="3443375"/>
          </a:xfrm>
          <a:prstGeom prst="rect">
            <a:avLst/>
          </a:prstGeom>
        </p:spPr>
      </p:pic>
      <p:pic>
        <p:nvPicPr>
          <p:cNvPr id="71" name="Picture 70" descr="Chart, bar chart&#10;&#10;Description automatically generated">
            <a:extLst>
              <a:ext uri="{FF2B5EF4-FFF2-40B4-BE49-F238E27FC236}">
                <a16:creationId xmlns:a16="http://schemas.microsoft.com/office/drawing/2014/main" id="{00687502-5937-5047-9A85-A8B72BA7D0A7}"/>
              </a:ext>
            </a:extLst>
          </p:cNvPr>
          <p:cNvPicPr>
            <a:picLocks noChangeAspect="1"/>
          </p:cNvPicPr>
          <p:nvPr/>
        </p:nvPicPr>
        <p:blipFill>
          <a:blip r:embed="rId3"/>
          <a:stretch>
            <a:fillRect/>
          </a:stretch>
        </p:blipFill>
        <p:spPr>
          <a:xfrm>
            <a:off x="1109564" y="2221154"/>
            <a:ext cx="5165062" cy="3443375"/>
          </a:xfrm>
          <a:prstGeom prst="rect">
            <a:avLst/>
          </a:prstGeom>
        </p:spPr>
      </p:pic>
      <p:sp>
        <p:nvSpPr>
          <p:cNvPr id="34" name="TextBox 33">
            <a:extLst>
              <a:ext uri="{FF2B5EF4-FFF2-40B4-BE49-F238E27FC236}">
                <a16:creationId xmlns:a16="http://schemas.microsoft.com/office/drawing/2014/main" id="{AFDAB377-1364-164C-95A9-07EE26404D7C}"/>
              </a:ext>
            </a:extLst>
          </p:cNvPr>
          <p:cNvSpPr txBox="1"/>
          <p:nvPr/>
        </p:nvSpPr>
        <p:spPr>
          <a:xfrm>
            <a:off x="834841" y="596932"/>
            <a:ext cx="6097978" cy="7540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Interpretation</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9" name="Straight Connector 8">
            <a:extLst>
              <a:ext uri="{FF2B5EF4-FFF2-40B4-BE49-F238E27FC236}">
                <a16:creationId xmlns:a16="http://schemas.microsoft.com/office/drawing/2014/main" id="{5B8B9FBC-EA52-914F-B59B-78253E838987}"/>
              </a:ext>
            </a:extLst>
          </p:cNvPr>
          <p:cNvCxnSpPr/>
          <p:nvPr/>
        </p:nvCxnSpPr>
        <p:spPr>
          <a:xfrm>
            <a:off x="8443356" y="2624447"/>
            <a:ext cx="0" cy="2624447"/>
          </a:xfrm>
          <a:prstGeom prst="line">
            <a:avLst/>
          </a:prstGeom>
          <a:ln w="57150"/>
        </p:spPr>
        <p:style>
          <a:lnRef idx="1">
            <a:schemeClr val="accent4"/>
          </a:lnRef>
          <a:fillRef idx="0">
            <a:schemeClr val="accent4"/>
          </a:fillRef>
          <a:effectRef idx="0">
            <a:schemeClr val="accent4"/>
          </a:effectRef>
          <a:fontRef idx="minor">
            <a:schemeClr val="tx1"/>
          </a:fontRef>
        </p:style>
      </p:cxnSp>
      <p:sp>
        <p:nvSpPr>
          <p:cNvPr id="10" name="TextBox 9">
            <a:extLst>
              <a:ext uri="{FF2B5EF4-FFF2-40B4-BE49-F238E27FC236}">
                <a16:creationId xmlns:a16="http://schemas.microsoft.com/office/drawing/2014/main" id="{AD186968-B9B7-7147-9305-7BCF84EDCADB}"/>
              </a:ext>
            </a:extLst>
          </p:cNvPr>
          <p:cNvSpPr txBox="1"/>
          <p:nvPr/>
        </p:nvSpPr>
        <p:spPr>
          <a:xfrm>
            <a:off x="8443356" y="2624447"/>
            <a:ext cx="778739" cy="369332"/>
          </a:xfrm>
          <a:prstGeom prst="rect">
            <a:avLst/>
          </a:prstGeom>
          <a:noFill/>
        </p:spPr>
        <p:txBody>
          <a:bodyPr wrap="none" rtlCol="0">
            <a:spAutoFit/>
          </a:bodyPr>
          <a:lstStyle/>
          <a:p>
            <a:r>
              <a:rPr lang="en-US" b="1" dirty="0">
                <a:solidFill>
                  <a:schemeClr val="accent4"/>
                </a:solidFill>
              </a:rPr>
              <a:t>Cutoff</a:t>
            </a:r>
          </a:p>
        </p:txBody>
      </p:sp>
    </p:spTree>
    <p:extLst>
      <p:ext uri="{BB962C8B-B14F-4D97-AF65-F5344CB8AC3E}">
        <p14:creationId xmlns:p14="http://schemas.microsoft.com/office/powerpoint/2010/main" val="583738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DE06309-147D-2543-B351-DC41490E55CA}"/>
              </a:ext>
            </a:extLst>
          </p:cNvPr>
          <p:cNvSpPr/>
          <p:nvPr/>
        </p:nvSpPr>
        <p:spPr>
          <a:xfrm>
            <a:off x="7234326" y="3863081"/>
            <a:ext cx="2039947"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 name="Title 1">
            <a:extLst>
              <a:ext uri="{FF2B5EF4-FFF2-40B4-BE49-F238E27FC236}">
                <a16:creationId xmlns:a16="http://schemas.microsoft.com/office/drawing/2014/main" id="{062E6DC6-9E0D-BF41-BD13-30B6C7CD2269}"/>
              </a:ext>
            </a:extLst>
          </p:cNvPr>
          <p:cNvSpPr>
            <a:spLocks noGrp="1"/>
          </p:cNvSpPr>
          <p:nvPr>
            <p:ph type="title"/>
          </p:nvPr>
        </p:nvSpPr>
        <p:spPr>
          <a:xfrm>
            <a:off x="3956635" y="295524"/>
            <a:ext cx="4810431" cy="1325563"/>
          </a:xfrm>
        </p:spPr>
        <p:txBody>
          <a:bodyPr>
            <a:normAutofit/>
          </a:bodyPr>
          <a:lstStyle/>
          <a:p>
            <a:r>
              <a:rPr lang="en-US" sz="4000" b="1" dirty="0">
                <a:latin typeface="Times New Roman" panose="02020603050405020304" pitchFamily="18" charset="0"/>
                <a:cs typeface="Times New Roman" panose="02020603050405020304" pitchFamily="18" charset="0"/>
              </a:rPr>
              <a:t>Analysis Overview</a:t>
            </a:r>
          </a:p>
        </p:txBody>
      </p:sp>
      <p:sp>
        <p:nvSpPr>
          <p:cNvPr id="24" name="Slide Number Placeholder 23">
            <a:extLst>
              <a:ext uri="{FF2B5EF4-FFF2-40B4-BE49-F238E27FC236}">
                <a16:creationId xmlns:a16="http://schemas.microsoft.com/office/drawing/2014/main" id="{6808399C-4025-F643-B6F0-2B20B9604BB3}"/>
              </a:ext>
            </a:extLst>
          </p:cNvPr>
          <p:cNvSpPr>
            <a:spLocks noGrp="1"/>
          </p:cNvSpPr>
          <p:nvPr>
            <p:ph type="sldNum" sz="quarter" idx="12"/>
          </p:nvPr>
        </p:nvSpPr>
        <p:spPr/>
        <p:txBody>
          <a:bodyPr/>
          <a:lstStyle/>
          <a:p>
            <a:fld id="{1621B6DD-29C1-4FEA-923F-71EA1347694C}" type="slidenum">
              <a:rPr lang="en-US" sz="1500" b="1" smtClean="0">
                <a:solidFill>
                  <a:schemeClr val="tx1"/>
                </a:solidFill>
                <a:latin typeface="Segoe UI Semibold" panose="020B0502040204020203" pitchFamily="34" charset="0"/>
                <a:cs typeface="Segoe UI Semibold" panose="020B0502040204020203" pitchFamily="34" charset="0"/>
              </a:rPr>
              <a:t>21</a:t>
            </a:fld>
            <a:endParaRPr lang="en-US" sz="1500" b="1" dirty="0">
              <a:solidFill>
                <a:schemeClr val="tx1"/>
              </a:solidFill>
              <a:latin typeface="Segoe UI Semibold" panose="020B0502040204020203" pitchFamily="34" charset="0"/>
              <a:cs typeface="Segoe UI Semibold" panose="020B0502040204020203" pitchFamily="34" charset="0"/>
            </a:endParaRPr>
          </a:p>
        </p:txBody>
      </p:sp>
      <p:cxnSp>
        <p:nvCxnSpPr>
          <p:cNvPr id="5" name="Straight Arrow Connector 4">
            <a:extLst>
              <a:ext uri="{FF2B5EF4-FFF2-40B4-BE49-F238E27FC236}">
                <a16:creationId xmlns:a16="http://schemas.microsoft.com/office/drawing/2014/main" id="{D9693CFF-05E7-E342-ADCD-4E6EBF2F73F0}"/>
              </a:ext>
            </a:extLst>
          </p:cNvPr>
          <p:cNvCxnSpPr/>
          <p:nvPr/>
        </p:nvCxnSpPr>
        <p:spPr>
          <a:xfrm>
            <a:off x="2836390" y="262464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126FEC83-0A19-444D-B1ED-9E75E99D108E}"/>
              </a:ext>
            </a:extLst>
          </p:cNvPr>
          <p:cNvSpPr/>
          <p:nvPr/>
        </p:nvSpPr>
        <p:spPr>
          <a:xfrm>
            <a:off x="3358564" y="2020734"/>
            <a:ext cx="5430188" cy="13159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tx1"/>
                </a:solidFill>
                <a:latin typeface="Segoe UI Semibold" panose="020B0502040204020203" pitchFamily="34" charset="0"/>
                <a:cs typeface="Segoe UI Semibold" panose="020B0502040204020203" pitchFamily="34" charset="0"/>
              </a:rPr>
              <a:t>Peptide filtering:</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non unique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Remove not fully tryptic peptides</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Allowed number of missed cleavage sites: 1</a:t>
            </a:r>
          </a:p>
          <a:p>
            <a:pPr marL="285750" indent="-285750">
              <a:buFont typeface="Arial" panose="020B0604020202020204" pitchFamily="34" charset="0"/>
              <a:buChar char="•"/>
            </a:pPr>
            <a:r>
              <a:rPr lang="en-US" sz="1500" b="1" dirty="0">
                <a:solidFill>
                  <a:schemeClr val="tx1"/>
                </a:solidFill>
                <a:latin typeface="Segoe UI Semibold" panose="020B0502040204020203" pitchFamily="34" charset="0"/>
                <a:cs typeface="Segoe UI Semibold" panose="020B0502040204020203" pitchFamily="34" charset="0"/>
              </a:rPr>
              <a:t>Min 1 | 2 peptides per protein</a:t>
            </a:r>
          </a:p>
        </p:txBody>
      </p:sp>
      <p:pic>
        <p:nvPicPr>
          <p:cNvPr id="7" name="Graphic 6" descr="Open folder with solid fill">
            <a:extLst>
              <a:ext uri="{FF2B5EF4-FFF2-40B4-BE49-F238E27FC236}">
                <a16:creationId xmlns:a16="http://schemas.microsoft.com/office/drawing/2014/main" id="{09A339EC-F7B1-E84C-BB48-79F329F5E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3941" y="2002273"/>
            <a:ext cx="554618" cy="554618"/>
          </a:xfrm>
          <a:prstGeom prst="rect">
            <a:avLst/>
          </a:prstGeom>
        </p:spPr>
      </p:pic>
      <p:cxnSp>
        <p:nvCxnSpPr>
          <p:cNvPr id="8" name="Elbow Connector 7">
            <a:extLst>
              <a:ext uri="{FF2B5EF4-FFF2-40B4-BE49-F238E27FC236}">
                <a16:creationId xmlns:a16="http://schemas.microsoft.com/office/drawing/2014/main" id="{8AEB9AE0-1154-F14C-937A-DDE61B2F9E14}"/>
              </a:ext>
            </a:extLst>
          </p:cNvPr>
          <p:cNvCxnSpPr>
            <a:cxnSpLocks/>
            <a:stCxn id="7" idx="3"/>
          </p:cNvCxnSpPr>
          <p:nvPr/>
        </p:nvCxnSpPr>
        <p:spPr>
          <a:xfrm>
            <a:off x="1998559" y="2279582"/>
            <a:ext cx="422699" cy="3450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DD1A67-8332-8D4E-9AE7-AAA7274CC52A}"/>
              </a:ext>
            </a:extLst>
          </p:cNvPr>
          <p:cNvCxnSpPr/>
          <p:nvPr/>
        </p:nvCxnSpPr>
        <p:spPr>
          <a:xfrm>
            <a:off x="8895393" y="2608723"/>
            <a:ext cx="434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2EEA2B7-5A7E-4C43-9995-1FAAD724831D}"/>
              </a:ext>
            </a:extLst>
          </p:cNvPr>
          <p:cNvSpPr txBox="1"/>
          <p:nvPr/>
        </p:nvSpPr>
        <p:spPr>
          <a:xfrm>
            <a:off x="9379244" y="2262057"/>
            <a:ext cx="2255291" cy="784830"/>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Peptide SI per protein </a:t>
            </a:r>
          </a:p>
          <a:p>
            <a:pPr algn="ctr"/>
            <a:r>
              <a:rPr lang="en-US" sz="1500" b="1" dirty="0">
                <a:latin typeface="Segoe UI Semibold" panose="020B0502040204020203" pitchFamily="34" charset="0"/>
                <a:cs typeface="Segoe UI Semibold" panose="020B0502040204020203" pitchFamily="34" charset="0"/>
              </a:rPr>
              <a:t>are summed</a:t>
            </a:r>
          </a:p>
          <a:p>
            <a:pPr algn="ctr"/>
            <a:r>
              <a:rPr lang="en-US" sz="1500" b="1" dirty="0">
                <a:latin typeface="Segoe UI Semibold" panose="020B0502040204020203" pitchFamily="34" charset="0"/>
                <a:cs typeface="Segoe UI Semibold" panose="020B0502040204020203" pitchFamily="34" charset="0"/>
              </a:rPr>
              <a:t>(=summed protein SI)</a:t>
            </a:r>
          </a:p>
        </p:txBody>
      </p:sp>
      <p:cxnSp>
        <p:nvCxnSpPr>
          <p:cNvPr id="12" name="Straight Arrow Connector 11">
            <a:extLst>
              <a:ext uri="{FF2B5EF4-FFF2-40B4-BE49-F238E27FC236}">
                <a16:creationId xmlns:a16="http://schemas.microsoft.com/office/drawing/2014/main" id="{9E7A6660-3933-B043-92F9-4E40AAE4EDF9}"/>
              </a:ext>
            </a:extLst>
          </p:cNvPr>
          <p:cNvCxnSpPr>
            <a:cxnSpLocks/>
          </p:cNvCxnSpPr>
          <p:nvPr/>
        </p:nvCxnSpPr>
        <p:spPr>
          <a:xfrm>
            <a:off x="10476351" y="3108552"/>
            <a:ext cx="0" cy="699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E1BF30-CEA9-AC48-9331-C0305A946AA9}"/>
              </a:ext>
            </a:extLst>
          </p:cNvPr>
          <p:cNvSpPr txBox="1"/>
          <p:nvPr/>
        </p:nvSpPr>
        <p:spPr>
          <a:xfrm>
            <a:off x="9818337" y="3831327"/>
            <a:ext cx="1816204"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Processed file</a:t>
            </a:r>
          </a:p>
        </p:txBody>
      </p:sp>
      <p:sp>
        <p:nvSpPr>
          <p:cNvPr id="17" name="TextBox 16">
            <a:extLst>
              <a:ext uri="{FF2B5EF4-FFF2-40B4-BE49-F238E27FC236}">
                <a16:creationId xmlns:a16="http://schemas.microsoft.com/office/drawing/2014/main" id="{19A70393-3EC5-CD41-9135-46C248964064}"/>
              </a:ext>
            </a:extLst>
          </p:cNvPr>
          <p:cNvSpPr txBox="1"/>
          <p:nvPr/>
        </p:nvSpPr>
        <p:spPr>
          <a:xfrm>
            <a:off x="2183833" y="2785387"/>
            <a:ext cx="1002422" cy="323165"/>
          </a:xfrm>
          <a:prstGeom prst="rect">
            <a:avLst/>
          </a:prstGeom>
          <a:noFill/>
        </p:spPr>
        <p:txBody>
          <a:bodyPr wrap="square" rtlCol="0">
            <a:spAutoFit/>
          </a:bodyPr>
          <a:lstStyle/>
          <a:p>
            <a:r>
              <a:rPr lang="en-US" sz="1500" b="1" dirty="0">
                <a:latin typeface="Segoe UI Semibold" panose="020B0502040204020203" pitchFamily="34" charset="0"/>
                <a:cs typeface="Segoe UI Semibold" panose="020B0502040204020203" pitchFamily="34" charset="0"/>
              </a:rPr>
              <a:t>Raw file</a:t>
            </a:r>
          </a:p>
        </p:txBody>
      </p:sp>
      <p:sp>
        <p:nvSpPr>
          <p:cNvPr id="15" name="TextBox 14">
            <a:extLst>
              <a:ext uri="{FF2B5EF4-FFF2-40B4-BE49-F238E27FC236}">
                <a16:creationId xmlns:a16="http://schemas.microsoft.com/office/drawing/2014/main" id="{183F7213-68FE-FF4D-AF53-1CD72BE0B4D5}"/>
              </a:ext>
            </a:extLst>
          </p:cNvPr>
          <p:cNvSpPr txBox="1"/>
          <p:nvPr/>
        </p:nvSpPr>
        <p:spPr>
          <a:xfrm>
            <a:off x="541051" y="888898"/>
            <a:ext cx="2294173" cy="738664"/>
          </a:xfrm>
          <a:prstGeom prst="rect">
            <a:avLst/>
          </a:prstGeom>
          <a:noFill/>
        </p:spPr>
        <p:txBody>
          <a:bodyPr wrap="square">
            <a:spAutoFit/>
          </a:bodyPr>
          <a:lstStyle/>
          <a:p>
            <a:pPr algn="ctr"/>
            <a:r>
              <a:rPr lang="en-US" sz="1400" b="1" dirty="0">
                <a:latin typeface="Segoe UI Semibold" panose="020B0502040204020203" pitchFamily="34" charset="0"/>
                <a:cs typeface="Segoe UI Semibold" panose="020B0502040204020203" pitchFamily="34" charset="0"/>
              </a:rPr>
              <a:t>Mass-spec data searched against database of known proteins</a:t>
            </a:r>
          </a:p>
        </p:txBody>
      </p:sp>
      <p:cxnSp>
        <p:nvCxnSpPr>
          <p:cNvPr id="18" name="Straight Arrow Connector 17">
            <a:extLst>
              <a:ext uri="{FF2B5EF4-FFF2-40B4-BE49-F238E27FC236}">
                <a16:creationId xmlns:a16="http://schemas.microsoft.com/office/drawing/2014/main" id="{87007828-2F77-594A-9141-3DB6DEA754DC}"/>
              </a:ext>
            </a:extLst>
          </p:cNvPr>
          <p:cNvCxnSpPr>
            <a:cxnSpLocks/>
          </p:cNvCxnSpPr>
          <p:nvPr/>
        </p:nvCxnSpPr>
        <p:spPr>
          <a:xfrm>
            <a:off x="1721250" y="1708283"/>
            <a:ext cx="0" cy="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AB21BEC-87D3-6F4B-958D-D8A8299A8F47}"/>
              </a:ext>
            </a:extLst>
          </p:cNvPr>
          <p:cNvCxnSpPr>
            <a:cxnSpLocks/>
          </p:cNvCxnSpPr>
          <p:nvPr/>
        </p:nvCxnSpPr>
        <p:spPr>
          <a:xfrm flipH="1">
            <a:off x="3836947" y="4278409"/>
            <a:ext cx="420628" cy="9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Document outline">
            <a:extLst>
              <a:ext uri="{FF2B5EF4-FFF2-40B4-BE49-F238E27FC236}">
                <a16:creationId xmlns:a16="http://schemas.microsoft.com/office/drawing/2014/main" id="{583B257A-72F1-7543-917B-89E83D50E4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1674" y="2407285"/>
            <a:ext cx="434716" cy="434716"/>
          </a:xfrm>
          <a:prstGeom prst="rect">
            <a:avLst/>
          </a:prstGeom>
        </p:spPr>
      </p:pic>
      <p:cxnSp>
        <p:nvCxnSpPr>
          <p:cNvPr id="33" name="Straight Arrow Connector 32">
            <a:extLst>
              <a:ext uri="{FF2B5EF4-FFF2-40B4-BE49-F238E27FC236}">
                <a16:creationId xmlns:a16="http://schemas.microsoft.com/office/drawing/2014/main" id="{DACE3C9B-3ECB-4748-8A94-F41DFAB98D48}"/>
              </a:ext>
            </a:extLst>
          </p:cNvPr>
          <p:cNvCxnSpPr>
            <a:cxnSpLocks/>
          </p:cNvCxnSpPr>
          <p:nvPr/>
        </p:nvCxnSpPr>
        <p:spPr>
          <a:xfrm flipH="1">
            <a:off x="9626600" y="4350118"/>
            <a:ext cx="590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5F572BF-9BAF-3C4C-BBA3-261B5E5A1F49}"/>
              </a:ext>
            </a:extLst>
          </p:cNvPr>
          <p:cNvSpPr txBox="1"/>
          <p:nvPr/>
        </p:nvSpPr>
        <p:spPr>
          <a:xfrm>
            <a:off x="4431890" y="3952515"/>
            <a:ext cx="2287907" cy="784830"/>
          </a:xfrm>
          <a:prstGeom prst="rect">
            <a:avLst/>
          </a:prstGeom>
          <a:noFill/>
        </p:spPr>
        <p:txBody>
          <a:bodyPr wrap="square" rtlCol="0">
            <a:spAutoFit/>
          </a:bodyPr>
          <a:lstStyle/>
          <a:p>
            <a:pPr algn="ctr"/>
            <a:r>
              <a:rPr lang="en-US" sz="1500" b="1" dirty="0" err="1">
                <a:latin typeface="Segoe UI Semibold" panose="020B0502040204020203" pitchFamily="34" charset="0"/>
                <a:cs typeface="Segoe UI Semibold" panose="020B0502040204020203" pitchFamily="34" charset="0"/>
              </a:rPr>
              <a:t>cre</a:t>
            </a:r>
            <a:r>
              <a:rPr lang="en-US" sz="1500" b="1" dirty="0">
                <a:latin typeface="Segoe UI Semibold" panose="020B0502040204020203" pitchFamily="34" charset="0"/>
                <a:cs typeface="Segoe UI Semibold" panose="020B0502040204020203" pitchFamily="34" charset="0"/>
              </a:rPr>
              <a:t>+ replicates filtering </a:t>
            </a:r>
          </a:p>
          <a:p>
            <a:pPr algn="ctr"/>
            <a:r>
              <a:rPr lang="en-US" sz="1500" b="1" dirty="0">
                <a:latin typeface="Segoe UI Semibold" panose="020B0502040204020203" pitchFamily="34" charset="0"/>
                <a:cs typeface="Segoe UI Semibold" panose="020B0502040204020203" pitchFamily="34" charset="0"/>
              </a:rPr>
              <a:t>&amp;</a:t>
            </a:r>
          </a:p>
          <a:p>
            <a:pPr algn="ctr"/>
            <a:r>
              <a:rPr lang="en-US" sz="1500" b="1" dirty="0">
                <a:latin typeface="Segoe UI Semibold" panose="020B0502040204020203" pitchFamily="34" charset="0"/>
                <a:cs typeface="Segoe UI Semibold" panose="020B0502040204020203" pitchFamily="34" charset="0"/>
              </a:rPr>
              <a:t>Normalization</a:t>
            </a:r>
          </a:p>
        </p:txBody>
      </p:sp>
      <p:pic>
        <p:nvPicPr>
          <p:cNvPr id="26" name="Graphic 25" descr="Document outline">
            <a:extLst>
              <a:ext uri="{FF2B5EF4-FFF2-40B4-BE49-F238E27FC236}">
                <a16:creationId xmlns:a16="http://schemas.microsoft.com/office/drawing/2014/main" id="{D3682183-3793-4B4C-8D14-0A476D8A5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8310" y="4132760"/>
            <a:ext cx="434716" cy="434716"/>
          </a:xfrm>
          <a:prstGeom prst="rect">
            <a:avLst/>
          </a:prstGeom>
        </p:spPr>
      </p:pic>
      <p:sp>
        <p:nvSpPr>
          <p:cNvPr id="27" name="TextBox 26">
            <a:extLst>
              <a:ext uri="{FF2B5EF4-FFF2-40B4-BE49-F238E27FC236}">
                <a16:creationId xmlns:a16="http://schemas.microsoft.com/office/drawing/2014/main" id="{13DC00C0-2AD0-FE4C-A422-A6B24533B912}"/>
              </a:ext>
            </a:extLst>
          </p:cNvPr>
          <p:cNvSpPr txBox="1"/>
          <p:nvPr/>
        </p:nvSpPr>
        <p:spPr>
          <a:xfrm>
            <a:off x="7280112" y="4072185"/>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Annotate proteins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Using TP and FP lists</a:t>
            </a:r>
          </a:p>
          <a:p>
            <a:pPr algn="ctr"/>
            <a:endParaRPr lang="en-US" sz="1500" b="1" dirty="0">
              <a:latin typeface="Segoe UI Semibold" panose="020B0502040204020203" pitchFamily="34" charset="0"/>
              <a:cs typeface="Segoe UI Semibold" panose="020B0502040204020203" pitchFamily="34" charset="0"/>
            </a:endParaRPr>
          </a:p>
        </p:txBody>
      </p:sp>
      <p:sp>
        <p:nvSpPr>
          <p:cNvPr id="34" name="TextBox 33">
            <a:extLst>
              <a:ext uri="{FF2B5EF4-FFF2-40B4-BE49-F238E27FC236}">
                <a16:creationId xmlns:a16="http://schemas.microsoft.com/office/drawing/2014/main" id="{B739C131-6853-564C-89A0-54699B2A0E19}"/>
              </a:ext>
            </a:extLst>
          </p:cNvPr>
          <p:cNvSpPr txBox="1"/>
          <p:nvPr/>
        </p:nvSpPr>
        <p:spPr>
          <a:xfrm>
            <a:off x="1511630" y="4039198"/>
            <a:ext cx="2039947" cy="446276"/>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Calculate Ratios</a:t>
            </a:r>
          </a:p>
          <a:p>
            <a:pPr algn="ctr"/>
            <a:r>
              <a:rPr lang="en-US" sz="800" b="1" dirty="0">
                <a:latin typeface="Segoe UI Semibold" panose="020B0502040204020203" pitchFamily="34" charset="0"/>
                <a:cs typeface="Segoe UI Semibold" panose="020B0502040204020203" pitchFamily="34" charset="0"/>
              </a:rPr>
              <a:t>Experimental sample/negative control</a:t>
            </a:r>
          </a:p>
        </p:txBody>
      </p:sp>
      <p:sp>
        <p:nvSpPr>
          <p:cNvPr id="38" name="TextBox 37">
            <a:extLst>
              <a:ext uri="{FF2B5EF4-FFF2-40B4-BE49-F238E27FC236}">
                <a16:creationId xmlns:a16="http://schemas.microsoft.com/office/drawing/2014/main" id="{C4A4979D-B3A4-EA4E-B6EE-C65553BA6693}"/>
              </a:ext>
            </a:extLst>
          </p:cNvPr>
          <p:cNvSpPr txBox="1"/>
          <p:nvPr/>
        </p:nvSpPr>
        <p:spPr>
          <a:xfrm>
            <a:off x="1152850" y="5329466"/>
            <a:ext cx="2039947"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ROC-based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u="none" strike="noStrike" kern="1200" cap="none" spc="0" normalizeH="0" baseline="0" noProof="0" dirty="0">
                <a:ln>
                  <a:noFill/>
                </a:ln>
                <a:effectLst/>
                <a:uLnTx/>
                <a:uFillTx/>
                <a:latin typeface="Segoe UI Semibold" panose="020B0502040204020203" pitchFamily="34" charset="0"/>
                <a:cs typeface="Segoe UI Semibold" panose="020B0502040204020203" pitchFamily="34" charset="0"/>
              </a:rPr>
              <a:t>Establish optimal cutoffs per ratio</a:t>
            </a:r>
          </a:p>
          <a:p>
            <a:pPr algn="ctr"/>
            <a:endParaRPr lang="en-US" sz="1500" b="1" dirty="0">
              <a:latin typeface="Segoe UI Semibold" panose="020B0502040204020203" pitchFamily="34" charset="0"/>
              <a:cs typeface="Segoe UI Semibold" panose="020B0502040204020203" pitchFamily="34" charset="0"/>
            </a:endParaRPr>
          </a:p>
        </p:txBody>
      </p:sp>
      <p:cxnSp>
        <p:nvCxnSpPr>
          <p:cNvPr id="40" name="Straight Arrow Connector 39">
            <a:extLst>
              <a:ext uri="{FF2B5EF4-FFF2-40B4-BE49-F238E27FC236}">
                <a16:creationId xmlns:a16="http://schemas.microsoft.com/office/drawing/2014/main" id="{2B3BDDD3-CF5E-9540-A58D-4DB676B0F0D5}"/>
              </a:ext>
            </a:extLst>
          </p:cNvPr>
          <p:cNvCxnSpPr>
            <a:cxnSpLocks/>
          </p:cNvCxnSpPr>
          <p:nvPr/>
        </p:nvCxnSpPr>
        <p:spPr>
          <a:xfrm>
            <a:off x="3362115" y="5600091"/>
            <a:ext cx="53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FBF8B94-8B79-3C48-A800-0B0F22837976}"/>
              </a:ext>
            </a:extLst>
          </p:cNvPr>
          <p:cNvSpPr txBox="1"/>
          <p:nvPr/>
        </p:nvSpPr>
        <p:spPr>
          <a:xfrm>
            <a:off x="6856935" y="5262735"/>
            <a:ext cx="2269680" cy="67710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Determine biotinylated proteins</a:t>
            </a:r>
          </a:p>
          <a:p>
            <a:pPr algn="ctr"/>
            <a:r>
              <a:rPr lang="en-US" sz="800" b="1" dirty="0">
                <a:latin typeface="Segoe UI Semibold" panose="020B0502040204020203" pitchFamily="34" charset="0"/>
                <a:cs typeface="Segoe UI Semibold" panose="020B0502040204020203" pitchFamily="34" charset="0"/>
              </a:rPr>
              <a:t>Report proteins that pass cutoff</a:t>
            </a:r>
          </a:p>
        </p:txBody>
      </p:sp>
      <p:sp>
        <p:nvSpPr>
          <p:cNvPr id="28" name="Rounded Rectangle 27">
            <a:extLst>
              <a:ext uri="{FF2B5EF4-FFF2-40B4-BE49-F238E27FC236}">
                <a16:creationId xmlns:a16="http://schemas.microsoft.com/office/drawing/2014/main" id="{926C8D95-DEA1-6B41-B114-C53B4E627245}"/>
              </a:ext>
            </a:extLst>
          </p:cNvPr>
          <p:cNvSpPr/>
          <p:nvPr/>
        </p:nvSpPr>
        <p:spPr>
          <a:xfrm>
            <a:off x="4395195" y="3710069"/>
            <a:ext cx="2248893" cy="10867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 name="Oval 2">
            <a:extLst>
              <a:ext uri="{FF2B5EF4-FFF2-40B4-BE49-F238E27FC236}">
                <a16:creationId xmlns:a16="http://schemas.microsoft.com/office/drawing/2014/main" id="{80774D48-C1E9-A74A-B5B4-B4083E706E43}"/>
              </a:ext>
            </a:extLst>
          </p:cNvPr>
          <p:cNvSpPr/>
          <p:nvPr/>
        </p:nvSpPr>
        <p:spPr>
          <a:xfrm>
            <a:off x="8037908" y="358329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1</a:t>
            </a:r>
          </a:p>
        </p:txBody>
      </p:sp>
      <p:sp>
        <p:nvSpPr>
          <p:cNvPr id="41" name="Rounded Rectangle 40">
            <a:extLst>
              <a:ext uri="{FF2B5EF4-FFF2-40B4-BE49-F238E27FC236}">
                <a16:creationId xmlns:a16="http://schemas.microsoft.com/office/drawing/2014/main" id="{824E2B93-FB54-B74C-8C97-9C89BF9CC222}"/>
              </a:ext>
            </a:extLst>
          </p:cNvPr>
          <p:cNvSpPr/>
          <p:nvPr/>
        </p:nvSpPr>
        <p:spPr>
          <a:xfrm>
            <a:off x="1322667" y="3821841"/>
            <a:ext cx="2366530" cy="8271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29" name="Oval 28">
            <a:extLst>
              <a:ext uri="{FF2B5EF4-FFF2-40B4-BE49-F238E27FC236}">
                <a16:creationId xmlns:a16="http://schemas.microsoft.com/office/drawing/2014/main" id="{3A146EDC-8E17-8C44-8CA3-33466D41F7CF}"/>
              </a:ext>
            </a:extLst>
          </p:cNvPr>
          <p:cNvSpPr/>
          <p:nvPr/>
        </p:nvSpPr>
        <p:spPr>
          <a:xfrm>
            <a:off x="2294536" y="3560602"/>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3</a:t>
            </a:r>
          </a:p>
        </p:txBody>
      </p:sp>
      <p:sp>
        <p:nvSpPr>
          <p:cNvPr id="43" name="Rounded Rectangle 42">
            <a:extLst>
              <a:ext uri="{FF2B5EF4-FFF2-40B4-BE49-F238E27FC236}">
                <a16:creationId xmlns:a16="http://schemas.microsoft.com/office/drawing/2014/main" id="{7E3EB4FB-4AB3-BA40-A8C8-2E887DE0D2F9}"/>
              </a:ext>
            </a:extLst>
          </p:cNvPr>
          <p:cNvSpPr/>
          <p:nvPr/>
        </p:nvSpPr>
        <p:spPr>
          <a:xfrm>
            <a:off x="1106076" y="5272149"/>
            <a:ext cx="2165029" cy="7386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31" name="Oval 30">
            <a:extLst>
              <a:ext uri="{FF2B5EF4-FFF2-40B4-BE49-F238E27FC236}">
                <a16:creationId xmlns:a16="http://schemas.microsoft.com/office/drawing/2014/main" id="{A418E82F-D5D6-0D41-B4BD-6A30BEB6A624}"/>
              </a:ext>
            </a:extLst>
          </p:cNvPr>
          <p:cNvSpPr/>
          <p:nvPr/>
        </p:nvSpPr>
        <p:spPr>
          <a:xfrm>
            <a:off x="1946766" y="5775515"/>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4</a:t>
            </a:r>
          </a:p>
        </p:txBody>
      </p:sp>
      <p:sp>
        <p:nvSpPr>
          <p:cNvPr id="44" name="Rounded Rectangle 43">
            <a:extLst>
              <a:ext uri="{FF2B5EF4-FFF2-40B4-BE49-F238E27FC236}">
                <a16:creationId xmlns:a16="http://schemas.microsoft.com/office/drawing/2014/main" id="{1C3112A5-715A-304A-9606-54C00D6931C3}"/>
              </a:ext>
            </a:extLst>
          </p:cNvPr>
          <p:cNvSpPr/>
          <p:nvPr/>
        </p:nvSpPr>
        <p:spPr>
          <a:xfrm>
            <a:off x="4089825" y="5216634"/>
            <a:ext cx="5289419" cy="7386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500" b="1" dirty="0">
              <a:solidFill>
                <a:schemeClr val="tx1"/>
              </a:solidFill>
              <a:latin typeface="Segoe UI Semibold" panose="020B0502040204020203" pitchFamily="34" charset="0"/>
              <a:cs typeface="Segoe UI Semibold" panose="020B0502040204020203" pitchFamily="34" charset="0"/>
            </a:endParaRPr>
          </a:p>
        </p:txBody>
      </p:sp>
      <p:sp>
        <p:nvSpPr>
          <p:cNvPr id="45" name="Oval 44">
            <a:extLst>
              <a:ext uri="{FF2B5EF4-FFF2-40B4-BE49-F238E27FC236}">
                <a16:creationId xmlns:a16="http://schemas.microsoft.com/office/drawing/2014/main" id="{B3A278EA-8A46-C648-B39E-F4D465139818}"/>
              </a:ext>
            </a:extLst>
          </p:cNvPr>
          <p:cNvSpPr/>
          <p:nvPr/>
        </p:nvSpPr>
        <p:spPr>
          <a:xfrm>
            <a:off x="6317403" y="5723490"/>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5</a:t>
            </a:r>
          </a:p>
        </p:txBody>
      </p:sp>
      <p:sp>
        <p:nvSpPr>
          <p:cNvPr id="46" name="TextBox 45">
            <a:extLst>
              <a:ext uri="{FF2B5EF4-FFF2-40B4-BE49-F238E27FC236}">
                <a16:creationId xmlns:a16="http://schemas.microsoft.com/office/drawing/2014/main" id="{0D11E7C0-4157-DF40-B37F-DCA24B797C12}"/>
              </a:ext>
            </a:extLst>
          </p:cNvPr>
          <p:cNvSpPr txBox="1"/>
          <p:nvPr/>
        </p:nvSpPr>
        <p:spPr>
          <a:xfrm>
            <a:off x="4058235" y="5308967"/>
            <a:ext cx="2178172" cy="553998"/>
          </a:xfrm>
          <a:prstGeom prst="rect">
            <a:avLst/>
          </a:prstGeom>
          <a:noFill/>
        </p:spPr>
        <p:txBody>
          <a:bodyPr wrap="square" rtlCol="0">
            <a:spAutoFit/>
          </a:bodyPr>
          <a:lstStyle/>
          <a:p>
            <a:pPr algn="ctr"/>
            <a:r>
              <a:rPr lang="en-US" sz="1500" b="1" dirty="0">
                <a:latin typeface="Segoe UI Semibold" panose="020B0502040204020203" pitchFamily="34" charset="0"/>
                <a:cs typeface="Segoe UI Semibold" panose="020B0502040204020203" pitchFamily="34" charset="0"/>
              </a:rPr>
              <a:t>Filtering based on pass/not pass cutoff</a:t>
            </a:r>
          </a:p>
        </p:txBody>
      </p:sp>
      <p:cxnSp>
        <p:nvCxnSpPr>
          <p:cNvPr id="47" name="Straight Arrow Connector 46">
            <a:extLst>
              <a:ext uri="{FF2B5EF4-FFF2-40B4-BE49-F238E27FC236}">
                <a16:creationId xmlns:a16="http://schemas.microsoft.com/office/drawing/2014/main" id="{E491C29F-4840-2743-83BB-1576C9E87C1D}"/>
              </a:ext>
            </a:extLst>
          </p:cNvPr>
          <p:cNvCxnSpPr>
            <a:cxnSpLocks/>
          </p:cNvCxnSpPr>
          <p:nvPr/>
        </p:nvCxnSpPr>
        <p:spPr>
          <a:xfrm>
            <a:off x="6227797" y="5528099"/>
            <a:ext cx="53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9485E4C-DA34-3949-A9DB-FD49010F3AA9}"/>
              </a:ext>
            </a:extLst>
          </p:cNvPr>
          <p:cNvSpPr txBox="1"/>
          <p:nvPr/>
        </p:nvSpPr>
        <p:spPr>
          <a:xfrm>
            <a:off x="1492885" y="2136781"/>
            <a:ext cx="478016" cy="369332"/>
          </a:xfrm>
          <a:prstGeom prst="rect">
            <a:avLst/>
          </a:prstGeom>
          <a:noFill/>
        </p:spPr>
        <p:txBody>
          <a:bodyPr wrap="none" rtlCol="0">
            <a:spAutoFit/>
          </a:bodyPr>
          <a:lstStyle/>
          <a:p>
            <a:r>
              <a:rPr lang="en-US" dirty="0">
                <a:solidFill>
                  <a:schemeClr val="bg1"/>
                </a:solidFill>
              </a:rPr>
              <a:t>IP2</a:t>
            </a:r>
          </a:p>
        </p:txBody>
      </p:sp>
      <p:cxnSp>
        <p:nvCxnSpPr>
          <p:cNvPr id="49" name="Straight Arrow Connector 48">
            <a:extLst>
              <a:ext uri="{FF2B5EF4-FFF2-40B4-BE49-F238E27FC236}">
                <a16:creationId xmlns:a16="http://schemas.microsoft.com/office/drawing/2014/main" id="{BF8D5F95-54AB-4547-9373-9B41922377F1}"/>
              </a:ext>
            </a:extLst>
          </p:cNvPr>
          <p:cNvCxnSpPr>
            <a:cxnSpLocks/>
          </p:cNvCxnSpPr>
          <p:nvPr/>
        </p:nvCxnSpPr>
        <p:spPr>
          <a:xfrm flipH="1">
            <a:off x="6795506" y="4278409"/>
            <a:ext cx="287402" cy="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D4B0CA0-CF3F-CA48-A2D0-B1942B46FA3F}"/>
              </a:ext>
            </a:extLst>
          </p:cNvPr>
          <p:cNvSpPr/>
          <p:nvPr/>
        </p:nvSpPr>
        <p:spPr>
          <a:xfrm>
            <a:off x="5282574" y="3447997"/>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solidFill>
                  <a:schemeClr val="tx1"/>
                </a:solidFill>
                <a:latin typeface="Segoe UI Semibold" panose="020B0502040204020203" pitchFamily="34" charset="0"/>
                <a:cs typeface="Segoe UI Semibold" panose="020B0502040204020203" pitchFamily="34" charset="0"/>
              </a:rPr>
              <a:t>2</a:t>
            </a:r>
          </a:p>
        </p:txBody>
      </p:sp>
      <p:cxnSp>
        <p:nvCxnSpPr>
          <p:cNvPr id="51" name="Straight Arrow Connector 50">
            <a:extLst>
              <a:ext uri="{FF2B5EF4-FFF2-40B4-BE49-F238E27FC236}">
                <a16:creationId xmlns:a16="http://schemas.microsoft.com/office/drawing/2014/main" id="{C6C60EA7-2E34-C642-9C88-2E33AF39F2FA}"/>
              </a:ext>
            </a:extLst>
          </p:cNvPr>
          <p:cNvCxnSpPr>
            <a:cxnSpLocks/>
          </p:cNvCxnSpPr>
          <p:nvPr/>
        </p:nvCxnSpPr>
        <p:spPr>
          <a:xfrm>
            <a:off x="2183833" y="4766663"/>
            <a:ext cx="0" cy="379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91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animBg="1"/>
      <p:bldP spid="45" grpId="0" animBg="1"/>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A9E25E25-E0B7-A94D-B740-F1553DF6E446}"/>
              </a:ext>
            </a:extLst>
          </p:cNvPr>
          <p:cNvSpPr>
            <a:spLocks noGrp="1"/>
          </p:cNvSpPr>
          <p:nvPr>
            <p:ph idx="1"/>
          </p:nvPr>
        </p:nvSpPr>
        <p:spPr>
          <a:xfrm>
            <a:off x="1139033" y="1602075"/>
            <a:ext cx="9978909" cy="3864074"/>
          </a:xfrm>
        </p:spPr>
        <p:txBody>
          <a:bodyPr>
            <a:normAutofit/>
          </a:bodyPr>
          <a:lstStyle/>
          <a:p>
            <a:pPr>
              <a:lnSpc>
                <a:spcPct val="120000"/>
              </a:lnSpc>
              <a:buClr>
                <a:schemeClr val="tx1"/>
              </a:buClr>
              <a:defRPr/>
            </a:pPr>
            <a:r>
              <a:rPr kumimoji="0" lang="en-US" sz="20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We filter out proteins where at least one condition passes the ratio cutoff with 2 different </a:t>
            </a:r>
            <a:r>
              <a:rPr kumimoji="0" lang="en-US" sz="20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cre</a:t>
            </a:r>
            <a:r>
              <a:rPr kumimoji="0" lang="en-US" sz="20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replicates and create </a:t>
            </a:r>
            <a:r>
              <a:rPr kumimoji="0" lang="en-US" sz="2000" b="1" u="none" strike="noStrike" kern="1200" cap="none" spc="20" normalizeH="0" baseline="0" noProof="0" dirty="0" err="1">
                <a:ln>
                  <a:noFill/>
                </a:ln>
                <a:solidFill>
                  <a:srgbClr val="000000"/>
                </a:solidFill>
                <a:effectLst/>
                <a:uLnTx/>
                <a:uFillTx/>
                <a:latin typeface="Segoe UI Semibold" panose="020B0502040204020203" pitchFamily="34" charset="0"/>
                <a:cs typeface="Segoe UI Semibold" panose="020B0502040204020203" pitchFamily="34" charset="0"/>
              </a:rPr>
              <a:t>barplots</a:t>
            </a:r>
            <a:r>
              <a:rPr kumimoji="0" lang="en-US" sz="2000" b="1" u="none" strike="noStrike" kern="1200" cap="none" spc="2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 to see how the amount of TP and FP proteins changes after the ROC cutoff analysis</a:t>
            </a:r>
          </a:p>
          <a:p>
            <a:pPr>
              <a:lnSpc>
                <a:spcPct val="120000"/>
              </a:lnSpc>
              <a:buClr>
                <a:schemeClr val="tx1"/>
              </a:buClr>
              <a:defRPr/>
            </a:pPr>
            <a:r>
              <a:rPr lang="en-US" sz="2000" b="1" dirty="0">
                <a:solidFill>
                  <a:srgbClr val="000000"/>
                </a:solidFill>
                <a:latin typeface="Segoe UI Semibold" panose="020B0502040204020203" pitchFamily="34" charset="0"/>
                <a:cs typeface="Segoe UI Semibold" panose="020B0502040204020203" pitchFamily="34" charset="0"/>
              </a:rPr>
              <a:t>Then investigate up/down regulated proteins in this filtered subset</a:t>
            </a:r>
          </a:p>
          <a:p>
            <a:pPr marL="0" indent="0">
              <a:buClr>
                <a:srgbClr val="7BAF34"/>
              </a:buClr>
              <a:buNone/>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a:buClr>
                <a:srgbClr val="7BAF34"/>
              </a:buClr>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1" i="0" u="none" strike="noStrike" kern="1200" cap="none" spc="20" normalizeH="0" baseline="0" noProof="0" dirty="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lvl="1">
              <a:spcBef>
                <a:spcPts val="1000"/>
              </a:spcBef>
              <a:buClr>
                <a:srgbClr val="7BAF34"/>
              </a:buClr>
              <a:defRPr/>
            </a:pPr>
            <a:endParaRPr kumimoji="0" lang="en-US"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lang="en-US" dirty="0">
              <a:solidFill>
                <a:srgbClr val="000000"/>
              </a:solidFill>
              <a:latin typeface="Avenir Next LT Pro"/>
            </a:endParaRPr>
          </a:p>
          <a:p>
            <a:pPr marL="0" marR="0" lvl="0" indent="0" algn="l" defTabSz="914400" rtl="0" eaLnBrk="1" fontAlgn="auto" latinLnBrk="0" hangingPunct="1">
              <a:lnSpc>
                <a:spcPct val="120000"/>
              </a:lnSpc>
              <a:spcBef>
                <a:spcPts val="1000"/>
              </a:spcBef>
              <a:spcAft>
                <a:spcPts val="0"/>
              </a:spcAft>
              <a:buClr>
                <a:srgbClr val="7BAF34"/>
              </a:buClr>
              <a:buSzTx/>
              <a:buNone/>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a:p>
            <a:pPr marL="228600" marR="0" lvl="0" indent="-228600" algn="l" defTabSz="914400" rtl="0" eaLnBrk="1" fontAlgn="auto" latinLnBrk="0" hangingPunct="1">
              <a:lnSpc>
                <a:spcPct val="120000"/>
              </a:lnSpc>
              <a:spcBef>
                <a:spcPts val="1000"/>
              </a:spcBef>
              <a:spcAft>
                <a:spcPts val="0"/>
              </a:spcAft>
              <a:buClr>
                <a:srgbClr val="7BAF34"/>
              </a:buClr>
              <a:buSzTx/>
              <a:buFont typeface="The Hand Extrablack" panose="03070A02030502020204" pitchFamily="66" charset="0"/>
              <a:buChar char="•"/>
              <a:tabLst/>
              <a:defRPr/>
            </a:pPr>
            <a:endParaRPr kumimoji="0" lang="en-US" sz="2000" b="0" i="0" u="none" strike="noStrike" kern="1200" cap="none" spc="20" normalizeH="0" baseline="0" noProof="0" dirty="0">
              <a:ln>
                <a:noFill/>
              </a:ln>
              <a:solidFill>
                <a:srgbClr val="000000"/>
              </a:solidFill>
              <a:effectLst/>
              <a:uLnTx/>
              <a:uFillTx/>
              <a:latin typeface="Avenir Next LT Pro"/>
              <a:ea typeface="+mn-ea"/>
              <a:cs typeface="+mn-cs"/>
            </a:endParaRPr>
          </a:p>
        </p:txBody>
      </p:sp>
      <p:sp>
        <p:nvSpPr>
          <p:cNvPr id="3" name="Slide Number Placeholder 2">
            <a:extLst>
              <a:ext uri="{FF2B5EF4-FFF2-40B4-BE49-F238E27FC236}">
                <a16:creationId xmlns:a16="http://schemas.microsoft.com/office/drawing/2014/main" id="{1D6F3C52-A33C-B54E-85E5-94566199A529}"/>
              </a:ext>
            </a:extLst>
          </p:cNvPr>
          <p:cNvSpPr>
            <a:spLocks noGrp="1"/>
          </p:cNvSpPr>
          <p:nvPr>
            <p:ph type="sldNum" sz="quarter" idx="12"/>
          </p:nvPr>
        </p:nvSpPr>
        <p:spPr/>
        <p:txBody>
          <a:bodyPr/>
          <a:lstStyle/>
          <a:p>
            <a:pPr marL="0" marR="0" lvl="0" indent="0" algn="r" defTabSz="914400" rtl="0" eaLnBrk="1" fontAlgn="auto" latinLnBrk="0" hangingPunct="1">
              <a:lnSpc>
                <a:spcPct val="120000"/>
              </a:lnSpc>
              <a:spcBef>
                <a:spcPts val="0"/>
              </a:spcBef>
              <a:spcAft>
                <a:spcPts val="0"/>
              </a:spcAft>
              <a:buClrTx/>
              <a:buSzTx/>
              <a:buFontTx/>
              <a:buNone/>
              <a:tabLst/>
              <a:defRPr/>
            </a:pPr>
            <a:fld id="{1621B6DD-29C1-4FEA-923F-71EA1347694C}" type="slidenum">
              <a:rPr kumimoji="0" lang="en-US" sz="1200" b="0" i="0" u="none" strike="noStrike" kern="1200" cap="none" spc="20" normalizeH="0" baseline="0" noProof="0" smtClean="0">
                <a:ln>
                  <a:noFill/>
                </a:ln>
                <a:solidFill>
                  <a:srgbClr val="000000"/>
                </a:solidFill>
                <a:effectLst/>
                <a:uLnTx/>
                <a:uFillTx/>
                <a:latin typeface="Avenir Next LT Pro"/>
                <a:ea typeface="+mn-ea"/>
                <a:cs typeface="+mn-cs"/>
              </a:rPr>
              <a:pPr marL="0" marR="0" lvl="0" indent="0" algn="r" defTabSz="914400" rtl="0" eaLnBrk="1" fontAlgn="auto" latinLnBrk="0" hangingPunct="1">
                <a:lnSpc>
                  <a:spcPct val="120000"/>
                </a:lnSpc>
                <a:spcBef>
                  <a:spcPts val="0"/>
                </a:spcBef>
                <a:spcAft>
                  <a:spcPts val="0"/>
                </a:spcAft>
                <a:buClrTx/>
                <a:buSzTx/>
                <a:buFontTx/>
                <a:buNone/>
                <a:tabLst/>
                <a:defRPr/>
              </a:pPr>
              <a:t>22</a:t>
            </a:fld>
            <a:endParaRPr kumimoji="0" lang="en-US" sz="1200" b="0" i="0" u="none" strike="noStrike" kern="1200" cap="none" spc="20" normalizeH="0" baseline="0" noProof="0">
              <a:ln>
                <a:noFill/>
              </a:ln>
              <a:solidFill>
                <a:srgbClr val="000000"/>
              </a:solidFill>
              <a:effectLst/>
              <a:uLnTx/>
              <a:uFillTx/>
              <a:latin typeface="Avenir Next LT Pro"/>
              <a:ea typeface="+mn-ea"/>
              <a:cs typeface="+mn-cs"/>
            </a:endParaRPr>
          </a:p>
        </p:txBody>
      </p:sp>
      <p:pic>
        <p:nvPicPr>
          <p:cNvPr id="5" name="Picture 4" descr="Chart, bar chart&#10;&#10;Description automatically generated">
            <a:extLst>
              <a:ext uri="{FF2B5EF4-FFF2-40B4-BE49-F238E27FC236}">
                <a16:creationId xmlns:a16="http://schemas.microsoft.com/office/drawing/2014/main" id="{97955DBA-5B5E-0549-9088-2DC38A2651A6}"/>
              </a:ext>
            </a:extLst>
          </p:cNvPr>
          <p:cNvPicPr>
            <a:picLocks noChangeAspect="1"/>
          </p:cNvPicPr>
          <p:nvPr/>
        </p:nvPicPr>
        <p:blipFill>
          <a:blip r:embed="rId3"/>
          <a:stretch>
            <a:fillRect/>
          </a:stretch>
        </p:blipFill>
        <p:spPr>
          <a:xfrm>
            <a:off x="1765403" y="3534112"/>
            <a:ext cx="4271848" cy="2847898"/>
          </a:xfrm>
          <a:prstGeom prst="rect">
            <a:avLst/>
          </a:prstGeom>
        </p:spPr>
      </p:pic>
      <p:pic>
        <p:nvPicPr>
          <p:cNvPr id="9" name="Picture 8" descr="Chart, scatter chart&#10;&#10;Description automatically generated">
            <a:extLst>
              <a:ext uri="{FF2B5EF4-FFF2-40B4-BE49-F238E27FC236}">
                <a16:creationId xmlns:a16="http://schemas.microsoft.com/office/drawing/2014/main" id="{7079ED8A-C5BF-9448-ABB2-143B558A1084}"/>
              </a:ext>
            </a:extLst>
          </p:cNvPr>
          <p:cNvPicPr>
            <a:picLocks noChangeAspect="1"/>
          </p:cNvPicPr>
          <p:nvPr/>
        </p:nvPicPr>
        <p:blipFill>
          <a:blip r:embed="rId4"/>
          <a:stretch>
            <a:fillRect/>
          </a:stretch>
        </p:blipFill>
        <p:spPr>
          <a:xfrm>
            <a:off x="6084161" y="3889055"/>
            <a:ext cx="4298110" cy="2349745"/>
          </a:xfrm>
          <a:prstGeom prst="rect">
            <a:avLst/>
          </a:prstGeom>
        </p:spPr>
      </p:pic>
      <p:sp>
        <p:nvSpPr>
          <p:cNvPr id="10" name="Title 1">
            <a:extLst>
              <a:ext uri="{FF2B5EF4-FFF2-40B4-BE49-F238E27FC236}">
                <a16:creationId xmlns:a16="http://schemas.microsoft.com/office/drawing/2014/main" id="{8FF7CB23-27A7-3647-8865-C26A610415E5}"/>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Second filtering step</a:t>
            </a:r>
            <a:endParaRPr lang="en-US" b="1"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C69279A8-10B4-1642-936F-30DB64F50281}"/>
              </a:ext>
            </a:extLst>
          </p:cNvPr>
          <p:cNvSpPr/>
          <p:nvPr/>
        </p:nvSpPr>
        <p:spPr>
          <a:xfrm>
            <a:off x="10993395" y="816318"/>
            <a:ext cx="474134" cy="41508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Segoe UI Semibold" panose="020B0502040204020203" pitchFamily="34" charset="0"/>
                <a:cs typeface="Segoe UI Semibold" panose="020B0502040204020203" pitchFamily="34" charset="0"/>
              </a:rPr>
              <a:t>5</a:t>
            </a:r>
          </a:p>
        </p:txBody>
      </p:sp>
    </p:spTree>
    <p:extLst>
      <p:ext uri="{BB962C8B-B14F-4D97-AF65-F5344CB8AC3E}">
        <p14:creationId xmlns:p14="http://schemas.microsoft.com/office/powerpoint/2010/main" val="4150477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83861C-DDFF-F94F-B844-7188E07B1951}"/>
              </a:ext>
            </a:extLst>
          </p:cNvPr>
          <p:cNvSpPr>
            <a:spLocks noGrp="1"/>
          </p:cNvSpPr>
          <p:nvPr>
            <p:ph type="sldNum" sz="quarter" idx="12"/>
          </p:nvPr>
        </p:nvSpPr>
        <p:spPr/>
        <p:txBody>
          <a:bodyPr/>
          <a:lstStyle/>
          <a:p>
            <a:fld id="{1621B6DD-29C1-4FEA-923F-71EA1347694C}" type="slidenum">
              <a:rPr lang="en-US" smtClean="0"/>
              <a:t>23</a:t>
            </a:fld>
            <a:endParaRPr lang="en-US"/>
          </a:p>
        </p:txBody>
      </p:sp>
      <p:sp>
        <p:nvSpPr>
          <p:cNvPr id="6" name="Title 1">
            <a:extLst>
              <a:ext uri="{FF2B5EF4-FFF2-40B4-BE49-F238E27FC236}">
                <a16:creationId xmlns:a16="http://schemas.microsoft.com/office/drawing/2014/main" id="{8BB2DFB4-E4EC-CC46-BF2B-90B0CB50A619}"/>
              </a:ext>
            </a:extLst>
          </p:cNvPr>
          <p:cNvSpPr txBox="1">
            <a:spLocks/>
          </p:cNvSpPr>
          <p:nvPr/>
        </p:nvSpPr>
        <p:spPr>
          <a:xfrm>
            <a:off x="720000" y="619200"/>
            <a:ext cx="10728322" cy="6666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Thank you!</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124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3215</TotalTime>
  <Words>2278</Words>
  <Application>Microsoft Macintosh PowerPoint</Application>
  <PresentationFormat>Widescreen</PresentationFormat>
  <Paragraphs>414</Paragraphs>
  <Slides>24</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Arial</vt:lpstr>
      <vt:lpstr>Avenir Next LT Pro</vt:lpstr>
      <vt:lpstr>Calibri</vt:lpstr>
      <vt:lpstr>Calibri Light</vt:lpstr>
      <vt:lpstr>Helvetica Neue</vt:lpstr>
      <vt:lpstr>Segoe UI</vt:lpstr>
      <vt:lpstr>Segoe UI Semibold</vt:lpstr>
      <vt:lpstr>The Hand Extrablack</vt:lpstr>
      <vt:lpstr>Times New Roman</vt:lpstr>
      <vt:lpstr>Office Theme</vt:lpstr>
      <vt:lpstr>TurboID  Data processing</vt:lpstr>
      <vt:lpstr>Experiment set up #1</vt:lpstr>
      <vt:lpstr>Experiment set up #2</vt:lpstr>
      <vt:lpstr>Analysis Overview</vt:lpstr>
      <vt:lpstr>Processed file</vt:lpstr>
      <vt:lpstr>Analysis Overview</vt:lpstr>
      <vt:lpstr>PowerPoint Presentation</vt:lpstr>
      <vt:lpstr>PowerPoint Presentation</vt:lpstr>
      <vt:lpstr>PowerPoint Presentation</vt:lpstr>
      <vt:lpstr>Analysis Overview</vt:lpstr>
      <vt:lpstr>PowerPoint Presentation</vt:lpstr>
      <vt:lpstr>PowerPoint Presentation</vt:lpstr>
      <vt:lpstr>PowerPoint Presentation</vt:lpstr>
      <vt:lpstr>Analysis Overview</vt:lpstr>
      <vt:lpstr>PowerPoint Presentation</vt:lpstr>
      <vt:lpstr>Analysis Overview</vt:lpstr>
      <vt:lpstr>PowerPoint Presentation</vt:lpstr>
      <vt:lpstr>PowerPoint Presentation</vt:lpstr>
      <vt:lpstr>PowerPoint Presentation</vt:lpstr>
      <vt:lpstr>PowerPoint Presentation</vt:lpstr>
      <vt:lpstr>PowerPoint Presentation</vt:lpstr>
      <vt:lpstr>Analysis Overview</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 ID Project </dc:title>
  <dc:creator>Nathalie Ropek</dc:creator>
  <cp:lastModifiedBy>Nathalie Ropek</cp:lastModifiedBy>
  <cp:revision>69</cp:revision>
  <dcterms:created xsi:type="dcterms:W3CDTF">2022-10-14T14:34:07Z</dcterms:created>
  <dcterms:modified xsi:type="dcterms:W3CDTF">2023-06-01T14:55:10Z</dcterms:modified>
</cp:coreProperties>
</file>