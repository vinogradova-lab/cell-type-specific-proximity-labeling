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2" r:id="rId1"/>
  </p:sldMasterIdLst>
  <p:notesMasterIdLst>
    <p:notesMasterId r:id="rId18"/>
  </p:notesMasterIdLst>
  <p:sldIdLst>
    <p:sldId id="256" r:id="rId2"/>
    <p:sldId id="291" r:id="rId3"/>
    <p:sldId id="292" r:id="rId4"/>
    <p:sldId id="293" r:id="rId5"/>
    <p:sldId id="263" r:id="rId6"/>
    <p:sldId id="282" r:id="rId7"/>
    <p:sldId id="285" r:id="rId8"/>
    <p:sldId id="286" r:id="rId9"/>
    <p:sldId id="283" r:id="rId10"/>
    <p:sldId id="270" r:id="rId11"/>
    <p:sldId id="271" r:id="rId12"/>
    <p:sldId id="287" r:id="rId13"/>
    <p:sldId id="288" r:id="rId14"/>
    <p:sldId id="290" r:id="rId15"/>
    <p:sldId id="295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61"/>
    <p:restoredTop sz="85986"/>
  </p:normalViewPr>
  <p:slideViewPr>
    <p:cSldViewPr snapToGrid="0" snapToObjects="1">
      <p:cViewPr varScale="1">
        <p:scale>
          <a:sx n="87" d="100"/>
          <a:sy n="87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/>
      <dgm:spPr/>
      <dgm:t>
        <a:bodyPr/>
        <a:lstStyle/>
        <a:p>
          <a:r>
            <a:rPr lang="en-US"/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/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/>
        </a:p>
      </dgm:t>
    </dgm:pt>
    <dgm:pt modelId="{5C30FF08-7CAF-4135-BF35-5B776C1B548D}">
      <dgm:prSet/>
      <dgm:spPr/>
      <dgm:t>
        <a:bodyPr/>
        <a:lstStyle/>
        <a:p>
          <a:r>
            <a:rPr lang="en-US"/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/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/>
        </a:p>
      </dgm:t>
    </dgm:pt>
    <dgm:pt modelId="{1890A9BC-7214-47C8-9114-399E2E3C4F94}">
      <dgm:prSet/>
      <dgm:spPr/>
      <dgm:t>
        <a:bodyPr/>
        <a:lstStyle/>
        <a:p>
          <a:r>
            <a:rPr lang="en-US"/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/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/>
        </a:p>
      </dgm:t>
    </dgm:pt>
    <dgm:pt modelId="{858DDD9E-EDAD-43D7-9EA0-A633FFE0AEFE}">
      <dgm:prSet/>
      <dgm:spPr/>
      <dgm:t>
        <a:bodyPr/>
        <a:lstStyle/>
        <a:p>
          <a:r>
            <a:rPr lang="en-US"/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/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/>
        </a:p>
      </dgm:t>
    </dgm:pt>
    <dgm:pt modelId="{7A49F28F-4D7B-48D0-863D-4D062513B45F}">
      <dgm:prSet/>
      <dgm:spPr/>
      <dgm:t>
        <a:bodyPr/>
        <a:lstStyle/>
        <a:p>
          <a:r>
            <a:rPr lang="en-US" dirty="0"/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/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/>
        </a:p>
      </dgm:t>
    </dgm:pt>
    <dgm:pt modelId="{929A34AA-11C7-4F19-A6D3-5C7DE5BEE86A}">
      <dgm:prSet/>
      <dgm:spPr/>
      <dgm:t>
        <a:bodyPr/>
        <a:lstStyle/>
        <a:p>
          <a:r>
            <a:rPr lang="en-US"/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/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/>
        </a:p>
      </dgm:t>
    </dgm:pt>
    <dgm:pt modelId="{4477CE24-A1CB-43F7-BE25-0CACC51CEDA3}">
      <dgm:prSet/>
      <dgm:spPr/>
      <dgm:t>
        <a:bodyPr/>
        <a:lstStyle/>
        <a:p>
          <a:r>
            <a:rPr lang="en-US" dirty="0"/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/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/>
        </a:p>
      </dgm:t>
    </dgm:pt>
    <dgm:pt modelId="{9A2B8896-0DFC-4EDD-BE72-A8363E1FA8CB}">
      <dgm:prSet/>
      <dgm:spPr/>
      <dgm:t>
        <a:bodyPr/>
        <a:lstStyle/>
        <a:p>
          <a:r>
            <a:rPr lang="en-US"/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/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/>
        </a:p>
      </dgm:t>
    </dgm:pt>
    <dgm:pt modelId="{A85124D4-5DF5-4566-8C27-D24C50DCCDB9}">
      <dgm:prSet/>
      <dgm:spPr/>
      <dgm:t>
        <a:bodyPr/>
        <a:lstStyle/>
        <a:p>
          <a:r>
            <a:rPr lang="en-US" dirty="0"/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/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/>
        </a:p>
      </dgm:t>
    </dgm:pt>
    <dgm:pt modelId="{44146631-99F8-410B-B8AD-2CDA93B84D94}">
      <dgm:prSet/>
      <dgm:spPr/>
      <dgm:t>
        <a:bodyPr/>
        <a:lstStyle/>
        <a:p>
          <a:r>
            <a:rPr lang="en-US"/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/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/>
        </a:p>
      </dgm:t>
    </dgm:pt>
    <dgm:pt modelId="{B475EA92-0C13-4ACD-BF53-3DE9885F840B}">
      <dgm:prSet/>
      <dgm:spPr/>
      <dgm:t>
        <a:bodyPr/>
        <a:lstStyle/>
        <a:p>
          <a:r>
            <a:rPr lang="en-US" dirty="0"/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/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/>
        </a:p>
      </dgm:t>
    </dgm:pt>
    <dgm:pt modelId="{B59420EE-4C2E-4C17-A2FB-65795E7F9498}">
      <dgm:prSet/>
      <dgm:spPr/>
      <dgm:t>
        <a:bodyPr/>
        <a:lstStyle/>
        <a:p>
          <a:r>
            <a:rPr lang="en-US"/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/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/>
        </a:p>
      </dgm:t>
    </dgm:pt>
    <dgm:pt modelId="{3482D5A5-AC22-41E7-9774-7CE6216B3A13}">
      <dgm:prSet/>
      <dgm:spPr/>
      <dgm:t>
        <a:bodyPr/>
        <a:lstStyle/>
        <a:p>
          <a:r>
            <a:rPr lang="en-US" dirty="0"/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/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/>
        </a:p>
      </dgm:t>
    </dgm:pt>
    <dgm:pt modelId="{6F79D638-19E5-4630-9897-4D5E826D2538}">
      <dgm:prSet/>
      <dgm:spPr/>
      <dgm:t>
        <a:bodyPr/>
        <a:lstStyle/>
        <a:p>
          <a:r>
            <a:rPr lang="en-US"/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/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/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3/2/23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inguinal 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), and epididymal WAT 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eWAT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9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</a:t>
            </a:r>
          </a:p>
          <a:p>
            <a:r>
              <a:rPr lang="en-US" dirty="0"/>
              <a:t>250 &gt;25%</a:t>
            </a:r>
          </a:p>
          <a:p>
            <a:r>
              <a:rPr lang="en-US" u="sng" dirty="0"/>
              <a:t>230 &gt;50%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836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94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35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476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peptides </a:t>
            </a:r>
            <a:r>
              <a:rPr lang="en-US" i="1" dirty="0"/>
              <a:t>control protein secretion</a:t>
            </a:r>
            <a:r>
              <a:rPr lang="en-US" dirty="0"/>
              <a:t> and translocation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annotated as TP are removed from FP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5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7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6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424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924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3C3097-339F-D341-9AE2-47DB3DE0E3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70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82D62B-C5BC-9A48-B649-B612C2626DF0}" type="datetime2">
              <a:rPr lang="en-US" smtClean="0"/>
              <a:t>Thursday, March 2,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0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9A10DC3-F6B5-014A-A9AD-0D47C6506BAB}" type="datetime2">
              <a:rPr lang="en-US" smtClean="0"/>
              <a:t>Thursday, March 2,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049C287-8CF4-DC48-88B8-6E35669697EC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DEB5C39-7764-3744-BF89-1BA0C95D9B94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BAB7099-C23E-1745-AF03-0B0C40F6AA6C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2B883A0-F701-0F49-9D67-42F97F0F4C65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0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6923127-F9F8-8B4E-9CEB-95BF7FFEA85F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4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4AFEB34-53E9-8F42-9ED2-04274EE70207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78864A2C-3282-224A-8A3B-B1B48911DC1D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8C7BF22D-4351-7443-9203-BE328953BFC7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9FDF6349-9520-004C-B410-2193F9372E49}" type="datetime2">
              <a:rPr lang="en-US" smtClean="0"/>
              <a:t>Thursday, March 2,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A398F71-50EE-C442-9A03-D3A19758747B}" type="datetime2">
              <a:rPr lang="en-US" smtClean="0"/>
              <a:t>Thursday, March 2,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833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20-0399-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8A636-7CA9-8B4E-B3B8-BABF6E6CA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93" y="2245255"/>
            <a:ext cx="5015638" cy="2075012"/>
          </a:xfrm>
        </p:spPr>
        <p:txBody>
          <a:bodyPr>
            <a:normAutofit/>
          </a:bodyPr>
          <a:lstStyle/>
          <a:p>
            <a:r>
              <a:rPr lang="en-US" dirty="0" err="1"/>
              <a:t>TurboID</a:t>
            </a:r>
            <a:r>
              <a:rPr lang="en-US" dirty="0"/>
              <a:t> Project 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11F328B7-C52A-F1DF-0D21-DB68E1F6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26" r="12272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1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15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 set up #1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F2956-7DFB-1F99-9AB3-97DE2083CC4B}"/>
              </a:ext>
            </a:extLst>
          </p:cNvPr>
          <p:cNvSpPr txBox="1"/>
          <p:nvPr/>
        </p:nvSpPr>
        <p:spPr>
          <a:xfrm>
            <a:off x="906736" y="5828307"/>
            <a:ext cx="9533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Cell-type specific profiling of secreted and ER-resident proteins under different stress conditions [4 x 16plex TMT + serum]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6EE6806-264F-B6C5-9628-A398E13F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83" y="804294"/>
            <a:ext cx="10844939" cy="52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7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 set up #2</a:t>
            </a:r>
          </a:p>
        </p:txBody>
      </p:sp>
      <p:pic>
        <p:nvPicPr>
          <p:cNvPr id="3" name="Picture 2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F7902526-C845-4FF5-B2AA-011B89E8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29" y="952537"/>
            <a:ext cx="11118142" cy="4619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F8D88B-0ECB-4694-6684-DBE9A2E6FCBE}"/>
              </a:ext>
            </a:extLst>
          </p:cNvPr>
          <p:cNvSpPr txBox="1"/>
          <p:nvPr/>
        </p:nvSpPr>
        <p:spPr>
          <a:xfrm>
            <a:off x="906735" y="5828307"/>
            <a:ext cx="10221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Profiling of secreted and ER-resident proteins in distinct white adipose tissues under different dietary conditions [4 x 10plex TMT + serum]</a:t>
            </a:r>
          </a:p>
        </p:txBody>
      </p:sp>
    </p:spTree>
    <p:extLst>
      <p:ext uri="{BB962C8B-B14F-4D97-AF65-F5344CB8AC3E}">
        <p14:creationId xmlns:p14="http://schemas.microsoft.com/office/powerpoint/2010/main" val="428187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63" y="648694"/>
            <a:ext cx="10728322" cy="147732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MS sample processing: Serum</a:t>
            </a:r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9CD7E666-AC50-61B3-3AB0-E9287BEA74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29"/>
          <a:stretch/>
        </p:blipFill>
        <p:spPr>
          <a:xfrm>
            <a:off x="422662" y="2055932"/>
            <a:ext cx="7823199" cy="4082068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1A950690-A3DD-2D8C-D012-E7EE3F6BBA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97"/>
          <a:stretch/>
        </p:blipFill>
        <p:spPr>
          <a:xfrm>
            <a:off x="8279728" y="2410337"/>
            <a:ext cx="3742841" cy="287239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F08E539-E322-0340-9923-F555AC27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</p:spPr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57350"/>
            <a:ext cx="10728325" cy="41116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Total of 10 files </a:t>
            </a:r>
            <a:r>
              <a:rPr lang="en-US" dirty="0">
                <a:solidFill>
                  <a:schemeClr val="bg1"/>
                </a:solidFill>
              </a:rPr>
              <a:t>(4 x 10 plex, 6 x 16 plex)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98EFADE-4B1F-6F4B-B97E-7A39D6B0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6" y="2833773"/>
            <a:ext cx="5559844" cy="2168160"/>
          </a:xfrm>
          <a:prstGeom prst="rect">
            <a:avLst/>
          </a:prstGeom>
        </p:spPr>
      </p:pic>
      <p:pic>
        <p:nvPicPr>
          <p:cNvPr id="9" name="Picture 8" descr="Table, Excel&#10;&#10;Description automatically generated">
            <a:extLst>
              <a:ext uri="{FF2B5EF4-FFF2-40B4-BE49-F238E27FC236}">
                <a16:creationId xmlns:a16="http://schemas.microsoft.com/office/drawing/2014/main" id="{C7A9B24C-B030-4C4D-9B90-39E34385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49" y="2833772"/>
            <a:ext cx="5489925" cy="3405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B90AE2-B578-F749-9833-AC147F44C959}"/>
              </a:ext>
            </a:extLst>
          </p:cNvPr>
          <p:cNvSpPr txBox="1"/>
          <p:nvPr/>
        </p:nvSpPr>
        <p:spPr>
          <a:xfrm>
            <a:off x="536156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10 plex: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11F18-92F8-4448-B4B9-C31102FF041A}"/>
              </a:ext>
            </a:extLst>
          </p:cNvPr>
          <p:cNvSpPr txBox="1"/>
          <p:nvPr/>
        </p:nvSpPr>
        <p:spPr>
          <a:xfrm>
            <a:off x="6415087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16 plex: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ADD23-DFAB-A54C-AF24-C0DF8CE0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6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Analysis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693CFF-05E7-E342-ADCD-4E6EBF2F73F0}"/>
              </a:ext>
            </a:extLst>
          </p:cNvPr>
          <p:cNvCxnSpPr/>
          <p:nvPr/>
        </p:nvCxnSpPr>
        <p:spPr>
          <a:xfrm>
            <a:off x="2366081" y="302330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EC83-0A19-444D-B1ED-9E75E99D108E}"/>
              </a:ext>
            </a:extLst>
          </p:cNvPr>
          <p:cNvSpPr/>
          <p:nvPr/>
        </p:nvSpPr>
        <p:spPr>
          <a:xfrm>
            <a:off x="2888255" y="2419394"/>
            <a:ext cx="5430188" cy="131598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Filter based on peptides</a:t>
            </a:r>
            <a:r>
              <a:rPr lang="en-US" sz="15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non unique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not fully tryptic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Allowed number of missed cleavage sites: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Min 1 or 2 peptides per protein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632" y="2400933"/>
            <a:ext cx="554618" cy="554618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AEB9AE0-1154-F14C-937A-DDE61B2F9E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528250" y="2678242"/>
            <a:ext cx="422699" cy="345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DD1A67-8332-8D4E-9AE7-AAA7274CC52A}"/>
              </a:ext>
            </a:extLst>
          </p:cNvPr>
          <p:cNvCxnSpPr/>
          <p:nvPr/>
        </p:nvCxnSpPr>
        <p:spPr>
          <a:xfrm>
            <a:off x="8425084" y="300738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EA2B7-5A7E-4C43-9995-1FAAD724831D}"/>
              </a:ext>
            </a:extLst>
          </p:cNvPr>
          <p:cNvSpPr txBox="1"/>
          <p:nvPr/>
        </p:nvSpPr>
        <p:spPr>
          <a:xfrm>
            <a:off x="8908935" y="2660717"/>
            <a:ext cx="28726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Peptide SI per protein </a:t>
            </a:r>
          </a:p>
          <a:p>
            <a:r>
              <a:rPr lang="en-US" sz="1500" dirty="0">
                <a:solidFill>
                  <a:schemeClr val="bg1"/>
                </a:solidFill>
              </a:rPr>
              <a:t>are summed</a:t>
            </a:r>
          </a:p>
          <a:p>
            <a:r>
              <a:rPr lang="en-US" sz="1500" dirty="0">
                <a:solidFill>
                  <a:schemeClr val="bg1"/>
                </a:solidFill>
              </a:rPr>
              <a:t>(=summed protein SI)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7A6660-3933-B043-92F9-4E40AAE4EDF9}"/>
              </a:ext>
            </a:extLst>
          </p:cNvPr>
          <p:cNvCxnSpPr>
            <a:cxnSpLocks/>
          </p:cNvCxnSpPr>
          <p:nvPr/>
        </p:nvCxnSpPr>
        <p:spPr>
          <a:xfrm>
            <a:off x="10006042" y="3507212"/>
            <a:ext cx="0" cy="69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1BF30-CEA9-AC48-9331-C0305A946AA9}"/>
              </a:ext>
            </a:extLst>
          </p:cNvPr>
          <p:cNvSpPr txBox="1"/>
          <p:nvPr/>
        </p:nvSpPr>
        <p:spPr>
          <a:xfrm>
            <a:off x="9348027" y="4229987"/>
            <a:ext cx="28726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Processed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70393-3EC5-CD41-9135-46C248964064}"/>
              </a:ext>
            </a:extLst>
          </p:cNvPr>
          <p:cNvSpPr txBox="1"/>
          <p:nvPr/>
        </p:nvSpPr>
        <p:spPr>
          <a:xfrm>
            <a:off x="1713524" y="3184047"/>
            <a:ext cx="1002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Raw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F7213-68FE-FF4D-AF53-1CD72BE0B4D5}"/>
              </a:ext>
            </a:extLst>
          </p:cNvPr>
          <p:cNvSpPr txBox="1"/>
          <p:nvPr/>
        </p:nvSpPr>
        <p:spPr>
          <a:xfrm>
            <a:off x="134097" y="1148596"/>
            <a:ext cx="22941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mass spectrometry data searched against a database of known proteins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007828-2F77-594A-9141-3DB6DEA754DC}"/>
              </a:ext>
            </a:extLst>
          </p:cNvPr>
          <p:cNvCxnSpPr>
            <a:cxnSpLocks/>
          </p:cNvCxnSpPr>
          <p:nvPr/>
        </p:nvCxnSpPr>
        <p:spPr>
          <a:xfrm>
            <a:off x="1250941" y="2106943"/>
            <a:ext cx="0" cy="32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808399C-4025-F643-B6F0-2B20B96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z="1500" smtClean="0">
                <a:solidFill>
                  <a:schemeClr val="bg1"/>
                </a:solidFill>
              </a:rPr>
              <a:t>5</a:t>
            </a:fld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21BEC-87D3-6F4B-958D-D8A8299A8F47}"/>
              </a:ext>
            </a:extLst>
          </p:cNvPr>
          <p:cNvCxnSpPr>
            <a:cxnSpLocks/>
          </p:cNvCxnSpPr>
          <p:nvPr/>
        </p:nvCxnSpPr>
        <p:spPr>
          <a:xfrm flipH="1">
            <a:off x="6398442" y="4790478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ocument outline">
            <a:extLst>
              <a:ext uri="{FF2B5EF4-FFF2-40B4-BE49-F238E27FC236}">
                <a16:creationId xmlns:a16="http://schemas.microsoft.com/office/drawing/2014/main" id="{583B257A-72F1-7543-917B-89E83D50E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1365" y="2805945"/>
            <a:ext cx="434716" cy="43471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CE3C9B-3ECB-4748-8A94-F41DFAB98D48}"/>
              </a:ext>
            </a:extLst>
          </p:cNvPr>
          <p:cNvCxnSpPr>
            <a:cxnSpLocks/>
          </p:cNvCxnSpPr>
          <p:nvPr/>
        </p:nvCxnSpPr>
        <p:spPr>
          <a:xfrm flipH="1">
            <a:off x="8584672" y="4748778"/>
            <a:ext cx="1161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5F572BF-9BAF-3C4C-BBA3-261B5E5A1F49}"/>
              </a:ext>
            </a:extLst>
          </p:cNvPr>
          <p:cNvSpPr txBox="1"/>
          <p:nvPr/>
        </p:nvSpPr>
        <p:spPr>
          <a:xfrm>
            <a:off x="6616359" y="4335151"/>
            <a:ext cx="2039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Filtering based on </a:t>
            </a:r>
            <a:r>
              <a:rPr lang="en-US" sz="1500" b="1" dirty="0" err="1">
                <a:solidFill>
                  <a:schemeClr val="bg1"/>
                </a:solidFill>
              </a:rPr>
              <a:t>cre</a:t>
            </a:r>
            <a:r>
              <a:rPr lang="en-US" sz="1500" b="1" dirty="0">
                <a:solidFill>
                  <a:schemeClr val="bg1"/>
                </a:solidFill>
              </a:rPr>
              <a:t>+ replicates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and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Normalization</a:t>
            </a:r>
          </a:p>
        </p:txBody>
      </p:sp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D3682183-3793-4B4C-8D14-0A476D8A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8001" y="4531420"/>
            <a:ext cx="434716" cy="4347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DC00C0-2AD0-FE4C-A422-A6B24533B912}"/>
              </a:ext>
            </a:extLst>
          </p:cNvPr>
          <p:cNvSpPr txBox="1"/>
          <p:nvPr/>
        </p:nvSpPr>
        <p:spPr>
          <a:xfrm>
            <a:off x="4502196" y="4624259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Annotate proteins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Using TP and FP lists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9C131-6853-564C-89A0-54699B2A0E19}"/>
              </a:ext>
            </a:extLst>
          </p:cNvPr>
          <p:cNvSpPr txBox="1"/>
          <p:nvPr/>
        </p:nvSpPr>
        <p:spPr>
          <a:xfrm>
            <a:off x="2370482" y="4604721"/>
            <a:ext cx="20399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Calculate Ratios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Experimental sample/negative control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053613-1EC4-D54F-976E-FFF4AA907AC5}"/>
              </a:ext>
            </a:extLst>
          </p:cNvPr>
          <p:cNvCxnSpPr>
            <a:cxnSpLocks/>
          </p:cNvCxnSpPr>
          <p:nvPr/>
        </p:nvCxnSpPr>
        <p:spPr>
          <a:xfrm flipH="1">
            <a:off x="4275330" y="4786445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A4979D-B3A4-EA4E-B6EE-C65553BA6693}"/>
              </a:ext>
            </a:extLst>
          </p:cNvPr>
          <p:cNvSpPr txBox="1"/>
          <p:nvPr/>
        </p:nvSpPr>
        <p:spPr>
          <a:xfrm>
            <a:off x="682541" y="5728126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ROC-based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Establish optimal cutoffs per ratio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934EBD41-A03A-934C-9ED8-9B804DB4DB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13524" y="4834923"/>
            <a:ext cx="674509" cy="728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3BDDD3-CF5E-9540-A58D-4DB676B0F0D5}"/>
              </a:ext>
            </a:extLst>
          </p:cNvPr>
          <p:cNvCxnSpPr>
            <a:cxnSpLocks/>
          </p:cNvCxnSpPr>
          <p:nvPr/>
        </p:nvCxnSpPr>
        <p:spPr>
          <a:xfrm>
            <a:off x="2891806" y="5998751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BF8B94-8B79-3C48-A800-0B0F22837976}"/>
              </a:ext>
            </a:extLst>
          </p:cNvPr>
          <p:cNvSpPr txBox="1"/>
          <p:nvPr/>
        </p:nvSpPr>
        <p:spPr>
          <a:xfrm>
            <a:off x="6386626" y="5661395"/>
            <a:ext cx="22696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Determine biotinylated proteins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</a:rPr>
              <a:t>Report proteins that pass cutoff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6C8D95-DEA1-6B41-B114-C53B4E627245}"/>
              </a:ext>
            </a:extLst>
          </p:cNvPr>
          <p:cNvSpPr/>
          <p:nvPr/>
        </p:nvSpPr>
        <p:spPr>
          <a:xfrm>
            <a:off x="6728232" y="4206240"/>
            <a:ext cx="1816203" cy="12433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774D48-C1E9-A74A-B5B4-B4083E706E43}"/>
              </a:ext>
            </a:extLst>
          </p:cNvPr>
          <p:cNvSpPr/>
          <p:nvPr/>
        </p:nvSpPr>
        <p:spPr>
          <a:xfrm>
            <a:off x="7399265" y="3920067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24E2B93-FB54-B74C-8C97-9C89BF9CC222}"/>
              </a:ext>
            </a:extLst>
          </p:cNvPr>
          <p:cNvSpPr/>
          <p:nvPr/>
        </p:nvSpPr>
        <p:spPr>
          <a:xfrm>
            <a:off x="2428270" y="4412488"/>
            <a:ext cx="3944256" cy="82719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146EDC-8E17-8C44-8CA3-33466D41F7CF}"/>
              </a:ext>
            </a:extLst>
          </p:cNvPr>
          <p:cNvSpPr/>
          <p:nvPr/>
        </p:nvSpPr>
        <p:spPr>
          <a:xfrm>
            <a:off x="4194268" y="41363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E3EB4FB-4AB3-BA40-A8C8-2E887DE0D2F9}"/>
              </a:ext>
            </a:extLst>
          </p:cNvPr>
          <p:cNvSpPr/>
          <p:nvPr/>
        </p:nvSpPr>
        <p:spPr>
          <a:xfrm>
            <a:off x="635767" y="5670809"/>
            <a:ext cx="2165029" cy="738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18E82F-D5D6-0D41-B4BD-6A30BEB6A624}"/>
              </a:ext>
            </a:extLst>
          </p:cNvPr>
          <p:cNvSpPr/>
          <p:nvPr/>
        </p:nvSpPr>
        <p:spPr>
          <a:xfrm>
            <a:off x="1476457" y="6174175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C3112A5-715A-304A-9606-54C00D6931C3}"/>
              </a:ext>
            </a:extLst>
          </p:cNvPr>
          <p:cNvSpPr/>
          <p:nvPr/>
        </p:nvSpPr>
        <p:spPr>
          <a:xfrm>
            <a:off x="3619516" y="5615294"/>
            <a:ext cx="5289419" cy="7386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A278EA-8A46-C648-B39E-F4D465139818}"/>
              </a:ext>
            </a:extLst>
          </p:cNvPr>
          <p:cNvSpPr/>
          <p:nvPr/>
        </p:nvSpPr>
        <p:spPr>
          <a:xfrm>
            <a:off x="5847094" y="612215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11E7C0-4157-DF40-B37F-DCA24B797C12}"/>
              </a:ext>
            </a:extLst>
          </p:cNvPr>
          <p:cNvSpPr txBox="1"/>
          <p:nvPr/>
        </p:nvSpPr>
        <p:spPr>
          <a:xfrm>
            <a:off x="3587926" y="5707627"/>
            <a:ext cx="21781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Filtering based on pass/not pass cutoff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491C29F-4840-2743-83BB-1576C9E87C1D}"/>
              </a:ext>
            </a:extLst>
          </p:cNvPr>
          <p:cNvCxnSpPr>
            <a:cxnSpLocks/>
          </p:cNvCxnSpPr>
          <p:nvPr/>
        </p:nvCxnSpPr>
        <p:spPr>
          <a:xfrm>
            <a:off x="5757488" y="5926759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53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of </a:t>
            </a:r>
            <a:r>
              <a:rPr lang="en-US" dirty="0" err="1">
                <a:solidFill>
                  <a:schemeClr val="bg1"/>
                </a:solidFill>
              </a:rPr>
              <a:t>cre</a:t>
            </a:r>
            <a:r>
              <a:rPr lang="en-US" dirty="0">
                <a:solidFill>
                  <a:schemeClr val="bg1"/>
                </a:solidFill>
              </a:rPr>
              <a:t>+ replicates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(any 2 channels) out of the 3 or 4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132F0F-2CBE-9B4E-8639-91B3C9650D7E}"/>
              </a:ext>
            </a:extLst>
          </p:cNvPr>
          <p:cNvGraphicFramePr>
            <a:graphicFrameLocks noGrp="1"/>
          </p:cNvGraphicFramePr>
          <p:nvPr/>
        </p:nvGraphicFramePr>
        <p:xfrm>
          <a:off x="1139033" y="4151706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4000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9F9E0E-2EFE-4E4F-8341-4C70BBC653A3}"/>
              </a:ext>
            </a:extLst>
          </p:cNvPr>
          <p:cNvSpPr txBox="1"/>
          <p:nvPr/>
        </p:nvSpPr>
        <p:spPr>
          <a:xfrm>
            <a:off x="1139033" y="4647014"/>
            <a:ext cx="495696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= at least one pair passed so this uniport ID passes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EF730-B9B2-2845-95EF-E974F2BE351B}"/>
              </a:ext>
            </a:extLst>
          </p:cNvPr>
          <p:cNvSpPr txBox="1"/>
          <p:nvPr/>
        </p:nvSpPr>
        <p:spPr>
          <a:xfrm>
            <a:off x="6096000" y="4695382"/>
            <a:ext cx="478472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= at least one pair passed so this uniport ID passes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E795C68-EB22-F749-A705-A601021DDDE1}"/>
              </a:ext>
            </a:extLst>
          </p:cNvPr>
          <p:cNvGraphicFramePr>
            <a:graphicFrameLocks noGrp="1"/>
          </p:cNvGraphicFramePr>
          <p:nvPr/>
        </p:nvGraphicFramePr>
        <p:xfrm>
          <a:off x="6137440" y="4139087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1500000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CE1D81-A17C-7F49-89F7-29A06F960722}"/>
              </a:ext>
            </a:extLst>
          </p:cNvPr>
          <p:cNvSpPr/>
          <p:nvPr/>
        </p:nvSpPr>
        <p:spPr>
          <a:xfrm>
            <a:off x="5992721" y="627812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1604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Median Normalization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Normalization is performed for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Per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TP proteins with 2+ peptides are used to calculate the median per channel 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normalization factors are calculated by dividing (median of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medians)/(median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channel)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each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 is then multiplied with the corresponding normalization factor </a:t>
            </a: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3032D6-5796-9246-9C39-CCA39DC473E5}"/>
              </a:ext>
            </a:extLst>
          </p:cNvPr>
          <p:cNvSpPr/>
          <p:nvPr/>
        </p:nvSpPr>
        <p:spPr>
          <a:xfrm>
            <a:off x="5085094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829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TP and FP lists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524" y="1453010"/>
            <a:ext cx="10324313" cy="3685767"/>
          </a:xfrm>
        </p:spPr>
        <p:txBody>
          <a:bodyPr>
            <a:normAutofit fontScale="85000" lnSpcReduction="20000"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Lists of TP and FP proteins generated </a:t>
            </a:r>
            <a:r>
              <a:rPr lang="en-US" b="1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basis of annotation from UNIPROT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TP</a:t>
            </a:r>
            <a:r>
              <a:rPr lang="en-US" dirty="0">
                <a:solidFill>
                  <a:schemeClr val="bg1"/>
                </a:solidFill>
              </a:rPr>
              <a:t> list includes proteins expected to be </a:t>
            </a:r>
            <a:r>
              <a:rPr lang="en-US" b="1" dirty="0">
                <a:solidFill>
                  <a:schemeClr val="bg1"/>
                </a:solidFill>
              </a:rPr>
              <a:t>biotinylated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Endoplasmic Reticulum,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Rough Endoplasmic Reticulum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Golgi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Secreted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Extracellular space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FP</a:t>
            </a:r>
            <a:r>
              <a:rPr lang="en-US" dirty="0">
                <a:solidFill>
                  <a:schemeClr val="bg1"/>
                </a:solidFill>
              </a:rPr>
              <a:t> list includes proteins </a:t>
            </a:r>
            <a:r>
              <a:rPr lang="en-US" b="1" dirty="0">
                <a:solidFill>
                  <a:schemeClr val="bg1"/>
                </a:solidFill>
              </a:rPr>
              <a:t>not expected to be biotinylated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Cytoskeleton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Removed Proteins that have </a:t>
            </a:r>
            <a:r>
              <a:rPr lang="en-US" sz="1600" dirty="0" err="1">
                <a:solidFill>
                  <a:schemeClr val="bg1"/>
                </a:solidFill>
              </a:rPr>
              <a:t>SignalP</a:t>
            </a:r>
            <a:r>
              <a:rPr lang="en-US" sz="1600" dirty="0">
                <a:solidFill>
                  <a:schemeClr val="bg1"/>
                </a:solidFill>
              </a:rPr>
              <a:t> annotation</a:t>
            </a:r>
            <a:endParaRPr lang="en-US" sz="17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17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71523-F602-E348-A5BD-06FBCA42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B667-20E9-2148-9D46-594AF0F19BDC}"/>
              </a:ext>
            </a:extLst>
          </p:cNvPr>
          <p:cNvSpPr/>
          <p:nvPr/>
        </p:nvSpPr>
        <p:spPr>
          <a:xfrm>
            <a:off x="3098381" y="5710088"/>
            <a:ext cx="2738535" cy="406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TP list: </a:t>
            </a:r>
            <a:r>
              <a:rPr lang="en-US" b="1" dirty="0">
                <a:solidFill>
                  <a:schemeClr val="bg1"/>
                </a:solidFill>
              </a:rPr>
              <a:t>3436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EBF38-E4AD-0C49-A7C7-C2DD577D4EE4}"/>
              </a:ext>
            </a:extLst>
          </p:cNvPr>
          <p:cNvSpPr/>
          <p:nvPr/>
        </p:nvSpPr>
        <p:spPr>
          <a:xfrm>
            <a:off x="6110680" y="5710087"/>
            <a:ext cx="2738535" cy="406937"/>
          </a:xfrm>
          <a:prstGeom prst="rect">
            <a:avLst/>
          </a:prstGeom>
          <a:solidFill>
            <a:srgbClr val="FF7E79">
              <a:alpha val="2196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FP list: </a:t>
            </a:r>
            <a:r>
              <a:rPr lang="en-US" b="1" dirty="0">
                <a:solidFill>
                  <a:schemeClr val="bg1"/>
                </a:solidFill>
              </a:rPr>
              <a:t>4353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5F1629-4F9A-C945-8791-6FD0E5BB9F1A}"/>
              </a:ext>
            </a:extLst>
          </p:cNvPr>
          <p:cNvSpPr/>
          <p:nvPr/>
        </p:nvSpPr>
        <p:spPr>
          <a:xfrm>
            <a:off x="3645761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1129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Preparation of ratios and annotation of proteins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722848"/>
            <a:ext cx="11052967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1) Calculate Ratios per condition (experimental sample/negative control sample)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2) Annotate Proteins as TP or FP (depending in which list they are in) 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C0588-2FCC-1F46-B729-8B4FE9451948}"/>
              </a:ext>
            </a:extLst>
          </p:cNvPr>
          <p:cNvSpPr/>
          <p:nvPr/>
        </p:nvSpPr>
        <p:spPr>
          <a:xfrm>
            <a:off x="5784630" y="2617450"/>
            <a:ext cx="4772719" cy="209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CA4F1-5E7E-E04F-8E11-8D7E1AFE32C8}"/>
              </a:ext>
            </a:extLst>
          </p:cNvPr>
          <p:cNvSpPr/>
          <p:nvPr/>
        </p:nvSpPr>
        <p:spPr>
          <a:xfrm>
            <a:off x="1944032" y="2482850"/>
            <a:ext cx="2895598" cy="236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888D9-953F-E846-A843-6B402151BBF4}"/>
              </a:ext>
            </a:extLst>
          </p:cNvPr>
          <p:cNvCxnSpPr/>
          <p:nvPr/>
        </p:nvCxnSpPr>
        <p:spPr>
          <a:xfrm>
            <a:off x="5018049" y="3695714"/>
            <a:ext cx="501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1D46-FDB2-5F44-9341-CDFEA150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E33589-E63F-D145-9115-5DA1CF60958B}"/>
              </a:ext>
            </a:extLst>
          </p:cNvPr>
          <p:cNvSpPr/>
          <p:nvPr/>
        </p:nvSpPr>
        <p:spPr>
          <a:xfrm>
            <a:off x="9928027" y="625461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606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Approach to determine the final proteome lists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785264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receiver operating characteristic (ROC)-based analysis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with use of curated lists of true-positive (TP) and false-positive (FP) proteins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allows to establish optimal cutoffs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cutoffs maximize the TP proteins and minimize FP proteins in the final lists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AD780-1245-304B-B966-22D6B9913D65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3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0BFE8A-69C6-C241-BEF3-89B1F4F313F8}"/>
              </a:ext>
            </a:extLst>
          </p:cNvPr>
          <p:cNvSpPr/>
          <p:nvPr/>
        </p:nvSpPr>
        <p:spPr>
          <a:xfrm>
            <a:off x="9911094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247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Determine biotinylated proteins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hlinkClick r:id="rId8"/>
              </a:rPr>
              <a:t>Cho et al. (2020)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C0FFFD-F4DC-4843-AD52-4FCA69ADFDC6}"/>
              </a:ext>
            </a:extLst>
          </p:cNvPr>
          <p:cNvSpPr/>
          <p:nvPr/>
        </p:nvSpPr>
        <p:spPr>
          <a:xfrm>
            <a:off x="7015494" y="660027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5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EV1-100A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above the determined TMT ratio cutoff are considered to be biotinylated proteins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below the cutoff are considered to be likely nonspecific binders</a:t>
            </a:r>
            <a:endParaRPr kumimoji="0" lang="en-US" sz="1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6BA6EE-94E9-FE4E-A345-4C7B208A5DC6}"/>
              </a:ext>
            </a:extLst>
          </p:cNvPr>
          <p:cNvSpPr/>
          <p:nvPr/>
        </p:nvSpPr>
        <p:spPr>
          <a:xfrm>
            <a:off x="4656390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940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Further Filtering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16" y="1441893"/>
            <a:ext cx="11052967" cy="3864074"/>
          </a:xfrm>
        </p:spPr>
        <p:txBody>
          <a:bodyPr>
            <a:normAutofit/>
          </a:bodyPr>
          <a:lstStyle/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 filter out proteins where at least one condition passes the ratio cutoff with 2 different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replicates and create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barplots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to see how the amount of TP and FP proteins changes after the ROC cutoff analysis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 show PCA plots to visualize sample clustering </a:t>
            </a:r>
          </a:p>
          <a:p>
            <a:pPr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Volcano plots to identify up/down regulated proteins in this filtered out subset</a:t>
            </a:r>
          </a:p>
          <a:p>
            <a:pPr marL="0" indent="0">
              <a:buClr>
                <a:srgbClr val="7BAF34"/>
              </a:buClr>
              <a:buNone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97955DBA-5B5E-0549-9088-2DC38A265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9" y="3650102"/>
            <a:ext cx="4271848" cy="2847898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8195BF74-CD70-F541-9F2C-979715CDB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481" y="3841574"/>
            <a:ext cx="3327824" cy="2651166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7079ED8A-C5BF-9448-ABB2-143B558A1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305" y="4131095"/>
            <a:ext cx="4298110" cy="234974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EF26EBF-D3B7-9449-B443-0713BB5B7DEB}"/>
              </a:ext>
            </a:extLst>
          </p:cNvPr>
          <p:cNvSpPr/>
          <p:nvPr/>
        </p:nvSpPr>
        <p:spPr>
          <a:xfrm>
            <a:off x="4001563" y="619200"/>
            <a:ext cx="474134" cy="4150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0477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Feedback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16" y="1441893"/>
            <a:ext cx="11052967" cy="386407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tp_term_list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 ["Endoplasmic Reticulum", "Secreted", "secreted", "Endoplasmic reticulum", "Rough endoplasmic reticulum", "endoplasmic reticulum"], </a:t>
            </a:r>
            <a:r>
              <a:rPr lang="en-US" b="1" dirty="0">
                <a:solidFill>
                  <a:schemeClr val="bg1"/>
                </a:solidFill>
              </a:rPr>
              <a:t>removed:</a:t>
            </a:r>
            <a:r>
              <a:rPr lang="en-US" dirty="0">
                <a:solidFill>
                  <a:schemeClr val="bg1"/>
                </a:solidFill>
              </a:rPr>
              <a:t> "Golgi", "Extracellular space", "extracellular space", 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2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fp_term_list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= ["Nucleus", "nucleus", "Mitochondrion", "mitochondrion"], </a:t>
            </a: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removed: 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'cytoskeleton' "Cytoskeleton",</a:t>
            </a:r>
          </a:p>
          <a:p>
            <a:pPr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FP: </a:t>
            </a:r>
            <a:r>
              <a:rPr lang="en-US" dirty="0">
                <a:solidFill>
                  <a:schemeClr val="bg1"/>
                </a:solidFill>
              </a:rPr>
              <a:t>5344 </a:t>
            </a:r>
          </a:p>
          <a:p>
            <a:pPr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TP:</a:t>
            </a:r>
            <a:r>
              <a:rPr lang="en-US" dirty="0">
                <a:solidFill>
                  <a:schemeClr val="bg1"/>
                </a:solidFill>
              </a:rPr>
              <a:t> 2808</a:t>
            </a:r>
          </a:p>
          <a:p>
            <a:pPr>
              <a:buClr>
                <a:srgbClr val="7BAF34"/>
              </a:buClr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Run analysis with new FP and TP lists </a:t>
            </a:r>
          </a:p>
          <a:p>
            <a:pPr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  <a:latin typeface="Avenir Next LT Pro"/>
              </a:rPr>
              <a:t>Add table that was use for volcano plots </a:t>
            </a:r>
          </a:p>
          <a:p>
            <a:pPr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improve folder structure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21B6DD-29C1-4FEA-923F-71EA1347694C}" type="slidenum">
              <a:rPr kumimoji="0" lang="en-US" sz="12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2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991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B135-31F8-B94A-B495-EFE7C976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3861C-DDFF-F94F-B844-7188E07B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24968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37371F"/>
      </a:dk2>
      <a:lt2>
        <a:srgbClr val="E8E2E4"/>
      </a:lt2>
      <a:accent1>
        <a:srgbClr val="41B48E"/>
      </a:accent1>
      <a:accent2>
        <a:srgbClr val="36B657"/>
      </a:accent2>
      <a:accent3>
        <a:srgbClr val="54B641"/>
      </a:accent3>
      <a:accent4>
        <a:srgbClr val="7BAF34"/>
      </a:accent4>
      <a:accent5>
        <a:srgbClr val="A5A53B"/>
      </a:accent5>
      <a:accent6>
        <a:srgbClr val="B68236"/>
      </a:accent6>
      <a:hlink>
        <a:srgbClr val="79892D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1119</Words>
  <Application>Microsoft Macintosh PowerPoint</Application>
  <PresentationFormat>Widescreen</PresentationFormat>
  <Paragraphs>213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</vt:lpstr>
      <vt:lpstr>Avenir Next LT Pro</vt:lpstr>
      <vt:lpstr>Calibri</vt:lpstr>
      <vt:lpstr>Cambria</vt:lpstr>
      <vt:lpstr>Rockwell Nova Light</vt:lpstr>
      <vt:lpstr>The Hand Extrablack</vt:lpstr>
      <vt:lpstr>BlobVTI</vt:lpstr>
      <vt:lpstr>TurboID Project </vt:lpstr>
      <vt:lpstr>Experiment set up #1</vt:lpstr>
      <vt:lpstr>Experiment set up #2</vt:lpstr>
      <vt:lpstr>MS sample processing: Serum</vt:lpstr>
      <vt:lpstr>Experimental Layout</vt:lpstr>
      <vt:lpstr>Analysis Overview</vt:lpstr>
      <vt:lpstr>Filtering of cre+ replicates</vt:lpstr>
      <vt:lpstr>Median Normalization</vt:lpstr>
      <vt:lpstr>TP and FP lists </vt:lpstr>
      <vt:lpstr>Preparation of ratios and annotation of proteins </vt:lpstr>
      <vt:lpstr>Approach to determine the final proteome lists</vt:lpstr>
      <vt:lpstr>Determine biotinylated proteins</vt:lpstr>
      <vt:lpstr>Example EV1-100A</vt:lpstr>
      <vt:lpstr>Further Filtering </vt:lpstr>
      <vt:lpstr>Feedback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27</cp:revision>
  <dcterms:created xsi:type="dcterms:W3CDTF">2022-10-14T14:34:07Z</dcterms:created>
  <dcterms:modified xsi:type="dcterms:W3CDTF">2023-03-02T14:31:26Z</dcterms:modified>
</cp:coreProperties>
</file>