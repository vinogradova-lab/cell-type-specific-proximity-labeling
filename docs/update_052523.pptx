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713" r:id="rId1"/>
  </p:sldMasterIdLst>
  <p:notesMasterIdLst>
    <p:notesMasterId r:id="rId15"/>
  </p:notesMasterIdLst>
  <p:sldIdLst>
    <p:sldId id="335" r:id="rId2"/>
    <p:sldId id="337" r:id="rId3"/>
    <p:sldId id="336" r:id="rId4"/>
    <p:sldId id="340" r:id="rId5"/>
    <p:sldId id="339" r:id="rId6"/>
    <p:sldId id="330" r:id="rId7"/>
    <p:sldId id="338" r:id="rId8"/>
    <p:sldId id="341" r:id="rId9"/>
    <p:sldId id="342" r:id="rId10"/>
    <p:sldId id="344" r:id="rId11"/>
    <p:sldId id="345" r:id="rId12"/>
    <p:sldId id="346" r:id="rId13"/>
    <p:sldId id="34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7E79"/>
    <a:srgbClr val="FF7E79"/>
    <a:srgbClr val="447228"/>
    <a:srgbClr val="4472C4"/>
    <a:srgbClr val="E60000"/>
    <a:srgbClr val="008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026"/>
    <p:restoredTop sz="95102"/>
  </p:normalViewPr>
  <p:slideViewPr>
    <p:cSldViewPr snapToGrid="0" snapToObjects="1">
      <p:cViewPr>
        <p:scale>
          <a:sx n="95" d="100"/>
          <a:sy n="95" d="100"/>
        </p:scale>
        <p:origin x="1104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91BF4D-3201-F745-B932-E7F786B71255}" type="datetimeFigureOut">
              <a:rPr lang="en-US" smtClean="0"/>
              <a:t>5/25/23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3C3097-339F-D341-9AE2-47DB3DE0E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218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03E81-946A-FD4B-A5BF-D1C95339EC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4C2F99-C96C-3148-91B8-6F227588E1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C0D0F-6448-3840-B99D-4B049583E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2D62B-C5BC-9A48-B649-B612C2626DF0}" type="datetime2">
              <a:rPr lang="en-US" smtClean="0"/>
              <a:t>Thursday, May 25, 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0A073-062E-6143-B8BE-B399CDDD7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97A0C-DCB2-9E4E-AEB9-8985AC2D5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272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1A0A7-988E-1743-A790-2F7BCCC21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71A43-E42E-F44A-9436-732A804F2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1C855-63B7-8848-B673-9245C7226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10DC3-F6B5-014A-A9AD-0D47C6506BAB}" type="datetime2">
              <a:rPr lang="en-US" smtClean="0"/>
              <a:t>Thursday, May 25, 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3D553-48F6-194C-8F63-C146AB5FD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F2AF8-DCE3-AE43-AEE3-850EAA97F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14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99324-A21F-C84F-A997-47F65D32D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8959F-90AE-0144-AD34-239A0D80F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496D3-3431-ED4F-8BA4-B08815815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9C287-8CF4-DC48-88B8-6E35669697EC}" type="datetime2">
              <a:rPr lang="en-US" smtClean="0"/>
              <a:t>Thursday, May 25,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32982-1A21-984F-B648-2EDB9B0B0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C832D-C319-9649-B35D-C53E093AE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980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0149B-808C-D24D-8877-ACEFC6AF4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33443-8A86-4F48-94FD-81ED2B79E8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2BC4DF-4650-FB4D-9F23-19B313FC46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69A489-7672-734C-AED1-C6E7B04D0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B5C39-7764-3744-BF89-1BA0C95D9B94}" type="datetime2">
              <a:rPr lang="en-US" smtClean="0"/>
              <a:t>Thursday, May 25, 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07EDA8-FD42-9E43-B585-2FB1C0947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BFAE4C-9A20-384E-96D9-46182C130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584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99424-B204-DA4D-A261-8A6AB82DD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6BE27-9B08-2D44-A5DD-3646B660C6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7AC73-C28D-C346-AD33-6FBBAB4E8A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3274C1-CA02-1A4E-9EF4-D090FD68EE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FCBDD9-76E2-4943-84C7-23993ECA74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44F0E1-6766-654F-91A1-508B72B7A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B7099-C23E-1745-AF03-0B0C40F6AA6C}" type="datetime2">
              <a:rPr lang="en-US" smtClean="0"/>
              <a:t>Thursday, May 25, 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F1B3F6-5933-924A-A8D2-5BA0605AF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6D5FA3-5E54-6842-AC1E-3506920F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957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8808D-BC2A-824C-942C-0AE064A2E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3CCE5E-003E-A04B-B8AC-5DE83AA33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883A0-F701-0F49-9D67-42F97F0F4C65}" type="datetime2">
              <a:rPr lang="en-US" smtClean="0"/>
              <a:t>Thursday, May 25, 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156BA5-5761-6643-9DC4-C554A41E0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80BB2A-6168-3049-9F8F-5C07F8A7B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012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AFFC16-5F9F-F74E-97C6-550DD4CE8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23127-F9F8-8B4E-9CEB-95BF7FFEA85F}" type="datetime2">
              <a:rPr lang="en-US" smtClean="0"/>
              <a:t>Thursday, May 25, 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0E3E46-25A1-FF43-8A04-5D2C3D138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048B15-E91E-FF45-8ED6-BB994B928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795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E4047-C554-EA40-AF86-540307B54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E612B-509E-1B48-A295-95E828397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48250C-C477-5143-9F6B-A84088F79E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A5F3DA-1D58-A74A-8601-E31A91243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FEB34-53E9-8F42-9ED2-04274EE70207}" type="datetime2">
              <a:rPr lang="en-US" smtClean="0"/>
              <a:t>Thursday, May 25, 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D4976C-4A75-F147-A79B-188097E16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712616-E3F7-0543-8C96-DAF2A4995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921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BF241-8910-0644-B508-4D24CBCDA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619914-324C-FD42-A13F-C61BE61EFC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3C8B3C-F295-A44E-8C5B-CC80D0C909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BC9F1E-AA2C-C546-8413-5345D7B4D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64A2C-3282-224A-8A3B-B1B48911DC1D}" type="datetime2">
              <a:rPr lang="en-US" smtClean="0"/>
              <a:t>Thursday, May 25, 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78F1AB-3458-B949-8001-EBD51E7A6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300183-9D62-B64B-B4D4-33723702C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8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7CD67-4320-0642-B4F9-0821819C4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053E38-BAB1-8944-B64D-5CA2F587CE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0DBA4-0063-9641-A1F7-D0B2F62F7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BF22D-4351-7443-9203-BE328953BFC7}" type="datetime2">
              <a:rPr lang="en-US" smtClean="0"/>
              <a:t>Thursday, May 25,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FC3C5-A448-AD46-89E6-3A2D0BE78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A9B59-82DA-6749-AF8A-6731D7BB4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504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3C92B2-9197-4C49-A687-69FE7951C8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E8F183-93B3-EF4C-88FF-54EA471D02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54A67-F14A-634E-8BAB-8A297E4B6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F6349-9520-004C-B410-2193F9372E49}" type="datetime2">
              <a:rPr lang="en-US" smtClean="0"/>
              <a:t>Thursday, May 25,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CC769-B9F8-2D49-BEC2-6D909EFBF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2CBDEA-F8C8-B74F-93C7-5FAEA38A8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490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9DC372-EC59-7E4B-BEF6-72AFC4334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87D66-EDB8-8D4A-9D2C-A4AB78C361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756E8-6FCF-9641-9118-E22CAEAF31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398F71-50EE-C442-9A03-D3A19758747B}" type="datetime2">
              <a:rPr lang="en-US" smtClean="0"/>
              <a:t>Thursday, May 25, 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95A4E-349B-E545-8163-934653362B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FEE1F-9E90-B441-96E6-378CD96690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092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BAE50-888F-2344-80BF-D5FD2861C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221278" cy="1325563"/>
          </a:xfrm>
        </p:spPr>
        <p:txBody>
          <a:bodyPr/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Notes from mini meeting 05.17.23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07E514-0774-1B49-A6A1-FC5AE60B1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0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09E07B-7DAF-AB4A-A6D6-1BA09B4773D6}"/>
              </a:ext>
            </a:extLst>
          </p:cNvPr>
          <p:cNvSpPr txBox="1"/>
          <p:nvPr/>
        </p:nvSpPr>
        <p:spPr>
          <a:xfrm>
            <a:off x="838200" y="1690688"/>
            <a:ext cx="11013928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endParaRPr lang="en-US" sz="1100" dirty="0">
              <a:solidFill>
                <a:srgbClr val="1D1C1D"/>
              </a:solidFill>
              <a:latin typeface="Slack-Lato"/>
            </a:endParaRPr>
          </a:p>
          <a:p>
            <a:pPr marL="285750" indent="-285750" algn="l">
              <a:buFont typeface="Wingdings" pitchFamily="2" charset="2"/>
              <a:buChar char="q"/>
            </a:pPr>
            <a:r>
              <a:rPr lang="en-US" sz="1600" b="0" i="0" dirty="0">
                <a:solidFill>
                  <a:srgbClr val="1D1C1D"/>
                </a:solidFill>
                <a:effectLst/>
                <a:latin typeface="Slack-Lato"/>
              </a:rPr>
              <a:t>Go term analysis with significant up/down proteins - implement in python using </a:t>
            </a:r>
            <a:r>
              <a:rPr lang="en-US" sz="1600" b="0" i="0" dirty="0" err="1">
                <a:solidFill>
                  <a:srgbClr val="1D1C1D"/>
                </a:solidFill>
                <a:effectLst/>
                <a:latin typeface="Slack-Lato"/>
              </a:rPr>
              <a:t>goatools</a:t>
            </a:r>
            <a:endParaRPr lang="en-US" sz="1600" b="0" i="0" dirty="0">
              <a:solidFill>
                <a:srgbClr val="1D1C1D"/>
              </a:solidFill>
              <a:effectLst/>
              <a:latin typeface="Slack-Lato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1D1C1D"/>
                </a:solidFill>
                <a:effectLst/>
                <a:latin typeface="Slack-Lato"/>
              </a:rPr>
              <a:t>Using Full mouse genome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D1C1D"/>
                </a:solidFill>
                <a:latin typeface="Slack-Lato"/>
              </a:rPr>
              <a:t>Using e</a:t>
            </a:r>
            <a:r>
              <a:rPr lang="en-US" sz="1600" b="0" i="0" dirty="0">
                <a:solidFill>
                  <a:srgbClr val="1D1C1D"/>
                </a:solidFill>
                <a:effectLst/>
                <a:latin typeface="Slack-Lato"/>
              </a:rPr>
              <a:t>xperiment specific reference list (before ROC)</a:t>
            </a:r>
          </a:p>
          <a:p>
            <a:pPr marL="285750" indent="-285750" algn="l">
              <a:buFont typeface="Wingdings" pitchFamily="2" charset="2"/>
              <a:buChar char="q"/>
            </a:pPr>
            <a:r>
              <a:rPr lang="en-US" sz="1600" b="0" i="0" dirty="0">
                <a:solidFill>
                  <a:srgbClr val="1D1C1D"/>
                </a:solidFill>
                <a:effectLst/>
                <a:latin typeface="Slack-Lato"/>
              </a:rPr>
              <a:t>Improve color intensity and naming in volcano plots, save them as </a:t>
            </a:r>
            <a:r>
              <a:rPr lang="en-US" sz="1600" b="0" i="0" dirty="0" err="1">
                <a:solidFill>
                  <a:srgbClr val="1D1C1D"/>
                </a:solidFill>
                <a:effectLst/>
                <a:latin typeface="Slack-Lato"/>
              </a:rPr>
              <a:t>svg</a:t>
            </a:r>
            <a:endParaRPr lang="en-US" sz="1600" b="0" i="0" dirty="0">
              <a:solidFill>
                <a:srgbClr val="1D1C1D"/>
              </a:solidFill>
              <a:effectLst/>
              <a:latin typeface="Slack-Lato"/>
            </a:endParaRPr>
          </a:p>
          <a:p>
            <a:pPr marL="285750" indent="-285750" algn="l">
              <a:buFont typeface="Wingdings" pitchFamily="2" charset="2"/>
              <a:buChar char="q"/>
            </a:pPr>
            <a:r>
              <a:rPr lang="en-US" sz="1600" b="0" i="0" dirty="0">
                <a:solidFill>
                  <a:srgbClr val="1D1C1D"/>
                </a:solidFill>
                <a:effectLst/>
                <a:latin typeface="Slack-Lato"/>
              </a:rPr>
              <a:t>Add labels in html volcano plot for top up and down regulated proteins </a:t>
            </a:r>
          </a:p>
          <a:p>
            <a:pPr marL="285750" indent="-285750" algn="l">
              <a:buFont typeface="Wingdings" pitchFamily="2" charset="2"/>
              <a:buChar char="q"/>
            </a:pPr>
            <a:r>
              <a:rPr lang="en-US" sz="1600" b="0" i="0" dirty="0">
                <a:solidFill>
                  <a:srgbClr val="1D1C1D"/>
                </a:solidFill>
                <a:effectLst/>
                <a:latin typeface="Slack-Lato"/>
              </a:rPr>
              <a:t>Create and save Heatmap (same as volcano plot) </a:t>
            </a:r>
          </a:p>
          <a:p>
            <a:pPr marL="285750" indent="-285750" algn="l">
              <a:buFont typeface="Wingdings" pitchFamily="2" charset="2"/>
              <a:buChar char="q"/>
            </a:pPr>
            <a:r>
              <a:rPr lang="en-US" sz="1600" b="0" i="0" dirty="0">
                <a:solidFill>
                  <a:srgbClr val="1D1C1D"/>
                </a:solidFill>
                <a:effectLst/>
                <a:latin typeface="Slack-Lato"/>
              </a:rPr>
              <a:t>Save PCA plots as </a:t>
            </a:r>
            <a:r>
              <a:rPr lang="en-US" sz="1600" b="0" i="0" dirty="0" err="1">
                <a:solidFill>
                  <a:srgbClr val="1D1C1D"/>
                </a:solidFill>
                <a:effectLst/>
                <a:latin typeface="Slack-Lato"/>
              </a:rPr>
              <a:t>svg</a:t>
            </a:r>
            <a:r>
              <a:rPr lang="en-US" sz="1600" b="0" i="0" dirty="0">
                <a:solidFill>
                  <a:srgbClr val="1D1C1D"/>
                </a:solidFill>
                <a:effectLst/>
                <a:latin typeface="Slack-Lato"/>
              </a:rPr>
              <a:t> </a:t>
            </a:r>
          </a:p>
          <a:p>
            <a:pPr marL="285750" indent="-285750" algn="l">
              <a:buFont typeface="Wingdings" pitchFamily="2" charset="2"/>
              <a:buChar char="q"/>
            </a:pPr>
            <a:r>
              <a:rPr lang="en-US" sz="1600" b="0" i="0" dirty="0">
                <a:solidFill>
                  <a:srgbClr val="1D1C1D"/>
                </a:solidFill>
                <a:effectLst/>
                <a:latin typeface="Slack-Lato"/>
              </a:rPr>
              <a:t>Create filter on final list for easier search in excel sheets </a:t>
            </a:r>
          </a:p>
          <a:p>
            <a:pPr marL="285750" indent="-285750" algn="l">
              <a:buFont typeface="Wingdings" pitchFamily="2" charset="2"/>
              <a:buChar char="q"/>
            </a:pPr>
            <a:r>
              <a:rPr lang="en-US" sz="1600" dirty="0">
                <a:solidFill>
                  <a:srgbClr val="1D1C1D"/>
                </a:solidFill>
                <a:latin typeface="Slack-Lato"/>
              </a:rPr>
              <a:t>Discuss TP lists (still open)</a:t>
            </a:r>
            <a:endParaRPr lang="en-US" sz="1600" b="0" i="0" dirty="0">
              <a:solidFill>
                <a:srgbClr val="1D1C1D"/>
              </a:solidFill>
              <a:effectLst/>
              <a:latin typeface="Slack-Lato"/>
            </a:endParaRPr>
          </a:p>
          <a:p>
            <a:endParaRPr lang="en-US" sz="1500" dirty="0">
              <a:solidFill>
                <a:srgbClr val="1D1C1D"/>
              </a:solidFill>
              <a:latin typeface="Slack-Lato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67ECEC0-BA53-CB4A-BBDE-A2B4869287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" y="-3162300"/>
            <a:ext cx="12280900" cy="128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109D03DA-49C5-5E4E-A31F-C557503F45D8}"/>
              </a:ext>
            </a:extLst>
          </p:cNvPr>
          <p:cNvGrpSpPr/>
          <p:nvPr/>
        </p:nvGrpSpPr>
        <p:grpSpPr>
          <a:xfrm>
            <a:off x="918742" y="1921884"/>
            <a:ext cx="162168" cy="182454"/>
            <a:chOff x="378372" y="1355834"/>
            <a:chExt cx="162168" cy="182454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1462CBC-CFA2-4446-AD49-5D4A8E559E4A}"/>
                </a:ext>
              </a:extLst>
            </p:cNvPr>
            <p:cNvCxnSpPr>
              <a:cxnSpLocks/>
            </p:cNvCxnSpPr>
            <p:nvPr/>
          </p:nvCxnSpPr>
          <p:spPr>
            <a:xfrm>
              <a:off x="378372" y="1355834"/>
              <a:ext cx="144488" cy="182454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A96A48F-9EBA-6B45-B008-B009CB11C8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8140" y="1355834"/>
              <a:ext cx="152400" cy="182454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A70B590-49C2-A641-98E7-D348CD88ABB7}"/>
              </a:ext>
            </a:extLst>
          </p:cNvPr>
          <p:cNvGrpSpPr/>
          <p:nvPr/>
        </p:nvGrpSpPr>
        <p:grpSpPr>
          <a:xfrm>
            <a:off x="923626" y="2654057"/>
            <a:ext cx="162168" cy="182454"/>
            <a:chOff x="378372" y="1355834"/>
            <a:chExt cx="162168" cy="182454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0AF0700-C69A-4A44-8A89-9444E755EEF8}"/>
                </a:ext>
              </a:extLst>
            </p:cNvPr>
            <p:cNvCxnSpPr>
              <a:cxnSpLocks/>
            </p:cNvCxnSpPr>
            <p:nvPr/>
          </p:nvCxnSpPr>
          <p:spPr>
            <a:xfrm>
              <a:off x="378372" y="1355834"/>
              <a:ext cx="144488" cy="182454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7A394F-432D-8445-AEE3-4A88CE15D5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8140" y="1355834"/>
              <a:ext cx="152400" cy="182454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C4573C2-6BDE-8440-B2C4-D0EFB9D10B3B}"/>
              </a:ext>
            </a:extLst>
          </p:cNvPr>
          <p:cNvGrpSpPr/>
          <p:nvPr/>
        </p:nvGrpSpPr>
        <p:grpSpPr>
          <a:xfrm>
            <a:off x="909902" y="2926462"/>
            <a:ext cx="162168" cy="182454"/>
            <a:chOff x="378372" y="1355834"/>
            <a:chExt cx="162168" cy="182454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6107E89-3868-AB40-9DF4-20F3AF2D6DE6}"/>
                </a:ext>
              </a:extLst>
            </p:cNvPr>
            <p:cNvCxnSpPr>
              <a:cxnSpLocks/>
            </p:cNvCxnSpPr>
            <p:nvPr/>
          </p:nvCxnSpPr>
          <p:spPr>
            <a:xfrm>
              <a:off x="378372" y="1355834"/>
              <a:ext cx="144488" cy="182454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E8BED7B-71F7-A84B-94D7-B39CB7FAB5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8140" y="1355834"/>
              <a:ext cx="152400" cy="182454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67462BD-4AB6-594E-B0A6-DCB0F43495CC}"/>
              </a:ext>
            </a:extLst>
          </p:cNvPr>
          <p:cNvGrpSpPr/>
          <p:nvPr/>
        </p:nvGrpSpPr>
        <p:grpSpPr>
          <a:xfrm>
            <a:off x="918742" y="3144165"/>
            <a:ext cx="162168" cy="182454"/>
            <a:chOff x="378372" y="1355834"/>
            <a:chExt cx="162168" cy="182454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BD473CE-51EF-A740-A808-EBAA9AAB321D}"/>
                </a:ext>
              </a:extLst>
            </p:cNvPr>
            <p:cNvCxnSpPr>
              <a:cxnSpLocks/>
            </p:cNvCxnSpPr>
            <p:nvPr/>
          </p:nvCxnSpPr>
          <p:spPr>
            <a:xfrm>
              <a:off x="378372" y="1355834"/>
              <a:ext cx="144488" cy="182454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255975D-AB89-E549-8585-1A5EC0A4EC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8140" y="1355834"/>
              <a:ext cx="152400" cy="182454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4331FB6-C0ED-734D-9726-CCAB13EF72F6}"/>
              </a:ext>
            </a:extLst>
          </p:cNvPr>
          <p:cNvGrpSpPr/>
          <p:nvPr/>
        </p:nvGrpSpPr>
        <p:grpSpPr>
          <a:xfrm>
            <a:off x="909902" y="3386230"/>
            <a:ext cx="162168" cy="182454"/>
            <a:chOff x="378372" y="1355834"/>
            <a:chExt cx="162168" cy="182454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4163174-66A9-3942-96DF-5BB61F34C4A4}"/>
                </a:ext>
              </a:extLst>
            </p:cNvPr>
            <p:cNvCxnSpPr>
              <a:cxnSpLocks/>
            </p:cNvCxnSpPr>
            <p:nvPr/>
          </p:nvCxnSpPr>
          <p:spPr>
            <a:xfrm>
              <a:off x="378372" y="1355834"/>
              <a:ext cx="144488" cy="182454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FFCD825-333F-F845-962D-0F10DFE4F7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8140" y="1355834"/>
              <a:ext cx="152400" cy="182454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85110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CA03F-52F1-234D-A8A1-5BE1E1927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PCA plots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E853FA-7F12-CE4D-828F-D6D8C98DC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D10A1A-B9E4-E544-89E2-150345DCE704}"/>
              </a:ext>
            </a:extLst>
          </p:cNvPr>
          <p:cNvSpPr txBox="1"/>
          <p:nvPr/>
        </p:nvSpPr>
        <p:spPr>
          <a:xfrm>
            <a:off x="1239888" y="1962831"/>
            <a:ext cx="28893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Increased size of symbols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Saved as </a:t>
            </a:r>
            <a:r>
              <a:rPr lang="en-US" dirty="0" err="1"/>
              <a:t>svg</a:t>
            </a:r>
            <a:endParaRPr lang="en-US" dirty="0"/>
          </a:p>
        </p:txBody>
      </p:sp>
      <p:pic>
        <p:nvPicPr>
          <p:cNvPr id="5" name="Picture 4" descr="A picture containing text, screenshot, diagram, font&#10;&#10;Description automatically generated">
            <a:extLst>
              <a:ext uri="{FF2B5EF4-FFF2-40B4-BE49-F238E27FC236}">
                <a16:creationId xmlns:a16="http://schemas.microsoft.com/office/drawing/2014/main" id="{4E1BFDC6-3A22-094D-B5AB-F834DB8AA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1315" y="1452282"/>
            <a:ext cx="6722836" cy="4400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780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CA03F-52F1-234D-A8A1-5BE1E1927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Volcano plots</a:t>
            </a:r>
            <a:endParaRPr lang="en-US" dirty="0"/>
          </a:p>
        </p:txBody>
      </p:sp>
      <p:pic>
        <p:nvPicPr>
          <p:cNvPr id="6" name="Content Placeholder 5" descr="A picture containing text, screenshot, diagram, font&#10;&#10;Description automatically generated">
            <a:extLst>
              <a:ext uri="{FF2B5EF4-FFF2-40B4-BE49-F238E27FC236}">
                <a16:creationId xmlns:a16="http://schemas.microsoft.com/office/drawing/2014/main" id="{562D0743-686C-9A44-B821-56A2CFC26F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7431"/>
          <a:stretch/>
        </p:blipFill>
        <p:spPr>
          <a:xfrm>
            <a:off x="348343" y="2590800"/>
            <a:ext cx="7926849" cy="376555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E853FA-7F12-CE4D-828F-D6D8C98DC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D10A1A-B9E4-E544-89E2-150345DCE704}"/>
              </a:ext>
            </a:extLst>
          </p:cNvPr>
          <p:cNvSpPr txBox="1"/>
          <p:nvPr/>
        </p:nvSpPr>
        <p:spPr>
          <a:xfrm>
            <a:off x="2265832" y="1667470"/>
            <a:ext cx="30935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Slightly changed colors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Html file: added top labels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Saved as </a:t>
            </a:r>
            <a:r>
              <a:rPr lang="en-US" dirty="0" err="1"/>
              <a:t>svg</a:t>
            </a:r>
            <a:r>
              <a:rPr lang="en-US" dirty="0"/>
              <a:t>: without labels</a:t>
            </a:r>
          </a:p>
        </p:txBody>
      </p:sp>
      <p:pic>
        <p:nvPicPr>
          <p:cNvPr id="9" name="Picture 8" descr="A picture containing text, screenshot, diagram&#10;&#10;Description automatically generated">
            <a:extLst>
              <a:ext uri="{FF2B5EF4-FFF2-40B4-BE49-F238E27FC236}">
                <a16:creationId xmlns:a16="http://schemas.microsoft.com/office/drawing/2014/main" id="{0DB82330-49A3-684A-8499-4AE8ADA38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544" y="673098"/>
            <a:ext cx="5612692" cy="3258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718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CA03F-52F1-234D-A8A1-5BE1E1927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Heatmaps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E853FA-7F12-CE4D-828F-D6D8C98DC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D10A1A-B9E4-E544-89E2-150345DCE704}"/>
              </a:ext>
            </a:extLst>
          </p:cNvPr>
          <p:cNvSpPr txBox="1"/>
          <p:nvPr/>
        </p:nvSpPr>
        <p:spPr>
          <a:xfrm>
            <a:off x="1095938" y="1690688"/>
            <a:ext cx="26154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Using top proteins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Pdf can be searched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Z-score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Replicates visible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be compared with volcano plots </a:t>
            </a:r>
          </a:p>
        </p:txBody>
      </p:sp>
      <p:pic>
        <p:nvPicPr>
          <p:cNvPr id="10" name="Picture 9" descr="A screenshot of a graph&#10;&#10;Description automatically generated with low confidence">
            <a:extLst>
              <a:ext uri="{FF2B5EF4-FFF2-40B4-BE49-F238E27FC236}">
                <a16:creationId xmlns:a16="http://schemas.microsoft.com/office/drawing/2014/main" id="{F3E7A520-A720-2E48-8DA8-D78FEE894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5714" y="845344"/>
            <a:ext cx="8415960" cy="5167312"/>
          </a:xfrm>
          <a:prstGeom prst="rect">
            <a:avLst/>
          </a:prstGeom>
        </p:spPr>
      </p:pic>
      <p:pic>
        <p:nvPicPr>
          <p:cNvPr id="12" name="Picture 11" descr="A close-up of a graph&#10;&#10;Description automatically generated with low confidence">
            <a:extLst>
              <a:ext uri="{FF2B5EF4-FFF2-40B4-BE49-F238E27FC236}">
                <a16:creationId xmlns:a16="http://schemas.microsoft.com/office/drawing/2014/main" id="{7ACB0735-3DE3-4747-86FD-5B0D5AA5B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1012" y="4026366"/>
            <a:ext cx="7503459" cy="2512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385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47884-2CA5-BF45-82F6-CBB123160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9720"/>
            <a:ext cx="11002701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GOterm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1B70B-0FF1-1744-BC18-C9F378FFE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 descr="A close-up of a graph&#10;&#10;Description automatically generated with low confidence">
            <a:extLst>
              <a:ext uri="{FF2B5EF4-FFF2-40B4-BE49-F238E27FC236}">
                <a16:creationId xmlns:a16="http://schemas.microsoft.com/office/drawing/2014/main" id="{C7CFA62A-5E3B-C949-8A8A-0CB8A2837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0742" y="399720"/>
            <a:ext cx="3593898" cy="623316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089F6E-81C8-0841-AD03-FA3808ECB0D4}"/>
              </a:ext>
            </a:extLst>
          </p:cNvPr>
          <p:cNvSpPr txBox="1"/>
          <p:nvPr/>
        </p:nvSpPr>
        <p:spPr>
          <a:xfrm>
            <a:off x="8971740" y="1215580"/>
            <a:ext cx="1973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Molecular function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F8343F-CE25-8A48-AFBD-92D716DF1D43}"/>
              </a:ext>
            </a:extLst>
          </p:cNvPr>
          <p:cNvSpPr txBox="1"/>
          <p:nvPr/>
        </p:nvSpPr>
        <p:spPr>
          <a:xfrm>
            <a:off x="8971740" y="3331637"/>
            <a:ext cx="1846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Biological process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311D70-857D-324F-97F7-8369FDDB4078}"/>
              </a:ext>
            </a:extLst>
          </p:cNvPr>
          <p:cNvSpPr txBox="1"/>
          <p:nvPr/>
        </p:nvSpPr>
        <p:spPr>
          <a:xfrm>
            <a:off x="8867384" y="5307323"/>
            <a:ext cx="2054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Cellular Component</a:t>
            </a:r>
          </a:p>
        </p:txBody>
      </p:sp>
      <p:pic>
        <p:nvPicPr>
          <p:cNvPr id="10" name="Picture 9" descr="A picture containing text, screenshot, receipt, number&#10;&#10;Description automatically generated">
            <a:extLst>
              <a:ext uri="{FF2B5EF4-FFF2-40B4-BE49-F238E27FC236}">
                <a16:creationId xmlns:a16="http://schemas.microsoft.com/office/drawing/2014/main" id="{F349A306-C9E8-234B-9B7D-39B5653BDF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566" y="2930877"/>
            <a:ext cx="7255246" cy="220184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FF1557D-11B9-A740-B13A-592CD5A1AD6B}"/>
              </a:ext>
            </a:extLst>
          </p:cNvPr>
          <p:cNvSpPr txBox="1"/>
          <p:nvPr/>
        </p:nvSpPr>
        <p:spPr>
          <a:xfrm>
            <a:off x="3841935" y="2561545"/>
            <a:ext cx="732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Table </a:t>
            </a:r>
          </a:p>
        </p:txBody>
      </p:sp>
    </p:spTree>
    <p:extLst>
      <p:ext uri="{BB962C8B-B14F-4D97-AF65-F5344CB8AC3E}">
        <p14:creationId xmlns:p14="http://schemas.microsoft.com/office/powerpoint/2010/main" val="2022032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47884-2CA5-BF45-82F6-CBB123160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9720"/>
            <a:ext cx="11002701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GOterm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analysis 100A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1B70B-0FF1-1744-BC18-C9F378FFE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52E193-9E8A-2748-9D27-D2AF3602A70F}"/>
              </a:ext>
            </a:extLst>
          </p:cNvPr>
          <p:cNvSpPr txBox="1"/>
          <p:nvPr/>
        </p:nvSpPr>
        <p:spPr>
          <a:xfrm>
            <a:off x="9406759" y="609600"/>
            <a:ext cx="23017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Still working on it, need to improve </a:t>
            </a:r>
            <a:r>
              <a:rPr lang="en-US" dirty="0" err="1">
                <a:solidFill>
                  <a:srgbClr val="FF0000"/>
                </a:solidFill>
              </a:rPr>
              <a:t>uniprot</a:t>
            </a:r>
            <a:r>
              <a:rPr lang="en-US" dirty="0">
                <a:solidFill>
                  <a:srgbClr val="FF0000"/>
                </a:solidFill>
              </a:rPr>
              <a:t> to gene id mapping </a:t>
            </a:r>
          </a:p>
        </p:txBody>
      </p:sp>
      <p:pic>
        <p:nvPicPr>
          <p:cNvPr id="12" name="Picture 11" descr="A picture containing text, software, screenshot&#10;&#10;Description automatically generated">
            <a:extLst>
              <a:ext uri="{FF2B5EF4-FFF2-40B4-BE49-F238E27FC236}">
                <a16:creationId xmlns:a16="http://schemas.microsoft.com/office/drawing/2014/main" id="{89852538-31CA-0347-B66B-EC825B77E5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081"/>
          <a:stretch/>
        </p:blipFill>
        <p:spPr>
          <a:xfrm>
            <a:off x="6059424" y="3071554"/>
            <a:ext cx="5781477" cy="3416300"/>
          </a:xfrm>
          <a:prstGeom prst="rect">
            <a:avLst/>
          </a:prstGeom>
        </p:spPr>
      </p:pic>
      <p:pic>
        <p:nvPicPr>
          <p:cNvPr id="14" name="Picture 13" descr="A picture containing text, number, line, screenshot&#10;&#10;Description automatically generated">
            <a:extLst>
              <a:ext uri="{FF2B5EF4-FFF2-40B4-BE49-F238E27FC236}">
                <a16:creationId xmlns:a16="http://schemas.microsoft.com/office/drawing/2014/main" id="{8D78B9F7-E7D8-B843-8D36-0DEF82E7E6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357" y="3041980"/>
            <a:ext cx="5844643" cy="34163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603CB3A-5C89-3840-9BD0-EC8BEBF97584}"/>
              </a:ext>
            </a:extLst>
          </p:cNvPr>
          <p:cNvSpPr txBox="1"/>
          <p:nvPr/>
        </p:nvSpPr>
        <p:spPr>
          <a:xfrm>
            <a:off x="3331028" y="2753280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DF4D98-0FF2-3646-ABA5-0A27924784FA}"/>
              </a:ext>
            </a:extLst>
          </p:cNvPr>
          <p:cNvSpPr txBox="1"/>
          <p:nvPr/>
        </p:nvSpPr>
        <p:spPr>
          <a:xfrm>
            <a:off x="8991068" y="2672648"/>
            <a:ext cx="831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DOWN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D92CCC-9786-CE4A-BC11-06ACD764EDFC}"/>
              </a:ext>
            </a:extLst>
          </p:cNvPr>
          <p:cNvSpPr txBox="1"/>
          <p:nvPr/>
        </p:nvSpPr>
        <p:spPr>
          <a:xfrm>
            <a:off x="1231564" y="2014299"/>
            <a:ext cx="2903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Using full mouse genome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F4882B-23E9-7A40-AFE3-AEABEC6D9B1D}"/>
              </a:ext>
            </a:extLst>
          </p:cNvPr>
          <p:cNvSpPr txBox="1"/>
          <p:nvPr/>
        </p:nvSpPr>
        <p:spPr>
          <a:xfrm>
            <a:off x="5066125" y="2558162"/>
            <a:ext cx="2477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iWAT_HF</a:t>
            </a:r>
            <a:r>
              <a:rPr lang="en-US" dirty="0"/>
              <a:t> vs. </a:t>
            </a:r>
            <a:r>
              <a:rPr lang="en-US" dirty="0" err="1"/>
              <a:t>iWAT_chow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5773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47884-2CA5-BF45-82F6-CBB123160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9720"/>
            <a:ext cx="11002701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GOterm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analysis 100A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1B70B-0FF1-1744-BC18-C9F378FFE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52E193-9E8A-2748-9D27-D2AF3602A70F}"/>
              </a:ext>
            </a:extLst>
          </p:cNvPr>
          <p:cNvSpPr txBox="1"/>
          <p:nvPr/>
        </p:nvSpPr>
        <p:spPr>
          <a:xfrm>
            <a:off x="9406759" y="609600"/>
            <a:ext cx="23017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Still working on it, need to improve </a:t>
            </a:r>
            <a:r>
              <a:rPr lang="en-US" dirty="0" err="1">
                <a:solidFill>
                  <a:srgbClr val="FF0000"/>
                </a:solidFill>
              </a:rPr>
              <a:t>uniprot</a:t>
            </a:r>
            <a:r>
              <a:rPr lang="en-US" dirty="0">
                <a:solidFill>
                  <a:srgbClr val="FF0000"/>
                </a:solidFill>
              </a:rPr>
              <a:t> to gene id mapping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03CB3A-5C89-3840-9BD0-EC8BEBF97584}"/>
              </a:ext>
            </a:extLst>
          </p:cNvPr>
          <p:cNvSpPr txBox="1"/>
          <p:nvPr/>
        </p:nvSpPr>
        <p:spPr>
          <a:xfrm>
            <a:off x="3331028" y="2753280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DF4D98-0FF2-3646-ABA5-0A27924784FA}"/>
              </a:ext>
            </a:extLst>
          </p:cNvPr>
          <p:cNvSpPr txBox="1"/>
          <p:nvPr/>
        </p:nvSpPr>
        <p:spPr>
          <a:xfrm>
            <a:off x="8991068" y="2672648"/>
            <a:ext cx="831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DOWN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D92CCC-9786-CE4A-BC11-06ACD764EDFC}"/>
              </a:ext>
            </a:extLst>
          </p:cNvPr>
          <p:cNvSpPr txBox="1"/>
          <p:nvPr/>
        </p:nvSpPr>
        <p:spPr>
          <a:xfrm>
            <a:off x="1218117" y="1869949"/>
            <a:ext cx="4659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Using experiment reference list (before ROC)</a:t>
            </a:r>
          </a:p>
        </p:txBody>
      </p:sp>
      <p:pic>
        <p:nvPicPr>
          <p:cNvPr id="5" name="Picture 4" descr="A picture containing text, software, number, screenshot&#10;&#10;Description automatically generated">
            <a:extLst>
              <a:ext uri="{FF2B5EF4-FFF2-40B4-BE49-F238E27FC236}">
                <a16:creationId xmlns:a16="http://schemas.microsoft.com/office/drawing/2014/main" id="{19B0DF59-78A4-6649-8872-47EB65821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5962" y="3095384"/>
            <a:ext cx="5727035" cy="3443528"/>
          </a:xfrm>
          <a:prstGeom prst="rect">
            <a:avLst/>
          </a:prstGeom>
        </p:spPr>
      </p:pic>
      <p:pic>
        <p:nvPicPr>
          <p:cNvPr id="8" name="Picture 7" descr="A picture containing rectangle, line, text, whiteboard&#10;&#10;Description automatically generated">
            <a:extLst>
              <a:ext uri="{FF2B5EF4-FFF2-40B4-BE49-F238E27FC236}">
                <a16:creationId xmlns:a16="http://schemas.microsoft.com/office/drawing/2014/main" id="{8DCE56EC-17E6-5A44-933D-B4B52F4E7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926" y="3041980"/>
            <a:ext cx="5727036" cy="344352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32F532A-0798-FC49-970D-C2CFA8662195}"/>
              </a:ext>
            </a:extLst>
          </p:cNvPr>
          <p:cNvSpPr txBox="1"/>
          <p:nvPr/>
        </p:nvSpPr>
        <p:spPr>
          <a:xfrm>
            <a:off x="5147725" y="2571508"/>
            <a:ext cx="2477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iWAT_HF</a:t>
            </a:r>
            <a:r>
              <a:rPr lang="en-US" dirty="0"/>
              <a:t> vs. </a:t>
            </a:r>
            <a:r>
              <a:rPr lang="en-US" dirty="0" err="1"/>
              <a:t>iWAT_chow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381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47884-2CA5-BF45-82F6-CBB123160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9720"/>
            <a:ext cx="11002701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GOterm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analysis 101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1B70B-0FF1-1744-BC18-C9F378FFE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52E193-9E8A-2748-9D27-D2AF3602A70F}"/>
              </a:ext>
            </a:extLst>
          </p:cNvPr>
          <p:cNvSpPr txBox="1"/>
          <p:nvPr/>
        </p:nvSpPr>
        <p:spPr>
          <a:xfrm>
            <a:off x="9406759" y="609600"/>
            <a:ext cx="23017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Still working on it, need to improve </a:t>
            </a:r>
            <a:r>
              <a:rPr lang="en-US" dirty="0" err="1">
                <a:solidFill>
                  <a:srgbClr val="FF0000"/>
                </a:solidFill>
              </a:rPr>
              <a:t>uniprot</a:t>
            </a:r>
            <a:r>
              <a:rPr lang="en-US" dirty="0">
                <a:solidFill>
                  <a:srgbClr val="FF0000"/>
                </a:solidFill>
              </a:rPr>
              <a:t> to gene id mapping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03CB3A-5C89-3840-9BD0-EC8BEBF97584}"/>
              </a:ext>
            </a:extLst>
          </p:cNvPr>
          <p:cNvSpPr txBox="1"/>
          <p:nvPr/>
        </p:nvSpPr>
        <p:spPr>
          <a:xfrm>
            <a:off x="3331028" y="2487981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DF4D98-0FF2-3646-ABA5-0A27924784FA}"/>
              </a:ext>
            </a:extLst>
          </p:cNvPr>
          <p:cNvSpPr txBox="1"/>
          <p:nvPr/>
        </p:nvSpPr>
        <p:spPr>
          <a:xfrm>
            <a:off x="8657228" y="2383631"/>
            <a:ext cx="831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DOWN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D92CCC-9786-CE4A-BC11-06ACD764EDFC}"/>
              </a:ext>
            </a:extLst>
          </p:cNvPr>
          <p:cNvSpPr txBox="1"/>
          <p:nvPr/>
        </p:nvSpPr>
        <p:spPr>
          <a:xfrm>
            <a:off x="1231564" y="2014299"/>
            <a:ext cx="2903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Using full mouse genome </a:t>
            </a:r>
          </a:p>
        </p:txBody>
      </p:sp>
      <p:pic>
        <p:nvPicPr>
          <p:cNvPr id="5" name="Picture 4" descr="A picture containing text, number, software, line&#10;&#10;Description automatically generated">
            <a:extLst>
              <a:ext uri="{FF2B5EF4-FFF2-40B4-BE49-F238E27FC236}">
                <a16:creationId xmlns:a16="http://schemas.microsoft.com/office/drawing/2014/main" id="{DB632CEF-2B9F-5740-AC3C-8FD326C76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433" y="2710843"/>
            <a:ext cx="6359567" cy="37474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ABE02C-1A7E-624F-9489-CD0CC63BB473}"/>
              </a:ext>
            </a:extLst>
          </p:cNvPr>
          <p:cNvSpPr txBox="1"/>
          <p:nvPr/>
        </p:nvSpPr>
        <p:spPr>
          <a:xfrm>
            <a:off x="5636369" y="2358348"/>
            <a:ext cx="1166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LPS vs ctrl </a:t>
            </a:r>
          </a:p>
        </p:txBody>
      </p:sp>
      <p:pic>
        <p:nvPicPr>
          <p:cNvPr id="9" name="Picture 8" descr="A picture containing text, software, line, screenshot&#10;&#10;Description automatically generated">
            <a:extLst>
              <a:ext uri="{FF2B5EF4-FFF2-40B4-BE49-F238E27FC236}">
                <a16:creationId xmlns:a16="http://schemas.microsoft.com/office/drawing/2014/main" id="{922C1982-31B8-EE48-AD4B-C2D611DB2B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747" y="2806209"/>
            <a:ext cx="5940575" cy="3652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255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47884-2CA5-BF45-82F6-CBB123160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9720"/>
            <a:ext cx="11002701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GOterm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analysis 100A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1B70B-0FF1-1744-BC18-C9F378FFE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52E193-9E8A-2748-9D27-D2AF3602A70F}"/>
              </a:ext>
            </a:extLst>
          </p:cNvPr>
          <p:cNvSpPr txBox="1"/>
          <p:nvPr/>
        </p:nvSpPr>
        <p:spPr>
          <a:xfrm>
            <a:off x="9406759" y="609600"/>
            <a:ext cx="23017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Still working on it, need to improve </a:t>
            </a:r>
            <a:r>
              <a:rPr lang="en-US" dirty="0" err="1">
                <a:solidFill>
                  <a:srgbClr val="FF0000"/>
                </a:solidFill>
              </a:rPr>
              <a:t>uniprot</a:t>
            </a:r>
            <a:r>
              <a:rPr lang="en-US" dirty="0">
                <a:solidFill>
                  <a:srgbClr val="FF0000"/>
                </a:solidFill>
              </a:rPr>
              <a:t> to gene id mapping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03CB3A-5C89-3840-9BD0-EC8BEBF97584}"/>
              </a:ext>
            </a:extLst>
          </p:cNvPr>
          <p:cNvSpPr txBox="1"/>
          <p:nvPr/>
        </p:nvSpPr>
        <p:spPr>
          <a:xfrm>
            <a:off x="3321956" y="2527982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DF4D98-0FF2-3646-ABA5-0A27924784FA}"/>
              </a:ext>
            </a:extLst>
          </p:cNvPr>
          <p:cNvSpPr txBox="1"/>
          <p:nvPr/>
        </p:nvSpPr>
        <p:spPr>
          <a:xfrm>
            <a:off x="8870045" y="2568320"/>
            <a:ext cx="831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DOWN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D92CCC-9786-CE4A-BC11-06ACD764EDFC}"/>
              </a:ext>
            </a:extLst>
          </p:cNvPr>
          <p:cNvSpPr txBox="1"/>
          <p:nvPr/>
        </p:nvSpPr>
        <p:spPr>
          <a:xfrm>
            <a:off x="1218117" y="1869949"/>
            <a:ext cx="4659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Using experiment reference list (before ROC)</a:t>
            </a:r>
          </a:p>
        </p:txBody>
      </p:sp>
      <p:pic>
        <p:nvPicPr>
          <p:cNvPr id="8" name="Picture 7" descr="A picture containing rectangle, line, text, whiteboard&#10;&#10;Description automatically generated">
            <a:extLst>
              <a:ext uri="{FF2B5EF4-FFF2-40B4-BE49-F238E27FC236}">
                <a16:creationId xmlns:a16="http://schemas.microsoft.com/office/drawing/2014/main" id="{8DCE56EC-17E6-5A44-933D-B4B52F4E7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00" y="2909809"/>
            <a:ext cx="5727036" cy="3443529"/>
          </a:xfrm>
          <a:prstGeom prst="rect">
            <a:avLst/>
          </a:prstGeom>
        </p:spPr>
      </p:pic>
      <p:pic>
        <p:nvPicPr>
          <p:cNvPr id="6" name="Picture 5" descr="A picture containing screenshot, text, software&#10;&#10;Description automatically generated">
            <a:extLst>
              <a:ext uri="{FF2B5EF4-FFF2-40B4-BE49-F238E27FC236}">
                <a16:creationId xmlns:a16="http://schemas.microsoft.com/office/drawing/2014/main" id="{7AF439D3-04B4-704D-996C-089A1C7047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1866" y="3003888"/>
            <a:ext cx="5664445" cy="354847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3E993D9-B221-C145-834F-E6B743FED6B5}"/>
              </a:ext>
            </a:extLst>
          </p:cNvPr>
          <p:cNvSpPr txBox="1"/>
          <p:nvPr/>
        </p:nvSpPr>
        <p:spPr>
          <a:xfrm>
            <a:off x="5526348" y="2455831"/>
            <a:ext cx="1166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LPS vs ctrl </a:t>
            </a:r>
          </a:p>
        </p:txBody>
      </p:sp>
    </p:spTree>
    <p:extLst>
      <p:ext uri="{BB962C8B-B14F-4D97-AF65-F5344CB8AC3E}">
        <p14:creationId xmlns:p14="http://schemas.microsoft.com/office/powerpoint/2010/main" val="984890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E266E-17D6-0746-8DA4-D136C48A6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you can find the new plots </a:t>
            </a:r>
            <a:endParaRPr lang="en-US" dirty="0"/>
          </a:p>
        </p:txBody>
      </p:sp>
      <p:pic>
        <p:nvPicPr>
          <p:cNvPr id="6" name="Content Placeholder 5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762D2EF0-0E87-2A42-8F50-52A0009A2F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00881"/>
            <a:ext cx="10515600" cy="362430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C47C58-9948-2D4E-804B-B258395A3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6F401F-2842-EB4D-98D5-3843FE1CDA05}"/>
              </a:ext>
            </a:extLst>
          </p:cNvPr>
          <p:cNvSpPr txBox="1"/>
          <p:nvPr/>
        </p:nvSpPr>
        <p:spPr>
          <a:xfrm>
            <a:off x="9126689" y="368457"/>
            <a:ext cx="2743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Still working on it, need to improve </a:t>
            </a:r>
            <a:r>
              <a:rPr lang="en-US" dirty="0" err="1">
                <a:solidFill>
                  <a:srgbClr val="FF0000"/>
                </a:solidFill>
              </a:rPr>
              <a:t>uniprot</a:t>
            </a:r>
            <a:r>
              <a:rPr lang="en-US" dirty="0">
                <a:solidFill>
                  <a:srgbClr val="FF0000"/>
                </a:solidFill>
              </a:rPr>
              <a:t> to gene id mapping for go term analysis will then send email to everyone </a:t>
            </a:r>
          </a:p>
        </p:txBody>
      </p:sp>
    </p:spTree>
    <p:extLst>
      <p:ext uri="{BB962C8B-B14F-4D97-AF65-F5344CB8AC3E}">
        <p14:creationId xmlns:p14="http://schemas.microsoft.com/office/powerpoint/2010/main" val="3541562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E266E-17D6-0746-8DA4-D136C48A6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20230512_EV2-28A (male) vs. 20230513_EV2-28B (female)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C47C58-9948-2D4E-804B-B258395A3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10</a:t>
            </a:fld>
            <a:endParaRPr lang="en-US"/>
          </a:p>
        </p:txBody>
      </p:sp>
      <p:pic>
        <p:nvPicPr>
          <p:cNvPr id="8" name="Picture 7" descr="A picture containing text, screenshot, diagram, font&#10;&#10;Description automatically generated">
            <a:extLst>
              <a:ext uri="{FF2B5EF4-FFF2-40B4-BE49-F238E27FC236}">
                <a16:creationId xmlns:a16="http://schemas.microsoft.com/office/drawing/2014/main" id="{B796ADE1-736F-D14E-BCF5-4F4976AA8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3356" y="2043952"/>
            <a:ext cx="5353611" cy="41730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06E25FD-82CE-DC4D-A9E0-F714EF28FA38}"/>
              </a:ext>
            </a:extLst>
          </p:cNvPr>
          <p:cNvSpPr txBox="1"/>
          <p:nvPr/>
        </p:nvSpPr>
        <p:spPr>
          <a:xfrm>
            <a:off x="959223" y="2796987"/>
            <a:ext cx="46325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file was filtered and normalized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Only </a:t>
            </a:r>
            <a:r>
              <a:rPr lang="en-US" dirty="0" err="1"/>
              <a:t>cre</a:t>
            </a:r>
            <a:r>
              <a:rPr lang="en-US" dirty="0"/>
              <a:t>+ channels were used to calculate ratio per channel per protein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Then male and female files were merged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And PCA plot was created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E9BE6E-037B-FA4F-9890-D7D1D8158C0E}"/>
              </a:ext>
            </a:extLst>
          </p:cNvPr>
          <p:cNvSpPr txBox="1"/>
          <p:nvPr/>
        </p:nvSpPr>
        <p:spPr>
          <a:xfrm>
            <a:off x="1055033" y="4778188"/>
            <a:ext cx="369626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1D1C1D"/>
                </a:solidFill>
                <a:latin typeface="Slack-Lato"/>
              </a:rPr>
              <a:t>Proteins detected in male file: </a:t>
            </a:r>
            <a:r>
              <a:rPr lang="en-US" b="0" i="0" dirty="0">
                <a:solidFill>
                  <a:srgbClr val="1D1C1D"/>
                </a:solidFill>
                <a:effectLst/>
                <a:latin typeface="Slack-Lato"/>
              </a:rPr>
              <a:t>1231 </a:t>
            </a:r>
          </a:p>
          <a:p>
            <a:r>
              <a:rPr lang="en-US" dirty="0">
                <a:solidFill>
                  <a:srgbClr val="1D1C1D"/>
                </a:solidFill>
                <a:latin typeface="Slack-Lato"/>
              </a:rPr>
              <a:t>Proteins detected in female file: </a:t>
            </a:r>
            <a:r>
              <a:rPr lang="en-US" b="0" i="0" dirty="0">
                <a:solidFill>
                  <a:srgbClr val="1D1C1D"/>
                </a:solidFill>
                <a:effectLst/>
                <a:latin typeface="Slack-Lato"/>
              </a:rPr>
              <a:t>1297</a:t>
            </a:r>
          </a:p>
          <a:p>
            <a:r>
              <a:rPr lang="en-US" dirty="0">
                <a:solidFill>
                  <a:srgbClr val="1D1C1D"/>
                </a:solidFill>
                <a:latin typeface="Slack-Lato"/>
              </a:rPr>
              <a:t>Only ~300 overlap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2470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E266E-17D6-0746-8DA4-D136C48A6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20230512_EV2-28A (male) vs. 20230513_EV2-28B (female)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C47C58-9948-2D4E-804B-B258395A3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11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6E25FD-82CE-DC4D-A9E0-F714EF28FA38}"/>
              </a:ext>
            </a:extLst>
          </p:cNvPr>
          <p:cNvSpPr txBox="1"/>
          <p:nvPr/>
        </p:nvSpPr>
        <p:spPr>
          <a:xfrm>
            <a:off x="959223" y="2796987"/>
            <a:ext cx="46325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file was filtered and normalized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Only </a:t>
            </a:r>
            <a:r>
              <a:rPr lang="en-US" dirty="0" err="1"/>
              <a:t>cre</a:t>
            </a:r>
            <a:r>
              <a:rPr lang="en-US" dirty="0"/>
              <a:t>+ channels were used to calculate ratio per channel per protein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Then male and female files were merged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And PCA plot was created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E9BE6E-037B-FA4F-9890-D7D1D8158C0E}"/>
              </a:ext>
            </a:extLst>
          </p:cNvPr>
          <p:cNvSpPr txBox="1"/>
          <p:nvPr/>
        </p:nvSpPr>
        <p:spPr>
          <a:xfrm>
            <a:off x="1055033" y="4778188"/>
            <a:ext cx="36962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1D1C1D"/>
                </a:solidFill>
                <a:latin typeface="Slack-Lato"/>
              </a:rPr>
              <a:t>Proteins detected in male file: </a:t>
            </a:r>
            <a:r>
              <a:rPr lang="en-US" b="0" i="0" dirty="0">
                <a:solidFill>
                  <a:srgbClr val="1D1C1D"/>
                </a:solidFill>
                <a:effectLst/>
                <a:latin typeface="Slack-Lato"/>
              </a:rPr>
              <a:t>1231 </a:t>
            </a:r>
          </a:p>
          <a:p>
            <a:r>
              <a:rPr lang="en-US" dirty="0">
                <a:solidFill>
                  <a:srgbClr val="1D1C1D"/>
                </a:solidFill>
                <a:latin typeface="Slack-Lato"/>
              </a:rPr>
              <a:t>Proteins detected in female file: </a:t>
            </a:r>
            <a:r>
              <a:rPr lang="en-US" b="0" i="0" dirty="0">
                <a:solidFill>
                  <a:srgbClr val="1D1C1D"/>
                </a:solidFill>
                <a:effectLst/>
                <a:latin typeface="Slack-Lato"/>
              </a:rPr>
              <a:t>1297</a:t>
            </a:r>
          </a:p>
          <a:p>
            <a:r>
              <a:rPr lang="en-US" dirty="0">
                <a:solidFill>
                  <a:srgbClr val="1D1C1D"/>
                </a:solidFill>
                <a:latin typeface="Slack-Lato"/>
              </a:rPr>
              <a:t>Only ~300 overlap</a:t>
            </a:r>
          </a:p>
          <a:p>
            <a:r>
              <a:rPr lang="en-US" dirty="0">
                <a:solidFill>
                  <a:srgbClr val="FF0000"/>
                </a:solidFill>
                <a:latin typeface="Slack-Lato"/>
              </a:rPr>
              <a:t>And 170 overlap after ROC 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Picture 4" descr="A picture containing text, screenshot, diagram, font&#10;&#10;Description automatically generated">
            <a:extLst>
              <a:ext uri="{FF2B5EF4-FFF2-40B4-BE49-F238E27FC236}">
                <a16:creationId xmlns:a16="http://schemas.microsoft.com/office/drawing/2014/main" id="{809EA20C-9BBF-FB46-98CA-538F8CC3E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0286" y="1901125"/>
            <a:ext cx="5445616" cy="4244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3137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F6F5A-B167-A24D-996B-C74247254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20230512_EV2-28A (male) vs. 20230513_EV2-28B (female) </a:t>
            </a:r>
            <a:endParaRPr lang="en-US" dirty="0"/>
          </a:p>
        </p:txBody>
      </p:sp>
      <p:pic>
        <p:nvPicPr>
          <p:cNvPr id="6" name="Content Placeholder 5" descr="A screenshot of a graph&#10;&#10;Description automatically generated with low confidence">
            <a:extLst>
              <a:ext uri="{FF2B5EF4-FFF2-40B4-BE49-F238E27FC236}">
                <a16:creationId xmlns:a16="http://schemas.microsoft.com/office/drawing/2014/main" id="{4E4B9A7B-8296-024F-89FA-D3CC71FA81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84495" y="1805504"/>
            <a:ext cx="5746376" cy="473340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D24C20-C335-C540-B859-6C4E1F59F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421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3522</TotalTime>
  <Words>455</Words>
  <Application>Microsoft Macintosh PowerPoint</Application>
  <PresentationFormat>Widescreen</PresentationFormat>
  <Paragraphs>86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Slack-Lato</vt:lpstr>
      <vt:lpstr>Times New Roman</vt:lpstr>
      <vt:lpstr>Wingdings</vt:lpstr>
      <vt:lpstr>Office Theme</vt:lpstr>
      <vt:lpstr>Notes from mini meeting 05.17.23</vt:lpstr>
      <vt:lpstr>PCA plots</vt:lpstr>
      <vt:lpstr>Volcano plots</vt:lpstr>
      <vt:lpstr>Heatmaps</vt:lpstr>
      <vt:lpstr>Example GOterm analysis</vt:lpstr>
      <vt:lpstr>Example GOterm analysis 100A</vt:lpstr>
      <vt:lpstr>Example GOterm analysis 100A</vt:lpstr>
      <vt:lpstr>Example GOterm analysis 101</vt:lpstr>
      <vt:lpstr>Example GOterm analysis 100A</vt:lpstr>
      <vt:lpstr>Where you can find the new plots </vt:lpstr>
      <vt:lpstr>20230512_EV2-28A (male) vs. 20230513_EV2-28B (female) </vt:lpstr>
      <vt:lpstr>20230512_EV2-28A (male) vs. 20230513_EV2-28B (female) </vt:lpstr>
      <vt:lpstr>20230512_EV2-28A (male) vs. 20230513_EV2-28B (female)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Turbo ID Project </dc:title>
  <dc:creator>Nathalie Ropek</dc:creator>
  <cp:lastModifiedBy>Nathalie Ropek</cp:lastModifiedBy>
  <cp:revision>95</cp:revision>
  <dcterms:created xsi:type="dcterms:W3CDTF">2022-10-14T14:34:07Z</dcterms:created>
  <dcterms:modified xsi:type="dcterms:W3CDTF">2023-05-25T22:23:07Z</dcterms:modified>
</cp:coreProperties>
</file>