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13" r:id="rId1"/>
  </p:sldMasterIdLst>
  <p:notesMasterIdLst>
    <p:notesMasterId r:id="rId22"/>
  </p:notesMasterIdLst>
  <p:sldIdLst>
    <p:sldId id="256" r:id="rId2"/>
    <p:sldId id="299" r:id="rId3"/>
    <p:sldId id="300" r:id="rId4"/>
    <p:sldId id="302" r:id="rId5"/>
    <p:sldId id="291" r:id="rId6"/>
    <p:sldId id="292" r:id="rId7"/>
    <p:sldId id="293" r:id="rId8"/>
    <p:sldId id="282" r:id="rId9"/>
    <p:sldId id="285" r:id="rId10"/>
    <p:sldId id="286" r:id="rId11"/>
    <p:sldId id="283" r:id="rId12"/>
    <p:sldId id="270" r:id="rId13"/>
    <p:sldId id="271" r:id="rId14"/>
    <p:sldId id="287" r:id="rId15"/>
    <p:sldId id="288" r:id="rId16"/>
    <p:sldId id="290" r:id="rId17"/>
    <p:sldId id="294" r:id="rId18"/>
    <p:sldId id="295" r:id="rId19"/>
    <p:sldId id="301" r:id="rId20"/>
    <p:sldId id="28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0000"/>
    <a:srgbClr val="008A00"/>
    <a:srgbClr val="DE7E79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73"/>
    <p:restoredTop sz="85953"/>
  </p:normalViewPr>
  <p:slideViewPr>
    <p:cSldViewPr snapToGrid="0" snapToObjects="1">
      <p:cViewPr varScale="1">
        <p:scale>
          <a:sx n="182" d="100"/>
          <a:sy n="182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FE8ECD-4AA0-4B75-94A3-C6E661383597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2EEA16-E07E-46B5-B226-54448F4253D5}">
      <dgm:prSet custT="1"/>
      <dgm:spPr/>
      <dgm:t>
        <a:bodyPr/>
        <a:lstStyle/>
        <a:p>
          <a:r>
            <a:rPr lang="en-US" sz="1400" b="1" i="0" dirty="0">
              <a:latin typeface="Segoe UI Semibold" panose="020B0502040204020203" pitchFamily="34" charset="0"/>
              <a:cs typeface="Segoe UI Semibold" panose="020B0502040204020203" pitchFamily="34" charset="0"/>
            </a:rPr>
            <a:t>Normalize</a:t>
          </a:r>
        </a:p>
      </dgm:t>
    </dgm:pt>
    <dgm:pt modelId="{D0A4DB90-0D03-4B0C-87B2-14ACFF45C471}" type="parTrans" cxnId="{E4A9493C-30B8-457E-927E-58F4AF9FF535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9CA71EFA-7E03-4F07-85E0-FE73337DD6B3}" type="sibTrans" cxnId="{E4A9493C-30B8-457E-927E-58F4AF9FF535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5C30FF08-7CAF-4135-BF35-5B776C1B548D}">
      <dgm:prSet custT="1"/>
      <dgm:spPr/>
      <dgm:t>
        <a:bodyPr/>
        <a:lstStyle/>
        <a:p>
          <a:r>
            <a:rPr lang="en-US" sz="1400" b="1" i="0" dirty="0">
              <a:latin typeface="Segoe UI Semibold" panose="020B0502040204020203" pitchFamily="34" charset="0"/>
              <a:cs typeface="Segoe UI Semibold" panose="020B0502040204020203" pitchFamily="34" charset="0"/>
            </a:rPr>
            <a:t>Normalize ratio by the median ratio of proteins that are labelled as FP</a:t>
          </a:r>
        </a:p>
      </dgm:t>
    </dgm:pt>
    <dgm:pt modelId="{A62BF4E0-FDAF-4BA9-A211-A8D471431D98}" type="parTrans" cxnId="{F8EFD0C2-DECF-4068-AB81-B49F1CB17262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39D89015-C942-454C-928F-50B945CD0CBC}" type="sibTrans" cxnId="{F8EFD0C2-DECF-4068-AB81-B49F1CB17262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1890A9BC-7214-47C8-9114-399E2E3C4F94}">
      <dgm:prSet custT="1"/>
      <dgm:spPr/>
      <dgm:t>
        <a:bodyPr/>
        <a:lstStyle/>
        <a:p>
          <a:r>
            <a:rPr lang="en-US" sz="1400" b="1" i="0">
              <a:latin typeface="Segoe UI Semibold" panose="020B0502040204020203" pitchFamily="34" charset="0"/>
              <a:cs typeface="Segoe UI Semibold" panose="020B0502040204020203" pitchFamily="34" charset="0"/>
            </a:rPr>
            <a:t>Rank</a:t>
          </a:r>
        </a:p>
      </dgm:t>
    </dgm:pt>
    <dgm:pt modelId="{338DB7B5-85C7-4767-AF5A-387ED5922DC4}" type="parTrans" cxnId="{062757C3-26D4-4D45-9BD4-F88EA2973DFA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5D44E006-378E-4245-9E4A-DF1717473AE4}" type="sibTrans" cxnId="{062757C3-26D4-4D45-9BD4-F88EA2973DFA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858DDD9E-EDAD-43D7-9EA0-A633FFE0AEFE}">
      <dgm:prSet custT="1"/>
      <dgm:spPr/>
      <dgm:t>
        <a:bodyPr/>
        <a:lstStyle/>
        <a:p>
          <a:r>
            <a:rPr lang="en-US" sz="1400" b="1" i="0">
              <a:latin typeface="Segoe UI Semibold" panose="020B0502040204020203" pitchFamily="34" charset="0"/>
              <a:cs typeface="Segoe UI Semibold" panose="020B0502040204020203" pitchFamily="34" charset="0"/>
            </a:rPr>
            <a:t>Rank ratios in descending order </a:t>
          </a:r>
        </a:p>
      </dgm:t>
    </dgm:pt>
    <dgm:pt modelId="{09F6073F-6394-4AF8-8F19-23D222F85740}" type="parTrans" cxnId="{F4A62115-37B8-4470-97A0-026257656920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1C4B2589-961F-44F2-8596-A0210151CF3E}" type="sibTrans" cxnId="{F4A62115-37B8-4470-97A0-026257656920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7A49F28F-4D7B-48D0-863D-4D062513B45F}">
      <dgm:prSet custT="1"/>
      <dgm:spPr/>
      <dgm:t>
        <a:bodyPr/>
        <a:lstStyle/>
        <a:p>
          <a:r>
            <a:rPr lang="en-US" sz="1400" b="1" i="0" dirty="0">
              <a:latin typeface="Segoe UI Semibold" panose="020B0502040204020203" pitchFamily="34" charset="0"/>
              <a:cs typeface="Segoe UI Semibold" panose="020B0502040204020203" pitchFamily="34" charset="0"/>
            </a:rPr>
            <a:t>Calculate TPR &amp; FPR</a:t>
          </a:r>
        </a:p>
      </dgm:t>
    </dgm:pt>
    <dgm:pt modelId="{078967D4-4E0B-425C-AAF5-6F98B8967537}" type="parTrans" cxnId="{01E0C336-CCC5-4A55-9FED-3E8899FF1161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EA628C7C-502B-4867-B3E0-4B85687993B6}" type="sibTrans" cxnId="{01E0C336-CCC5-4A55-9FED-3E8899FF1161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929A34AA-11C7-4F19-A6D3-5C7DE5BEE86A}">
      <dgm:prSet custT="1"/>
      <dgm:spPr/>
      <dgm:t>
        <a:bodyPr/>
        <a:lstStyle/>
        <a:p>
          <a:r>
            <a:rPr lang="en-US" sz="1400" b="1" i="0">
              <a:latin typeface="Segoe UI Semibold" panose="020B0502040204020203" pitchFamily="34" charset="0"/>
              <a:cs typeface="Segoe UI Semibold" panose="020B0502040204020203" pitchFamily="34" charset="0"/>
            </a:rPr>
            <a:t>Calculate TP rate (TPR) and the FP rate (FPR) (= fraction of detected TP and FP proteins above the cutoff)</a:t>
          </a:r>
        </a:p>
      </dgm:t>
    </dgm:pt>
    <dgm:pt modelId="{5CC8BE32-8D1B-42E0-9B84-2C92C43FDD61}" type="parTrans" cxnId="{6681200C-7949-4B28-B422-7CF0F65AE94F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F36CE4EA-6A6F-4512-9B3F-F340E774DA49}" type="sibTrans" cxnId="{6681200C-7949-4B28-B422-7CF0F65AE94F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4477CE24-A1CB-43F7-BE25-0CACC51CEDA3}">
      <dgm:prSet custT="1"/>
      <dgm:spPr/>
      <dgm:t>
        <a:bodyPr/>
        <a:lstStyle/>
        <a:p>
          <a:r>
            <a:rPr lang="en-US" sz="1400" b="1" i="0" dirty="0">
              <a:latin typeface="Segoe UI Semibold" panose="020B0502040204020203" pitchFamily="34" charset="0"/>
              <a:cs typeface="Segoe UI Semibold" panose="020B0502040204020203" pitchFamily="34" charset="0"/>
            </a:rPr>
            <a:t>Plot (ROC)</a:t>
          </a:r>
        </a:p>
      </dgm:t>
    </dgm:pt>
    <dgm:pt modelId="{70619F77-F666-4CDD-9705-4EBFAE08FFD9}" type="parTrans" cxnId="{E0A8DB88-125E-4F4F-A82B-678AF62885C8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C681D962-C29C-4DFD-90D4-F74E02608C7C}" type="sibTrans" cxnId="{E0A8DB88-125E-4F4F-A82B-678AF62885C8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9A2B8896-0DFC-4EDD-BE72-A8363E1FA8CB}">
      <dgm:prSet custT="1"/>
      <dgm:spPr/>
      <dgm:t>
        <a:bodyPr/>
        <a:lstStyle/>
        <a:p>
          <a:r>
            <a:rPr lang="en-US" sz="1400" b="1" i="0">
              <a:latin typeface="Segoe UI Semibold" panose="020B0502040204020203" pitchFamily="34" charset="0"/>
              <a:cs typeface="Segoe UI Semibold" panose="020B0502040204020203" pitchFamily="34" charset="0"/>
            </a:rPr>
            <a:t>Plot TPR and FPR (ROC) to determine how well the experiment enriched TP over FP proteins</a:t>
          </a:r>
        </a:p>
      </dgm:t>
    </dgm:pt>
    <dgm:pt modelId="{B57A219F-8E1E-4940-8DDF-14CC54FF62C0}" type="parTrans" cxnId="{38A61FAD-597A-4777-AEB1-0E3944349FDF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F6C98CC2-42B5-4D9F-A09D-D71068F72660}" type="sibTrans" cxnId="{38A61FAD-597A-4777-AEB1-0E3944349FDF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A85124D4-5DF5-4566-8C27-D24C50DCCDB9}">
      <dgm:prSet custT="1"/>
      <dgm:spPr/>
      <dgm:t>
        <a:bodyPr/>
        <a:lstStyle/>
        <a:p>
          <a:r>
            <a:rPr lang="en-US" sz="1400" b="1" i="0" dirty="0">
              <a:latin typeface="Segoe UI Semibold" panose="020B0502040204020203" pitchFamily="34" charset="0"/>
              <a:cs typeface="Segoe UI Semibold" panose="020B0502040204020203" pitchFamily="34" charset="0"/>
            </a:rPr>
            <a:t>Calculate TPR-FPR</a:t>
          </a:r>
        </a:p>
      </dgm:t>
    </dgm:pt>
    <dgm:pt modelId="{D4C97D23-EE2E-4CF8-BED6-89AB01FDFEAF}" type="parTrans" cxnId="{591B33D0-60CF-473B-B914-A867C895D718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64FB6077-9B62-4A97-A1EE-BEDFE8EC47A2}" type="sibTrans" cxnId="{591B33D0-60CF-473B-B914-A867C895D718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44146631-99F8-410B-B8AD-2CDA93B84D94}">
      <dgm:prSet custT="1"/>
      <dgm:spPr/>
      <dgm:t>
        <a:bodyPr/>
        <a:lstStyle/>
        <a:p>
          <a:r>
            <a:rPr lang="en-US" sz="1400" b="1" i="0">
              <a:latin typeface="Segoe UI Semibold" panose="020B0502040204020203" pitchFamily="34" charset="0"/>
              <a:cs typeface="Segoe UI Semibold" panose="020B0502040204020203" pitchFamily="34" charset="0"/>
            </a:rPr>
            <a:t>calculate TPR-FPR </a:t>
          </a:r>
        </a:p>
      </dgm:t>
    </dgm:pt>
    <dgm:pt modelId="{766D2624-DFD3-43D6-87FB-31824CD62612}" type="parTrans" cxnId="{AA648A38-7984-481B-833F-FE65E4CBB81D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CA1E04C0-67C1-438E-B7A0-DAF820EA108C}" type="sibTrans" cxnId="{AA648A38-7984-481B-833F-FE65E4CBB81D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B475EA92-0C13-4ACD-BF53-3DE9885F840B}">
      <dgm:prSet custT="1"/>
      <dgm:spPr/>
      <dgm:t>
        <a:bodyPr/>
        <a:lstStyle/>
        <a:p>
          <a:r>
            <a:rPr lang="en-US" sz="1400" b="1" i="0" dirty="0">
              <a:latin typeface="Segoe UI Semibold" panose="020B0502040204020203" pitchFamily="34" charset="0"/>
              <a:cs typeface="Segoe UI Semibold" panose="020B0502040204020203" pitchFamily="34" charset="0"/>
            </a:rPr>
            <a:t>Find optimal cutoff ratio</a:t>
          </a:r>
        </a:p>
      </dgm:t>
    </dgm:pt>
    <dgm:pt modelId="{FB2550D5-E5C1-4392-9740-B143D5C0261E}" type="parTrans" cxnId="{08686FD9-DC9C-441B-88D3-260510FEDB75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992CCC70-BDDE-47C9-9E10-E191779B77D2}" type="sibTrans" cxnId="{08686FD9-DC9C-441B-88D3-260510FEDB75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B59420EE-4C2E-4C17-A2FB-65795E7F9498}">
      <dgm:prSet custT="1"/>
      <dgm:spPr/>
      <dgm:t>
        <a:bodyPr/>
        <a:lstStyle/>
        <a:p>
          <a:r>
            <a:rPr lang="en-US" sz="1400" b="1" i="0">
              <a:latin typeface="Segoe UI Semibold" panose="020B0502040204020203" pitchFamily="34" charset="0"/>
              <a:cs typeface="Segoe UI Semibold" panose="020B0502040204020203" pitchFamily="34" charset="0"/>
            </a:rPr>
            <a:t>find cutoff ratio which has the highest value for TPR-FPR (= the optimal cutoff ratio)</a:t>
          </a:r>
        </a:p>
      </dgm:t>
    </dgm:pt>
    <dgm:pt modelId="{A4B68544-1FA0-44A0-B0D7-C6CD593439A0}" type="parTrans" cxnId="{942DFFBC-8E81-4A6B-B690-CBC7E4B5C62D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572962B8-46E7-4394-BACE-6C2382A83D54}" type="sibTrans" cxnId="{942DFFBC-8E81-4A6B-B690-CBC7E4B5C62D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3482D5A5-AC22-41E7-9774-7CE6216B3A13}">
      <dgm:prSet custT="1"/>
      <dgm:spPr/>
      <dgm:t>
        <a:bodyPr/>
        <a:lstStyle/>
        <a:p>
          <a:r>
            <a:rPr lang="en-US" sz="1400" b="1" i="0" dirty="0">
              <a:latin typeface="Segoe UI Semibold" panose="020B0502040204020203" pitchFamily="34" charset="0"/>
              <a:cs typeface="Segoe UI Semibold" panose="020B0502040204020203" pitchFamily="34" charset="0"/>
            </a:rPr>
            <a:t>Plot TPR-FPR</a:t>
          </a:r>
        </a:p>
      </dgm:t>
    </dgm:pt>
    <dgm:pt modelId="{2F81D6E6-9A4D-43ED-B6A4-3AE88985EA3F}" type="parTrans" cxnId="{B40E6B43-2A74-4FB6-B017-A218A20F7C37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33A24840-E41D-4B8D-ABE0-B21328FD624B}" type="sibTrans" cxnId="{B40E6B43-2A74-4FB6-B017-A218A20F7C37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6F79D638-19E5-4630-9897-4D5E826D2538}">
      <dgm:prSet custT="1"/>
      <dgm:spPr/>
      <dgm:t>
        <a:bodyPr/>
        <a:lstStyle/>
        <a:p>
          <a:r>
            <a:rPr lang="en-US" sz="1400" b="1" i="0">
              <a:latin typeface="Segoe UI Semibold" panose="020B0502040204020203" pitchFamily="34" charset="0"/>
              <a:cs typeface="Segoe UI Semibold" panose="020B0502040204020203" pitchFamily="34" charset="0"/>
            </a:rPr>
            <a:t>Plot log2 ratio and TPR-FPR (see line-plot – cutoff will be the highest point)</a:t>
          </a:r>
        </a:p>
      </dgm:t>
    </dgm:pt>
    <dgm:pt modelId="{33D1CE24-050D-4C4B-B080-08033B7989EC}" type="parTrans" cxnId="{BE271BC1-70EA-40F9-B8C7-EAED1736B773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5152D2A5-210C-44C0-A0E1-685A6D6EFB14}" type="sibTrans" cxnId="{BE271BC1-70EA-40F9-B8C7-EAED1736B773}">
      <dgm:prSet/>
      <dgm:spPr/>
      <dgm:t>
        <a:bodyPr/>
        <a:lstStyle/>
        <a:p>
          <a:endParaRPr lang="en-US" sz="1400" b="1" i="0">
            <a:latin typeface="Segoe UI Semibold" panose="020B0502040204020203" pitchFamily="34" charset="0"/>
            <a:cs typeface="Segoe UI Semibold" panose="020B0502040204020203" pitchFamily="34" charset="0"/>
          </a:endParaRPr>
        </a:p>
      </dgm:t>
    </dgm:pt>
    <dgm:pt modelId="{1E87AC02-BC07-5F4E-BDE4-BD62E11E3937}" type="pres">
      <dgm:prSet presAssocID="{EBFE8ECD-4AA0-4B75-94A3-C6E661383597}" presName="Name0" presStyleCnt="0">
        <dgm:presLayoutVars>
          <dgm:dir/>
          <dgm:animLvl val="lvl"/>
          <dgm:resizeHandles val="exact"/>
        </dgm:presLayoutVars>
      </dgm:prSet>
      <dgm:spPr/>
    </dgm:pt>
    <dgm:pt modelId="{2065FCB8-7D5B-E14B-8B6B-5ABD81334D57}" type="pres">
      <dgm:prSet presAssocID="{3482D5A5-AC22-41E7-9774-7CE6216B3A13}" presName="boxAndChildren" presStyleCnt="0"/>
      <dgm:spPr/>
    </dgm:pt>
    <dgm:pt modelId="{4137B9D4-569D-CD46-A8E4-E718893A5565}" type="pres">
      <dgm:prSet presAssocID="{3482D5A5-AC22-41E7-9774-7CE6216B3A13}" presName="parentTextBox" presStyleLbl="alignNode1" presStyleIdx="0" presStyleCnt="7"/>
      <dgm:spPr/>
    </dgm:pt>
    <dgm:pt modelId="{1F69636C-7160-B84D-8C27-7C268D684902}" type="pres">
      <dgm:prSet presAssocID="{3482D5A5-AC22-41E7-9774-7CE6216B3A13}" presName="descendantBox" presStyleLbl="bgAccFollowNode1" presStyleIdx="0" presStyleCnt="7"/>
      <dgm:spPr/>
    </dgm:pt>
    <dgm:pt modelId="{ADD480E4-0F6A-FB4E-86AC-CDC3760AD68C}" type="pres">
      <dgm:prSet presAssocID="{992CCC70-BDDE-47C9-9E10-E191779B77D2}" presName="sp" presStyleCnt="0"/>
      <dgm:spPr/>
    </dgm:pt>
    <dgm:pt modelId="{B184270A-01DB-2A45-A396-9E7ED3B72579}" type="pres">
      <dgm:prSet presAssocID="{B475EA92-0C13-4ACD-BF53-3DE9885F840B}" presName="arrowAndChildren" presStyleCnt="0"/>
      <dgm:spPr/>
    </dgm:pt>
    <dgm:pt modelId="{C72F706F-BA1C-294B-99C3-EC09D06AE545}" type="pres">
      <dgm:prSet presAssocID="{B475EA92-0C13-4ACD-BF53-3DE9885F840B}" presName="parentTextArrow" presStyleLbl="node1" presStyleIdx="0" presStyleCnt="0"/>
      <dgm:spPr/>
    </dgm:pt>
    <dgm:pt modelId="{0DA958DE-0FF6-9E43-BD13-B083407F0B5E}" type="pres">
      <dgm:prSet presAssocID="{B475EA92-0C13-4ACD-BF53-3DE9885F840B}" presName="arrow" presStyleLbl="alignNode1" presStyleIdx="1" presStyleCnt="7"/>
      <dgm:spPr/>
    </dgm:pt>
    <dgm:pt modelId="{7207183F-2690-5F4E-A239-3C73A900EFAC}" type="pres">
      <dgm:prSet presAssocID="{B475EA92-0C13-4ACD-BF53-3DE9885F840B}" presName="descendantArrow" presStyleLbl="bgAccFollowNode1" presStyleIdx="1" presStyleCnt="7"/>
      <dgm:spPr/>
    </dgm:pt>
    <dgm:pt modelId="{7251BBFB-3B78-C447-914E-B9C6233F68D8}" type="pres">
      <dgm:prSet presAssocID="{64FB6077-9B62-4A97-A1EE-BEDFE8EC47A2}" presName="sp" presStyleCnt="0"/>
      <dgm:spPr/>
    </dgm:pt>
    <dgm:pt modelId="{FF1569C0-9E5E-244E-8710-CA45F8EACED8}" type="pres">
      <dgm:prSet presAssocID="{A85124D4-5DF5-4566-8C27-D24C50DCCDB9}" presName="arrowAndChildren" presStyleCnt="0"/>
      <dgm:spPr/>
    </dgm:pt>
    <dgm:pt modelId="{885EFDEE-C8C8-2742-8A95-84C2D1CBC9AF}" type="pres">
      <dgm:prSet presAssocID="{A85124D4-5DF5-4566-8C27-D24C50DCCDB9}" presName="parentTextArrow" presStyleLbl="node1" presStyleIdx="0" presStyleCnt="0"/>
      <dgm:spPr/>
    </dgm:pt>
    <dgm:pt modelId="{E94AF108-8636-9548-8D57-FDA72F5A1988}" type="pres">
      <dgm:prSet presAssocID="{A85124D4-5DF5-4566-8C27-D24C50DCCDB9}" presName="arrow" presStyleLbl="alignNode1" presStyleIdx="2" presStyleCnt="7"/>
      <dgm:spPr/>
    </dgm:pt>
    <dgm:pt modelId="{F57CC6EA-6F89-634E-90D7-C2A5D1D1ECCF}" type="pres">
      <dgm:prSet presAssocID="{A85124D4-5DF5-4566-8C27-D24C50DCCDB9}" presName="descendantArrow" presStyleLbl="bgAccFollowNode1" presStyleIdx="2" presStyleCnt="7"/>
      <dgm:spPr/>
    </dgm:pt>
    <dgm:pt modelId="{C9E8449E-504D-CE4F-9C1D-DE5EBC23E6E3}" type="pres">
      <dgm:prSet presAssocID="{C681D962-C29C-4DFD-90D4-F74E02608C7C}" presName="sp" presStyleCnt="0"/>
      <dgm:spPr/>
    </dgm:pt>
    <dgm:pt modelId="{06C25277-7EBA-6245-8E22-65F2120720B7}" type="pres">
      <dgm:prSet presAssocID="{4477CE24-A1CB-43F7-BE25-0CACC51CEDA3}" presName="arrowAndChildren" presStyleCnt="0"/>
      <dgm:spPr/>
    </dgm:pt>
    <dgm:pt modelId="{351DBE11-9338-D94B-9200-7FA6C657B490}" type="pres">
      <dgm:prSet presAssocID="{4477CE24-A1CB-43F7-BE25-0CACC51CEDA3}" presName="parentTextArrow" presStyleLbl="node1" presStyleIdx="0" presStyleCnt="0"/>
      <dgm:spPr/>
    </dgm:pt>
    <dgm:pt modelId="{4F87AFB3-5B34-3F44-9D40-D8B4AD20BFF9}" type="pres">
      <dgm:prSet presAssocID="{4477CE24-A1CB-43F7-BE25-0CACC51CEDA3}" presName="arrow" presStyleLbl="alignNode1" presStyleIdx="3" presStyleCnt="7"/>
      <dgm:spPr/>
    </dgm:pt>
    <dgm:pt modelId="{6A2ECFB4-CF08-6E41-BFE5-581FFCDD6AA3}" type="pres">
      <dgm:prSet presAssocID="{4477CE24-A1CB-43F7-BE25-0CACC51CEDA3}" presName="descendantArrow" presStyleLbl="bgAccFollowNode1" presStyleIdx="3" presStyleCnt="7"/>
      <dgm:spPr/>
    </dgm:pt>
    <dgm:pt modelId="{F626C5A3-F272-6049-A391-1E534E5606B7}" type="pres">
      <dgm:prSet presAssocID="{EA628C7C-502B-4867-B3E0-4B85687993B6}" presName="sp" presStyleCnt="0"/>
      <dgm:spPr/>
    </dgm:pt>
    <dgm:pt modelId="{F428157A-D61E-4D49-AA28-2C61E15CE5AE}" type="pres">
      <dgm:prSet presAssocID="{7A49F28F-4D7B-48D0-863D-4D062513B45F}" presName="arrowAndChildren" presStyleCnt="0"/>
      <dgm:spPr/>
    </dgm:pt>
    <dgm:pt modelId="{4F4D0175-1209-014F-9ED9-A233F24D0FF2}" type="pres">
      <dgm:prSet presAssocID="{7A49F28F-4D7B-48D0-863D-4D062513B45F}" presName="parentTextArrow" presStyleLbl="node1" presStyleIdx="0" presStyleCnt="0"/>
      <dgm:spPr/>
    </dgm:pt>
    <dgm:pt modelId="{6E5CF41C-DBF3-5343-AC8B-CE70A56FA296}" type="pres">
      <dgm:prSet presAssocID="{7A49F28F-4D7B-48D0-863D-4D062513B45F}" presName="arrow" presStyleLbl="alignNode1" presStyleIdx="4" presStyleCnt="7"/>
      <dgm:spPr/>
    </dgm:pt>
    <dgm:pt modelId="{C1C998A4-10D6-C24C-9CBC-5AA9FF1D3DF2}" type="pres">
      <dgm:prSet presAssocID="{7A49F28F-4D7B-48D0-863D-4D062513B45F}" presName="descendantArrow" presStyleLbl="bgAccFollowNode1" presStyleIdx="4" presStyleCnt="7"/>
      <dgm:spPr/>
    </dgm:pt>
    <dgm:pt modelId="{D1D6802B-67E9-C54A-9B19-DC14246FD554}" type="pres">
      <dgm:prSet presAssocID="{5D44E006-378E-4245-9E4A-DF1717473AE4}" presName="sp" presStyleCnt="0"/>
      <dgm:spPr/>
    </dgm:pt>
    <dgm:pt modelId="{8FFDFE08-764F-0A41-B339-3F9B519EE97D}" type="pres">
      <dgm:prSet presAssocID="{1890A9BC-7214-47C8-9114-399E2E3C4F94}" presName="arrowAndChildren" presStyleCnt="0"/>
      <dgm:spPr/>
    </dgm:pt>
    <dgm:pt modelId="{0AAC0FDA-85C9-7F4F-831C-5B5E5BD4ED1A}" type="pres">
      <dgm:prSet presAssocID="{1890A9BC-7214-47C8-9114-399E2E3C4F94}" presName="parentTextArrow" presStyleLbl="node1" presStyleIdx="0" presStyleCnt="0"/>
      <dgm:spPr/>
    </dgm:pt>
    <dgm:pt modelId="{B165849C-0200-4F48-8259-36B41E72D230}" type="pres">
      <dgm:prSet presAssocID="{1890A9BC-7214-47C8-9114-399E2E3C4F94}" presName="arrow" presStyleLbl="alignNode1" presStyleIdx="5" presStyleCnt="7"/>
      <dgm:spPr/>
    </dgm:pt>
    <dgm:pt modelId="{3F936231-89EF-1141-8D8C-75EB05FF2354}" type="pres">
      <dgm:prSet presAssocID="{1890A9BC-7214-47C8-9114-399E2E3C4F94}" presName="descendantArrow" presStyleLbl="bgAccFollowNode1" presStyleIdx="5" presStyleCnt="7"/>
      <dgm:spPr/>
    </dgm:pt>
    <dgm:pt modelId="{110A518D-DC29-2542-91CF-FCDCFD2B3D8B}" type="pres">
      <dgm:prSet presAssocID="{9CA71EFA-7E03-4F07-85E0-FE73337DD6B3}" presName="sp" presStyleCnt="0"/>
      <dgm:spPr/>
    </dgm:pt>
    <dgm:pt modelId="{70CD28AB-511A-0945-A0CB-2F5FD015FFE6}" type="pres">
      <dgm:prSet presAssocID="{682EEA16-E07E-46B5-B226-54448F4253D5}" presName="arrowAndChildren" presStyleCnt="0"/>
      <dgm:spPr/>
    </dgm:pt>
    <dgm:pt modelId="{3BB37A41-CA1E-B446-A1CA-707B4B143F03}" type="pres">
      <dgm:prSet presAssocID="{682EEA16-E07E-46B5-B226-54448F4253D5}" presName="parentTextArrow" presStyleLbl="node1" presStyleIdx="0" presStyleCnt="0"/>
      <dgm:spPr/>
    </dgm:pt>
    <dgm:pt modelId="{34FC2782-AD91-494D-A0A1-4F554DE75383}" type="pres">
      <dgm:prSet presAssocID="{682EEA16-E07E-46B5-B226-54448F4253D5}" presName="arrow" presStyleLbl="alignNode1" presStyleIdx="6" presStyleCnt="7"/>
      <dgm:spPr/>
    </dgm:pt>
    <dgm:pt modelId="{99F3E6EC-BD72-8C41-9C3A-2219AF96FB0F}" type="pres">
      <dgm:prSet presAssocID="{682EEA16-E07E-46B5-B226-54448F4253D5}" presName="descendantArrow" presStyleLbl="bgAccFollowNode1" presStyleIdx="6" presStyleCnt="7"/>
      <dgm:spPr/>
    </dgm:pt>
  </dgm:ptLst>
  <dgm:cxnLst>
    <dgm:cxn modelId="{B374FA02-8E57-A044-AF54-E32B91A52FC0}" type="presOf" srcId="{B475EA92-0C13-4ACD-BF53-3DE9885F840B}" destId="{C72F706F-BA1C-294B-99C3-EC09D06AE545}" srcOrd="0" destOrd="0" presId="urn:microsoft.com/office/officeart/2016/7/layout/VerticalDownArrowProcess"/>
    <dgm:cxn modelId="{6681200C-7949-4B28-B422-7CF0F65AE94F}" srcId="{7A49F28F-4D7B-48D0-863D-4D062513B45F}" destId="{929A34AA-11C7-4F19-A6D3-5C7DE5BEE86A}" srcOrd="0" destOrd="0" parTransId="{5CC8BE32-8D1B-42E0-9B84-2C92C43FDD61}" sibTransId="{F36CE4EA-6A6F-4512-9B3F-F340E774DA49}"/>
    <dgm:cxn modelId="{F4A62115-37B8-4470-97A0-026257656920}" srcId="{1890A9BC-7214-47C8-9114-399E2E3C4F94}" destId="{858DDD9E-EDAD-43D7-9EA0-A633FFE0AEFE}" srcOrd="0" destOrd="0" parTransId="{09F6073F-6394-4AF8-8F19-23D222F85740}" sibTransId="{1C4B2589-961F-44F2-8596-A0210151CF3E}"/>
    <dgm:cxn modelId="{8A38E018-368A-E44D-A86B-C84174049D91}" type="presOf" srcId="{A85124D4-5DF5-4566-8C27-D24C50DCCDB9}" destId="{885EFDEE-C8C8-2742-8A95-84C2D1CBC9AF}" srcOrd="0" destOrd="0" presId="urn:microsoft.com/office/officeart/2016/7/layout/VerticalDownArrowProcess"/>
    <dgm:cxn modelId="{87B0531B-9C69-2A47-8713-2265EB49D881}" type="presOf" srcId="{6F79D638-19E5-4630-9897-4D5E826D2538}" destId="{1F69636C-7160-B84D-8C27-7C268D684902}" srcOrd="0" destOrd="0" presId="urn:microsoft.com/office/officeart/2016/7/layout/VerticalDownArrowProcess"/>
    <dgm:cxn modelId="{691FF720-BA63-B247-81E9-04B79BDE926D}" type="presOf" srcId="{1890A9BC-7214-47C8-9114-399E2E3C4F94}" destId="{B165849C-0200-4F48-8259-36B41E72D230}" srcOrd="1" destOrd="0" presId="urn:microsoft.com/office/officeart/2016/7/layout/VerticalDownArrowProcess"/>
    <dgm:cxn modelId="{14F07128-0C0F-3349-AE97-C9C0510E5B7B}" type="presOf" srcId="{A85124D4-5DF5-4566-8C27-D24C50DCCDB9}" destId="{E94AF108-8636-9548-8D57-FDA72F5A1988}" srcOrd="1" destOrd="0" presId="urn:microsoft.com/office/officeart/2016/7/layout/VerticalDownArrowProcess"/>
    <dgm:cxn modelId="{01E0C336-CCC5-4A55-9FED-3E8899FF1161}" srcId="{EBFE8ECD-4AA0-4B75-94A3-C6E661383597}" destId="{7A49F28F-4D7B-48D0-863D-4D062513B45F}" srcOrd="2" destOrd="0" parTransId="{078967D4-4E0B-425C-AAF5-6F98B8967537}" sibTransId="{EA628C7C-502B-4867-B3E0-4B85687993B6}"/>
    <dgm:cxn modelId="{AA648A38-7984-481B-833F-FE65E4CBB81D}" srcId="{A85124D4-5DF5-4566-8C27-D24C50DCCDB9}" destId="{44146631-99F8-410B-B8AD-2CDA93B84D94}" srcOrd="0" destOrd="0" parTransId="{766D2624-DFD3-43D6-87FB-31824CD62612}" sibTransId="{CA1E04C0-67C1-438E-B7A0-DAF820EA108C}"/>
    <dgm:cxn modelId="{0F4DCF38-E515-9846-A8A1-14EED15E4D39}" type="presOf" srcId="{682EEA16-E07E-46B5-B226-54448F4253D5}" destId="{34FC2782-AD91-494D-A0A1-4F554DE75383}" srcOrd="1" destOrd="0" presId="urn:microsoft.com/office/officeart/2016/7/layout/VerticalDownArrowProcess"/>
    <dgm:cxn modelId="{E4A9493C-30B8-457E-927E-58F4AF9FF535}" srcId="{EBFE8ECD-4AA0-4B75-94A3-C6E661383597}" destId="{682EEA16-E07E-46B5-B226-54448F4253D5}" srcOrd="0" destOrd="0" parTransId="{D0A4DB90-0D03-4B0C-87B2-14ACFF45C471}" sibTransId="{9CA71EFA-7E03-4F07-85E0-FE73337DD6B3}"/>
    <dgm:cxn modelId="{B40E6B43-2A74-4FB6-B017-A218A20F7C37}" srcId="{EBFE8ECD-4AA0-4B75-94A3-C6E661383597}" destId="{3482D5A5-AC22-41E7-9774-7CE6216B3A13}" srcOrd="6" destOrd="0" parTransId="{2F81D6E6-9A4D-43ED-B6A4-3AE88985EA3F}" sibTransId="{33A24840-E41D-4B8D-ABE0-B21328FD624B}"/>
    <dgm:cxn modelId="{A9B74844-BB7E-4446-A712-7A997E8735D8}" type="presOf" srcId="{B59420EE-4C2E-4C17-A2FB-65795E7F9498}" destId="{7207183F-2690-5F4E-A239-3C73A900EFAC}" srcOrd="0" destOrd="0" presId="urn:microsoft.com/office/officeart/2016/7/layout/VerticalDownArrowProcess"/>
    <dgm:cxn modelId="{8C0F5645-C357-1B49-A4A6-1B26B3CA75D9}" type="presOf" srcId="{7A49F28F-4D7B-48D0-863D-4D062513B45F}" destId="{6E5CF41C-DBF3-5343-AC8B-CE70A56FA296}" srcOrd="1" destOrd="0" presId="urn:microsoft.com/office/officeart/2016/7/layout/VerticalDownArrowProcess"/>
    <dgm:cxn modelId="{39375548-5CBB-6145-A026-170A60A7934C}" type="presOf" srcId="{3482D5A5-AC22-41E7-9774-7CE6216B3A13}" destId="{4137B9D4-569D-CD46-A8E4-E718893A5565}" srcOrd="0" destOrd="0" presId="urn:microsoft.com/office/officeart/2016/7/layout/VerticalDownArrowProcess"/>
    <dgm:cxn modelId="{AC60545B-6C7C-7E45-BF23-2C01708C337E}" type="presOf" srcId="{858DDD9E-EDAD-43D7-9EA0-A633FFE0AEFE}" destId="{3F936231-89EF-1141-8D8C-75EB05FF2354}" srcOrd="0" destOrd="0" presId="urn:microsoft.com/office/officeart/2016/7/layout/VerticalDownArrowProcess"/>
    <dgm:cxn modelId="{D97F616C-42F2-F645-8211-BDBA0750E0BB}" type="presOf" srcId="{5C30FF08-7CAF-4135-BF35-5B776C1B548D}" destId="{99F3E6EC-BD72-8C41-9C3A-2219AF96FB0F}" srcOrd="0" destOrd="0" presId="urn:microsoft.com/office/officeart/2016/7/layout/VerticalDownArrowProcess"/>
    <dgm:cxn modelId="{A70C586E-55F5-164A-BC05-AF6E09CD87A6}" type="presOf" srcId="{1890A9BC-7214-47C8-9114-399E2E3C4F94}" destId="{0AAC0FDA-85C9-7F4F-831C-5B5E5BD4ED1A}" srcOrd="0" destOrd="0" presId="urn:microsoft.com/office/officeart/2016/7/layout/VerticalDownArrowProcess"/>
    <dgm:cxn modelId="{30168972-1DCD-924A-8C00-120E2706F8C3}" type="presOf" srcId="{4477CE24-A1CB-43F7-BE25-0CACC51CEDA3}" destId="{4F87AFB3-5B34-3F44-9D40-D8B4AD20BFF9}" srcOrd="1" destOrd="0" presId="urn:microsoft.com/office/officeart/2016/7/layout/VerticalDownArrowProcess"/>
    <dgm:cxn modelId="{CF387883-F8F7-D84C-B798-C2D1712818DA}" type="presOf" srcId="{B475EA92-0C13-4ACD-BF53-3DE9885F840B}" destId="{0DA958DE-0FF6-9E43-BD13-B083407F0B5E}" srcOrd="1" destOrd="0" presId="urn:microsoft.com/office/officeart/2016/7/layout/VerticalDownArrowProcess"/>
    <dgm:cxn modelId="{E0A8DB88-125E-4F4F-A82B-678AF62885C8}" srcId="{EBFE8ECD-4AA0-4B75-94A3-C6E661383597}" destId="{4477CE24-A1CB-43F7-BE25-0CACC51CEDA3}" srcOrd="3" destOrd="0" parTransId="{70619F77-F666-4CDD-9705-4EBFAE08FFD9}" sibTransId="{C681D962-C29C-4DFD-90D4-F74E02608C7C}"/>
    <dgm:cxn modelId="{4A7FE989-1A1D-DE44-9A9A-0C3DC16922AA}" type="presOf" srcId="{682EEA16-E07E-46B5-B226-54448F4253D5}" destId="{3BB37A41-CA1E-B446-A1CA-707B4B143F03}" srcOrd="0" destOrd="0" presId="urn:microsoft.com/office/officeart/2016/7/layout/VerticalDownArrowProcess"/>
    <dgm:cxn modelId="{38A61FAD-597A-4777-AEB1-0E3944349FDF}" srcId="{4477CE24-A1CB-43F7-BE25-0CACC51CEDA3}" destId="{9A2B8896-0DFC-4EDD-BE72-A8363E1FA8CB}" srcOrd="0" destOrd="0" parTransId="{B57A219F-8E1E-4940-8DDF-14CC54FF62C0}" sibTransId="{F6C98CC2-42B5-4D9F-A09D-D71068F72660}"/>
    <dgm:cxn modelId="{942DFFBC-8E81-4A6B-B690-CBC7E4B5C62D}" srcId="{B475EA92-0C13-4ACD-BF53-3DE9885F840B}" destId="{B59420EE-4C2E-4C17-A2FB-65795E7F9498}" srcOrd="0" destOrd="0" parTransId="{A4B68544-1FA0-44A0-B0D7-C6CD593439A0}" sibTransId="{572962B8-46E7-4394-BACE-6C2382A83D54}"/>
    <dgm:cxn modelId="{BE271BC1-70EA-40F9-B8C7-EAED1736B773}" srcId="{3482D5A5-AC22-41E7-9774-7CE6216B3A13}" destId="{6F79D638-19E5-4630-9897-4D5E826D2538}" srcOrd="0" destOrd="0" parTransId="{33D1CE24-050D-4C4B-B080-08033B7989EC}" sibTransId="{5152D2A5-210C-44C0-A0E1-685A6D6EFB14}"/>
    <dgm:cxn modelId="{F8EFD0C2-DECF-4068-AB81-B49F1CB17262}" srcId="{682EEA16-E07E-46B5-B226-54448F4253D5}" destId="{5C30FF08-7CAF-4135-BF35-5B776C1B548D}" srcOrd="0" destOrd="0" parTransId="{A62BF4E0-FDAF-4BA9-A211-A8D471431D98}" sibTransId="{39D89015-C942-454C-928F-50B945CD0CBC}"/>
    <dgm:cxn modelId="{062757C3-26D4-4D45-9BD4-F88EA2973DFA}" srcId="{EBFE8ECD-4AA0-4B75-94A3-C6E661383597}" destId="{1890A9BC-7214-47C8-9114-399E2E3C4F94}" srcOrd="1" destOrd="0" parTransId="{338DB7B5-85C7-4767-AF5A-387ED5922DC4}" sibTransId="{5D44E006-378E-4245-9E4A-DF1717473AE4}"/>
    <dgm:cxn modelId="{69D39DCB-D255-8249-986D-0909C03BEDA8}" type="presOf" srcId="{EBFE8ECD-4AA0-4B75-94A3-C6E661383597}" destId="{1E87AC02-BC07-5F4E-BDE4-BD62E11E3937}" srcOrd="0" destOrd="0" presId="urn:microsoft.com/office/officeart/2016/7/layout/VerticalDownArrowProcess"/>
    <dgm:cxn modelId="{3919AECC-FCFC-674D-B6CE-F98E28AF0A12}" type="presOf" srcId="{7A49F28F-4D7B-48D0-863D-4D062513B45F}" destId="{4F4D0175-1209-014F-9ED9-A233F24D0FF2}" srcOrd="0" destOrd="0" presId="urn:microsoft.com/office/officeart/2016/7/layout/VerticalDownArrowProcess"/>
    <dgm:cxn modelId="{591B33D0-60CF-473B-B914-A867C895D718}" srcId="{EBFE8ECD-4AA0-4B75-94A3-C6E661383597}" destId="{A85124D4-5DF5-4566-8C27-D24C50DCCDB9}" srcOrd="4" destOrd="0" parTransId="{D4C97D23-EE2E-4CF8-BED6-89AB01FDFEAF}" sibTransId="{64FB6077-9B62-4A97-A1EE-BEDFE8EC47A2}"/>
    <dgm:cxn modelId="{EE81D5D7-DC45-144B-AC47-31565CAEBF45}" type="presOf" srcId="{929A34AA-11C7-4F19-A6D3-5C7DE5BEE86A}" destId="{C1C998A4-10D6-C24C-9CBC-5AA9FF1D3DF2}" srcOrd="0" destOrd="0" presId="urn:microsoft.com/office/officeart/2016/7/layout/VerticalDownArrowProcess"/>
    <dgm:cxn modelId="{64686CD9-E957-E046-BF49-49E19FB62488}" type="presOf" srcId="{9A2B8896-0DFC-4EDD-BE72-A8363E1FA8CB}" destId="{6A2ECFB4-CF08-6E41-BFE5-581FFCDD6AA3}" srcOrd="0" destOrd="0" presId="urn:microsoft.com/office/officeart/2016/7/layout/VerticalDownArrowProcess"/>
    <dgm:cxn modelId="{08686FD9-DC9C-441B-88D3-260510FEDB75}" srcId="{EBFE8ECD-4AA0-4B75-94A3-C6E661383597}" destId="{B475EA92-0C13-4ACD-BF53-3DE9885F840B}" srcOrd="5" destOrd="0" parTransId="{FB2550D5-E5C1-4392-9740-B143D5C0261E}" sibTransId="{992CCC70-BDDE-47C9-9E10-E191779B77D2}"/>
    <dgm:cxn modelId="{FA9EE7E0-7BF5-304F-9A4D-6B81539B52C5}" type="presOf" srcId="{4477CE24-A1CB-43F7-BE25-0CACC51CEDA3}" destId="{351DBE11-9338-D94B-9200-7FA6C657B490}" srcOrd="0" destOrd="0" presId="urn:microsoft.com/office/officeart/2016/7/layout/VerticalDownArrowProcess"/>
    <dgm:cxn modelId="{78793AE8-425A-8746-B391-C868556ACBAE}" type="presOf" srcId="{44146631-99F8-410B-B8AD-2CDA93B84D94}" destId="{F57CC6EA-6F89-634E-90D7-C2A5D1D1ECCF}" srcOrd="0" destOrd="0" presId="urn:microsoft.com/office/officeart/2016/7/layout/VerticalDownArrowProcess"/>
    <dgm:cxn modelId="{3DF2478B-4C4D-5C4B-AF71-EA7FBAE80468}" type="presParOf" srcId="{1E87AC02-BC07-5F4E-BDE4-BD62E11E3937}" destId="{2065FCB8-7D5B-E14B-8B6B-5ABD81334D57}" srcOrd="0" destOrd="0" presId="urn:microsoft.com/office/officeart/2016/7/layout/VerticalDownArrowProcess"/>
    <dgm:cxn modelId="{635763FB-3206-0E48-8AC4-776D590BC69B}" type="presParOf" srcId="{2065FCB8-7D5B-E14B-8B6B-5ABD81334D57}" destId="{4137B9D4-569D-CD46-A8E4-E718893A5565}" srcOrd="0" destOrd="0" presId="urn:microsoft.com/office/officeart/2016/7/layout/VerticalDownArrowProcess"/>
    <dgm:cxn modelId="{A91ECEC5-D1B2-EF49-909D-389CE889302D}" type="presParOf" srcId="{2065FCB8-7D5B-E14B-8B6B-5ABD81334D57}" destId="{1F69636C-7160-B84D-8C27-7C268D684902}" srcOrd="1" destOrd="0" presId="urn:microsoft.com/office/officeart/2016/7/layout/VerticalDownArrowProcess"/>
    <dgm:cxn modelId="{F0594E0C-15E9-D242-B80C-C2A5A8296748}" type="presParOf" srcId="{1E87AC02-BC07-5F4E-BDE4-BD62E11E3937}" destId="{ADD480E4-0F6A-FB4E-86AC-CDC3760AD68C}" srcOrd="1" destOrd="0" presId="urn:microsoft.com/office/officeart/2016/7/layout/VerticalDownArrowProcess"/>
    <dgm:cxn modelId="{D09AB17A-7262-D145-9E3A-60F6A5B71EE4}" type="presParOf" srcId="{1E87AC02-BC07-5F4E-BDE4-BD62E11E3937}" destId="{B184270A-01DB-2A45-A396-9E7ED3B72579}" srcOrd="2" destOrd="0" presId="urn:microsoft.com/office/officeart/2016/7/layout/VerticalDownArrowProcess"/>
    <dgm:cxn modelId="{142457AC-699C-DF43-BD71-3C46C79132AE}" type="presParOf" srcId="{B184270A-01DB-2A45-A396-9E7ED3B72579}" destId="{C72F706F-BA1C-294B-99C3-EC09D06AE545}" srcOrd="0" destOrd="0" presId="urn:microsoft.com/office/officeart/2016/7/layout/VerticalDownArrowProcess"/>
    <dgm:cxn modelId="{DE0C32A1-8810-1A40-9020-D6016E65DE38}" type="presParOf" srcId="{B184270A-01DB-2A45-A396-9E7ED3B72579}" destId="{0DA958DE-0FF6-9E43-BD13-B083407F0B5E}" srcOrd="1" destOrd="0" presId="urn:microsoft.com/office/officeart/2016/7/layout/VerticalDownArrowProcess"/>
    <dgm:cxn modelId="{69FE3928-17BB-504C-BEDF-BE9E5E9A1BDC}" type="presParOf" srcId="{B184270A-01DB-2A45-A396-9E7ED3B72579}" destId="{7207183F-2690-5F4E-A239-3C73A900EFAC}" srcOrd="2" destOrd="0" presId="urn:microsoft.com/office/officeart/2016/7/layout/VerticalDownArrowProcess"/>
    <dgm:cxn modelId="{535737FB-6A7D-AD4E-BDD8-ED1087F14112}" type="presParOf" srcId="{1E87AC02-BC07-5F4E-BDE4-BD62E11E3937}" destId="{7251BBFB-3B78-C447-914E-B9C6233F68D8}" srcOrd="3" destOrd="0" presId="urn:microsoft.com/office/officeart/2016/7/layout/VerticalDownArrowProcess"/>
    <dgm:cxn modelId="{4F0D0227-908C-E540-BCB5-15A51ED5BB87}" type="presParOf" srcId="{1E87AC02-BC07-5F4E-BDE4-BD62E11E3937}" destId="{FF1569C0-9E5E-244E-8710-CA45F8EACED8}" srcOrd="4" destOrd="0" presId="urn:microsoft.com/office/officeart/2016/7/layout/VerticalDownArrowProcess"/>
    <dgm:cxn modelId="{46970C43-03DD-4D46-A254-81E15A819E4D}" type="presParOf" srcId="{FF1569C0-9E5E-244E-8710-CA45F8EACED8}" destId="{885EFDEE-C8C8-2742-8A95-84C2D1CBC9AF}" srcOrd="0" destOrd="0" presId="urn:microsoft.com/office/officeart/2016/7/layout/VerticalDownArrowProcess"/>
    <dgm:cxn modelId="{AC667CDF-32AA-2D40-BDA7-1FEA9B43D53A}" type="presParOf" srcId="{FF1569C0-9E5E-244E-8710-CA45F8EACED8}" destId="{E94AF108-8636-9548-8D57-FDA72F5A1988}" srcOrd="1" destOrd="0" presId="urn:microsoft.com/office/officeart/2016/7/layout/VerticalDownArrowProcess"/>
    <dgm:cxn modelId="{117BC8AC-263A-8F47-BAB1-89DD2D21311F}" type="presParOf" srcId="{FF1569C0-9E5E-244E-8710-CA45F8EACED8}" destId="{F57CC6EA-6F89-634E-90D7-C2A5D1D1ECCF}" srcOrd="2" destOrd="0" presId="urn:microsoft.com/office/officeart/2016/7/layout/VerticalDownArrowProcess"/>
    <dgm:cxn modelId="{4CD44851-50FB-A946-BF19-E9D0D532E7D3}" type="presParOf" srcId="{1E87AC02-BC07-5F4E-BDE4-BD62E11E3937}" destId="{C9E8449E-504D-CE4F-9C1D-DE5EBC23E6E3}" srcOrd="5" destOrd="0" presId="urn:microsoft.com/office/officeart/2016/7/layout/VerticalDownArrowProcess"/>
    <dgm:cxn modelId="{56CAD799-1F0E-9948-B700-AA5DF0279BA0}" type="presParOf" srcId="{1E87AC02-BC07-5F4E-BDE4-BD62E11E3937}" destId="{06C25277-7EBA-6245-8E22-65F2120720B7}" srcOrd="6" destOrd="0" presId="urn:microsoft.com/office/officeart/2016/7/layout/VerticalDownArrowProcess"/>
    <dgm:cxn modelId="{44C943DF-AA1B-D543-BC18-21B3275441FB}" type="presParOf" srcId="{06C25277-7EBA-6245-8E22-65F2120720B7}" destId="{351DBE11-9338-D94B-9200-7FA6C657B490}" srcOrd="0" destOrd="0" presId="urn:microsoft.com/office/officeart/2016/7/layout/VerticalDownArrowProcess"/>
    <dgm:cxn modelId="{C93EB1D2-FB36-DB40-886D-6CA1CCDF5907}" type="presParOf" srcId="{06C25277-7EBA-6245-8E22-65F2120720B7}" destId="{4F87AFB3-5B34-3F44-9D40-D8B4AD20BFF9}" srcOrd="1" destOrd="0" presId="urn:microsoft.com/office/officeart/2016/7/layout/VerticalDownArrowProcess"/>
    <dgm:cxn modelId="{F9CF0260-C4FA-7546-98D9-A4B3D11E3DF6}" type="presParOf" srcId="{06C25277-7EBA-6245-8E22-65F2120720B7}" destId="{6A2ECFB4-CF08-6E41-BFE5-581FFCDD6AA3}" srcOrd="2" destOrd="0" presId="urn:microsoft.com/office/officeart/2016/7/layout/VerticalDownArrowProcess"/>
    <dgm:cxn modelId="{92A34913-F102-654B-860F-EADA59AE15F4}" type="presParOf" srcId="{1E87AC02-BC07-5F4E-BDE4-BD62E11E3937}" destId="{F626C5A3-F272-6049-A391-1E534E5606B7}" srcOrd="7" destOrd="0" presId="urn:microsoft.com/office/officeart/2016/7/layout/VerticalDownArrowProcess"/>
    <dgm:cxn modelId="{736A2B24-7E03-A641-9C93-A199041F2BA2}" type="presParOf" srcId="{1E87AC02-BC07-5F4E-BDE4-BD62E11E3937}" destId="{F428157A-D61E-4D49-AA28-2C61E15CE5AE}" srcOrd="8" destOrd="0" presId="urn:microsoft.com/office/officeart/2016/7/layout/VerticalDownArrowProcess"/>
    <dgm:cxn modelId="{EAC22B97-4A45-BE4A-A282-04AD0AE006BC}" type="presParOf" srcId="{F428157A-D61E-4D49-AA28-2C61E15CE5AE}" destId="{4F4D0175-1209-014F-9ED9-A233F24D0FF2}" srcOrd="0" destOrd="0" presId="urn:microsoft.com/office/officeart/2016/7/layout/VerticalDownArrowProcess"/>
    <dgm:cxn modelId="{C689E4A1-6062-734A-9553-EBEC8DB4935A}" type="presParOf" srcId="{F428157A-D61E-4D49-AA28-2C61E15CE5AE}" destId="{6E5CF41C-DBF3-5343-AC8B-CE70A56FA296}" srcOrd="1" destOrd="0" presId="urn:microsoft.com/office/officeart/2016/7/layout/VerticalDownArrowProcess"/>
    <dgm:cxn modelId="{22580A31-F31C-BA4C-8C81-874515F36553}" type="presParOf" srcId="{F428157A-D61E-4D49-AA28-2C61E15CE5AE}" destId="{C1C998A4-10D6-C24C-9CBC-5AA9FF1D3DF2}" srcOrd="2" destOrd="0" presId="urn:microsoft.com/office/officeart/2016/7/layout/VerticalDownArrowProcess"/>
    <dgm:cxn modelId="{6C58C615-0DBE-B840-ADD4-6E1B4804D1B7}" type="presParOf" srcId="{1E87AC02-BC07-5F4E-BDE4-BD62E11E3937}" destId="{D1D6802B-67E9-C54A-9B19-DC14246FD554}" srcOrd="9" destOrd="0" presId="urn:microsoft.com/office/officeart/2016/7/layout/VerticalDownArrowProcess"/>
    <dgm:cxn modelId="{92EB91BB-8A54-D348-81F9-8E01E0C8E1BD}" type="presParOf" srcId="{1E87AC02-BC07-5F4E-BDE4-BD62E11E3937}" destId="{8FFDFE08-764F-0A41-B339-3F9B519EE97D}" srcOrd="10" destOrd="0" presId="urn:microsoft.com/office/officeart/2016/7/layout/VerticalDownArrowProcess"/>
    <dgm:cxn modelId="{C6D23E64-421E-2C41-A5A8-94F3452F2DA8}" type="presParOf" srcId="{8FFDFE08-764F-0A41-B339-3F9B519EE97D}" destId="{0AAC0FDA-85C9-7F4F-831C-5B5E5BD4ED1A}" srcOrd="0" destOrd="0" presId="urn:microsoft.com/office/officeart/2016/7/layout/VerticalDownArrowProcess"/>
    <dgm:cxn modelId="{BF860648-7272-0E4A-94A7-6C5254ADD758}" type="presParOf" srcId="{8FFDFE08-764F-0A41-B339-3F9B519EE97D}" destId="{B165849C-0200-4F48-8259-36B41E72D230}" srcOrd="1" destOrd="0" presId="urn:microsoft.com/office/officeart/2016/7/layout/VerticalDownArrowProcess"/>
    <dgm:cxn modelId="{5754E2C5-6E2F-884F-A7BC-AA71C116CF4E}" type="presParOf" srcId="{8FFDFE08-764F-0A41-B339-3F9B519EE97D}" destId="{3F936231-89EF-1141-8D8C-75EB05FF2354}" srcOrd="2" destOrd="0" presId="urn:microsoft.com/office/officeart/2016/7/layout/VerticalDownArrowProcess"/>
    <dgm:cxn modelId="{69A02E86-9E40-8649-9287-7875E6365F5D}" type="presParOf" srcId="{1E87AC02-BC07-5F4E-BDE4-BD62E11E3937}" destId="{110A518D-DC29-2542-91CF-FCDCFD2B3D8B}" srcOrd="11" destOrd="0" presId="urn:microsoft.com/office/officeart/2016/7/layout/VerticalDownArrowProcess"/>
    <dgm:cxn modelId="{6FB0E757-1022-734B-B401-A758D26300A9}" type="presParOf" srcId="{1E87AC02-BC07-5F4E-BDE4-BD62E11E3937}" destId="{70CD28AB-511A-0945-A0CB-2F5FD015FFE6}" srcOrd="12" destOrd="0" presId="urn:microsoft.com/office/officeart/2016/7/layout/VerticalDownArrowProcess"/>
    <dgm:cxn modelId="{E140DE46-EBD3-2242-9A13-F9E7FADE2036}" type="presParOf" srcId="{70CD28AB-511A-0945-A0CB-2F5FD015FFE6}" destId="{3BB37A41-CA1E-B446-A1CA-707B4B143F03}" srcOrd="0" destOrd="0" presId="urn:microsoft.com/office/officeart/2016/7/layout/VerticalDownArrowProcess"/>
    <dgm:cxn modelId="{A1BFB773-C093-BF42-A5D4-4649E8CECA56}" type="presParOf" srcId="{70CD28AB-511A-0945-A0CB-2F5FD015FFE6}" destId="{34FC2782-AD91-494D-A0A1-4F554DE75383}" srcOrd="1" destOrd="0" presId="urn:microsoft.com/office/officeart/2016/7/layout/VerticalDownArrowProcess"/>
    <dgm:cxn modelId="{F2436C16-697C-4341-AD2A-90D9F646A539}" type="presParOf" srcId="{70CD28AB-511A-0945-A0CB-2F5FD015FFE6}" destId="{99F3E6EC-BD72-8C41-9C3A-2219AF96FB0F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37B9D4-569D-CD46-A8E4-E718893A5565}">
      <dsp:nvSpPr>
        <dsp:cNvPr id="0" name=""/>
        <dsp:cNvSpPr/>
      </dsp:nvSpPr>
      <dsp:spPr>
        <a:xfrm>
          <a:off x="0" y="3877685"/>
          <a:ext cx="2763241" cy="4243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99568" rIns="196522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latin typeface="Segoe UI Semibold" panose="020B0502040204020203" pitchFamily="34" charset="0"/>
              <a:cs typeface="Segoe UI Semibold" panose="020B0502040204020203" pitchFamily="34" charset="0"/>
            </a:rPr>
            <a:t>Plot TPR-FPR</a:t>
          </a:r>
        </a:p>
      </dsp:txBody>
      <dsp:txXfrm>
        <a:off x="0" y="3877685"/>
        <a:ext cx="2763241" cy="424333"/>
      </dsp:txXfrm>
    </dsp:sp>
    <dsp:sp modelId="{1F69636C-7160-B84D-8C27-7C268D684902}">
      <dsp:nvSpPr>
        <dsp:cNvPr id="0" name=""/>
        <dsp:cNvSpPr/>
      </dsp:nvSpPr>
      <dsp:spPr>
        <a:xfrm>
          <a:off x="2763241" y="3877685"/>
          <a:ext cx="8289725" cy="4243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77800" rIns="168155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latin typeface="Segoe UI Semibold" panose="020B0502040204020203" pitchFamily="34" charset="0"/>
              <a:cs typeface="Segoe UI Semibold" panose="020B0502040204020203" pitchFamily="34" charset="0"/>
            </a:rPr>
            <a:t>Plot log2 ratio and TPR-FPR (see line-plot – cutoff will be the highest point)</a:t>
          </a:r>
        </a:p>
      </dsp:txBody>
      <dsp:txXfrm>
        <a:off x="2763241" y="3877685"/>
        <a:ext cx="8289725" cy="424333"/>
      </dsp:txXfrm>
    </dsp:sp>
    <dsp:sp modelId="{0DA958DE-0FF6-9E43-BD13-B083407F0B5E}">
      <dsp:nvSpPr>
        <dsp:cNvPr id="0" name=""/>
        <dsp:cNvSpPr/>
      </dsp:nvSpPr>
      <dsp:spPr>
        <a:xfrm rot="10800000">
          <a:off x="0" y="3231426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99568" rIns="196522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latin typeface="Segoe UI Semibold" panose="020B0502040204020203" pitchFamily="34" charset="0"/>
              <a:cs typeface="Segoe UI Semibold" panose="020B0502040204020203" pitchFamily="34" charset="0"/>
            </a:rPr>
            <a:t>Find optimal cutoff ratio</a:t>
          </a:r>
        </a:p>
      </dsp:txBody>
      <dsp:txXfrm rot="-10800000">
        <a:off x="0" y="3231426"/>
        <a:ext cx="2763241" cy="424205"/>
      </dsp:txXfrm>
    </dsp:sp>
    <dsp:sp modelId="{7207183F-2690-5F4E-A239-3C73A900EFAC}">
      <dsp:nvSpPr>
        <dsp:cNvPr id="0" name=""/>
        <dsp:cNvSpPr/>
      </dsp:nvSpPr>
      <dsp:spPr>
        <a:xfrm>
          <a:off x="2763241" y="3231426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77800" rIns="168155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latin typeface="Segoe UI Semibold" panose="020B0502040204020203" pitchFamily="34" charset="0"/>
              <a:cs typeface="Segoe UI Semibold" panose="020B0502040204020203" pitchFamily="34" charset="0"/>
            </a:rPr>
            <a:t>find cutoff ratio which has the highest value for TPR-FPR (= the optimal cutoff ratio)</a:t>
          </a:r>
        </a:p>
      </dsp:txBody>
      <dsp:txXfrm>
        <a:off x="2763241" y="3231426"/>
        <a:ext cx="8289725" cy="424205"/>
      </dsp:txXfrm>
    </dsp:sp>
    <dsp:sp modelId="{E94AF108-8636-9548-8D57-FDA72F5A1988}">
      <dsp:nvSpPr>
        <dsp:cNvPr id="0" name=""/>
        <dsp:cNvSpPr/>
      </dsp:nvSpPr>
      <dsp:spPr>
        <a:xfrm rot="10800000">
          <a:off x="0" y="2585167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99568" rIns="196522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latin typeface="Segoe UI Semibold" panose="020B0502040204020203" pitchFamily="34" charset="0"/>
              <a:cs typeface="Segoe UI Semibold" panose="020B0502040204020203" pitchFamily="34" charset="0"/>
            </a:rPr>
            <a:t>Calculate TPR-FPR</a:t>
          </a:r>
        </a:p>
      </dsp:txBody>
      <dsp:txXfrm rot="-10800000">
        <a:off x="0" y="2585167"/>
        <a:ext cx="2763241" cy="424205"/>
      </dsp:txXfrm>
    </dsp:sp>
    <dsp:sp modelId="{F57CC6EA-6F89-634E-90D7-C2A5D1D1ECCF}">
      <dsp:nvSpPr>
        <dsp:cNvPr id="0" name=""/>
        <dsp:cNvSpPr/>
      </dsp:nvSpPr>
      <dsp:spPr>
        <a:xfrm>
          <a:off x="2763241" y="2585167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77800" rIns="168155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latin typeface="Segoe UI Semibold" panose="020B0502040204020203" pitchFamily="34" charset="0"/>
              <a:cs typeface="Segoe UI Semibold" panose="020B0502040204020203" pitchFamily="34" charset="0"/>
            </a:rPr>
            <a:t>calculate TPR-FPR </a:t>
          </a:r>
        </a:p>
      </dsp:txBody>
      <dsp:txXfrm>
        <a:off x="2763241" y="2585167"/>
        <a:ext cx="8289725" cy="424205"/>
      </dsp:txXfrm>
    </dsp:sp>
    <dsp:sp modelId="{4F87AFB3-5B34-3F44-9D40-D8B4AD20BFF9}">
      <dsp:nvSpPr>
        <dsp:cNvPr id="0" name=""/>
        <dsp:cNvSpPr/>
      </dsp:nvSpPr>
      <dsp:spPr>
        <a:xfrm rot="10800000">
          <a:off x="0" y="1938907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99568" rIns="196522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latin typeface="Segoe UI Semibold" panose="020B0502040204020203" pitchFamily="34" charset="0"/>
              <a:cs typeface="Segoe UI Semibold" panose="020B0502040204020203" pitchFamily="34" charset="0"/>
            </a:rPr>
            <a:t>Plot (ROC)</a:t>
          </a:r>
        </a:p>
      </dsp:txBody>
      <dsp:txXfrm rot="-10800000">
        <a:off x="0" y="1938907"/>
        <a:ext cx="2763241" cy="424205"/>
      </dsp:txXfrm>
    </dsp:sp>
    <dsp:sp modelId="{6A2ECFB4-CF08-6E41-BFE5-581FFCDD6AA3}">
      <dsp:nvSpPr>
        <dsp:cNvPr id="0" name=""/>
        <dsp:cNvSpPr/>
      </dsp:nvSpPr>
      <dsp:spPr>
        <a:xfrm>
          <a:off x="2763241" y="1938907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77800" rIns="168155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latin typeface="Segoe UI Semibold" panose="020B0502040204020203" pitchFamily="34" charset="0"/>
              <a:cs typeface="Segoe UI Semibold" panose="020B0502040204020203" pitchFamily="34" charset="0"/>
            </a:rPr>
            <a:t>Plot TPR and FPR (ROC) to determine how well the experiment enriched TP over FP proteins</a:t>
          </a:r>
        </a:p>
      </dsp:txBody>
      <dsp:txXfrm>
        <a:off x="2763241" y="1938907"/>
        <a:ext cx="8289725" cy="424205"/>
      </dsp:txXfrm>
    </dsp:sp>
    <dsp:sp modelId="{6E5CF41C-DBF3-5343-AC8B-CE70A56FA296}">
      <dsp:nvSpPr>
        <dsp:cNvPr id="0" name=""/>
        <dsp:cNvSpPr/>
      </dsp:nvSpPr>
      <dsp:spPr>
        <a:xfrm rot="10800000">
          <a:off x="0" y="1292648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99568" rIns="196522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latin typeface="Segoe UI Semibold" panose="020B0502040204020203" pitchFamily="34" charset="0"/>
              <a:cs typeface="Segoe UI Semibold" panose="020B0502040204020203" pitchFamily="34" charset="0"/>
            </a:rPr>
            <a:t>Calculate TPR &amp; FPR</a:t>
          </a:r>
        </a:p>
      </dsp:txBody>
      <dsp:txXfrm rot="-10800000">
        <a:off x="0" y="1292648"/>
        <a:ext cx="2763241" cy="424205"/>
      </dsp:txXfrm>
    </dsp:sp>
    <dsp:sp modelId="{C1C998A4-10D6-C24C-9CBC-5AA9FF1D3DF2}">
      <dsp:nvSpPr>
        <dsp:cNvPr id="0" name=""/>
        <dsp:cNvSpPr/>
      </dsp:nvSpPr>
      <dsp:spPr>
        <a:xfrm>
          <a:off x="2763241" y="1292648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77800" rIns="168155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latin typeface="Segoe UI Semibold" panose="020B0502040204020203" pitchFamily="34" charset="0"/>
              <a:cs typeface="Segoe UI Semibold" panose="020B0502040204020203" pitchFamily="34" charset="0"/>
            </a:rPr>
            <a:t>Calculate TP rate (TPR) and the FP rate (FPR) (= fraction of detected TP and FP proteins above the cutoff)</a:t>
          </a:r>
        </a:p>
      </dsp:txBody>
      <dsp:txXfrm>
        <a:off x="2763241" y="1292648"/>
        <a:ext cx="8289725" cy="424205"/>
      </dsp:txXfrm>
    </dsp:sp>
    <dsp:sp modelId="{B165849C-0200-4F48-8259-36B41E72D230}">
      <dsp:nvSpPr>
        <dsp:cNvPr id="0" name=""/>
        <dsp:cNvSpPr/>
      </dsp:nvSpPr>
      <dsp:spPr>
        <a:xfrm rot="10800000">
          <a:off x="0" y="646389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99568" rIns="196522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latin typeface="Segoe UI Semibold" panose="020B0502040204020203" pitchFamily="34" charset="0"/>
              <a:cs typeface="Segoe UI Semibold" panose="020B0502040204020203" pitchFamily="34" charset="0"/>
            </a:rPr>
            <a:t>Rank</a:t>
          </a:r>
        </a:p>
      </dsp:txBody>
      <dsp:txXfrm rot="-10800000">
        <a:off x="0" y="646389"/>
        <a:ext cx="2763241" cy="424205"/>
      </dsp:txXfrm>
    </dsp:sp>
    <dsp:sp modelId="{3F936231-89EF-1141-8D8C-75EB05FF2354}">
      <dsp:nvSpPr>
        <dsp:cNvPr id="0" name=""/>
        <dsp:cNvSpPr/>
      </dsp:nvSpPr>
      <dsp:spPr>
        <a:xfrm>
          <a:off x="2763241" y="646389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77800" rIns="168155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latin typeface="Segoe UI Semibold" panose="020B0502040204020203" pitchFamily="34" charset="0"/>
              <a:cs typeface="Segoe UI Semibold" panose="020B0502040204020203" pitchFamily="34" charset="0"/>
            </a:rPr>
            <a:t>Rank ratios in descending order </a:t>
          </a:r>
        </a:p>
      </dsp:txBody>
      <dsp:txXfrm>
        <a:off x="2763241" y="646389"/>
        <a:ext cx="8289725" cy="424205"/>
      </dsp:txXfrm>
    </dsp:sp>
    <dsp:sp modelId="{34FC2782-AD91-494D-A0A1-4F554DE75383}">
      <dsp:nvSpPr>
        <dsp:cNvPr id="0" name=""/>
        <dsp:cNvSpPr/>
      </dsp:nvSpPr>
      <dsp:spPr>
        <a:xfrm rot="10800000">
          <a:off x="0" y="130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99568" rIns="196522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latin typeface="Segoe UI Semibold" panose="020B0502040204020203" pitchFamily="34" charset="0"/>
              <a:cs typeface="Segoe UI Semibold" panose="020B0502040204020203" pitchFamily="34" charset="0"/>
            </a:rPr>
            <a:t>Normalize</a:t>
          </a:r>
        </a:p>
      </dsp:txBody>
      <dsp:txXfrm rot="-10800000">
        <a:off x="0" y="130"/>
        <a:ext cx="2763241" cy="424205"/>
      </dsp:txXfrm>
    </dsp:sp>
    <dsp:sp modelId="{99F3E6EC-BD72-8C41-9C3A-2219AF96FB0F}">
      <dsp:nvSpPr>
        <dsp:cNvPr id="0" name=""/>
        <dsp:cNvSpPr/>
      </dsp:nvSpPr>
      <dsp:spPr>
        <a:xfrm>
          <a:off x="2763241" y="130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77800" rIns="168155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latin typeface="Segoe UI Semibold" panose="020B0502040204020203" pitchFamily="34" charset="0"/>
              <a:cs typeface="Segoe UI Semibold" panose="020B0502040204020203" pitchFamily="34" charset="0"/>
            </a:rPr>
            <a:t>Normalize ratio by the median ratio of proteins that are labelled as FP</a:t>
          </a:r>
        </a:p>
      </dsp:txBody>
      <dsp:txXfrm>
        <a:off x="2763241" y="130"/>
        <a:ext cx="8289725" cy="4242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BF4D-3201-F745-B932-E7F786B71255}" type="datetimeFigureOut">
              <a:rPr lang="en-US" smtClean="0"/>
              <a:t>3/28/23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C3097-339F-D341-9AE2-47DB3DE0E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1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220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7042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5490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u="none" strike="noStrike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inguinal WAT</a:t>
            </a:r>
            <a:r>
              <a:rPr lang="en-US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b="0" i="0" u="none" strike="noStrike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iWAT</a:t>
            </a:r>
            <a:r>
              <a:rPr lang="en-US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), and epididymal WAT (</a:t>
            </a:r>
            <a:r>
              <a:rPr lang="en-US" b="0" i="0" u="none" strike="noStrike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eWAT</a:t>
            </a:r>
            <a:r>
              <a:rPr lang="en-US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)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9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300 </a:t>
            </a:r>
          </a:p>
          <a:p>
            <a:r>
              <a:rPr lang="en-US" dirty="0"/>
              <a:t>250 &gt;25%</a:t>
            </a:r>
          </a:p>
          <a:p>
            <a:r>
              <a:rPr lang="en-US" u="sng" dirty="0"/>
              <a:t>230 &gt;50%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5836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73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635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04768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 peptides </a:t>
            </a:r>
            <a:r>
              <a:rPr lang="en-US" i="1" dirty="0"/>
              <a:t>control protein secretion</a:t>
            </a:r>
            <a:r>
              <a:rPr lang="en-US" dirty="0"/>
              <a:t> and translocation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Proteins annotated as TP are removed from FP list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25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974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46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86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54246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39244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898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03E81-946A-FD4B-A5BF-D1C95339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C2F99-C96C-3148-91B8-6F227588E1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C0D0F-6448-3840-B99D-4B049583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2D62B-C5BC-9A48-B649-B612C2626DF0}" type="datetime2">
              <a:rPr lang="en-US" smtClean="0"/>
              <a:t>Tuesday, March 28,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0A073-062E-6143-B8BE-B399CDDD7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97A0C-DCB2-9E4E-AEB9-8985AC2D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7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1A0A7-988E-1743-A790-2F7BCCC21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71A43-E42E-F44A-9436-732A804F2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1C855-63B7-8848-B673-9245C7226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0DC3-F6B5-014A-A9AD-0D47C6506BAB}" type="datetime2">
              <a:rPr lang="en-US" smtClean="0"/>
              <a:t>Tuesday, March 28,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3D553-48F6-194C-8F63-C146AB5FD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F2AF8-DCE3-AE43-AEE3-850EAA97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99324-A21F-C84F-A997-47F65D32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8959F-90AE-0144-AD34-239A0D80F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496D3-3431-ED4F-8BA4-B0881581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9C287-8CF4-DC48-88B8-6E35669697EC}" type="datetime2">
              <a:rPr lang="en-US" smtClean="0"/>
              <a:t>Tuesday, March 28,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32982-1A21-984F-B648-2EDB9B0B0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C832D-C319-9649-B35D-C53E093A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980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149B-808C-D24D-8877-ACEFC6AF4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33443-8A86-4F48-94FD-81ED2B79E8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BC4DF-4650-FB4D-9F23-19B313FC4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9A489-7672-734C-AED1-C6E7B04D0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B5C39-7764-3744-BF89-1BA0C95D9B94}" type="datetime2">
              <a:rPr lang="en-US" smtClean="0"/>
              <a:t>Tuesday, March 28,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7EDA8-FD42-9E43-B585-2FB1C0947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FAE4C-9A20-384E-96D9-46182C130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8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99424-B204-DA4D-A261-8A6AB82DD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6BE27-9B08-2D44-A5DD-3646B660C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7AC73-C28D-C346-AD33-6FBBAB4E8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3274C1-CA02-1A4E-9EF4-D090FD68EE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CBDD9-76E2-4943-84C7-23993ECA7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44F0E1-6766-654F-91A1-508B72B7A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B7099-C23E-1745-AF03-0B0C40F6AA6C}" type="datetime2">
              <a:rPr lang="en-US" smtClean="0"/>
              <a:t>Tuesday, March 28, 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F1B3F6-5933-924A-A8D2-5BA0605AF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6D5FA3-5E54-6842-AC1E-3506920F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57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8808D-BC2A-824C-942C-0AE064A2E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3CCE5E-003E-A04B-B8AC-5DE83AA33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883A0-F701-0F49-9D67-42F97F0F4C65}" type="datetime2">
              <a:rPr lang="en-US" smtClean="0"/>
              <a:t>Tuesday, March 28,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56BA5-5761-6643-9DC4-C554A41E0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0BB2A-6168-3049-9F8F-5C07F8A7B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12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AFFC16-5F9F-F74E-97C6-550DD4CE8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3127-F9F8-8B4E-9CEB-95BF7FFEA85F}" type="datetime2">
              <a:rPr lang="en-US" smtClean="0"/>
              <a:t>Tuesday, March 28,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E3E46-25A1-FF43-8A04-5D2C3D138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48B15-E91E-FF45-8ED6-BB994B92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95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E4047-C554-EA40-AF86-540307B54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E612B-509E-1B48-A295-95E828397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8250C-C477-5143-9F6B-A84088F79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5F3DA-1D58-A74A-8601-E31A9124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FEB34-53E9-8F42-9ED2-04274EE70207}" type="datetime2">
              <a:rPr lang="en-US" smtClean="0"/>
              <a:t>Tuesday, March 28,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4976C-4A75-F147-A79B-188097E16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12616-E3F7-0543-8C96-DAF2A499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921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BF241-8910-0644-B508-4D24CBCDA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619914-324C-FD42-A13F-C61BE61EF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3C8B3C-F295-A44E-8C5B-CC80D0C90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9F1E-AA2C-C546-8413-5345D7B4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4A2C-3282-224A-8A3B-B1B48911DC1D}" type="datetime2">
              <a:rPr lang="en-US" smtClean="0"/>
              <a:t>Tuesday, March 28,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8F1AB-3458-B949-8001-EBD51E7A6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00183-9D62-B64B-B4D4-33723702C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7CD67-4320-0642-B4F9-0821819C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053E38-BAB1-8944-B64D-5CA2F587C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0DBA4-0063-9641-A1F7-D0B2F62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BF22D-4351-7443-9203-BE328953BFC7}" type="datetime2">
              <a:rPr lang="en-US" smtClean="0"/>
              <a:t>Tuesday, March 28,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FC3C5-A448-AD46-89E6-3A2D0BE78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A9B59-82DA-6749-AF8A-6731D7BB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04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3C92B2-9197-4C49-A687-69FE7951C8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8F183-93B3-EF4C-88FF-54EA471D0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54A67-F14A-634E-8BAB-8A297E4B6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6349-9520-004C-B410-2193F9372E49}" type="datetime2">
              <a:rPr lang="en-US" smtClean="0"/>
              <a:t>Tuesday, March 28,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C769-B9F8-2D49-BEC2-6D909EFBF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CBDEA-F8C8-B74F-93C7-5FAEA38A8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90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9DC372-EC59-7E4B-BEF6-72AFC4334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87D66-EDB8-8D4A-9D2C-A4AB78C36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756E8-6FCF-9641-9118-E22CAEAF3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98F71-50EE-C442-9A03-D3A19758747B}" type="datetime2">
              <a:rPr lang="en-US" smtClean="0"/>
              <a:t>Tuesday, March 28,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95A4E-349B-E545-8163-934653362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FEE1F-9E90-B441-96E6-378CD9669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092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pmc/articles/PMC3916822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ropbox.com/home/TurboID%20manuscript/Mass-spectrometry%20datasets/03_results/03_downstream_analysis/032723_results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pmc/articles/PMC3916822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6-020-0399-0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ture.com/articles/s41596-020-0399-0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8A636-7CA9-8B4E-B3B8-BABF6E6CA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7239" y="1353988"/>
            <a:ext cx="7517521" cy="2075012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TurboID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548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033" y="1602075"/>
            <a:ext cx="9978909" cy="3864074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D1C1D"/>
                </a:solidFill>
                <a:effectLst/>
                <a:latin typeface="Segoe UI Semibold" panose="020B0502040204020203" pitchFamily="34" charset="0"/>
                <a:cs typeface="Segoe UI Semibold" panose="020B0502040204020203" pitchFamily="34" charset="0"/>
              </a:rPr>
              <a:t>Improvement of folder structure </a:t>
            </a:r>
            <a:r>
              <a:rPr lang="en-US" sz="2000" b="1" dirty="0">
                <a:solidFill>
                  <a:srgbClr val="1D1C1D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and separation of tissue and serum samples</a:t>
            </a:r>
            <a:endParaRPr lang="en-US" sz="2000" b="1" dirty="0">
              <a:solidFill>
                <a:srgbClr val="1D1C1D"/>
              </a:solidFill>
              <a:effectLst/>
              <a:latin typeface="Segoe UI Semibold" panose="020B0502040204020203" pitchFamily="34" charset="0"/>
              <a:cs typeface="Segoe UI Semibold" panose="020B0502040204020203" pitchFamily="34" charset="0"/>
            </a:endParaRP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D1C1D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Description word document is now </a:t>
            </a:r>
            <a:r>
              <a:rPr lang="en-US" sz="2000" b="1" dirty="0" err="1">
                <a:solidFill>
                  <a:srgbClr val="1D1C1D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README.pdf</a:t>
            </a:r>
            <a:endParaRPr lang="en-US" sz="2000" b="1" dirty="0">
              <a:solidFill>
                <a:srgbClr val="1D1C1D"/>
              </a:solidFill>
              <a:effectLst/>
              <a:latin typeface="Segoe UI Semibold" panose="020B0502040204020203" pitchFamily="34" charset="0"/>
              <a:cs typeface="Segoe UI Semibold" panose="020B0502040204020203" pitchFamily="34" charset="0"/>
            </a:endParaRP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D1C1D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Improvement of FP list: </a:t>
            </a:r>
            <a:r>
              <a:rPr lang="en-US" sz="2000" b="1" dirty="0" err="1">
                <a:solidFill>
                  <a:srgbClr val="1D1C1D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Mitomatrix</a:t>
            </a:r>
            <a:r>
              <a:rPr lang="en-US" sz="2000" b="1" dirty="0">
                <a:solidFill>
                  <a:srgbClr val="1D1C1D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Proteins from </a:t>
            </a:r>
            <a:r>
              <a:rPr lang="en-US" sz="20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Supplementary S1 published by </a:t>
            </a:r>
            <a:r>
              <a:rPr lang="en-US" sz="2000" b="1" dirty="0">
                <a:latin typeface="Segoe UI Semibold" panose="020B0502040204020203" pitchFamily="34" charset="0"/>
                <a:cs typeface="Segoe UI Semibold" panose="020B0502040204020203" pitchFamily="34" charset="0"/>
                <a:hlinkClick r:id="rId3"/>
              </a:rPr>
              <a:t>Rhee et al. 2013</a:t>
            </a:r>
            <a:endParaRPr lang="en-US" sz="2000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D1C1D"/>
                </a:solidFill>
                <a:effectLst/>
                <a:latin typeface="Segoe UI Semibold" panose="020B0502040204020203" pitchFamily="34" charset="0"/>
                <a:cs typeface="Segoe UI Semibold" panose="020B0502040204020203" pitchFamily="34" charset="0"/>
              </a:rPr>
              <a:t>Improvement o</a:t>
            </a:r>
            <a:r>
              <a:rPr lang="en-US" sz="2000" b="1" dirty="0">
                <a:solidFill>
                  <a:srgbClr val="1D1C1D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f TP list: Removal of Golgi and Extracellular space terms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D1C1D"/>
                </a:solidFill>
                <a:effectLst/>
                <a:latin typeface="Segoe UI Semibold" panose="020B0502040204020203" pitchFamily="34" charset="0"/>
                <a:cs typeface="Segoe UI Semibold" panose="020B0502040204020203" pitchFamily="34" charset="0"/>
              </a:rPr>
              <a:t>Fixed </a:t>
            </a:r>
            <a:r>
              <a:rPr lang="en-US" sz="2000" b="1" dirty="0" err="1">
                <a:solidFill>
                  <a:srgbClr val="1D1C1D"/>
                </a:solidFill>
                <a:effectLst/>
                <a:latin typeface="Segoe UI Semibold" panose="020B0502040204020203" pitchFamily="34" charset="0"/>
                <a:cs typeface="Segoe UI Semibold" panose="020B0502040204020203" pitchFamily="34" charset="0"/>
              </a:rPr>
              <a:t>pass_cut</a:t>
            </a:r>
            <a:r>
              <a:rPr lang="en-US" sz="2000" b="1" dirty="0" err="1">
                <a:solidFill>
                  <a:srgbClr val="1D1C1D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off_result</a:t>
            </a:r>
            <a:r>
              <a:rPr lang="en-US" sz="2000" b="1" dirty="0">
                <a:solidFill>
                  <a:srgbClr val="1D1C1D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column (second filtering step based on min 2 replicates that pass cutoffs) 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D1C1D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Volcano plot data (</a:t>
            </a:r>
            <a:r>
              <a:rPr lang="en-US" sz="2000" b="1" dirty="0" err="1">
                <a:solidFill>
                  <a:srgbClr val="1D1C1D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logFC</a:t>
            </a:r>
            <a:r>
              <a:rPr lang="en-US" sz="2000" b="1" dirty="0">
                <a:solidFill>
                  <a:srgbClr val="1D1C1D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and p-values) is now added to final protein list table for reference </a:t>
            </a:r>
            <a:endParaRPr lang="en-US" sz="2000" b="1" dirty="0">
              <a:solidFill>
                <a:srgbClr val="000000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  <a:p>
            <a:pPr marL="0" indent="0">
              <a:buClr>
                <a:srgbClr val="7BAF34"/>
              </a:buClr>
              <a:buNone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>
              <a:buClr>
                <a:srgbClr val="7BAF34"/>
              </a:buClr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1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F3C52-A33C-B54E-85E5-9456619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FF7CB23-27A7-3647-8865-C26A610415E5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optimization  </a:t>
            </a:r>
          </a:p>
        </p:txBody>
      </p:sp>
    </p:spTree>
    <p:extLst>
      <p:ext uri="{BB962C8B-B14F-4D97-AF65-F5344CB8AC3E}">
        <p14:creationId xmlns:p14="http://schemas.microsoft.com/office/powerpoint/2010/main" val="3153582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F3C52-A33C-B54E-85E5-9456619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FF7CB23-27A7-3647-8865-C26A610415E5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of new results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F4F5E2D7-9EF8-2646-B20A-4FE722FE93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71"/>
          <a:stretch/>
        </p:blipFill>
        <p:spPr>
          <a:xfrm>
            <a:off x="1605437" y="2048432"/>
            <a:ext cx="9267460" cy="313673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56D71F0-AB92-424F-ACC5-93FD12A058F8}"/>
              </a:ext>
            </a:extLst>
          </p:cNvPr>
          <p:cNvSpPr/>
          <p:nvPr/>
        </p:nvSpPr>
        <p:spPr>
          <a:xfrm>
            <a:off x="7185099" y="2961106"/>
            <a:ext cx="1585358" cy="189451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64B23D-90D7-CC4C-967E-812C39AA7E34}"/>
              </a:ext>
            </a:extLst>
          </p:cNvPr>
          <p:cNvSpPr txBox="1"/>
          <p:nvPr/>
        </p:nvSpPr>
        <p:spPr>
          <a:xfrm>
            <a:off x="7627951" y="3983194"/>
            <a:ext cx="199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New result folder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1E21A6-0C84-724B-813A-91AF773F5813}"/>
              </a:ext>
            </a:extLst>
          </p:cNvPr>
          <p:cNvCxnSpPr>
            <a:cxnSpLocks/>
          </p:cNvCxnSpPr>
          <p:nvPr/>
        </p:nvCxnSpPr>
        <p:spPr>
          <a:xfrm>
            <a:off x="8451802" y="1728199"/>
            <a:ext cx="0" cy="6491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F7F097C-2656-C04E-9D59-915CF503C2AA}"/>
              </a:ext>
            </a:extLst>
          </p:cNvPr>
          <p:cNvSpPr/>
          <p:nvPr/>
        </p:nvSpPr>
        <p:spPr>
          <a:xfrm>
            <a:off x="7185099" y="2528912"/>
            <a:ext cx="1585358" cy="3737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6D1C68-15BE-B04A-8D5B-59947E1E61A5}"/>
              </a:ext>
            </a:extLst>
          </p:cNvPr>
          <p:cNvSpPr txBox="1"/>
          <p:nvPr/>
        </p:nvSpPr>
        <p:spPr>
          <a:xfrm>
            <a:off x="6749385" y="1358867"/>
            <a:ext cx="372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Old result folders for comparison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C4F1EA6-F8EF-0B49-BE99-739F622E4852}"/>
              </a:ext>
            </a:extLst>
          </p:cNvPr>
          <p:cNvCxnSpPr>
            <a:cxnSpLocks/>
          </p:cNvCxnSpPr>
          <p:nvPr/>
        </p:nvCxnSpPr>
        <p:spPr>
          <a:xfrm flipV="1">
            <a:off x="8119292" y="3279806"/>
            <a:ext cx="0" cy="673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0060607-97DC-9846-A199-704633770164}"/>
              </a:ext>
            </a:extLst>
          </p:cNvPr>
          <p:cNvSpPr txBox="1"/>
          <p:nvPr/>
        </p:nvSpPr>
        <p:spPr>
          <a:xfrm>
            <a:off x="3379059" y="5433020"/>
            <a:ext cx="5072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Other folders that were recently in this location can be found in trash and can be used for comparison with new results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7346F52-99FF-2649-8CD8-0F995F0D4329}"/>
              </a:ext>
            </a:extLst>
          </p:cNvPr>
          <p:cNvCxnSpPr>
            <a:cxnSpLocks/>
          </p:cNvCxnSpPr>
          <p:nvPr/>
        </p:nvCxnSpPr>
        <p:spPr>
          <a:xfrm flipV="1">
            <a:off x="5630092" y="3363352"/>
            <a:ext cx="1727200" cy="2114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9906638-3645-904D-B967-29F2A146A25C}"/>
              </a:ext>
            </a:extLst>
          </p:cNvPr>
          <p:cNvSpPr txBox="1"/>
          <p:nvPr/>
        </p:nvSpPr>
        <p:spPr>
          <a:xfrm>
            <a:off x="1504545" y="1828791"/>
            <a:ext cx="6203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4"/>
              </a:rPr>
              <a:t>https://www.dropbox.com/home/TurboID%20manuscript/Mass-spectrometry%20datasets/03_results/03_downstream_analysis/032723_results</a:t>
            </a:r>
            <a:endParaRPr lang="en-US" sz="800" dirty="0"/>
          </a:p>
          <a:p>
            <a:endParaRPr lang="en-US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D0BBBF-30A0-6A45-8A69-540FF8A7801C}"/>
              </a:ext>
            </a:extLst>
          </p:cNvPr>
          <p:cNvSpPr txBox="1"/>
          <p:nvPr/>
        </p:nvSpPr>
        <p:spPr>
          <a:xfrm>
            <a:off x="1489407" y="1543533"/>
            <a:ext cx="115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Dropbox:</a:t>
            </a:r>
          </a:p>
        </p:txBody>
      </p:sp>
    </p:spTree>
    <p:extLst>
      <p:ext uri="{BB962C8B-B14F-4D97-AF65-F5344CB8AC3E}">
        <p14:creationId xmlns:p14="http://schemas.microsoft.com/office/powerpoint/2010/main" val="151803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F3C52-A33C-B54E-85E5-9456619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FF7CB23-27A7-3647-8865-C26A610415E5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folder structure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60607-97DC-9846-A199-704633770164}"/>
              </a:ext>
            </a:extLst>
          </p:cNvPr>
          <p:cNvSpPr txBox="1"/>
          <p:nvPr/>
        </p:nvSpPr>
        <p:spPr>
          <a:xfrm>
            <a:off x="2162897" y="1395469"/>
            <a:ext cx="6142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Min 1 peptide per protein = all proteins quantified</a:t>
            </a:r>
          </a:p>
          <a:p>
            <a:r>
              <a:rPr lang="en-US" sz="10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Min 2 peptides per protein = only proteins that had a min of 2 peptides quantified, more strict  </a:t>
            </a:r>
          </a:p>
        </p:txBody>
      </p:sp>
      <p:pic>
        <p:nvPicPr>
          <p:cNvPr id="5" name="Picture 4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61EF640D-4DDA-4C41-B129-4B725A5D5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851885"/>
            <a:ext cx="6142637" cy="15013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8141A47-803C-EE47-B6AC-7245DD32D996}"/>
              </a:ext>
            </a:extLst>
          </p:cNvPr>
          <p:cNvSpPr txBox="1"/>
          <p:nvPr/>
        </p:nvSpPr>
        <p:spPr>
          <a:xfrm>
            <a:off x="2997853" y="2616157"/>
            <a:ext cx="15141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err="1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README.pdf</a:t>
            </a:r>
            <a:r>
              <a:rPr lang="en-US" sz="10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 contains details about the pipeline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57B706-50A8-7E40-BFF3-10743B13A07B}"/>
              </a:ext>
            </a:extLst>
          </p:cNvPr>
          <p:cNvSpPr txBox="1"/>
          <p:nvPr/>
        </p:nvSpPr>
        <p:spPr>
          <a:xfrm>
            <a:off x="6861121" y="2022446"/>
            <a:ext cx="61426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01: Human readable files, annotated and keratins removed (raw signal intensity (SI))</a:t>
            </a:r>
          </a:p>
          <a:p>
            <a:r>
              <a:rPr lang="en-US" sz="10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02: for each file filtered results as well as proteins that were filtered out for reference</a:t>
            </a:r>
          </a:p>
          <a:p>
            <a:r>
              <a:rPr lang="en-US" sz="10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03: normalization plots for reference </a:t>
            </a:r>
          </a:p>
          <a:p>
            <a:r>
              <a:rPr lang="en-US" sz="10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04: normalized SI per experiment </a:t>
            </a:r>
          </a:p>
          <a:p>
            <a:r>
              <a:rPr lang="en-US" sz="10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05: results for serum and tissue </a:t>
            </a:r>
          </a:p>
          <a:p>
            <a:r>
              <a:rPr lang="en-US" sz="10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.log: log file of analysis pipeline</a:t>
            </a:r>
          </a:p>
        </p:txBody>
      </p:sp>
      <p:pic>
        <p:nvPicPr>
          <p:cNvPr id="8" name="Picture 7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CBB766CF-A24F-0743-A03A-C8D6D2513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4467" y="3633493"/>
            <a:ext cx="4690935" cy="1275206"/>
          </a:xfrm>
          <a:prstGeom prst="rect">
            <a:avLst/>
          </a:prstGeom>
        </p:spPr>
      </p:pic>
      <p:pic>
        <p:nvPicPr>
          <p:cNvPr id="11" name="Picture 10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543D0467-4EE2-6A43-9CD1-47D0BBE53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6110" y="5228170"/>
            <a:ext cx="4766307" cy="1295695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A6660D-5948-BA44-ACAE-85A07C8328D4}"/>
              </a:ext>
            </a:extLst>
          </p:cNvPr>
          <p:cNvCxnSpPr>
            <a:cxnSpLocks/>
          </p:cNvCxnSpPr>
          <p:nvPr/>
        </p:nvCxnSpPr>
        <p:spPr>
          <a:xfrm flipH="1">
            <a:off x="4399263" y="3007477"/>
            <a:ext cx="547142" cy="55540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B5EA704-11B6-B94E-B31E-1800F6067D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5521" y="3639244"/>
            <a:ext cx="3442220" cy="1393477"/>
          </a:xfrm>
          <a:prstGeom prst="rect">
            <a:avLst/>
          </a:prstGeom>
        </p:spPr>
      </p:pic>
      <p:pic>
        <p:nvPicPr>
          <p:cNvPr id="30" name="Picture 29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40456C3B-6FB1-4E4A-BCB3-617373F417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5402" y="3633493"/>
            <a:ext cx="3588817" cy="1452823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8CDCF937-084B-BF4C-B27C-7C917777A805}"/>
              </a:ext>
            </a:extLst>
          </p:cNvPr>
          <p:cNvSpPr/>
          <p:nvPr/>
        </p:nvSpPr>
        <p:spPr>
          <a:xfrm>
            <a:off x="6894452" y="3882691"/>
            <a:ext cx="1583289" cy="5366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E6E5D5-9019-6F4B-BEA0-3A894EC5DC89}"/>
              </a:ext>
            </a:extLst>
          </p:cNvPr>
          <p:cNvSpPr txBox="1"/>
          <p:nvPr/>
        </p:nvSpPr>
        <p:spPr>
          <a:xfrm>
            <a:off x="6894452" y="4466567"/>
            <a:ext cx="15141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Final protein table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1543A3-8DF1-684A-A2ED-5D550BE717D4}"/>
              </a:ext>
            </a:extLst>
          </p:cNvPr>
          <p:cNvSpPr txBox="1"/>
          <p:nvPr/>
        </p:nvSpPr>
        <p:spPr>
          <a:xfrm>
            <a:off x="8555812" y="4241769"/>
            <a:ext cx="175295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All cutoff ROC relevant plots as well as huge excel sheet holding all information before subset to final protein table </a:t>
            </a:r>
          </a:p>
        </p:txBody>
      </p:sp>
      <p:pic>
        <p:nvPicPr>
          <p:cNvPr id="36" name="Picture 35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9024586F-9050-1A4E-BAD8-BBB7AB92F0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7954" y="5228170"/>
            <a:ext cx="3237354" cy="1310543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9D4DAC84-A2CC-414E-8970-DFC30206A63A}"/>
              </a:ext>
            </a:extLst>
          </p:cNvPr>
          <p:cNvSpPr/>
          <p:nvPr/>
        </p:nvSpPr>
        <p:spPr>
          <a:xfrm>
            <a:off x="6894451" y="5276168"/>
            <a:ext cx="1583289" cy="40986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2BE226-2D71-7B4A-BF4B-856C9A36C194}"/>
              </a:ext>
            </a:extLst>
          </p:cNvPr>
          <p:cNvSpPr txBox="1"/>
          <p:nvPr/>
        </p:nvSpPr>
        <p:spPr>
          <a:xfrm>
            <a:off x="6861121" y="5734028"/>
            <a:ext cx="15141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Final protein table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6F7A17-4E24-A64B-9068-D3E0F6EF9CE1}"/>
              </a:ext>
            </a:extLst>
          </p:cNvPr>
          <p:cNvSpPr txBox="1"/>
          <p:nvPr/>
        </p:nvSpPr>
        <p:spPr>
          <a:xfrm>
            <a:off x="3478917" y="4212871"/>
            <a:ext cx="15141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TISSUE files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9B065A-B1BC-F442-AE34-0D1CCA6B2DCA}"/>
              </a:ext>
            </a:extLst>
          </p:cNvPr>
          <p:cNvSpPr txBox="1"/>
          <p:nvPr/>
        </p:nvSpPr>
        <p:spPr>
          <a:xfrm>
            <a:off x="3545063" y="5849138"/>
            <a:ext cx="15141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SERUM files</a:t>
            </a:r>
          </a:p>
        </p:txBody>
      </p:sp>
    </p:spTree>
    <p:extLst>
      <p:ext uri="{BB962C8B-B14F-4D97-AF65-F5344CB8AC3E}">
        <p14:creationId xmlns:p14="http://schemas.microsoft.com/office/powerpoint/2010/main" val="4148503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40326E9-3011-C4CB-901B-2062140D3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666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set up #1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615B4-4E95-E27B-C812-43A3C3E48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9F2956-7DFB-1F99-9AB3-97DE2083CC4B}"/>
              </a:ext>
            </a:extLst>
          </p:cNvPr>
          <p:cNvSpPr txBox="1"/>
          <p:nvPr/>
        </p:nvSpPr>
        <p:spPr>
          <a:xfrm>
            <a:off x="906736" y="5828307"/>
            <a:ext cx="9533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Cell-type specific profiling of secreted and ER-resident proteins under different stress conditions [4 x 16plex TMT + serum]</a:t>
            </a:r>
          </a:p>
        </p:txBody>
      </p: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16EE6806-264F-B6C5-9628-A398E13FD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83" y="804294"/>
            <a:ext cx="10844939" cy="524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78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40326E9-3011-C4CB-901B-2062140D3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666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set up #2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615B4-4E95-E27B-C812-43A3C3E48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3" name="Picture 2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F7902526-C845-4FF5-B2AA-011B89E8A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29" y="952537"/>
            <a:ext cx="11118142" cy="46192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F8D88B-0ECB-4694-6684-DBE9A2E6FCBE}"/>
              </a:ext>
            </a:extLst>
          </p:cNvPr>
          <p:cNvSpPr txBox="1"/>
          <p:nvPr/>
        </p:nvSpPr>
        <p:spPr>
          <a:xfrm>
            <a:off x="906735" y="5828307"/>
            <a:ext cx="102210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Profiling of secreted and ER-resident proteins in distinct white adipose tissues under different dietary conditions [4 x 10plex TMT + serum]</a:t>
            </a:r>
          </a:p>
        </p:txBody>
      </p:sp>
    </p:spTree>
    <p:extLst>
      <p:ext uri="{BB962C8B-B14F-4D97-AF65-F5344CB8AC3E}">
        <p14:creationId xmlns:p14="http://schemas.microsoft.com/office/powerpoint/2010/main" val="4281871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F08E539-E322-0340-9923-F555AC27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9" name="Picture 18" descr="Text&#10;&#10;Description automatically generated">
            <a:extLst>
              <a:ext uri="{FF2B5EF4-FFF2-40B4-BE49-F238E27FC236}">
                <a16:creationId xmlns:a16="http://schemas.microsoft.com/office/drawing/2014/main" id="{9CD7E666-AC50-61B3-3AB0-E9287BEA74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429"/>
          <a:stretch/>
        </p:blipFill>
        <p:spPr>
          <a:xfrm>
            <a:off x="422662" y="2055932"/>
            <a:ext cx="7823199" cy="4082068"/>
          </a:xfrm>
          <a:prstGeom prst="rect">
            <a:avLst/>
          </a:prstGeom>
        </p:spPr>
      </p:pic>
      <p:pic>
        <p:nvPicPr>
          <p:cNvPr id="20" name="Picture 19" descr="Text&#10;&#10;Description automatically generated">
            <a:extLst>
              <a:ext uri="{FF2B5EF4-FFF2-40B4-BE49-F238E27FC236}">
                <a16:creationId xmlns:a16="http://schemas.microsoft.com/office/drawing/2014/main" id="{1A950690-A3DD-2D8C-D012-E7EE3F6BBA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497"/>
          <a:stretch/>
        </p:blipFill>
        <p:spPr>
          <a:xfrm>
            <a:off x="8279728" y="2410337"/>
            <a:ext cx="3742841" cy="287239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491AAE3-E4C2-8849-969A-FEB9F5C877E6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sample processing: Serum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086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6635" y="295524"/>
            <a:ext cx="4810431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Overview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808399C-4025-F643-B6F0-2B20B9604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z="1500" b="1" smtClean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7</a:t>
            </a:fld>
            <a:endParaRPr lang="en-US" sz="15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9693CFF-05E7-E342-ADCD-4E6EBF2F73F0}"/>
              </a:ext>
            </a:extLst>
          </p:cNvPr>
          <p:cNvCxnSpPr/>
          <p:nvPr/>
        </p:nvCxnSpPr>
        <p:spPr>
          <a:xfrm>
            <a:off x="2836390" y="2624643"/>
            <a:ext cx="434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26FEC83-0A19-444D-B1ED-9E75E99D108E}"/>
              </a:ext>
            </a:extLst>
          </p:cNvPr>
          <p:cNvSpPr/>
          <p:nvPr/>
        </p:nvSpPr>
        <p:spPr>
          <a:xfrm>
            <a:off x="3358564" y="2020734"/>
            <a:ext cx="5430188" cy="131598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Peptide filtering: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Remove non unique peptides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Remove not fully tryptic peptides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Allowed number of missed cleavage sites: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Min 1 | 2 peptides per protein</a:t>
            </a:r>
          </a:p>
        </p:txBody>
      </p:sp>
      <p:pic>
        <p:nvPicPr>
          <p:cNvPr id="7" name="Graphic 6" descr="Open folder with solid fill">
            <a:extLst>
              <a:ext uri="{FF2B5EF4-FFF2-40B4-BE49-F238E27FC236}">
                <a16:creationId xmlns:a16="http://schemas.microsoft.com/office/drawing/2014/main" id="{09A339EC-F7B1-E84C-BB48-79F329F5E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3941" y="2002273"/>
            <a:ext cx="554618" cy="554618"/>
          </a:xfrm>
          <a:prstGeom prst="rect">
            <a:avLst/>
          </a:prstGeom>
        </p:spPr>
      </p:pic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8AEB9AE0-1154-F14C-937A-DDE61B2F9E1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998559" y="2279582"/>
            <a:ext cx="422699" cy="3450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DD1A67-8332-8D4E-9AE7-AAA7274CC52A}"/>
              </a:ext>
            </a:extLst>
          </p:cNvPr>
          <p:cNvCxnSpPr/>
          <p:nvPr/>
        </p:nvCxnSpPr>
        <p:spPr>
          <a:xfrm>
            <a:off x="8895393" y="2608723"/>
            <a:ext cx="434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2EEA2B7-5A7E-4C43-9995-1FAAD724831D}"/>
              </a:ext>
            </a:extLst>
          </p:cNvPr>
          <p:cNvSpPr txBox="1"/>
          <p:nvPr/>
        </p:nvSpPr>
        <p:spPr>
          <a:xfrm>
            <a:off x="9379244" y="2262057"/>
            <a:ext cx="225529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Peptide SI per protein </a:t>
            </a:r>
          </a:p>
          <a:p>
            <a:pPr algn="ctr"/>
            <a:r>
              <a:rPr lang="en-US" sz="15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are summed</a:t>
            </a:r>
          </a:p>
          <a:p>
            <a:pPr algn="ctr"/>
            <a:r>
              <a:rPr lang="en-US" sz="15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(=summed protein SI)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E7A6660-3933-B043-92F9-4E40AAE4EDF9}"/>
              </a:ext>
            </a:extLst>
          </p:cNvPr>
          <p:cNvCxnSpPr>
            <a:cxnSpLocks/>
          </p:cNvCxnSpPr>
          <p:nvPr/>
        </p:nvCxnSpPr>
        <p:spPr>
          <a:xfrm>
            <a:off x="10476351" y="3108552"/>
            <a:ext cx="0" cy="699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BE1BF30-CEA9-AC48-9331-C0305A946AA9}"/>
              </a:ext>
            </a:extLst>
          </p:cNvPr>
          <p:cNvSpPr txBox="1"/>
          <p:nvPr/>
        </p:nvSpPr>
        <p:spPr>
          <a:xfrm>
            <a:off x="9818337" y="3831327"/>
            <a:ext cx="18162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Processed file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A70393-3EC5-CD41-9135-46C248964064}"/>
              </a:ext>
            </a:extLst>
          </p:cNvPr>
          <p:cNvSpPr txBox="1"/>
          <p:nvPr/>
        </p:nvSpPr>
        <p:spPr>
          <a:xfrm>
            <a:off x="2183833" y="2785387"/>
            <a:ext cx="10024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Raw file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3F7213-68FE-FF4D-AF53-1CD72BE0B4D5}"/>
              </a:ext>
            </a:extLst>
          </p:cNvPr>
          <p:cNvSpPr txBox="1"/>
          <p:nvPr/>
        </p:nvSpPr>
        <p:spPr>
          <a:xfrm>
            <a:off x="541051" y="888898"/>
            <a:ext cx="22941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Mass-spec data searched against database of known proteins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007828-2F77-594A-9141-3DB6DEA754DC}"/>
              </a:ext>
            </a:extLst>
          </p:cNvPr>
          <p:cNvCxnSpPr>
            <a:cxnSpLocks/>
          </p:cNvCxnSpPr>
          <p:nvPr/>
        </p:nvCxnSpPr>
        <p:spPr>
          <a:xfrm>
            <a:off x="1721250" y="1708283"/>
            <a:ext cx="0" cy="325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B21BEC-87D3-6F4B-958D-D8A8299A8F47}"/>
              </a:ext>
            </a:extLst>
          </p:cNvPr>
          <p:cNvCxnSpPr>
            <a:cxnSpLocks/>
          </p:cNvCxnSpPr>
          <p:nvPr/>
        </p:nvCxnSpPr>
        <p:spPr>
          <a:xfrm flipH="1">
            <a:off x="6868751" y="4391818"/>
            <a:ext cx="287402" cy="4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raphic 31" descr="Document outline">
            <a:extLst>
              <a:ext uri="{FF2B5EF4-FFF2-40B4-BE49-F238E27FC236}">
                <a16:creationId xmlns:a16="http://schemas.microsoft.com/office/drawing/2014/main" id="{583B257A-72F1-7543-917B-89E83D50E4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01674" y="2407285"/>
            <a:ext cx="434716" cy="434716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ACE3C9B-3ECB-4748-8A94-F41DFAB98D48}"/>
              </a:ext>
            </a:extLst>
          </p:cNvPr>
          <p:cNvCxnSpPr>
            <a:cxnSpLocks/>
          </p:cNvCxnSpPr>
          <p:nvPr/>
        </p:nvCxnSpPr>
        <p:spPr>
          <a:xfrm flipH="1">
            <a:off x="9626600" y="4350118"/>
            <a:ext cx="590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5F572BF-9BAF-3C4C-BBA3-261B5E5A1F49}"/>
              </a:ext>
            </a:extLst>
          </p:cNvPr>
          <p:cNvSpPr txBox="1"/>
          <p:nvPr/>
        </p:nvSpPr>
        <p:spPr>
          <a:xfrm>
            <a:off x="7228218" y="4107611"/>
            <a:ext cx="228790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 err="1">
                <a:latin typeface="Segoe UI Semibold" panose="020B0502040204020203" pitchFamily="34" charset="0"/>
                <a:cs typeface="Segoe UI Semibold" panose="020B0502040204020203" pitchFamily="34" charset="0"/>
              </a:rPr>
              <a:t>cre</a:t>
            </a:r>
            <a:r>
              <a:rPr lang="en-US" sz="15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+ replicates filtering </a:t>
            </a:r>
          </a:p>
          <a:p>
            <a:pPr algn="ctr"/>
            <a:r>
              <a:rPr lang="en-US" sz="15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&amp;</a:t>
            </a:r>
          </a:p>
          <a:p>
            <a:pPr algn="ctr"/>
            <a:r>
              <a:rPr lang="en-US" sz="15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Normalization</a:t>
            </a:r>
          </a:p>
        </p:txBody>
      </p:sp>
      <p:pic>
        <p:nvPicPr>
          <p:cNvPr id="26" name="Graphic 25" descr="Document outline">
            <a:extLst>
              <a:ext uri="{FF2B5EF4-FFF2-40B4-BE49-F238E27FC236}">
                <a16:creationId xmlns:a16="http://schemas.microsoft.com/office/drawing/2014/main" id="{D3682183-3793-4B4C-8D14-0A476D8A54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08310" y="4132760"/>
            <a:ext cx="434716" cy="43471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3DC00C0-2AD0-FE4C-A422-A6B24533B912}"/>
              </a:ext>
            </a:extLst>
          </p:cNvPr>
          <p:cNvSpPr txBox="1"/>
          <p:nvPr/>
        </p:nvSpPr>
        <p:spPr>
          <a:xfrm>
            <a:off x="4972505" y="4225599"/>
            <a:ext cx="20399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Annotate proteins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Using TP and FP lists</a:t>
            </a:r>
          </a:p>
          <a:p>
            <a:pPr algn="ctr"/>
            <a:endParaRPr lang="en-US" sz="1500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39C131-6853-564C-89A0-54699B2A0E19}"/>
              </a:ext>
            </a:extLst>
          </p:cNvPr>
          <p:cNvSpPr txBox="1"/>
          <p:nvPr/>
        </p:nvSpPr>
        <p:spPr>
          <a:xfrm>
            <a:off x="2840791" y="4206061"/>
            <a:ext cx="203994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Calculate Ratios</a:t>
            </a:r>
          </a:p>
          <a:p>
            <a:pPr algn="ctr"/>
            <a:r>
              <a:rPr lang="en-US" sz="8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Experimental sample/negative control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9053613-1EC4-D54F-976E-FFF4AA907AC5}"/>
              </a:ext>
            </a:extLst>
          </p:cNvPr>
          <p:cNvCxnSpPr>
            <a:cxnSpLocks/>
          </p:cNvCxnSpPr>
          <p:nvPr/>
        </p:nvCxnSpPr>
        <p:spPr>
          <a:xfrm flipH="1">
            <a:off x="4745639" y="4387785"/>
            <a:ext cx="287402" cy="4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4A4979D-B3A4-EA4E-B6EE-C65553BA6693}"/>
              </a:ext>
            </a:extLst>
          </p:cNvPr>
          <p:cNvSpPr txBox="1"/>
          <p:nvPr/>
        </p:nvSpPr>
        <p:spPr>
          <a:xfrm>
            <a:off x="1152850" y="5329466"/>
            <a:ext cx="20399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ROC-based analysis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Establish optimal cutoffs per ratio</a:t>
            </a:r>
          </a:p>
          <a:p>
            <a:pPr algn="ctr"/>
            <a:endParaRPr lang="en-US" sz="1500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934EBD41-A03A-934C-9ED8-9B804DB4DB7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83833" y="4436263"/>
            <a:ext cx="674509" cy="7283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B3BDDD3-CF5E-9540-A58D-4DB676B0F0D5}"/>
              </a:ext>
            </a:extLst>
          </p:cNvPr>
          <p:cNvCxnSpPr>
            <a:cxnSpLocks/>
          </p:cNvCxnSpPr>
          <p:nvPr/>
        </p:nvCxnSpPr>
        <p:spPr>
          <a:xfrm>
            <a:off x="3362115" y="5600091"/>
            <a:ext cx="536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FBF8B94-8B79-3C48-A800-0B0F22837976}"/>
              </a:ext>
            </a:extLst>
          </p:cNvPr>
          <p:cNvSpPr txBox="1"/>
          <p:nvPr/>
        </p:nvSpPr>
        <p:spPr>
          <a:xfrm>
            <a:off x="6856935" y="5262735"/>
            <a:ext cx="22696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Determine biotinylated proteins</a:t>
            </a:r>
          </a:p>
          <a:p>
            <a:pPr algn="ctr"/>
            <a:r>
              <a:rPr lang="en-US" sz="8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Report proteins that pass cutoff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6C8D95-DEA1-6B41-B114-C53B4E627245}"/>
              </a:ext>
            </a:extLst>
          </p:cNvPr>
          <p:cNvSpPr/>
          <p:nvPr/>
        </p:nvSpPr>
        <p:spPr>
          <a:xfrm>
            <a:off x="7247726" y="3774159"/>
            <a:ext cx="2248893" cy="12433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0774D48-C1E9-A74A-B5B4-B4083E706E43}"/>
              </a:ext>
            </a:extLst>
          </p:cNvPr>
          <p:cNvSpPr/>
          <p:nvPr/>
        </p:nvSpPr>
        <p:spPr>
          <a:xfrm>
            <a:off x="8176909" y="3519611"/>
            <a:ext cx="474134" cy="41508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1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24E2B93-FB54-B74C-8C97-9C89BF9CC222}"/>
              </a:ext>
            </a:extLst>
          </p:cNvPr>
          <p:cNvSpPr/>
          <p:nvPr/>
        </p:nvSpPr>
        <p:spPr>
          <a:xfrm>
            <a:off x="2898579" y="4013828"/>
            <a:ext cx="3944256" cy="82719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A146EDC-8E17-8C44-8CA3-33466D41F7CF}"/>
              </a:ext>
            </a:extLst>
          </p:cNvPr>
          <p:cNvSpPr/>
          <p:nvPr/>
        </p:nvSpPr>
        <p:spPr>
          <a:xfrm>
            <a:off x="4664577" y="3737640"/>
            <a:ext cx="474134" cy="41508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E3EB4FB-4AB3-BA40-A8C8-2E887DE0D2F9}"/>
              </a:ext>
            </a:extLst>
          </p:cNvPr>
          <p:cNvSpPr/>
          <p:nvPr/>
        </p:nvSpPr>
        <p:spPr>
          <a:xfrm>
            <a:off x="1106076" y="5272149"/>
            <a:ext cx="2165029" cy="7386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418E82F-D5D6-0D41-B4BD-6A30BEB6A624}"/>
              </a:ext>
            </a:extLst>
          </p:cNvPr>
          <p:cNvSpPr/>
          <p:nvPr/>
        </p:nvSpPr>
        <p:spPr>
          <a:xfrm>
            <a:off x="1946766" y="5775515"/>
            <a:ext cx="474134" cy="41508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3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1C3112A5-715A-304A-9606-54C00D6931C3}"/>
              </a:ext>
            </a:extLst>
          </p:cNvPr>
          <p:cNvSpPr/>
          <p:nvPr/>
        </p:nvSpPr>
        <p:spPr>
          <a:xfrm>
            <a:off x="4089825" y="5216634"/>
            <a:ext cx="5289419" cy="7386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b="1" dirty="0">
              <a:solidFill>
                <a:schemeClr val="tx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3A278EA-8A46-C648-B39E-F4D465139818}"/>
              </a:ext>
            </a:extLst>
          </p:cNvPr>
          <p:cNvSpPr/>
          <p:nvPr/>
        </p:nvSpPr>
        <p:spPr>
          <a:xfrm>
            <a:off x="6317403" y="5723490"/>
            <a:ext cx="474134" cy="41508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11E7C0-4157-DF40-B37F-DCA24B797C12}"/>
              </a:ext>
            </a:extLst>
          </p:cNvPr>
          <p:cNvSpPr txBox="1"/>
          <p:nvPr/>
        </p:nvSpPr>
        <p:spPr>
          <a:xfrm>
            <a:off x="4058235" y="5308967"/>
            <a:ext cx="21781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Filtering based on pass/not pass cutoff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491C29F-4840-2743-83BB-1576C9E87C1D}"/>
              </a:ext>
            </a:extLst>
          </p:cNvPr>
          <p:cNvCxnSpPr>
            <a:cxnSpLocks/>
          </p:cNvCxnSpPr>
          <p:nvPr/>
        </p:nvCxnSpPr>
        <p:spPr>
          <a:xfrm>
            <a:off x="6227797" y="5528099"/>
            <a:ext cx="536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530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442" y="1769158"/>
            <a:ext cx="9484635" cy="1746405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1" u="none" strike="noStrike" kern="1200" spc="20" normalizeH="0" baseline="0" noProof="0" dirty="0"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Filtering is performed based on the experimental sample replicates for each condition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1" u="none" strike="noStrike" kern="1200" spc="20" normalizeH="0" baseline="0" noProof="0" dirty="0"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At least one pair (any 2 channels) out of all </a:t>
            </a:r>
            <a:r>
              <a:rPr kumimoji="0" lang="en-US" sz="2000" b="1" u="none" strike="noStrike" kern="1200" spc="20" normalizeH="0" baseline="0" noProof="0" dirty="0" err="1"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cre</a:t>
            </a:r>
            <a:r>
              <a:rPr kumimoji="0" lang="en-US" sz="2000" b="1" u="none" strike="noStrike" kern="1200" spc="20" normalizeH="0" baseline="0" noProof="0" dirty="0"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+ channels should have a min raw signal intensity sum &gt;= 10000 and a coefficient of variation &lt;= 0.5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1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F3C52-A33C-B54E-85E5-9456619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25C82C-B52B-9540-A866-5C8CB5D8D5B5}"/>
              </a:ext>
            </a:extLst>
          </p:cNvPr>
          <p:cNvSpPr/>
          <p:nvPr/>
        </p:nvSpPr>
        <p:spPr>
          <a:xfrm>
            <a:off x="1065540" y="4073236"/>
            <a:ext cx="4927181" cy="22822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D48439-373F-974D-A664-2A6B8C2B07BD}"/>
              </a:ext>
            </a:extLst>
          </p:cNvPr>
          <p:cNvSpPr/>
          <p:nvPr/>
        </p:nvSpPr>
        <p:spPr>
          <a:xfrm>
            <a:off x="6066214" y="4073236"/>
            <a:ext cx="4927181" cy="22822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CE1D81-A17C-7F49-89F7-29A06F960722}"/>
              </a:ext>
            </a:extLst>
          </p:cNvPr>
          <p:cNvSpPr/>
          <p:nvPr/>
        </p:nvSpPr>
        <p:spPr>
          <a:xfrm>
            <a:off x="10993395" y="816318"/>
            <a:ext cx="474134" cy="41508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1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BC3D0A8-5239-E643-A0C7-95FBC617E36B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of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replicates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041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598" y="1690688"/>
            <a:ext cx="9817642" cy="386407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Clr>
                <a:schemeClr val="tx1"/>
              </a:buClr>
              <a:defRPr/>
            </a:pPr>
            <a:r>
              <a:rPr kumimoji="0" lang="en-US" sz="2000" b="1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Normalization is performed for </a:t>
            </a:r>
            <a:r>
              <a:rPr kumimoji="0" lang="en-US" sz="2000" b="1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cre</a:t>
            </a:r>
            <a:r>
              <a:rPr kumimoji="0" lang="en-US" sz="2000" b="1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+ channels</a:t>
            </a:r>
          </a:p>
          <a:p>
            <a:pPr>
              <a:lnSpc>
                <a:spcPct val="120000"/>
              </a:lnSpc>
              <a:buClr>
                <a:schemeClr val="tx1"/>
              </a:buClr>
              <a:defRPr/>
            </a:pPr>
            <a:r>
              <a:rPr kumimoji="0" lang="en-US" sz="2000" b="1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Per </a:t>
            </a:r>
            <a:r>
              <a:rPr kumimoji="0" lang="en-US" sz="2000" b="1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cre</a:t>
            </a:r>
            <a:r>
              <a:rPr kumimoji="0" lang="en-US" sz="2000" b="1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+ channel TP proteins with 2+ peptides are used to calculate the median per channel </a:t>
            </a:r>
          </a:p>
          <a:p>
            <a:pPr>
              <a:lnSpc>
                <a:spcPct val="120000"/>
              </a:lnSpc>
              <a:buClr>
                <a:schemeClr val="tx1"/>
              </a:buClr>
              <a:defRPr/>
            </a:pPr>
            <a:r>
              <a:rPr kumimoji="0" lang="en-US" sz="2000" b="1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normalization factors are calculated by dividing (median of </a:t>
            </a:r>
            <a:r>
              <a:rPr kumimoji="0" lang="en-US" sz="2000" b="1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cre</a:t>
            </a:r>
            <a:r>
              <a:rPr kumimoji="0" lang="en-US" sz="2000" b="1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+ channel medians)/(median </a:t>
            </a:r>
            <a:r>
              <a:rPr kumimoji="0" lang="en-US" sz="2000" b="1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cre</a:t>
            </a:r>
            <a:r>
              <a:rPr kumimoji="0" lang="en-US" sz="2000" b="1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+ channel)</a:t>
            </a:r>
          </a:p>
          <a:p>
            <a:pPr>
              <a:lnSpc>
                <a:spcPct val="120000"/>
              </a:lnSpc>
              <a:buClr>
                <a:schemeClr val="tx1"/>
              </a:buClr>
              <a:defRPr/>
            </a:pPr>
            <a:r>
              <a:rPr kumimoji="0" lang="en-US" sz="2000" b="1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each </a:t>
            </a:r>
            <a:r>
              <a:rPr kumimoji="0" lang="en-US" sz="2000" b="1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cre</a:t>
            </a:r>
            <a:r>
              <a:rPr kumimoji="0" lang="en-US" sz="2000" b="1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+ channel is then multiplied with the corresponding normalization factor </a:t>
            </a:r>
          </a:p>
          <a:p>
            <a:pPr>
              <a:buClr>
                <a:schemeClr val="tx1"/>
              </a:buClr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1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F3C52-A33C-B54E-85E5-9456619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854372-17C6-6548-A800-FAF1ABA1C119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Normalization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3FDE3E3-E292-9443-B590-9C99BB3F6F35}"/>
              </a:ext>
            </a:extLst>
          </p:cNvPr>
          <p:cNvSpPr/>
          <p:nvPr/>
        </p:nvSpPr>
        <p:spPr>
          <a:xfrm>
            <a:off x="10993395" y="816318"/>
            <a:ext cx="474134" cy="41508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98291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524" y="1453010"/>
            <a:ext cx="10324313" cy="3685767"/>
          </a:xfrm>
        </p:spPr>
        <p:txBody>
          <a:bodyPr>
            <a:normAutofit fontScale="85000" lnSpcReduction="20000"/>
          </a:bodyPr>
          <a:lstStyle/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lang="en-US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defRPr/>
            </a:pPr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TP list includes proteins expected to be biotinylated</a:t>
            </a:r>
          </a:p>
          <a:p>
            <a:pPr lvl="2">
              <a:spcBef>
                <a:spcPts val="1000"/>
              </a:spcBef>
              <a:buClr>
                <a:schemeClr val="tx1"/>
              </a:buClr>
              <a:defRPr/>
            </a:pPr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annotation based on ”Subcellular localization” column from UNIPROT:</a:t>
            </a:r>
          </a:p>
          <a:p>
            <a:pPr marL="3086100" lvl="6" indent="-342900">
              <a:spcBef>
                <a:spcPts val="100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16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Endoplasmic Reticulum,</a:t>
            </a:r>
          </a:p>
          <a:p>
            <a:pPr marL="3086100" lvl="6" indent="-342900">
              <a:spcBef>
                <a:spcPts val="100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16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Rough Endoplasmic Reticulum</a:t>
            </a:r>
          </a:p>
          <a:p>
            <a:pPr marL="3086100" lvl="6" indent="-342900">
              <a:spcBef>
                <a:spcPts val="100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16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Golgi </a:t>
            </a:r>
          </a:p>
          <a:p>
            <a:pPr marL="3086100" lvl="6" indent="-342900">
              <a:spcBef>
                <a:spcPts val="100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16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Secreted</a:t>
            </a:r>
          </a:p>
          <a:p>
            <a:pPr marL="3086100" lvl="6" indent="-342900">
              <a:spcBef>
                <a:spcPts val="100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16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Extracellular space</a:t>
            </a:r>
          </a:p>
          <a:p>
            <a:pPr lvl="6">
              <a:spcBef>
                <a:spcPts val="1000"/>
              </a:spcBef>
              <a:buClr>
                <a:schemeClr val="tx1"/>
              </a:buClr>
              <a:defRPr/>
            </a:pPr>
            <a:endParaRPr lang="en-US" sz="1600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defRPr/>
            </a:pPr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FP list includes proteins not expected to be biotinylated</a:t>
            </a:r>
          </a:p>
          <a:p>
            <a:pPr lvl="2">
              <a:spcBef>
                <a:spcPts val="1000"/>
              </a:spcBef>
              <a:buClr>
                <a:schemeClr val="tx1"/>
              </a:buClr>
              <a:defRPr/>
            </a:pPr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annotation based on Supplementary S1 published by </a:t>
            </a:r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  <a:hlinkClick r:id="rId3"/>
              </a:rPr>
              <a:t>Rhee et al. 2013</a:t>
            </a:r>
            <a:endParaRPr lang="en-US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  <a:p>
            <a:pPr marL="3086100" lvl="6" indent="-342900">
              <a:spcBef>
                <a:spcPts val="100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b="1" dirty="0" err="1">
                <a:latin typeface="Segoe UI Semibold" panose="020B0502040204020203" pitchFamily="34" charset="0"/>
                <a:cs typeface="Segoe UI Semibold" panose="020B0502040204020203" pitchFamily="34" charset="0"/>
              </a:rPr>
              <a:t>Mitomatrix</a:t>
            </a:r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 proteins 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1700" b="0" i="0" u="none" strike="noStrike" kern="1200" cap="none" spc="2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E71523-F602-E348-A5BD-06FBCA42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ABB667-20E9-2148-9D46-594AF0F19BDC}"/>
              </a:ext>
            </a:extLst>
          </p:cNvPr>
          <p:cNvSpPr/>
          <p:nvPr/>
        </p:nvSpPr>
        <p:spPr>
          <a:xfrm>
            <a:off x="3098381" y="5710088"/>
            <a:ext cx="2738535" cy="406937"/>
          </a:xfrm>
          <a:prstGeom prst="rect">
            <a:avLst/>
          </a:prstGeom>
          <a:solidFill>
            <a:srgbClr val="008A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TP list: </a:t>
            </a:r>
            <a:r>
              <a:rPr lang="en-US" b="1" dirty="0">
                <a:solidFill>
                  <a:schemeClr val="bg1"/>
                </a:solidFill>
              </a:rPr>
              <a:t>2806</a:t>
            </a:r>
            <a:r>
              <a:rPr lang="en-US" dirty="0">
                <a:solidFill>
                  <a:schemeClr val="bg1"/>
                </a:solidFill>
              </a:rPr>
              <a:t> Proteins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BEBF38-E4AD-0C49-A7C7-C2DD577D4EE4}"/>
              </a:ext>
            </a:extLst>
          </p:cNvPr>
          <p:cNvSpPr/>
          <p:nvPr/>
        </p:nvSpPr>
        <p:spPr>
          <a:xfrm>
            <a:off x="6110680" y="5710087"/>
            <a:ext cx="2738535" cy="406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FP list: </a:t>
            </a:r>
            <a:r>
              <a:rPr lang="en-US" b="1" dirty="0">
                <a:solidFill>
                  <a:schemeClr val="bg1"/>
                </a:solidFill>
              </a:rPr>
              <a:t>435</a:t>
            </a:r>
            <a:r>
              <a:rPr lang="en-US" dirty="0">
                <a:solidFill>
                  <a:schemeClr val="bg1"/>
                </a:solidFill>
              </a:rPr>
              <a:t> Proteins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01FF1-52B9-A444-878B-C1CE1250D765}"/>
              </a:ext>
            </a:extLst>
          </p:cNvPr>
          <p:cNvSpPr txBox="1"/>
          <p:nvPr/>
        </p:nvSpPr>
        <p:spPr>
          <a:xfrm>
            <a:off x="1996440" y="7010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B6CDA6-2E43-7D45-91D7-6DC2618593AE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 and FP lists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D8C527-6684-4346-B3F6-7CC4BF824906}"/>
              </a:ext>
            </a:extLst>
          </p:cNvPr>
          <p:cNvSpPr/>
          <p:nvPr/>
        </p:nvSpPr>
        <p:spPr>
          <a:xfrm>
            <a:off x="10993395" y="816318"/>
            <a:ext cx="474134" cy="41508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11290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516" y="1872444"/>
            <a:ext cx="11052967" cy="4302149"/>
          </a:xfrm>
        </p:spPr>
        <p:txBody>
          <a:bodyPr>
            <a:normAutofit/>
          </a:bodyPr>
          <a:lstStyle/>
          <a:p>
            <a:pPr lvl="1">
              <a:spcBef>
                <a:spcPts val="1000"/>
              </a:spcBef>
              <a:buClr>
                <a:schemeClr val="tx1"/>
              </a:buClr>
              <a:defRPr/>
            </a:pPr>
            <a:r>
              <a:rPr lang="en-US" sz="2000" b="1" dirty="0">
                <a:solidFill>
                  <a:srgbClr val="0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Calculate Ratios per condition (experimental sample/negative control sample) </a:t>
            </a:r>
          </a:p>
          <a:p>
            <a:pPr lvl="1">
              <a:spcBef>
                <a:spcPts val="1000"/>
              </a:spcBef>
              <a:buClr>
                <a:schemeClr val="tx1"/>
              </a:buClr>
              <a:defRPr/>
            </a:pPr>
            <a:endParaRPr lang="en-US" dirty="0">
              <a:solidFill>
                <a:srgbClr val="000000"/>
              </a:solidFill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defRPr/>
            </a:pPr>
            <a:endParaRPr lang="en-US" dirty="0">
              <a:solidFill>
                <a:srgbClr val="000000"/>
              </a:solidFill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defRPr/>
            </a:pPr>
            <a:endParaRPr lang="en-US" dirty="0">
              <a:solidFill>
                <a:srgbClr val="000000"/>
              </a:solidFill>
            </a:endParaRPr>
          </a:p>
          <a:p>
            <a:pPr lvl="1">
              <a:spcBef>
                <a:spcPts val="1000"/>
              </a:spcBef>
              <a:buClr>
                <a:schemeClr val="tx1"/>
              </a:buClr>
              <a:defRPr/>
            </a:pPr>
            <a:endParaRPr lang="en-US" dirty="0">
              <a:solidFill>
                <a:srgbClr val="000000"/>
              </a:solidFill>
            </a:endParaRPr>
          </a:p>
          <a:p>
            <a:pPr marL="457200" lvl="1" indent="0">
              <a:spcBef>
                <a:spcPts val="1000"/>
              </a:spcBef>
              <a:buClr>
                <a:schemeClr val="tx1"/>
              </a:buClr>
              <a:buNone/>
              <a:defRPr/>
            </a:pPr>
            <a:endParaRPr lang="en-US" dirty="0">
              <a:solidFill>
                <a:srgbClr val="000000"/>
              </a:solidFill>
            </a:endParaRPr>
          </a:p>
          <a:p>
            <a:pPr marL="457200" lvl="1" indent="0">
              <a:spcBef>
                <a:spcPts val="1000"/>
              </a:spcBef>
              <a:buClr>
                <a:schemeClr val="tx1"/>
              </a:buClr>
              <a:buNone/>
              <a:defRPr/>
            </a:pPr>
            <a:endParaRPr lang="en-US" dirty="0">
              <a:solidFill>
                <a:srgbClr val="000000"/>
              </a:solidFill>
            </a:endParaRPr>
          </a:p>
          <a:p>
            <a:pPr marL="457200" lvl="1" indent="0">
              <a:spcBef>
                <a:spcPts val="1000"/>
              </a:spcBef>
              <a:buClr>
                <a:schemeClr val="tx1"/>
              </a:buClr>
              <a:buNone/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A1D46-FDB2-5F44-9341-CDFEA150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8C0588-2FCC-1F46-B729-8B4FE9451948}"/>
              </a:ext>
            </a:extLst>
          </p:cNvPr>
          <p:cNvSpPr/>
          <p:nvPr/>
        </p:nvSpPr>
        <p:spPr>
          <a:xfrm>
            <a:off x="5784630" y="2617450"/>
            <a:ext cx="4772719" cy="20985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ratio_iWAT_HF_cre+_1</a:t>
            </a:r>
            <a:r>
              <a:rPr lang="en-US" sz="1400" b="1" dirty="0">
                <a:solidFill>
                  <a:srgbClr val="0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/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iWAT_HF_cre-1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ratio_iWAT_HF_cre+_1</a:t>
            </a:r>
            <a:r>
              <a:rPr lang="en-US" sz="1400" b="1" dirty="0">
                <a:solidFill>
                  <a:srgbClr val="0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/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iWAT_HF_cre-_2 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ratio_iWAT_HF_cre+_2</a:t>
            </a:r>
            <a:r>
              <a:rPr lang="en-US" sz="1400" b="1" dirty="0">
                <a:solidFill>
                  <a:srgbClr val="0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/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iWAT_HF_cre-_1 </a:t>
            </a:r>
            <a:r>
              <a:rPr lang="en-US" sz="1400" b="1" dirty="0">
                <a:solidFill>
                  <a:srgbClr val="0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ratio_iWAT_HF_cre+_2</a:t>
            </a:r>
            <a:r>
              <a:rPr lang="en-US" sz="1400" b="1" dirty="0">
                <a:solidFill>
                  <a:srgbClr val="0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/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iWAT_HF_cre-_2 </a:t>
            </a:r>
            <a:r>
              <a:rPr lang="en-US" sz="1400" b="1" dirty="0">
                <a:solidFill>
                  <a:srgbClr val="0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ratio_iWAT_HF_cre+_3</a:t>
            </a:r>
            <a:r>
              <a:rPr lang="en-US" sz="1400" b="1" dirty="0">
                <a:solidFill>
                  <a:srgbClr val="0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/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iWAT_HF_cre-_1 </a:t>
            </a:r>
            <a:r>
              <a:rPr lang="en-US" sz="1400" b="1" dirty="0">
                <a:solidFill>
                  <a:srgbClr val="0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ratio_iWAT_HF_cre+_3</a:t>
            </a:r>
            <a:r>
              <a:rPr lang="en-US" sz="1400" b="1" dirty="0">
                <a:solidFill>
                  <a:srgbClr val="0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/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iWAT_HF_cre-_2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4CA4F1-5E7E-E04F-8E11-8D7E1AFE32C8}"/>
              </a:ext>
            </a:extLst>
          </p:cNvPr>
          <p:cNvSpPr/>
          <p:nvPr/>
        </p:nvSpPr>
        <p:spPr>
          <a:xfrm>
            <a:off x="1944032" y="2482850"/>
            <a:ext cx="2895598" cy="2367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ratio_iWAT_HF_cre+_1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ratio_iWAT_HF_cre+_2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ratio_iWAT_HF_cre+_3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lang="en-US" sz="1400" b="1" dirty="0">
              <a:solidFill>
                <a:srgbClr val="000000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iWAT_HF_cre-1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iWAT_HF_cre-_2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9888D9-953F-E846-A843-6B402151BBF4}"/>
              </a:ext>
            </a:extLst>
          </p:cNvPr>
          <p:cNvCxnSpPr/>
          <p:nvPr/>
        </p:nvCxnSpPr>
        <p:spPr>
          <a:xfrm>
            <a:off x="5124729" y="3666710"/>
            <a:ext cx="5018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7F0846A9-96EF-4146-A15B-5B93551E6BC8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DF5FEF7-726B-8F47-A645-1826A18C899B}"/>
              </a:ext>
            </a:extLst>
          </p:cNvPr>
          <p:cNvSpPr/>
          <p:nvPr/>
        </p:nvSpPr>
        <p:spPr>
          <a:xfrm>
            <a:off x="10993395" y="816318"/>
            <a:ext cx="474134" cy="41508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56067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4201"/>
            <a:ext cx="10097003" cy="4302149"/>
          </a:xfrm>
        </p:spPr>
        <p:txBody>
          <a:bodyPr>
            <a:normAutofit/>
          </a:bodyPr>
          <a:lstStyle/>
          <a:p>
            <a:pPr lvl="1">
              <a:spcBef>
                <a:spcPts val="1000"/>
              </a:spcBef>
              <a:buClr>
                <a:schemeClr val="tx1"/>
              </a:buClr>
              <a:defRPr/>
            </a:pPr>
            <a:r>
              <a:rPr lang="en-US" sz="20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receiver operating characteristic (ROC)-based analysis </a:t>
            </a:r>
          </a:p>
          <a:p>
            <a:pPr lvl="1">
              <a:spcBef>
                <a:spcPts val="1000"/>
              </a:spcBef>
              <a:buClr>
                <a:schemeClr val="tx1"/>
              </a:buClr>
              <a:defRPr/>
            </a:pPr>
            <a:r>
              <a:rPr lang="en-US" sz="20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with use of curated lists of true-positive (TP) and false-positive (FP) proteins</a:t>
            </a:r>
          </a:p>
          <a:p>
            <a:pPr lvl="1">
              <a:spcBef>
                <a:spcPts val="1000"/>
              </a:spcBef>
              <a:buClr>
                <a:schemeClr val="tx1"/>
              </a:buClr>
              <a:defRPr/>
            </a:pPr>
            <a:r>
              <a:rPr lang="en-US" sz="20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allows to establish optimal cutoffs</a:t>
            </a:r>
          </a:p>
          <a:p>
            <a:pPr lvl="1">
              <a:spcBef>
                <a:spcPts val="1000"/>
              </a:spcBef>
              <a:buClr>
                <a:schemeClr val="tx1"/>
              </a:buClr>
              <a:defRPr/>
            </a:pPr>
            <a:r>
              <a:rPr lang="en-US" sz="20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cutoffs maximize the TP proteins and minimize FP proteins in the final lists</a:t>
            </a:r>
            <a:endParaRPr kumimoji="0" lang="en-US" sz="2000" b="1" u="none" strike="noStrike" kern="1200" cap="none" spc="20" normalizeH="0" baseline="0" noProof="0" dirty="0">
              <a:ln>
                <a:noFill/>
              </a:ln>
              <a:effectLst/>
              <a:uLnTx/>
              <a:uFillTx/>
              <a:latin typeface="Segoe UI Semibold" panose="020B0502040204020203" pitchFamily="34" charset="0"/>
              <a:cs typeface="Segoe UI Semibold" panose="020B0502040204020203" pitchFamily="34" charset="0"/>
            </a:endParaRP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kumimoji="0" lang="en-US" b="1" u="none" strike="noStrike" kern="1200" cap="none" spc="20" normalizeH="0" baseline="0" noProof="0" dirty="0">
              <a:ln>
                <a:noFill/>
              </a:ln>
              <a:effectLst/>
              <a:uLnTx/>
              <a:uFillTx/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F88B60-6817-F047-8F7A-F9498084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AD780-1245-304B-B966-22D6B9913D65}"/>
              </a:ext>
            </a:extLst>
          </p:cNvPr>
          <p:cNvSpPr txBox="1"/>
          <p:nvPr/>
        </p:nvSpPr>
        <p:spPr>
          <a:xfrm>
            <a:off x="171849" y="6331292"/>
            <a:ext cx="1626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hlinkClick r:id="rId3"/>
              </a:rPr>
              <a:t>Cho et al. (2020)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D2D5A93-8BC6-9144-BAC8-F678E579ABC0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proteome lists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7DEAEE9-ABBF-1C40-A51B-DBED8963A111}"/>
              </a:ext>
            </a:extLst>
          </p:cNvPr>
          <p:cNvSpPr/>
          <p:nvPr/>
        </p:nvSpPr>
        <p:spPr>
          <a:xfrm>
            <a:off x="10993395" y="816318"/>
            <a:ext cx="474134" cy="41508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42475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866BC88C-639F-2319-22EB-93EBDFA8BB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3845315"/>
              </p:ext>
            </p:extLst>
          </p:nvPr>
        </p:nvGraphicFramePr>
        <p:xfrm>
          <a:off x="720000" y="1688282"/>
          <a:ext cx="11052967" cy="4302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AFAD2E-AD3D-A84D-A434-9F79D1EA0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5FB78E-CA1E-D94B-B9F8-68A72D7296B0}"/>
              </a:ext>
            </a:extLst>
          </p:cNvPr>
          <p:cNvSpPr txBox="1"/>
          <p:nvPr/>
        </p:nvSpPr>
        <p:spPr>
          <a:xfrm>
            <a:off x="177012" y="6310655"/>
            <a:ext cx="1626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hlinkClick r:id="rId8"/>
              </a:rPr>
              <a:t>Cho et al. (2020)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7EC28C6-0118-E749-B1CA-21D80F647A05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biotinylated proteins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5F10DE-79D5-0B44-94D6-66F53ABC8C18}"/>
              </a:ext>
            </a:extLst>
          </p:cNvPr>
          <p:cNvSpPr/>
          <p:nvPr/>
        </p:nvSpPr>
        <p:spPr>
          <a:xfrm>
            <a:off x="10993395" y="816318"/>
            <a:ext cx="474134" cy="41508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056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40340F-5FFE-8B49-B655-C71DF317E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074C166F-E699-4449-B61A-CBDAD4989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31" y="1373304"/>
            <a:ext cx="3172518" cy="2115012"/>
          </a:xfrm>
          <a:prstGeom prst="rect">
            <a:avLst/>
          </a:prstGeom>
        </p:spPr>
      </p:pic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EA1EA904-9AC8-A243-80A4-C08939485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656" y="1357864"/>
            <a:ext cx="3172519" cy="2115013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64595F94-47F9-5042-AA5C-79972A865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0131" y="3429862"/>
            <a:ext cx="3172518" cy="2115012"/>
          </a:xfrm>
          <a:prstGeom prst="rect">
            <a:avLst/>
          </a:prstGeom>
        </p:spPr>
      </p:pic>
      <p:pic>
        <p:nvPicPr>
          <p:cNvPr id="17" name="Picture 16" descr="Chart, line chart&#10;&#10;Description automatically generated">
            <a:extLst>
              <a:ext uri="{FF2B5EF4-FFF2-40B4-BE49-F238E27FC236}">
                <a16:creationId xmlns:a16="http://schemas.microsoft.com/office/drawing/2014/main" id="{DE2983DE-279A-A642-8A75-C404CD1DAA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631" y="3451370"/>
            <a:ext cx="3172518" cy="2115012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640736E4-B464-194C-9920-E006F6804B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3707" y="1373304"/>
            <a:ext cx="3172520" cy="2115013"/>
          </a:xfrm>
          <a:prstGeom prst="rect">
            <a:avLst/>
          </a:prstGeom>
        </p:spPr>
      </p:pic>
      <p:pic>
        <p:nvPicPr>
          <p:cNvPr id="22" name="Picture 21" descr="Chart, line chart&#10;&#10;Description automatically generated">
            <a:extLst>
              <a:ext uri="{FF2B5EF4-FFF2-40B4-BE49-F238E27FC236}">
                <a16:creationId xmlns:a16="http://schemas.microsoft.com/office/drawing/2014/main" id="{9E714F71-F149-7943-97A6-32AF7E6F7E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7682" y="1425146"/>
            <a:ext cx="3172520" cy="2115013"/>
          </a:xfrm>
          <a:prstGeom prst="rect">
            <a:avLst/>
          </a:prstGeom>
        </p:spPr>
      </p:pic>
      <p:pic>
        <p:nvPicPr>
          <p:cNvPr id="24" name="Picture 23" descr="Chart, line chart&#10;&#10;Description automatically generated">
            <a:extLst>
              <a:ext uri="{FF2B5EF4-FFF2-40B4-BE49-F238E27FC236}">
                <a16:creationId xmlns:a16="http://schemas.microsoft.com/office/drawing/2014/main" id="{B7D2D349-DE45-5D4F-A8C4-F2C2A85EE3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9482" y="3485011"/>
            <a:ext cx="3172518" cy="2115012"/>
          </a:xfrm>
          <a:prstGeom prst="rect">
            <a:avLst/>
          </a:prstGeom>
        </p:spPr>
      </p:pic>
      <p:pic>
        <p:nvPicPr>
          <p:cNvPr id="26" name="Picture 25" descr="Chart, line chart&#10;&#10;Description automatically generated">
            <a:extLst>
              <a:ext uri="{FF2B5EF4-FFF2-40B4-BE49-F238E27FC236}">
                <a16:creationId xmlns:a16="http://schemas.microsoft.com/office/drawing/2014/main" id="{3C1EA658-F9E2-DD4A-A7D2-A071672617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7681" y="3540159"/>
            <a:ext cx="3172521" cy="211501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663A306-696D-D44B-A723-07143DD3F77D}"/>
              </a:ext>
            </a:extLst>
          </p:cNvPr>
          <p:cNvSpPr txBox="1"/>
          <p:nvPr/>
        </p:nvSpPr>
        <p:spPr>
          <a:xfrm>
            <a:off x="5238136" y="1665202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1.14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C406F0-776C-6F44-A307-F93121891F12}"/>
              </a:ext>
            </a:extLst>
          </p:cNvPr>
          <p:cNvSpPr txBox="1"/>
          <p:nvPr/>
        </p:nvSpPr>
        <p:spPr>
          <a:xfrm>
            <a:off x="11176434" y="1669095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0.62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EBDA06-111E-6048-8C05-CB2AB52C29C2}"/>
              </a:ext>
            </a:extLst>
          </p:cNvPr>
          <p:cNvSpPr txBox="1"/>
          <p:nvPr/>
        </p:nvSpPr>
        <p:spPr>
          <a:xfrm>
            <a:off x="11193357" y="378879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0.74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320B60-69C6-384F-BCA5-8D01E8C6C198}"/>
              </a:ext>
            </a:extLst>
          </p:cNvPr>
          <p:cNvSpPr txBox="1"/>
          <p:nvPr/>
        </p:nvSpPr>
        <p:spPr>
          <a:xfrm>
            <a:off x="5254685" y="377537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0.96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AF769F-DD1E-2D4D-9E35-F503482F5EDE}"/>
              </a:ext>
            </a:extLst>
          </p:cNvPr>
          <p:cNvSpPr txBox="1"/>
          <p:nvPr/>
        </p:nvSpPr>
        <p:spPr>
          <a:xfrm>
            <a:off x="165631" y="5816592"/>
            <a:ext cx="10474566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Proteins above the determined TMT ratio cutoff are considered to be biotinylated proteins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Proteins below the cutoff are considered to be likely nonspecific binders</a:t>
            </a:r>
            <a:endParaRPr kumimoji="0" lang="en-US" sz="1800" b="1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3F973E6-C002-2742-8444-E3D6062B9765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CBAC1F1-1463-C94A-9349-24934A025EAE}"/>
              </a:ext>
            </a:extLst>
          </p:cNvPr>
          <p:cNvSpPr/>
          <p:nvPr/>
        </p:nvSpPr>
        <p:spPr>
          <a:xfrm>
            <a:off x="10993395" y="816318"/>
            <a:ext cx="474134" cy="41508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59409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033" y="1602075"/>
            <a:ext cx="9978909" cy="386407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Clr>
                <a:schemeClr val="tx1"/>
              </a:buClr>
              <a:defRPr/>
            </a:pPr>
            <a:r>
              <a:rPr kumimoji="0" lang="en-US" sz="2000" b="1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We filter out proteins where at least one condition passes the ratio cutoff with 2 different </a:t>
            </a:r>
            <a:r>
              <a:rPr kumimoji="0" lang="en-US" sz="2000" b="1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cre</a:t>
            </a:r>
            <a:r>
              <a:rPr kumimoji="0" lang="en-US" sz="2000" b="1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+ replicates and create </a:t>
            </a:r>
            <a:r>
              <a:rPr kumimoji="0" lang="en-US" sz="2000" b="1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barplots</a:t>
            </a:r>
            <a:r>
              <a:rPr kumimoji="0" lang="en-US" sz="2000" b="1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 to see how the amount of TP and FP proteins changes after the ROC cutoff analysis</a:t>
            </a:r>
          </a:p>
          <a:p>
            <a:pPr>
              <a:lnSpc>
                <a:spcPct val="120000"/>
              </a:lnSpc>
              <a:buClr>
                <a:schemeClr val="tx1"/>
              </a:buClr>
              <a:defRPr/>
            </a:pPr>
            <a:r>
              <a:rPr lang="en-US" sz="2000" b="1" dirty="0">
                <a:solidFill>
                  <a:srgbClr val="0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Then investigate up/down regulated proteins in this filtered subset</a:t>
            </a:r>
          </a:p>
          <a:p>
            <a:pPr marL="0" indent="0">
              <a:buClr>
                <a:srgbClr val="7BAF34"/>
              </a:buClr>
              <a:buNone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>
              <a:buClr>
                <a:srgbClr val="7BAF34"/>
              </a:buClr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1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F3C52-A33C-B54E-85E5-9456619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97955DBA-5B5E-0549-9088-2DC38A265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403" y="3534112"/>
            <a:ext cx="4271848" cy="2847898"/>
          </a:xfrm>
          <a:prstGeom prst="rect">
            <a:avLst/>
          </a:prstGeom>
        </p:spPr>
      </p:pic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7079ED8A-C5BF-9448-ABB2-143B558A1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751" y="3783188"/>
            <a:ext cx="4298110" cy="234974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FF7CB23-27A7-3647-8865-C26A610415E5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filtering step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69279A8-10B4-1642-936F-30DB64F50281}"/>
              </a:ext>
            </a:extLst>
          </p:cNvPr>
          <p:cNvSpPr/>
          <p:nvPr/>
        </p:nvSpPr>
        <p:spPr>
          <a:xfrm>
            <a:off x="10993395" y="816318"/>
            <a:ext cx="474134" cy="41508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50477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485CE-29BD-4B44-AB15-3213B5320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1415" y="-188173"/>
            <a:ext cx="4094483" cy="1191097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672E-D387-8B4B-BC3B-09204C44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3EA6494-33ED-EE40-946B-466DCECFAA8A}"/>
              </a:ext>
            </a:extLst>
          </p:cNvPr>
          <p:cNvSpPr/>
          <p:nvPr/>
        </p:nvSpPr>
        <p:spPr>
          <a:xfrm>
            <a:off x="574702" y="706570"/>
            <a:ext cx="5445802" cy="598921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CE17FA8-783F-AD49-A21C-6DA04F93B477}"/>
              </a:ext>
            </a:extLst>
          </p:cNvPr>
          <p:cNvSpPr/>
          <p:nvPr/>
        </p:nvSpPr>
        <p:spPr>
          <a:xfrm>
            <a:off x="6096000" y="704112"/>
            <a:ext cx="5511879" cy="5989216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FDE440B-877F-F442-BB38-1C06D00C78AD}"/>
              </a:ext>
            </a:extLst>
          </p:cNvPr>
          <p:cNvSpPr txBox="1">
            <a:spLocks/>
          </p:cNvSpPr>
          <p:nvPr/>
        </p:nvSpPr>
        <p:spPr>
          <a:xfrm>
            <a:off x="7951243" y="-193074"/>
            <a:ext cx="2625848" cy="1191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results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79E14B9-59E1-9C46-80B4-C0C1BBFEE679}"/>
              </a:ext>
            </a:extLst>
          </p:cNvPr>
          <p:cNvSpPr txBox="1"/>
          <p:nvPr/>
        </p:nvSpPr>
        <p:spPr>
          <a:xfrm>
            <a:off x="4615373" y="227694"/>
            <a:ext cx="2961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Changing the lists lowers the cutoff value in general and allows more proteins to pass </a:t>
            </a:r>
          </a:p>
        </p:txBody>
      </p:sp>
      <p:pic>
        <p:nvPicPr>
          <p:cNvPr id="67" name="Picture 66" descr="Chart, histogram&#10;&#10;Description automatically generated">
            <a:extLst>
              <a:ext uri="{FF2B5EF4-FFF2-40B4-BE49-F238E27FC236}">
                <a16:creationId xmlns:a16="http://schemas.microsoft.com/office/drawing/2014/main" id="{9B9A1E52-27E5-E14B-912C-8BFAEC818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944" y="901778"/>
            <a:ext cx="2769078" cy="1846052"/>
          </a:xfrm>
          <a:prstGeom prst="rect">
            <a:avLst/>
          </a:prstGeom>
        </p:spPr>
      </p:pic>
      <p:pic>
        <p:nvPicPr>
          <p:cNvPr id="71" name="Picture 70" descr="Chart, bar chart&#10;&#10;Description automatically generated">
            <a:extLst>
              <a:ext uri="{FF2B5EF4-FFF2-40B4-BE49-F238E27FC236}">
                <a16:creationId xmlns:a16="http://schemas.microsoft.com/office/drawing/2014/main" id="{00687502-5937-5047-9A85-A8B72BA7D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900" y="935351"/>
            <a:ext cx="2769078" cy="1846052"/>
          </a:xfrm>
          <a:prstGeom prst="rect">
            <a:avLst/>
          </a:prstGeom>
        </p:spPr>
      </p:pic>
      <p:pic>
        <p:nvPicPr>
          <p:cNvPr id="73" name="Picture 72" descr="Chart, histogram&#10;&#10;Description automatically generated">
            <a:extLst>
              <a:ext uri="{FF2B5EF4-FFF2-40B4-BE49-F238E27FC236}">
                <a16:creationId xmlns:a16="http://schemas.microsoft.com/office/drawing/2014/main" id="{25B413B2-4AD1-2E46-A123-1A5869B2B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2085" y="2903005"/>
            <a:ext cx="2769077" cy="1846051"/>
          </a:xfrm>
          <a:prstGeom prst="rect">
            <a:avLst/>
          </a:prstGeom>
        </p:spPr>
      </p:pic>
      <p:pic>
        <p:nvPicPr>
          <p:cNvPr id="77" name="Picture 76" descr="Chart, bar chart&#10;&#10;Description automatically generated">
            <a:extLst>
              <a:ext uri="{FF2B5EF4-FFF2-40B4-BE49-F238E27FC236}">
                <a16:creationId xmlns:a16="http://schemas.microsoft.com/office/drawing/2014/main" id="{45060DCB-D1B5-3142-996F-D821A4E0D8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626" y="2865682"/>
            <a:ext cx="2769077" cy="1846051"/>
          </a:xfrm>
          <a:prstGeom prst="rect">
            <a:avLst/>
          </a:prstGeom>
        </p:spPr>
      </p:pic>
      <p:pic>
        <p:nvPicPr>
          <p:cNvPr id="79" name="Picture 78" descr="Chart, histogram&#10;&#10;Description automatically generated">
            <a:extLst>
              <a:ext uri="{FF2B5EF4-FFF2-40B4-BE49-F238E27FC236}">
                <a16:creationId xmlns:a16="http://schemas.microsoft.com/office/drawing/2014/main" id="{818444EC-01FE-7D42-9367-F07956AACF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3240" y="4860844"/>
            <a:ext cx="2581070" cy="1720713"/>
          </a:xfrm>
          <a:prstGeom prst="rect">
            <a:avLst/>
          </a:prstGeom>
        </p:spPr>
      </p:pic>
      <p:pic>
        <p:nvPicPr>
          <p:cNvPr id="83" name="Picture 82" descr="Chart, bar chart&#10;&#10;Description automatically generated">
            <a:extLst>
              <a:ext uri="{FF2B5EF4-FFF2-40B4-BE49-F238E27FC236}">
                <a16:creationId xmlns:a16="http://schemas.microsoft.com/office/drawing/2014/main" id="{8BAA5318-7CFA-2148-B1FF-052AAC95B2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0635" y="4772632"/>
            <a:ext cx="2769075" cy="1846050"/>
          </a:xfrm>
          <a:prstGeom prst="rect">
            <a:avLst/>
          </a:prstGeom>
        </p:spPr>
      </p:pic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2DA2160D-7EF9-1E4E-8AA9-7E9E0C4B1E87}"/>
              </a:ext>
            </a:extLst>
          </p:cNvPr>
          <p:cNvSpPr/>
          <p:nvPr/>
        </p:nvSpPr>
        <p:spPr>
          <a:xfrm>
            <a:off x="10714881" y="998023"/>
            <a:ext cx="538716" cy="181042"/>
          </a:xfrm>
          <a:prstGeom prst="roundRect">
            <a:avLst/>
          </a:prstGeom>
          <a:solidFill>
            <a:srgbClr val="E60000">
              <a:alpha val="1176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B40A80EB-1A9D-754E-923D-54118311C271}"/>
              </a:ext>
            </a:extLst>
          </p:cNvPr>
          <p:cNvSpPr/>
          <p:nvPr/>
        </p:nvSpPr>
        <p:spPr>
          <a:xfrm>
            <a:off x="10788021" y="4905284"/>
            <a:ext cx="538716" cy="181042"/>
          </a:xfrm>
          <a:prstGeom prst="roundRect">
            <a:avLst/>
          </a:prstGeom>
          <a:solidFill>
            <a:srgbClr val="E60000">
              <a:alpha val="1176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97F4A17-3F72-B941-A39A-B63DE851D0A5}"/>
              </a:ext>
            </a:extLst>
          </p:cNvPr>
          <p:cNvSpPr/>
          <p:nvPr/>
        </p:nvSpPr>
        <p:spPr>
          <a:xfrm>
            <a:off x="10793128" y="2957674"/>
            <a:ext cx="538716" cy="181042"/>
          </a:xfrm>
          <a:prstGeom prst="roundRect">
            <a:avLst/>
          </a:prstGeom>
          <a:solidFill>
            <a:srgbClr val="E60000">
              <a:alpha val="1176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AD1ED1-99E8-2243-873A-2861828C0530}"/>
              </a:ext>
            </a:extLst>
          </p:cNvPr>
          <p:cNvSpPr txBox="1"/>
          <p:nvPr/>
        </p:nvSpPr>
        <p:spPr>
          <a:xfrm>
            <a:off x="-294655" y="167452"/>
            <a:ext cx="2961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Example file EV1-100A, </a:t>
            </a:r>
          </a:p>
          <a:p>
            <a:pPr algn="ctr"/>
            <a:r>
              <a:rPr lang="en-US" sz="10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chow condition, 1 pep per protein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56ED375-7254-3248-A3E7-7747AFCAF93F}"/>
              </a:ext>
            </a:extLst>
          </p:cNvPr>
          <p:cNvSpPr txBox="1"/>
          <p:nvPr/>
        </p:nvSpPr>
        <p:spPr>
          <a:xfrm>
            <a:off x="1912663" y="499082"/>
            <a:ext cx="2961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Folder: 05_10_files_012623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34AE95D-12D7-DA4C-A45B-853DFD4A7668}"/>
              </a:ext>
            </a:extLst>
          </p:cNvPr>
          <p:cNvSpPr txBox="1"/>
          <p:nvPr/>
        </p:nvSpPr>
        <p:spPr>
          <a:xfrm>
            <a:off x="7440351" y="499082"/>
            <a:ext cx="2961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Folder: 032723_results</a:t>
            </a:r>
          </a:p>
        </p:txBody>
      </p:sp>
      <p:pic>
        <p:nvPicPr>
          <p:cNvPr id="90" name="Picture 89" descr="Chart, histogram&#10;&#10;Description automatically generated">
            <a:extLst>
              <a:ext uri="{FF2B5EF4-FFF2-40B4-BE49-F238E27FC236}">
                <a16:creationId xmlns:a16="http://schemas.microsoft.com/office/drawing/2014/main" id="{D4C36F52-5BAD-614D-8136-BE6B12BC14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6922" y="4685603"/>
            <a:ext cx="2769077" cy="1846051"/>
          </a:xfrm>
          <a:prstGeom prst="rect">
            <a:avLst/>
          </a:prstGeom>
        </p:spPr>
      </p:pic>
      <p:pic>
        <p:nvPicPr>
          <p:cNvPr id="94" name="Picture 93" descr="Chart, bar chart&#10;&#10;Description automatically generated">
            <a:extLst>
              <a:ext uri="{FF2B5EF4-FFF2-40B4-BE49-F238E27FC236}">
                <a16:creationId xmlns:a16="http://schemas.microsoft.com/office/drawing/2014/main" id="{36EEE068-BB99-6147-9183-DF7BE33809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287" y="4685514"/>
            <a:ext cx="2743200" cy="1828800"/>
          </a:xfrm>
          <a:prstGeom prst="rect">
            <a:avLst/>
          </a:prstGeom>
        </p:spPr>
      </p:pic>
      <p:pic>
        <p:nvPicPr>
          <p:cNvPr id="96" name="Picture 95" descr="Chart, histogram&#10;&#10;Description automatically generated">
            <a:extLst>
              <a:ext uri="{FF2B5EF4-FFF2-40B4-BE49-F238E27FC236}">
                <a16:creationId xmlns:a16="http://schemas.microsoft.com/office/drawing/2014/main" id="{BA760A89-436C-0843-B28F-8656C2DD98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3772" y="2707814"/>
            <a:ext cx="2743201" cy="1828801"/>
          </a:xfrm>
          <a:prstGeom prst="rect">
            <a:avLst/>
          </a:prstGeom>
        </p:spPr>
      </p:pic>
      <p:pic>
        <p:nvPicPr>
          <p:cNvPr id="100" name="Picture 99" descr="Chart, bar chart&#10;&#10;Description automatically generated">
            <a:extLst>
              <a:ext uri="{FF2B5EF4-FFF2-40B4-BE49-F238E27FC236}">
                <a16:creationId xmlns:a16="http://schemas.microsoft.com/office/drawing/2014/main" id="{F89E1655-9D2C-584B-9097-22D17D7DB7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4211" y="2747830"/>
            <a:ext cx="2683178" cy="1788785"/>
          </a:xfrm>
          <a:prstGeom prst="rect">
            <a:avLst/>
          </a:prstGeom>
        </p:spPr>
      </p:pic>
      <p:pic>
        <p:nvPicPr>
          <p:cNvPr id="102" name="Picture 101" descr="Chart, histogram&#10;&#10;Description automatically generated">
            <a:extLst>
              <a:ext uri="{FF2B5EF4-FFF2-40B4-BE49-F238E27FC236}">
                <a16:creationId xmlns:a16="http://schemas.microsoft.com/office/drawing/2014/main" id="{37CAD63A-2438-2745-B196-D646DB97D1A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65767" y="839459"/>
            <a:ext cx="2769078" cy="1846052"/>
          </a:xfrm>
          <a:prstGeom prst="rect">
            <a:avLst/>
          </a:prstGeom>
        </p:spPr>
      </p:pic>
      <p:pic>
        <p:nvPicPr>
          <p:cNvPr id="106" name="Picture 105" descr="Chart, bar chart&#10;&#10;Description automatically generated">
            <a:extLst>
              <a:ext uri="{FF2B5EF4-FFF2-40B4-BE49-F238E27FC236}">
                <a16:creationId xmlns:a16="http://schemas.microsoft.com/office/drawing/2014/main" id="{BC08B8F7-733D-0B48-BCDA-55C954A5E42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8756" y="829058"/>
            <a:ext cx="2743200" cy="1828800"/>
          </a:xfrm>
          <a:prstGeom prst="rect">
            <a:avLst/>
          </a:prstGeom>
        </p:spPr>
      </p:pic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45B2C3AE-A772-0E4A-B44C-09C3DCBF3A61}"/>
              </a:ext>
            </a:extLst>
          </p:cNvPr>
          <p:cNvSpPr/>
          <p:nvPr/>
        </p:nvSpPr>
        <p:spPr>
          <a:xfrm>
            <a:off x="4946242" y="1446808"/>
            <a:ext cx="538716" cy="181042"/>
          </a:xfrm>
          <a:prstGeom prst="roundRect">
            <a:avLst/>
          </a:prstGeom>
          <a:solidFill>
            <a:srgbClr val="E60000">
              <a:alpha val="1176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B59D5F73-6AFE-EE4D-91FE-C5007B64B42D}"/>
              </a:ext>
            </a:extLst>
          </p:cNvPr>
          <p:cNvSpPr/>
          <p:nvPr/>
        </p:nvSpPr>
        <p:spPr>
          <a:xfrm>
            <a:off x="4693443" y="3338479"/>
            <a:ext cx="538716" cy="181042"/>
          </a:xfrm>
          <a:prstGeom prst="roundRect">
            <a:avLst/>
          </a:prstGeom>
          <a:solidFill>
            <a:srgbClr val="E60000">
              <a:alpha val="1176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1F9DBD84-3B38-A848-8908-BC04E1C92846}"/>
              </a:ext>
            </a:extLst>
          </p:cNvPr>
          <p:cNvSpPr/>
          <p:nvPr/>
        </p:nvSpPr>
        <p:spPr>
          <a:xfrm>
            <a:off x="4873916" y="5379279"/>
            <a:ext cx="538716" cy="181042"/>
          </a:xfrm>
          <a:prstGeom prst="roundRect">
            <a:avLst/>
          </a:prstGeom>
          <a:solidFill>
            <a:srgbClr val="E60000">
              <a:alpha val="1176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738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672E-D387-8B4B-BC3B-09204C44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17</a:t>
            </a:fld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468AF1-ECAA-7445-A1DE-0A8B980E68A1}"/>
              </a:ext>
            </a:extLst>
          </p:cNvPr>
          <p:cNvSpPr/>
          <p:nvPr/>
        </p:nvSpPr>
        <p:spPr>
          <a:xfrm>
            <a:off x="574702" y="683808"/>
            <a:ext cx="5445802" cy="598921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7D1397-4BB0-174F-ADAB-781C2BFE574C}"/>
              </a:ext>
            </a:extLst>
          </p:cNvPr>
          <p:cNvSpPr/>
          <p:nvPr/>
        </p:nvSpPr>
        <p:spPr>
          <a:xfrm>
            <a:off x="6096000" y="681350"/>
            <a:ext cx="5511879" cy="5989216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BE48699F-3869-B744-A4E7-E06828DA4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880" y="4686803"/>
            <a:ext cx="2625848" cy="1750565"/>
          </a:xfrm>
          <a:prstGeom prst="rect">
            <a:avLst/>
          </a:prstGeom>
        </p:spPr>
      </p:pic>
      <p:pic>
        <p:nvPicPr>
          <p:cNvPr id="11" name="Picture 10" descr="Chart, histogram&#10;&#10;Description automatically generated">
            <a:extLst>
              <a:ext uri="{FF2B5EF4-FFF2-40B4-BE49-F238E27FC236}">
                <a16:creationId xmlns:a16="http://schemas.microsoft.com/office/drawing/2014/main" id="{A8EA6510-85E6-B440-9834-91F6C59A1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4806" y="4712459"/>
            <a:ext cx="2743202" cy="1828801"/>
          </a:xfrm>
          <a:prstGeom prst="rect">
            <a:avLst/>
          </a:prstGeom>
        </p:spPr>
      </p:pic>
      <p:pic>
        <p:nvPicPr>
          <p:cNvPr id="14" name="Picture 13" descr="Chart, bar chart&#10;&#10;Description automatically generated">
            <a:extLst>
              <a:ext uri="{FF2B5EF4-FFF2-40B4-BE49-F238E27FC236}">
                <a16:creationId xmlns:a16="http://schemas.microsoft.com/office/drawing/2014/main" id="{F0FF79FA-5794-E14B-83E0-59B79A0065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161" y="2791789"/>
            <a:ext cx="2625848" cy="1750565"/>
          </a:xfrm>
          <a:prstGeom prst="rect">
            <a:avLst/>
          </a:prstGeom>
        </p:spPr>
      </p:pic>
      <p:pic>
        <p:nvPicPr>
          <p:cNvPr id="23" name="Picture 22" descr="Chart, histogram&#10;&#10;Description automatically generated">
            <a:extLst>
              <a:ext uri="{FF2B5EF4-FFF2-40B4-BE49-F238E27FC236}">
                <a16:creationId xmlns:a16="http://schemas.microsoft.com/office/drawing/2014/main" id="{C8284F5B-0D04-B748-934B-1F67566D16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482" y="2832589"/>
            <a:ext cx="2625848" cy="1750565"/>
          </a:xfrm>
          <a:prstGeom prst="rect">
            <a:avLst/>
          </a:prstGeom>
        </p:spPr>
      </p:pic>
      <p:pic>
        <p:nvPicPr>
          <p:cNvPr id="25" name="Picture 24" descr="Chart, bar chart&#10;&#10;Description automatically generated">
            <a:extLst>
              <a:ext uri="{FF2B5EF4-FFF2-40B4-BE49-F238E27FC236}">
                <a16:creationId xmlns:a16="http://schemas.microsoft.com/office/drawing/2014/main" id="{0C8379A3-D1BA-1C47-93C4-27D129B04E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5880" y="828461"/>
            <a:ext cx="2613129" cy="1742086"/>
          </a:xfrm>
          <a:prstGeom prst="rect">
            <a:avLst/>
          </a:prstGeom>
        </p:spPr>
      </p:pic>
      <p:pic>
        <p:nvPicPr>
          <p:cNvPr id="38" name="Picture 37" descr="Chart, histogram&#10;&#10;Description automatically generated">
            <a:extLst>
              <a:ext uri="{FF2B5EF4-FFF2-40B4-BE49-F238E27FC236}">
                <a16:creationId xmlns:a16="http://schemas.microsoft.com/office/drawing/2014/main" id="{87156A64-95EF-7E48-A395-4898B9D473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4806" y="808046"/>
            <a:ext cx="2743201" cy="1828801"/>
          </a:xfrm>
          <a:prstGeom prst="rect">
            <a:avLst/>
          </a:prstGeom>
        </p:spPr>
      </p:pic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16516C35-8392-0742-90BB-CC62C906864B}"/>
              </a:ext>
            </a:extLst>
          </p:cNvPr>
          <p:cNvSpPr/>
          <p:nvPr/>
        </p:nvSpPr>
        <p:spPr>
          <a:xfrm>
            <a:off x="10810746" y="4778896"/>
            <a:ext cx="538716" cy="181042"/>
          </a:xfrm>
          <a:prstGeom prst="roundRect">
            <a:avLst/>
          </a:prstGeom>
          <a:solidFill>
            <a:srgbClr val="E60000">
              <a:alpha val="1176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CBB41E2-045F-A94B-915B-EBD7CDE29C24}"/>
              </a:ext>
            </a:extLst>
          </p:cNvPr>
          <p:cNvSpPr/>
          <p:nvPr/>
        </p:nvSpPr>
        <p:spPr>
          <a:xfrm>
            <a:off x="10769941" y="2896523"/>
            <a:ext cx="538716" cy="181042"/>
          </a:xfrm>
          <a:prstGeom prst="roundRect">
            <a:avLst/>
          </a:prstGeom>
          <a:solidFill>
            <a:srgbClr val="E60000">
              <a:alpha val="1176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7E2F0E14-E566-3D40-81E6-77A1FEDCCC9F}"/>
              </a:ext>
            </a:extLst>
          </p:cNvPr>
          <p:cNvSpPr/>
          <p:nvPr/>
        </p:nvSpPr>
        <p:spPr>
          <a:xfrm>
            <a:off x="10761569" y="907502"/>
            <a:ext cx="538716" cy="181042"/>
          </a:xfrm>
          <a:prstGeom prst="roundRect">
            <a:avLst/>
          </a:prstGeom>
          <a:solidFill>
            <a:srgbClr val="E60000">
              <a:alpha val="1176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9745FE-DEE6-4C4E-866D-FB5F270BEB04}"/>
              </a:ext>
            </a:extLst>
          </p:cNvPr>
          <p:cNvSpPr txBox="1"/>
          <p:nvPr/>
        </p:nvSpPr>
        <p:spPr>
          <a:xfrm>
            <a:off x="4479098" y="198402"/>
            <a:ext cx="2961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  <a:sym typeface="Wingdings" pitchFamily="2" charset="2"/>
              </a:rPr>
              <a:t> </a:t>
            </a:r>
            <a:r>
              <a:rPr lang="en-US" sz="8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for 3/1 and 3/2 – cutoff value went up, but also more proteins pass cutoff </a:t>
            </a:r>
          </a:p>
        </p:txBody>
      </p:sp>
      <p:pic>
        <p:nvPicPr>
          <p:cNvPr id="48" name="Picture 47" descr="Chart, bar chart&#10;&#10;Description automatically generated">
            <a:extLst>
              <a:ext uri="{FF2B5EF4-FFF2-40B4-BE49-F238E27FC236}">
                <a16:creationId xmlns:a16="http://schemas.microsoft.com/office/drawing/2014/main" id="{55181F5A-B1DE-A04C-B77D-56C8EF9B26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4056" y="4616388"/>
            <a:ext cx="2625848" cy="1750565"/>
          </a:xfrm>
          <a:prstGeom prst="rect">
            <a:avLst/>
          </a:prstGeom>
        </p:spPr>
      </p:pic>
      <p:pic>
        <p:nvPicPr>
          <p:cNvPr id="52" name="Picture 51" descr="Chart, histogram&#10;&#10;Description automatically generated">
            <a:extLst>
              <a:ext uri="{FF2B5EF4-FFF2-40B4-BE49-F238E27FC236}">
                <a16:creationId xmlns:a16="http://schemas.microsoft.com/office/drawing/2014/main" id="{8428DCA3-20A3-334F-850B-AEE0ED352C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0531" y="4661731"/>
            <a:ext cx="2625849" cy="1750566"/>
          </a:xfrm>
          <a:prstGeom prst="rect">
            <a:avLst/>
          </a:prstGeom>
        </p:spPr>
      </p:pic>
      <p:pic>
        <p:nvPicPr>
          <p:cNvPr id="54" name="Picture 53" descr="Chart, bar chart&#10;&#10;Description automatically generated">
            <a:extLst>
              <a:ext uri="{FF2B5EF4-FFF2-40B4-BE49-F238E27FC236}">
                <a16:creationId xmlns:a16="http://schemas.microsoft.com/office/drawing/2014/main" id="{CDA0FBAE-F434-B44B-AB7D-1B082FA7872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415" y="2759030"/>
            <a:ext cx="2613129" cy="1742086"/>
          </a:xfrm>
          <a:prstGeom prst="rect">
            <a:avLst/>
          </a:prstGeom>
        </p:spPr>
      </p:pic>
      <p:pic>
        <p:nvPicPr>
          <p:cNvPr id="58" name="Picture 57" descr="Chart, histogram&#10;&#10;Description automatically generated">
            <a:extLst>
              <a:ext uri="{FF2B5EF4-FFF2-40B4-BE49-F238E27FC236}">
                <a16:creationId xmlns:a16="http://schemas.microsoft.com/office/drawing/2014/main" id="{354D9B39-5B31-F246-88F9-4EA4D2C11A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77302" y="2738591"/>
            <a:ext cx="2743202" cy="1828801"/>
          </a:xfrm>
          <a:prstGeom prst="rect">
            <a:avLst/>
          </a:prstGeom>
        </p:spPr>
      </p:pic>
      <p:pic>
        <p:nvPicPr>
          <p:cNvPr id="60" name="Picture 59" descr="Chart, bar chart&#10;&#10;Description automatically generated">
            <a:extLst>
              <a:ext uri="{FF2B5EF4-FFF2-40B4-BE49-F238E27FC236}">
                <a16:creationId xmlns:a16="http://schemas.microsoft.com/office/drawing/2014/main" id="{51816C54-37C7-E749-B16E-055BF3FB44D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5121" y="856673"/>
            <a:ext cx="2743202" cy="1828801"/>
          </a:xfrm>
          <a:prstGeom prst="rect">
            <a:avLst/>
          </a:prstGeom>
        </p:spPr>
      </p:pic>
      <p:pic>
        <p:nvPicPr>
          <p:cNvPr id="64" name="Picture 63" descr="Chart, histogram&#10;&#10;Description automatically generated">
            <a:extLst>
              <a:ext uri="{FF2B5EF4-FFF2-40B4-BE49-F238E27FC236}">
                <a16:creationId xmlns:a16="http://schemas.microsoft.com/office/drawing/2014/main" id="{76BDD4B9-7B5F-4747-90FD-B729A53B00B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44258" y="828461"/>
            <a:ext cx="2788611" cy="1859074"/>
          </a:xfrm>
          <a:prstGeom prst="rect">
            <a:avLst/>
          </a:prstGeom>
        </p:spPr>
      </p:pic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B630718B-39F0-D14C-8C28-A3B31BEB1B83}"/>
              </a:ext>
            </a:extLst>
          </p:cNvPr>
          <p:cNvSpPr/>
          <p:nvPr/>
        </p:nvSpPr>
        <p:spPr>
          <a:xfrm>
            <a:off x="4877059" y="1391712"/>
            <a:ext cx="538716" cy="181042"/>
          </a:xfrm>
          <a:prstGeom prst="roundRect">
            <a:avLst/>
          </a:prstGeom>
          <a:solidFill>
            <a:srgbClr val="E60000">
              <a:alpha val="1176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EEFCD41-3812-CB46-9440-570B3E9D7C3E}"/>
              </a:ext>
            </a:extLst>
          </p:cNvPr>
          <p:cNvSpPr/>
          <p:nvPr/>
        </p:nvSpPr>
        <p:spPr>
          <a:xfrm>
            <a:off x="5051944" y="3151781"/>
            <a:ext cx="538716" cy="181042"/>
          </a:xfrm>
          <a:prstGeom prst="roundRect">
            <a:avLst/>
          </a:prstGeom>
          <a:solidFill>
            <a:srgbClr val="E60000">
              <a:alpha val="1176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88898615-B826-524E-8458-D1A234F05850}"/>
              </a:ext>
            </a:extLst>
          </p:cNvPr>
          <p:cNvSpPr/>
          <p:nvPr/>
        </p:nvSpPr>
        <p:spPr>
          <a:xfrm>
            <a:off x="4937020" y="5094155"/>
            <a:ext cx="538716" cy="181042"/>
          </a:xfrm>
          <a:prstGeom prst="roundRect">
            <a:avLst/>
          </a:prstGeom>
          <a:solidFill>
            <a:srgbClr val="E60000">
              <a:alpha val="1176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B8B93F-EE01-A644-A76F-2BE9DDE9B358}"/>
              </a:ext>
            </a:extLst>
          </p:cNvPr>
          <p:cNvSpPr txBox="1"/>
          <p:nvPr/>
        </p:nvSpPr>
        <p:spPr>
          <a:xfrm>
            <a:off x="57423" y="161250"/>
            <a:ext cx="2453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  <a:sym typeface="Wingdings" pitchFamily="2" charset="2"/>
              </a:rPr>
              <a:t>Conclusion: Improvement of lists leads to more proteins passing cutoff</a:t>
            </a:r>
            <a:endParaRPr lang="en-US" sz="800" b="1" dirty="0">
              <a:solidFill>
                <a:srgbClr val="C00000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184C6CF5-3950-F841-B81E-9E60E9AD5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1415" y="-188173"/>
            <a:ext cx="4094483" cy="1191097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results</a:t>
            </a:r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D4557845-0953-4347-9C54-AACF7C6C705A}"/>
              </a:ext>
            </a:extLst>
          </p:cNvPr>
          <p:cNvSpPr txBox="1">
            <a:spLocks/>
          </p:cNvSpPr>
          <p:nvPr/>
        </p:nvSpPr>
        <p:spPr>
          <a:xfrm>
            <a:off x="7951243" y="-193074"/>
            <a:ext cx="2625848" cy="1191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results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ECCD697-4498-3544-AA7E-CA769E2CBF93}"/>
              </a:ext>
            </a:extLst>
          </p:cNvPr>
          <p:cNvSpPr txBox="1"/>
          <p:nvPr/>
        </p:nvSpPr>
        <p:spPr>
          <a:xfrm>
            <a:off x="1912663" y="499082"/>
            <a:ext cx="2961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Folder: 05_10_files_012623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96EBB00-69BD-E24A-8205-F0375A86AB54}"/>
              </a:ext>
            </a:extLst>
          </p:cNvPr>
          <p:cNvSpPr txBox="1"/>
          <p:nvPr/>
        </p:nvSpPr>
        <p:spPr>
          <a:xfrm>
            <a:off x="7440351" y="499082"/>
            <a:ext cx="2961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Folder: 032723_results</a:t>
            </a:r>
          </a:p>
        </p:txBody>
      </p:sp>
    </p:spTree>
    <p:extLst>
      <p:ext uri="{BB962C8B-B14F-4D97-AF65-F5344CB8AC3E}">
        <p14:creationId xmlns:p14="http://schemas.microsoft.com/office/powerpoint/2010/main" val="264068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672E-D387-8B4B-BC3B-09204C44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18</a:t>
            </a:fld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468AF1-ECAA-7445-A1DE-0A8B980E68A1}"/>
              </a:ext>
            </a:extLst>
          </p:cNvPr>
          <p:cNvSpPr/>
          <p:nvPr/>
        </p:nvSpPr>
        <p:spPr>
          <a:xfrm>
            <a:off x="574702" y="683808"/>
            <a:ext cx="5445802" cy="598921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7D1397-4BB0-174F-ADAB-781C2BFE574C}"/>
              </a:ext>
            </a:extLst>
          </p:cNvPr>
          <p:cNvSpPr/>
          <p:nvPr/>
        </p:nvSpPr>
        <p:spPr>
          <a:xfrm>
            <a:off x="6096000" y="681350"/>
            <a:ext cx="5511879" cy="5989216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7C3F8EB2-AD4D-2940-AC1C-EE6005A52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482" y="681350"/>
            <a:ext cx="4708914" cy="3139276"/>
          </a:xfrm>
          <a:prstGeom prst="rect">
            <a:avLst/>
          </a:prstGeom>
        </p:spPr>
      </p:pic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DE05D548-05F6-9F4B-80CF-0FAC9C586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384" y="4259815"/>
            <a:ext cx="4658012" cy="2189266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AD57D8A-C966-C646-AC86-6BCEB93E6B61}"/>
              </a:ext>
            </a:extLst>
          </p:cNvPr>
          <p:cNvCxnSpPr>
            <a:cxnSpLocks/>
          </p:cNvCxnSpPr>
          <p:nvPr/>
        </p:nvCxnSpPr>
        <p:spPr>
          <a:xfrm flipH="1">
            <a:off x="9518754" y="3855286"/>
            <a:ext cx="287500" cy="497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31F78EE-E0C9-3346-80D6-22EE6A177262}"/>
              </a:ext>
            </a:extLst>
          </p:cNvPr>
          <p:cNvCxnSpPr>
            <a:cxnSpLocks/>
          </p:cNvCxnSpPr>
          <p:nvPr/>
        </p:nvCxnSpPr>
        <p:spPr>
          <a:xfrm flipH="1">
            <a:off x="3902675" y="3890112"/>
            <a:ext cx="303810" cy="462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Picture 15" descr="Chart, scatter chart&#10;&#10;Description automatically generated">
            <a:extLst>
              <a:ext uri="{FF2B5EF4-FFF2-40B4-BE49-F238E27FC236}">
                <a16:creationId xmlns:a16="http://schemas.microsoft.com/office/drawing/2014/main" id="{9797BCE4-2C30-4F48-A564-2AD743FF8D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606"/>
          <a:stretch/>
        </p:blipFill>
        <p:spPr>
          <a:xfrm>
            <a:off x="1209426" y="4361415"/>
            <a:ext cx="4176351" cy="199493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F93E84A-4D5A-0446-8086-CCA467C08B60}"/>
              </a:ext>
            </a:extLst>
          </p:cNvPr>
          <p:cNvSpPr txBox="1"/>
          <p:nvPr/>
        </p:nvSpPr>
        <p:spPr>
          <a:xfrm>
            <a:off x="4240549" y="5359932"/>
            <a:ext cx="4523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leptin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1BA51B-2605-B24F-BC33-616D9E3818D1}"/>
              </a:ext>
            </a:extLst>
          </p:cNvPr>
          <p:cNvSpPr/>
          <p:nvPr/>
        </p:nvSpPr>
        <p:spPr>
          <a:xfrm>
            <a:off x="4179019" y="5408757"/>
            <a:ext cx="123060" cy="113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97FC47-74C1-B34F-A263-57C414CDEBE7}"/>
              </a:ext>
            </a:extLst>
          </p:cNvPr>
          <p:cNvSpPr txBox="1"/>
          <p:nvPr/>
        </p:nvSpPr>
        <p:spPr>
          <a:xfrm>
            <a:off x="10014190" y="4899580"/>
            <a:ext cx="4523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leptin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5BE861D-C2D4-F148-97B5-C91E705538FD}"/>
              </a:ext>
            </a:extLst>
          </p:cNvPr>
          <p:cNvSpPr/>
          <p:nvPr/>
        </p:nvSpPr>
        <p:spPr>
          <a:xfrm>
            <a:off x="9963744" y="4946187"/>
            <a:ext cx="123060" cy="113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Chart, bar chart&#10;&#10;Description automatically generated">
            <a:extLst>
              <a:ext uri="{FF2B5EF4-FFF2-40B4-BE49-F238E27FC236}">
                <a16:creationId xmlns:a16="http://schemas.microsoft.com/office/drawing/2014/main" id="{D82AEEC0-EE94-5E4B-A77B-17035AF24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577" y="715823"/>
            <a:ext cx="4605494" cy="3070330"/>
          </a:xfrm>
          <a:prstGeom prst="rect">
            <a:avLst/>
          </a:prstGeom>
        </p:spPr>
      </p:pic>
      <p:sp>
        <p:nvSpPr>
          <p:cNvPr id="51" name="Title 1">
            <a:extLst>
              <a:ext uri="{FF2B5EF4-FFF2-40B4-BE49-F238E27FC236}">
                <a16:creationId xmlns:a16="http://schemas.microsoft.com/office/drawing/2014/main" id="{EDADA6B7-0657-9A4B-AA15-AE65486CF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1415" y="-188173"/>
            <a:ext cx="4094483" cy="1191097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results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6DA56E73-77DA-D844-A47D-694679E4847B}"/>
              </a:ext>
            </a:extLst>
          </p:cNvPr>
          <p:cNvSpPr txBox="1">
            <a:spLocks/>
          </p:cNvSpPr>
          <p:nvPr/>
        </p:nvSpPr>
        <p:spPr>
          <a:xfrm>
            <a:off x="7951243" y="-193074"/>
            <a:ext cx="2625848" cy="1191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results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AC418D-4B11-D84B-A946-5248B7517299}"/>
              </a:ext>
            </a:extLst>
          </p:cNvPr>
          <p:cNvSpPr txBox="1"/>
          <p:nvPr/>
        </p:nvSpPr>
        <p:spPr>
          <a:xfrm>
            <a:off x="1912663" y="499082"/>
            <a:ext cx="2961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Folder: 05_10_files_012623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0789CE5-2C4B-2B49-AAD6-5B450839000E}"/>
              </a:ext>
            </a:extLst>
          </p:cNvPr>
          <p:cNvSpPr txBox="1"/>
          <p:nvPr/>
        </p:nvSpPr>
        <p:spPr>
          <a:xfrm>
            <a:off x="7440351" y="499082"/>
            <a:ext cx="2961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Folder: 032723_results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3B7F3D-ABA4-4146-8A0E-2A65D426E8C3}"/>
              </a:ext>
            </a:extLst>
          </p:cNvPr>
          <p:cNvSpPr txBox="1"/>
          <p:nvPr/>
        </p:nvSpPr>
        <p:spPr>
          <a:xfrm>
            <a:off x="4680399" y="3429000"/>
            <a:ext cx="1195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C00000"/>
                </a:solidFill>
                <a:latin typeface="Segoe UI Semibold" panose="020B0502040204020203" pitchFamily="34" charset="0"/>
                <a:cs typeface="Segoe UI Semibold" panose="020B0502040204020203" pitchFamily="34" charset="0"/>
                <a:sym typeface="Wingdings" pitchFamily="2" charset="2"/>
              </a:rPr>
              <a:t>This filtering step was wrong and was improved </a:t>
            </a:r>
            <a:endParaRPr lang="en-US" sz="800" b="1" dirty="0">
              <a:solidFill>
                <a:srgbClr val="C00000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267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3861C-DDFF-F94F-B844-7188E07B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19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BB2DFB4-E4EC-CC46-BF2B-90B0CB50A619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124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2494</TotalTime>
  <Words>1240</Words>
  <Application>Microsoft Macintosh PowerPoint</Application>
  <PresentationFormat>Widescreen</PresentationFormat>
  <Paragraphs>240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Arial</vt:lpstr>
      <vt:lpstr>Avenir Next LT Pro</vt:lpstr>
      <vt:lpstr>Calibri</vt:lpstr>
      <vt:lpstr>Calibri Light</vt:lpstr>
      <vt:lpstr>Segoe UI Semibold</vt:lpstr>
      <vt:lpstr>The Hand Extrablack</vt:lpstr>
      <vt:lpstr>Times New Roman</vt:lpstr>
      <vt:lpstr>Office Theme</vt:lpstr>
      <vt:lpstr>TurboID</vt:lpstr>
      <vt:lpstr>PowerPoint Presentation</vt:lpstr>
      <vt:lpstr>PowerPoint Presentation</vt:lpstr>
      <vt:lpstr>PowerPoint Presentation</vt:lpstr>
      <vt:lpstr>Experiment set up #1</vt:lpstr>
      <vt:lpstr>Experiment set up #2</vt:lpstr>
      <vt:lpstr>PowerPoint Presentation</vt:lpstr>
      <vt:lpstr>Analysis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Old results</vt:lpstr>
      <vt:lpstr>Old results</vt:lpstr>
      <vt:lpstr>Old 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Turbo ID Project </dc:title>
  <dc:creator>Nathalie Ropek</dc:creator>
  <cp:lastModifiedBy>Nathalie Ropek</cp:lastModifiedBy>
  <cp:revision>47</cp:revision>
  <dcterms:created xsi:type="dcterms:W3CDTF">2022-10-14T14:34:07Z</dcterms:created>
  <dcterms:modified xsi:type="dcterms:W3CDTF">2023-03-28T19:09:25Z</dcterms:modified>
</cp:coreProperties>
</file>