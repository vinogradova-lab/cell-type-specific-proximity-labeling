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8" r:id="rId3"/>
    <p:sldId id="257" r:id="rId4"/>
    <p:sldId id="264" r:id="rId5"/>
    <p:sldId id="259" r:id="rId6"/>
    <p:sldId id="260" r:id="rId7"/>
    <p:sldId id="261" r:id="rId8"/>
    <p:sldId id="262" r:id="rId9"/>
    <p:sldId id="265" r:id="rId10"/>
    <p:sldId id="266" r:id="rId11"/>
    <p:sldId id="267" r:id="rId12"/>
    <p:sldId id="268" r:id="rId13"/>
    <p:sldId id="269" r:id="rId14"/>
    <p:sldId id="270"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94"/>
  </p:normalViewPr>
  <p:slideViewPr>
    <p:cSldViewPr snapToGrid="0" snapToObjects="1">
      <p:cViewPr varScale="1">
        <p:scale>
          <a:sx n="104" d="100"/>
          <a:sy n="104" d="100"/>
        </p:scale>
        <p:origin x="232" y="5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382AF8-96A5-1541-94F4-B7850B429159}" type="datetimeFigureOut">
              <a:rPr lang="en-US" smtClean="0"/>
              <a:t>7/24/23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625FCD-2F99-3A49-93CB-E3401DD53B9D}" type="slidenum">
              <a:rPr lang="en-US" smtClean="0"/>
              <a:t>‹#›</a:t>
            </a:fld>
            <a:endParaRPr lang="en-US"/>
          </a:p>
        </p:txBody>
      </p:sp>
    </p:spTree>
    <p:extLst>
      <p:ext uri="{BB962C8B-B14F-4D97-AF65-F5344CB8AC3E}">
        <p14:creationId xmlns:p14="http://schemas.microsoft.com/office/powerpoint/2010/main" val="3313071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6625FCD-2F99-3A49-93CB-E3401DD53B9D}" type="slidenum">
              <a:rPr lang="en-US" smtClean="0"/>
              <a:t>3</a:t>
            </a:fld>
            <a:endParaRPr lang="en-US"/>
          </a:p>
        </p:txBody>
      </p:sp>
    </p:spTree>
    <p:extLst>
      <p:ext uri="{BB962C8B-B14F-4D97-AF65-F5344CB8AC3E}">
        <p14:creationId xmlns:p14="http://schemas.microsoft.com/office/powerpoint/2010/main" val="3686492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A90D7-B47C-284E-9930-7A33FAEFF35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7B67DC0-8CD5-8B4C-8344-D16CB889B10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50F9CB7-8B4D-EC48-A666-A53400D797DA}"/>
              </a:ext>
            </a:extLst>
          </p:cNvPr>
          <p:cNvSpPr>
            <a:spLocks noGrp="1"/>
          </p:cNvSpPr>
          <p:nvPr>
            <p:ph type="dt" sz="half" idx="10"/>
          </p:nvPr>
        </p:nvSpPr>
        <p:spPr/>
        <p:txBody>
          <a:bodyPr/>
          <a:lstStyle/>
          <a:p>
            <a:fld id="{E22482E7-11EC-EB44-8CF5-355229AFDAE0}" type="datetimeFigureOut">
              <a:rPr lang="en-US" smtClean="0"/>
              <a:t>7/24/23</a:t>
            </a:fld>
            <a:endParaRPr lang="en-US"/>
          </a:p>
        </p:txBody>
      </p:sp>
      <p:sp>
        <p:nvSpPr>
          <p:cNvPr id="5" name="Footer Placeholder 4">
            <a:extLst>
              <a:ext uri="{FF2B5EF4-FFF2-40B4-BE49-F238E27FC236}">
                <a16:creationId xmlns:a16="http://schemas.microsoft.com/office/drawing/2014/main" id="{5A375585-DB61-F542-8A8F-C9C6027894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E5D378-BD9B-EE40-9630-2C2908DD4018}"/>
              </a:ext>
            </a:extLst>
          </p:cNvPr>
          <p:cNvSpPr>
            <a:spLocks noGrp="1"/>
          </p:cNvSpPr>
          <p:nvPr>
            <p:ph type="sldNum" sz="quarter" idx="12"/>
          </p:nvPr>
        </p:nvSpPr>
        <p:spPr/>
        <p:txBody>
          <a:bodyPr/>
          <a:lstStyle/>
          <a:p>
            <a:fld id="{1F53FDD8-ACBC-A644-A5EF-20DCA4840ED4}" type="slidenum">
              <a:rPr lang="en-US" smtClean="0"/>
              <a:t>‹#›</a:t>
            </a:fld>
            <a:endParaRPr lang="en-US"/>
          </a:p>
        </p:txBody>
      </p:sp>
    </p:spTree>
    <p:extLst>
      <p:ext uri="{BB962C8B-B14F-4D97-AF65-F5344CB8AC3E}">
        <p14:creationId xmlns:p14="http://schemas.microsoft.com/office/powerpoint/2010/main" val="8043137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E71B1-551A-2647-BD81-7273F112286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384773D-18DE-F34A-8AAB-033B6E72FFE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178392-2DC5-884B-9839-3F65276D1AD7}"/>
              </a:ext>
            </a:extLst>
          </p:cNvPr>
          <p:cNvSpPr>
            <a:spLocks noGrp="1"/>
          </p:cNvSpPr>
          <p:nvPr>
            <p:ph type="dt" sz="half" idx="10"/>
          </p:nvPr>
        </p:nvSpPr>
        <p:spPr/>
        <p:txBody>
          <a:bodyPr/>
          <a:lstStyle/>
          <a:p>
            <a:fld id="{E22482E7-11EC-EB44-8CF5-355229AFDAE0}" type="datetimeFigureOut">
              <a:rPr lang="en-US" smtClean="0"/>
              <a:t>7/24/23</a:t>
            </a:fld>
            <a:endParaRPr lang="en-US"/>
          </a:p>
        </p:txBody>
      </p:sp>
      <p:sp>
        <p:nvSpPr>
          <p:cNvPr id="5" name="Footer Placeholder 4">
            <a:extLst>
              <a:ext uri="{FF2B5EF4-FFF2-40B4-BE49-F238E27FC236}">
                <a16:creationId xmlns:a16="http://schemas.microsoft.com/office/drawing/2014/main" id="{BF576AA3-9FE9-C546-855F-E47669C310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DF41B6-AF98-6A4E-8216-5225FC53CD99}"/>
              </a:ext>
            </a:extLst>
          </p:cNvPr>
          <p:cNvSpPr>
            <a:spLocks noGrp="1"/>
          </p:cNvSpPr>
          <p:nvPr>
            <p:ph type="sldNum" sz="quarter" idx="12"/>
          </p:nvPr>
        </p:nvSpPr>
        <p:spPr/>
        <p:txBody>
          <a:bodyPr/>
          <a:lstStyle/>
          <a:p>
            <a:fld id="{1F53FDD8-ACBC-A644-A5EF-20DCA4840ED4}" type="slidenum">
              <a:rPr lang="en-US" smtClean="0"/>
              <a:t>‹#›</a:t>
            </a:fld>
            <a:endParaRPr lang="en-US"/>
          </a:p>
        </p:txBody>
      </p:sp>
    </p:spTree>
    <p:extLst>
      <p:ext uri="{BB962C8B-B14F-4D97-AF65-F5344CB8AC3E}">
        <p14:creationId xmlns:p14="http://schemas.microsoft.com/office/powerpoint/2010/main" val="19231048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B06B4-F7E1-6747-A8DC-771E01F68AA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E0E3B1A-DF49-8B4C-AC26-72AD8233791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AF7574C-85D4-F24F-815D-9E7CA505AE9B}"/>
              </a:ext>
            </a:extLst>
          </p:cNvPr>
          <p:cNvSpPr>
            <a:spLocks noGrp="1"/>
          </p:cNvSpPr>
          <p:nvPr>
            <p:ph type="dt" sz="half" idx="10"/>
          </p:nvPr>
        </p:nvSpPr>
        <p:spPr/>
        <p:txBody>
          <a:bodyPr/>
          <a:lstStyle/>
          <a:p>
            <a:fld id="{E22482E7-11EC-EB44-8CF5-355229AFDAE0}" type="datetimeFigureOut">
              <a:rPr lang="en-US" smtClean="0"/>
              <a:t>7/24/23</a:t>
            </a:fld>
            <a:endParaRPr lang="en-US"/>
          </a:p>
        </p:txBody>
      </p:sp>
      <p:sp>
        <p:nvSpPr>
          <p:cNvPr id="5" name="Footer Placeholder 4">
            <a:extLst>
              <a:ext uri="{FF2B5EF4-FFF2-40B4-BE49-F238E27FC236}">
                <a16:creationId xmlns:a16="http://schemas.microsoft.com/office/drawing/2014/main" id="{0690E5C6-F328-0443-A492-4333E901C2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555F14-F6B0-034D-B464-A578F33429C2}"/>
              </a:ext>
            </a:extLst>
          </p:cNvPr>
          <p:cNvSpPr>
            <a:spLocks noGrp="1"/>
          </p:cNvSpPr>
          <p:nvPr>
            <p:ph type="sldNum" sz="quarter" idx="12"/>
          </p:nvPr>
        </p:nvSpPr>
        <p:spPr/>
        <p:txBody>
          <a:bodyPr/>
          <a:lstStyle/>
          <a:p>
            <a:fld id="{1F53FDD8-ACBC-A644-A5EF-20DCA4840ED4}" type="slidenum">
              <a:rPr lang="en-US" smtClean="0"/>
              <a:t>‹#›</a:t>
            </a:fld>
            <a:endParaRPr lang="en-US"/>
          </a:p>
        </p:txBody>
      </p:sp>
    </p:spTree>
    <p:extLst>
      <p:ext uri="{BB962C8B-B14F-4D97-AF65-F5344CB8AC3E}">
        <p14:creationId xmlns:p14="http://schemas.microsoft.com/office/powerpoint/2010/main" val="32774536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0B7C4-362F-D34E-9F8D-31EBC866F5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6078D31-38DA-6D4E-9E20-0BEFB04D58A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0280343-BDD0-1742-95BA-74D1CF6830A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7BC8D30-83CF-F649-9415-5CC404BDE2D7}"/>
              </a:ext>
            </a:extLst>
          </p:cNvPr>
          <p:cNvSpPr>
            <a:spLocks noGrp="1"/>
          </p:cNvSpPr>
          <p:nvPr>
            <p:ph type="dt" sz="half" idx="10"/>
          </p:nvPr>
        </p:nvSpPr>
        <p:spPr/>
        <p:txBody>
          <a:bodyPr/>
          <a:lstStyle/>
          <a:p>
            <a:fld id="{E22482E7-11EC-EB44-8CF5-355229AFDAE0}" type="datetimeFigureOut">
              <a:rPr lang="en-US" smtClean="0"/>
              <a:t>7/24/23</a:t>
            </a:fld>
            <a:endParaRPr lang="en-US"/>
          </a:p>
        </p:txBody>
      </p:sp>
      <p:sp>
        <p:nvSpPr>
          <p:cNvPr id="6" name="Footer Placeholder 5">
            <a:extLst>
              <a:ext uri="{FF2B5EF4-FFF2-40B4-BE49-F238E27FC236}">
                <a16:creationId xmlns:a16="http://schemas.microsoft.com/office/drawing/2014/main" id="{AC699532-71DD-4641-958A-7A42540F702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4E4DF2A-6E3C-D645-B0F7-A044AC246EA0}"/>
              </a:ext>
            </a:extLst>
          </p:cNvPr>
          <p:cNvSpPr>
            <a:spLocks noGrp="1"/>
          </p:cNvSpPr>
          <p:nvPr>
            <p:ph type="sldNum" sz="quarter" idx="12"/>
          </p:nvPr>
        </p:nvSpPr>
        <p:spPr/>
        <p:txBody>
          <a:bodyPr/>
          <a:lstStyle/>
          <a:p>
            <a:fld id="{1F53FDD8-ACBC-A644-A5EF-20DCA4840ED4}" type="slidenum">
              <a:rPr lang="en-US" smtClean="0"/>
              <a:t>‹#›</a:t>
            </a:fld>
            <a:endParaRPr lang="en-US"/>
          </a:p>
        </p:txBody>
      </p:sp>
    </p:spTree>
    <p:extLst>
      <p:ext uri="{BB962C8B-B14F-4D97-AF65-F5344CB8AC3E}">
        <p14:creationId xmlns:p14="http://schemas.microsoft.com/office/powerpoint/2010/main" val="4729661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118F4F-BB3E-4442-BD5F-4D96E110B74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0AA4B31-5695-4A48-A39F-7D6BA23579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D9BD3F2-C347-B54A-AD63-B60B50BBD6A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30DD1DD-49F2-754B-AACA-248FCA80B0C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B03978E-5D50-C04E-8192-FD2B34CEA30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8F088AD-33F9-4944-9052-A1FB245D7783}"/>
              </a:ext>
            </a:extLst>
          </p:cNvPr>
          <p:cNvSpPr>
            <a:spLocks noGrp="1"/>
          </p:cNvSpPr>
          <p:nvPr>
            <p:ph type="dt" sz="half" idx="10"/>
          </p:nvPr>
        </p:nvSpPr>
        <p:spPr/>
        <p:txBody>
          <a:bodyPr/>
          <a:lstStyle/>
          <a:p>
            <a:fld id="{E22482E7-11EC-EB44-8CF5-355229AFDAE0}" type="datetimeFigureOut">
              <a:rPr lang="en-US" smtClean="0"/>
              <a:t>7/24/23</a:t>
            </a:fld>
            <a:endParaRPr lang="en-US"/>
          </a:p>
        </p:txBody>
      </p:sp>
      <p:sp>
        <p:nvSpPr>
          <p:cNvPr id="8" name="Footer Placeholder 7">
            <a:extLst>
              <a:ext uri="{FF2B5EF4-FFF2-40B4-BE49-F238E27FC236}">
                <a16:creationId xmlns:a16="http://schemas.microsoft.com/office/drawing/2014/main" id="{69CA6015-0172-0C49-B4BC-645C87AAF7B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73B8425-90EE-844B-A168-7F8FBA1F10B4}"/>
              </a:ext>
            </a:extLst>
          </p:cNvPr>
          <p:cNvSpPr>
            <a:spLocks noGrp="1"/>
          </p:cNvSpPr>
          <p:nvPr>
            <p:ph type="sldNum" sz="quarter" idx="12"/>
          </p:nvPr>
        </p:nvSpPr>
        <p:spPr/>
        <p:txBody>
          <a:bodyPr/>
          <a:lstStyle/>
          <a:p>
            <a:fld id="{1F53FDD8-ACBC-A644-A5EF-20DCA4840ED4}" type="slidenum">
              <a:rPr lang="en-US" smtClean="0"/>
              <a:t>‹#›</a:t>
            </a:fld>
            <a:endParaRPr lang="en-US"/>
          </a:p>
        </p:txBody>
      </p:sp>
    </p:spTree>
    <p:extLst>
      <p:ext uri="{BB962C8B-B14F-4D97-AF65-F5344CB8AC3E}">
        <p14:creationId xmlns:p14="http://schemas.microsoft.com/office/powerpoint/2010/main" val="35503971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558B9-57A4-264A-BBFC-EA9DFC540AC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22F6BA3-DE8E-7E42-B832-1DF3F55A4865}"/>
              </a:ext>
            </a:extLst>
          </p:cNvPr>
          <p:cNvSpPr>
            <a:spLocks noGrp="1"/>
          </p:cNvSpPr>
          <p:nvPr>
            <p:ph type="dt" sz="half" idx="10"/>
          </p:nvPr>
        </p:nvSpPr>
        <p:spPr/>
        <p:txBody>
          <a:bodyPr/>
          <a:lstStyle/>
          <a:p>
            <a:fld id="{E22482E7-11EC-EB44-8CF5-355229AFDAE0}" type="datetimeFigureOut">
              <a:rPr lang="en-US" smtClean="0"/>
              <a:t>7/24/23</a:t>
            </a:fld>
            <a:endParaRPr lang="en-US"/>
          </a:p>
        </p:txBody>
      </p:sp>
      <p:sp>
        <p:nvSpPr>
          <p:cNvPr id="4" name="Footer Placeholder 3">
            <a:extLst>
              <a:ext uri="{FF2B5EF4-FFF2-40B4-BE49-F238E27FC236}">
                <a16:creationId xmlns:a16="http://schemas.microsoft.com/office/drawing/2014/main" id="{74BF9D82-0BC7-A141-9DE5-F45056B1768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194F861-8C29-1D41-AD71-6B6D5639C7AA}"/>
              </a:ext>
            </a:extLst>
          </p:cNvPr>
          <p:cNvSpPr>
            <a:spLocks noGrp="1"/>
          </p:cNvSpPr>
          <p:nvPr>
            <p:ph type="sldNum" sz="quarter" idx="12"/>
          </p:nvPr>
        </p:nvSpPr>
        <p:spPr/>
        <p:txBody>
          <a:bodyPr/>
          <a:lstStyle/>
          <a:p>
            <a:fld id="{1F53FDD8-ACBC-A644-A5EF-20DCA4840ED4}" type="slidenum">
              <a:rPr lang="en-US" smtClean="0"/>
              <a:t>‹#›</a:t>
            </a:fld>
            <a:endParaRPr lang="en-US"/>
          </a:p>
        </p:txBody>
      </p:sp>
    </p:spTree>
    <p:extLst>
      <p:ext uri="{BB962C8B-B14F-4D97-AF65-F5344CB8AC3E}">
        <p14:creationId xmlns:p14="http://schemas.microsoft.com/office/powerpoint/2010/main" val="37631043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96E75AE-C830-FC41-8F66-293A8FA23693}"/>
              </a:ext>
            </a:extLst>
          </p:cNvPr>
          <p:cNvSpPr>
            <a:spLocks noGrp="1"/>
          </p:cNvSpPr>
          <p:nvPr>
            <p:ph type="dt" sz="half" idx="10"/>
          </p:nvPr>
        </p:nvSpPr>
        <p:spPr/>
        <p:txBody>
          <a:bodyPr/>
          <a:lstStyle/>
          <a:p>
            <a:fld id="{E22482E7-11EC-EB44-8CF5-355229AFDAE0}" type="datetimeFigureOut">
              <a:rPr lang="en-US" smtClean="0"/>
              <a:t>7/24/23</a:t>
            </a:fld>
            <a:endParaRPr lang="en-US"/>
          </a:p>
        </p:txBody>
      </p:sp>
      <p:sp>
        <p:nvSpPr>
          <p:cNvPr id="3" name="Footer Placeholder 2">
            <a:extLst>
              <a:ext uri="{FF2B5EF4-FFF2-40B4-BE49-F238E27FC236}">
                <a16:creationId xmlns:a16="http://schemas.microsoft.com/office/drawing/2014/main" id="{6B42928C-222D-7A44-A604-5D055C99D1E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421607C-99CE-8E4F-BE60-CD7E7BFDB289}"/>
              </a:ext>
            </a:extLst>
          </p:cNvPr>
          <p:cNvSpPr>
            <a:spLocks noGrp="1"/>
          </p:cNvSpPr>
          <p:nvPr>
            <p:ph type="sldNum" sz="quarter" idx="12"/>
          </p:nvPr>
        </p:nvSpPr>
        <p:spPr/>
        <p:txBody>
          <a:bodyPr/>
          <a:lstStyle/>
          <a:p>
            <a:fld id="{1F53FDD8-ACBC-A644-A5EF-20DCA4840ED4}" type="slidenum">
              <a:rPr lang="en-US" smtClean="0"/>
              <a:t>‹#›</a:t>
            </a:fld>
            <a:endParaRPr lang="en-US"/>
          </a:p>
        </p:txBody>
      </p:sp>
    </p:spTree>
    <p:extLst>
      <p:ext uri="{BB962C8B-B14F-4D97-AF65-F5344CB8AC3E}">
        <p14:creationId xmlns:p14="http://schemas.microsoft.com/office/powerpoint/2010/main" val="9173171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8A53E-41A4-0145-8718-713AD08C6C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E79F5FA-E6CB-9B48-B668-86D15E0B25D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6A7DE26-992C-F843-B0F3-5822F64508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DA5C64D-48ED-274D-BBEE-C3E99C739F42}"/>
              </a:ext>
            </a:extLst>
          </p:cNvPr>
          <p:cNvSpPr>
            <a:spLocks noGrp="1"/>
          </p:cNvSpPr>
          <p:nvPr>
            <p:ph type="dt" sz="half" idx="10"/>
          </p:nvPr>
        </p:nvSpPr>
        <p:spPr/>
        <p:txBody>
          <a:bodyPr/>
          <a:lstStyle/>
          <a:p>
            <a:fld id="{E22482E7-11EC-EB44-8CF5-355229AFDAE0}" type="datetimeFigureOut">
              <a:rPr lang="en-US" smtClean="0"/>
              <a:t>7/24/23</a:t>
            </a:fld>
            <a:endParaRPr lang="en-US"/>
          </a:p>
        </p:txBody>
      </p:sp>
      <p:sp>
        <p:nvSpPr>
          <p:cNvPr id="6" name="Footer Placeholder 5">
            <a:extLst>
              <a:ext uri="{FF2B5EF4-FFF2-40B4-BE49-F238E27FC236}">
                <a16:creationId xmlns:a16="http://schemas.microsoft.com/office/drawing/2014/main" id="{93085EAC-30A0-3845-9C91-F4353314898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1FD50A-6E9A-E341-9EA5-337D481A249E}"/>
              </a:ext>
            </a:extLst>
          </p:cNvPr>
          <p:cNvSpPr>
            <a:spLocks noGrp="1"/>
          </p:cNvSpPr>
          <p:nvPr>
            <p:ph type="sldNum" sz="quarter" idx="12"/>
          </p:nvPr>
        </p:nvSpPr>
        <p:spPr/>
        <p:txBody>
          <a:bodyPr/>
          <a:lstStyle/>
          <a:p>
            <a:fld id="{1F53FDD8-ACBC-A644-A5EF-20DCA4840ED4}" type="slidenum">
              <a:rPr lang="en-US" smtClean="0"/>
              <a:t>‹#›</a:t>
            </a:fld>
            <a:endParaRPr lang="en-US"/>
          </a:p>
        </p:txBody>
      </p:sp>
    </p:spTree>
    <p:extLst>
      <p:ext uri="{BB962C8B-B14F-4D97-AF65-F5344CB8AC3E}">
        <p14:creationId xmlns:p14="http://schemas.microsoft.com/office/powerpoint/2010/main" val="34877712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7D5F2-79C9-544B-9613-B070AC3721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ECE59F0-CEBA-6A4C-A27F-A618822981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0494EA3-E7DC-1F4C-9FAD-4AA583E639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BD477D-A5D6-2D42-816F-888D7F48582D}"/>
              </a:ext>
            </a:extLst>
          </p:cNvPr>
          <p:cNvSpPr>
            <a:spLocks noGrp="1"/>
          </p:cNvSpPr>
          <p:nvPr>
            <p:ph type="dt" sz="half" idx="10"/>
          </p:nvPr>
        </p:nvSpPr>
        <p:spPr/>
        <p:txBody>
          <a:bodyPr/>
          <a:lstStyle/>
          <a:p>
            <a:fld id="{E22482E7-11EC-EB44-8CF5-355229AFDAE0}" type="datetimeFigureOut">
              <a:rPr lang="en-US" smtClean="0"/>
              <a:t>7/24/23</a:t>
            </a:fld>
            <a:endParaRPr lang="en-US"/>
          </a:p>
        </p:txBody>
      </p:sp>
      <p:sp>
        <p:nvSpPr>
          <p:cNvPr id="6" name="Footer Placeholder 5">
            <a:extLst>
              <a:ext uri="{FF2B5EF4-FFF2-40B4-BE49-F238E27FC236}">
                <a16:creationId xmlns:a16="http://schemas.microsoft.com/office/drawing/2014/main" id="{C967AE70-75B3-1C41-8024-62C802A4FB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80ED2C4-9681-9341-9973-F8526A4E9311}"/>
              </a:ext>
            </a:extLst>
          </p:cNvPr>
          <p:cNvSpPr>
            <a:spLocks noGrp="1"/>
          </p:cNvSpPr>
          <p:nvPr>
            <p:ph type="sldNum" sz="quarter" idx="12"/>
          </p:nvPr>
        </p:nvSpPr>
        <p:spPr/>
        <p:txBody>
          <a:bodyPr/>
          <a:lstStyle/>
          <a:p>
            <a:fld id="{1F53FDD8-ACBC-A644-A5EF-20DCA4840ED4}" type="slidenum">
              <a:rPr lang="en-US" smtClean="0"/>
              <a:t>‹#›</a:t>
            </a:fld>
            <a:endParaRPr lang="en-US"/>
          </a:p>
        </p:txBody>
      </p:sp>
    </p:spTree>
    <p:extLst>
      <p:ext uri="{BB962C8B-B14F-4D97-AF65-F5344CB8AC3E}">
        <p14:creationId xmlns:p14="http://schemas.microsoft.com/office/powerpoint/2010/main" val="40215916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70A23-3F1B-7145-809F-7EB0730F498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3985CDA-0B35-3C40-9627-6C3C9BF226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D50B5E5-DA8A-594B-94BC-DBBC68715C14}"/>
              </a:ext>
            </a:extLst>
          </p:cNvPr>
          <p:cNvSpPr>
            <a:spLocks noGrp="1"/>
          </p:cNvSpPr>
          <p:nvPr>
            <p:ph type="dt" sz="half" idx="10"/>
          </p:nvPr>
        </p:nvSpPr>
        <p:spPr/>
        <p:txBody>
          <a:bodyPr/>
          <a:lstStyle/>
          <a:p>
            <a:fld id="{E22482E7-11EC-EB44-8CF5-355229AFDAE0}" type="datetimeFigureOut">
              <a:rPr lang="en-US" smtClean="0"/>
              <a:t>7/24/23</a:t>
            </a:fld>
            <a:endParaRPr lang="en-US"/>
          </a:p>
        </p:txBody>
      </p:sp>
      <p:sp>
        <p:nvSpPr>
          <p:cNvPr id="5" name="Footer Placeholder 4">
            <a:extLst>
              <a:ext uri="{FF2B5EF4-FFF2-40B4-BE49-F238E27FC236}">
                <a16:creationId xmlns:a16="http://schemas.microsoft.com/office/drawing/2014/main" id="{96F27AA7-83BD-F544-BF7B-6A4D7D0AEC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A761C8-9BA1-B94B-AC31-E9F8DC52E962}"/>
              </a:ext>
            </a:extLst>
          </p:cNvPr>
          <p:cNvSpPr>
            <a:spLocks noGrp="1"/>
          </p:cNvSpPr>
          <p:nvPr>
            <p:ph type="sldNum" sz="quarter" idx="12"/>
          </p:nvPr>
        </p:nvSpPr>
        <p:spPr/>
        <p:txBody>
          <a:bodyPr/>
          <a:lstStyle/>
          <a:p>
            <a:fld id="{1F53FDD8-ACBC-A644-A5EF-20DCA4840ED4}" type="slidenum">
              <a:rPr lang="en-US" smtClean="0"/>
              <a:t>‹#›</a:t>
            </a:fld>
            <a:endParaRPr lang="en-US"/>
          </a:p>
        </p:txBody>
      </p:sp>
    </p:spTree>
    <p:extLst>
      <p:ext uri="{BB962C8B-B14F-4D97-AF65-F5344CB8AC3E}">
        <p14:creationId xmlns:p14="http://schemas.microsoft.com/office/powerpoint/2010/main" val="42402908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53AAA7E-2996-BE41-97C3-7B4E32763F6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02DC208-CFA4-F44C-9D64-E5D3E456BC9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93992C-9D28-714E-9C21-89290806929D}"/>
              </a:ext>
            </a:extLst>
          </p:cNvPr>
          <p:cNvSpPr>
            <a:spLocks noGrp="1"/>
          </p:cNvSpPr>
          <p:nvPr>
            <p:ph type="dt" sz="half" idx="10"/>
          </p:nvPr>
        </p:nvSpPr>
        <p:spPr/>
        <p:txBody>
          <a:bodyPr/>
          <a:lstStyle/>
          <a:p>
            <a:fld id="{E22482E7-11EC-EB44-8CF5-355229AFDAE0}" type="datetimeFigureOut">
              <a:rPr lang="en-US" smtClean="0"/>
              <a:t>7/24/23</a:t>
            </a:fld>
            <a:endParaRPr lang="en-US"/>
          </a:p>
        </p:txBody>
      </p:sp>
      <p:sp>
        <p:nvSpPr>
          <p:cNvPr id="5" name="Footer Placeholder 4">
            <a:extLst>
              <a:ext uri="{FF2B5EF4-FFF2-40B4-BE49-F238E27FC236}">
                <a16:creationId xmlns:a16="http://schemas.microsoft.com/office/drawing/2014/main" id="{4502394E-E714-7746-80E0-00087705D5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61C2A8-D3FC-EE4E-BCA3-0B960426425D}"/>
              </a:ext>
            </a:extLst>
          </p:cNvPr>
          <p:cNvSpPr>
            <a:spLocks noGrp="1"/>
          </p:cNvSpPr>
          <p:nvPr>
            <p:ph type="sldNum" sz="quarter" idx="12"/>
          </p:nvPr>
        </p:nvSpPr>
        <p:spPr/>
        <p:txBody>
          <a:bodyPr/>
          <a:lstStyle/>
          <a:p>
            <a:fld id="{1F53FDD8-ACBC-A644-A5EF-20DCA4840ED4}" type="slidenum">
              <a:rPr lang="en-US" smtClean="0"/>
              <a:t>‹#›</a:t>
            </a:fld>
            <a:endParaRPr lang="en-US"/>
          </a:p>
        </p:txBody>
      </p:sp>
    </p:spTree>
    <p:extLst>
      <p:ext uri="{BB962C8B-B14F-4D97-AF65-F5344CB8AC3E}">
        <p14:creationId xmlns:p14="http://schemas.microsoft.com/office/powerpoint/2010/main" val="26064138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4DC5F12-8AE4-374E-A4CA-11E0B6464EF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0E1681C-233E-8247-9D02-3D2881CFBF7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966DB0-449D-D24F-B247-017BF965D5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2482E7-11EC-EB44-8CF5-355229AFDAE0}" type="datetimeFigureOut">
              <a:rPr lang="en-US" smtClean="0"/>
              <a:t>7/24/23</a:t>
            </a:fld>
            <a:endParaRPr lang="en-US"/>
          </a:p>
        </p:txBody>
      </p:sp>
      <p:sp>
        <p:nvSpPr>
          <p:cNvPr id="5" name="Footer Placeholder 4">
            <a:extLst>
              <a:ext uri="{FF2B5EF4-FFF2-40B4-BE49-F238E27FC236}">
                <a16:creationId xmlns:a16="http://schemas.microsoft.com/office/drawing/2014/main" id="{AD2F4414-23EE-8048-BB4E-CA23D751B47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8799700-9935-A946-A9A1-57910D9A4B7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53FDD8-ACBC-A644-A5EF-20DCA4840ED4}" type="slidenum">
              <a:rPr lang="en-US" smtClean="0"/>
              <a:t>‹#›</a:t>
            </a:fld>
            <a:endParaRPr lang="en-US"/>
          </a:p>
        </p:txBody>
      </p:sp>
    </p:spTree>
    <p:extLst>
      <p:ext uri="{BB962C8B-B14F-4D97-AF65-F5344CB8AC3E}">
        <p14:creationId xmlns:p14="http://schemas.microsoft.com/office/powerpoint/2010/main" val="14311787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8C978-6D6A-994D-B67D-5FDF1DCF1CC0}"/>
              </a:ext>
            </a:extLst>
          </p:cNvPr>
          <p:cNvSpPr>
            <a:spLocks noGrp="1"/>
          </p:cNvSpPr>
          <p:nvPr>
            <p:ph type="ctrTitle"/>
          </p:nvPr>
        </p:nvSpPr>
        <p:spPr/>
        <p:txBody>
          <a:bodyPr/>
          <a:lstStyle/>
          <a:p>
            <a:r>
              <a:rPr lang="en-US" dirty="0"/>
              <a:t>Pipeline update</a:t>
            </a:r>
          </a:p>
        </p:txBody>
      </p:sp>
      <p:sp>
        <p:nvSpPr>
          <p:cNvPr id="3" name="Subtitle 2">
            <a:extLst>
              <a:ext uri="{FF2B5EF4-FFF2-40B4-BE49-F238E27FC236}">
                <a16:creationId xmlns:a16="http://schemas.microsoft.com/office/drawing/2014/main" id="{16985DC1-74AA-244D-B641-9A5ED3CE7771}"/>
              </a:ext>
            </a:extLst>
          </p:cNvPr>
          <p:cNvSpPr>
            <a:spLocks noGrp="1"/>
          </p:cNvSpPr>
          <p:nvPr>
            <p:ph type="subTitle" idx="1"/>
          </p:nvPr>
        </p:nvSpPr>
        <p:spPr/>
        <p:txBody>
          <a:bodyPr/>
          <a:lstStyle/>
          <a:p>
            <a:r>
              <a:rPr lang="en-US" dirty="0"/>
              <a:t>Pipeline includes removal of contaminants</a:t>
            </a:r>
          </a:p>
        </p:txBody>
      </p:sp>
    </p:spTree>
    <p:extLst>
      <p:ext uri="{BB962C8B-B14F-4D97-AF65-F5344CB8AC3E}">
        <p14:creationId xmlns:p14="http://schemas.microsoft.com/office/powerpoint/2010/main" val="20779947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FBF5C-5759-9745-995C-63571E96A4FE}"/>
              </a:ext>
            </a:extLst>
          </p:cNvPr>
          <p:cNvSpPr>
            <a:spLocks noGrp="1"/>
          </p:cNvSpPr>
          <p:nvPr>
            <p:ph type="title"/>
          </p:nvPr>
        </p:nvSpPr>
        <p:spPr/>
        <p:txBody>
          <a:bodyPr/>
          <a:lstStyle/>
          <a:p>
            <a:r>
              <a:rPr lang="en-US" dirty="0"/>
              <a:t>Example file 100A</a:t>
            </a:r>
          </a:p>
        </p:txBody>
      </p:sp>
      <p:pic>
        <p:nvPicPr>
          <p:cNvPr id="6" name="Content Placeholder 5" descr="A screenshot of a graph&#10;&#10;Description automatically generated">
            <a:extLst>
              <a:ext uri="{FF2B5EF4-FFF2-40B4-BE49-F238E27FC236}">
                <a16:creationId xmlns:a16="http://schemas.microsoft.com/office/drawing/2014/main" id="{ED2EAA92-1365-EA4D-8C6C-9C89B4F75247}"/>
              </a:ext>
            </a:extLst>
          </p:cNvPr>
          <p:cNvPicPr>
            <a:picLocks noGrp="1" noChangeAspect="1"/>
          </p:cNvPicPr>
          <p:nvPr>
            <p:ph idx="1"/>
          </p:nvPr>
        </p:nvPicPr>
        <p:blipFill rotWithShape="1">
          <a:blip r:embed="rId2"/>
          <a:srcRect b="2551"/>
          <a:stretch/>
        </p:blipFill>
        <p:spPr>
          <a:xfrm>
            <a:off x="838200" y="2292865"/>
            <a:ext cx="5239018" cy="3606800"/>
          </a:xfrm>
        </p:spPr>
      </p:pic>
      <p:pic>
        <p:nvPicPr>
          <p:cNvPr id="9" name="Picture 8" descr="A graph of a number of cells&#10;&#10;Description automatically generated">
            <a:extLst>
              <a:ext uri="{FF2B5EF4-FFF2-40B4-BE49-F238E27FC236}">
                <a16:creationId xmlns:a16="http://schemas.microsoft.com/office/drawing/2014/main" id="{6BB5F7A5-2276-2A4D-A696-FB9B3AD63C53}"/>
              </a:ext>
            </a:extLst>
          </p:cNvPr>
          <p:cNvPicPr>
            <a:picLocks noChangeAspect="1"/>
          </p:cNvPicPr>
          <p:nvPr/>
        </p:nvPicPr>
        <p:blipFill>
          <a:blip r:embed="rId3"/>
          <a:stretch>
            <a:fillRect/>
          </a:stretch>
        </p:blipFill>
        <p:spPr>
          <a:xfrm>
            <a:off x="6404919" y="2292865"/>
            <a:ext cx="5105400" cy="3606800"/>
          </a:xfrm>
          <a:prstGeom prst="rect">
            <a:avLst/>
          </a:prstGeom>
        </p:spPr>
      </p:pic>
      <p:sp>
        <p:nvSpPr>
          <p:cNvPr id="10" name="Rectangle 9">
            <a:extLst>
              <a:ext uri="{FF2B5EF4-FFF2-40B4-BE49-F238E27FC236}">
                <a16:creationId xmlns:a16="http://schemas.microsoft.com/office/drawing/2014/main" id="{58812920-1EBB-A842-ABC3-040A3C040C06}"/>
              </a:ext>
            </a:extLst>
          </p:cNvPr>
          <p:cNvSpPr/>
          <p:nvPr/>
        </p:nvSpPr>
        <p:spPr>
          <a:xfrm>
            <a:off x="4042607" y="5498677"/>
            <a:ext cx="1344939" cy="400988"/>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3FD2F7D-1020-6B43-B8A3-FC60FD0E6DB6}"/>
              </a:ext>
            </a:extLst>
          </p:cNvPr>
          <p:cNvSpPr/>
          <p:nvPr/>
        </p:nvSpPr>
        <p:spPr>
          <a:xfrm>
            <a:off x="9518313" y="5498677"/>
            <a:ext cx="1446250" cy="400988"/>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6D7C602E-6FA3-8C49-97EB-BE8B514CBA22}"/>
              </a:ext>
            </a:extLst>
          </p:cNvPr>
          <p:cNvSpPr txBox="1"/>
          <p:nvPr/>
        </p:nvSpPr>
        <p:spPr>
          <a:xfrm>
            <a:off x="1638776" y="1807110"/>
            <a:ext cx="9116278" cy="369332"/>
          </a:xfrm>
          <a:prstGeom prst="rect">
            <a:avLst/>
          </a:prstGeom>
          <a:noFill/>
        </p:spPr>
        <p:txBody>
          <a:bodyPr wrap="none" rtlCol="0">
            <a:spAutoFit/>
          </a:bodyPr>
          <a:lstStyle/>
          <a:p>
            <a:r>
              <a:rPr lang="en-US" dirty="0">
                <a:solidFill>
                  <a:srgbClr val="FF0000"/>
                </a:solidFill>
              </a:rPr>
              <a:t>Removal of contaminants affects ROC analysis and reduces number of proteins that pass cutoffs </a:t>
            </a:r>
          </a:p>
        </p:txBody>
      </p:sp>
      <p:sp>
        <p:nvSpPr>
          <p:cNvPr id="13" name="TextBox 12">
            <a:extLst>
              <a:ext uri="{FF2B5EF4-FFF2-40B4-BE49-F238E27FC236}">
                <a16:creationId xmlns:a16="http://schemas.microsoft.com/office/drawing/2014/main" id="{AEE239EB-0E0E-F349-A7ED-B34B632E0863}"/>
              </a:ext>
            </a:extLst>
          </p:cNvPr>
          <p:cNvSpPr txBox="1"/>
          <p:nvPr/>
        </p:nvSpPr>
        <p:spPr>
          <a:xfrm>
            <a:off x="1638776" y="6132510"/>
            <a:ext cx="8599214" cy="369332"/>
          </a:xfrm>
          <a:prstGeom prst="rect">
            <a:avLst/>
          </a:prstGeom>
          <a:noFill/>
        </p:spPr>
        <p:txBody>
          <a:bodyPr wrap="none" rtlCol="0">
            <a:spAutoFit/>
          </a:bodyPr>
          <a:lstStyle/>
          <a:p>
            <a:r>
              <a:rPr lang="en-US" dirty="0">
                <a:solidFill>
                  <a:srgbClr val="FF0000"/>
                </a:solidFill>
              </a:rPr>
              <a:t>But it clears the results from contaminants – which is a good addition to clean up the data </a:t>
            </a:r>
          </a:p>
        </p:txBody>
      </p:sp>
    </p:spTree>
    <p:extLst>
      <p:ext uri="{BB962C8B-B14F-4D97-AF65-F5344CB8AC3E}">
        <p14:creationId xmlns:p14="http://schemas.microsoft.com/office/powerpoint/2010/main" val="27381411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E2D9F2A6-7732-9C43-9576-F29FCD755499}"/>
              </a:ext>
            </a:extLst>
          </p:cNvPr>
          <p:cNvSpPr/>
          <p:nvPr/>
        </p:nvSpPr>
        <p:spPr>
          <a:xfrm>
            <a:off x="-1" y="4163263"/>
            <a:ext cx="12191999" cy="2685147"/>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8FFD82-9754-734C-9E3E-DCF60C2593DC}"/>
              </a:ext>
            </a:extLst>
          </p:cNvPr>
          <p:cNvSpPr>
            <a:spLocks noGrp="1"/>
          </p:cNvSpPr>
          <p:nvPr>
            <p:ph type="title"/>
          </p:nvPr>
        </p:nvSpPr>
        <p:spPr/>
        <p:txBody>
          <a:bodyPr/>
          <a:lstStyle/>
          <a:p>
            <a:r>
              <a:rPr lang="en-US" dirty="0"/>
              <a:t>Example file 100A</a:t>
            </a:r>
          </a:p>
        </p:txBody>
      </p:sp>
      <p:sp>
        <p:nvSpPr>
          <p:cNvPr id="11" name="Rectangle 10">
            <a:extLst>
              <a:ext uri="{FF2B5EF4-FFF2-40B4-BE49-F238E27FC236}">
                <a16:creationId xmlns:a16="http://schemas.microsoft.com/office/drawing/2014/main" id="{A1DC45FE-F980-2740-91A2-7FB4559B0A6C}"/>
              </a:ext>
            </a:extLst>
          </p:cNvPr>
          <p:cNvSpPr/>
          <p:nvPr/>
        </p:nvSpPr>
        <p:spPr>
          <a:xfrm>
            <a:off x="0" y="1352162"/>
            <a:ext cx="12191999" cy="2685147"/>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descr="A graph of a number of different protein levels&#10;&#10;Description automatically generated">
            <a:extLst>
              <a:ext uri="{FF2B5EF4-FFF2-40B4-BE49-F238E27FC236}">
                <a16:creationId xmlns:a16="http://schemas.microsoft.com/office/drawing/2014/main" id="{496519B3-B774-7B42-BDDD-02914BD5F3C7}"/>
              </a:ext>
            </a:extLst>
          </p:cNvPr>
          <p:cNvPicPr>
            <a:picLocks noChangeAspect="1"/>
          </p:cNvPicPr>
          <p:nvPr/>
        </p:nvPicPr>
        <p:blipFill>
          <a:blip r:embed="rId3"/>
          <a:stretch>
            <a:fillRect/>
          </a:stretch>
        </p:blipFill>
        <p:spPr>
          <a:xfrm>
            <a:off x="394700" y="1352162"/>
            <a:ext cx="3800808" cy="2685148"/>
          </a:xfrm>
          <a:prstGeom prst="rect">
            <a:avLst/>
          </a:prstGeom>
        </p:spPr>
      </p:pic>
      <p:sp>
        <p:nvSpPr>
          <p:cNvPr id="15" name="Rectangle 14">
            <a:extLst>
              <a:ext uri="{FF2B5EF4-FFF2-40B4-BE49-F238E27FC236}">
                <a16:creationId xmlns:a16="http://schemas.microsoft.com/office/drawing/2014/main" id="{03D55131-2F60-5445-91EB-1CBF32D1EDF7}"/>
              </a:ext>
            </a:extLst>
          </p:cNvPr>
          <p:cNvSpPr/>
          <p:nvPr/>
        </p:nvSpPr>
        <p:spPr>
          <a:xfrm>
            <a:off x="1964215" y="3742040"/>
            <a:ext cx="902970" cy="295269"/>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Picture 22" descr="A graph of a graph&#10;&#10;Description automatically generated">
            <a:extLst>
              <a:ext uri="{FF2B5EF4-FFF2-40B4-BE49-F238E27FC236}">
                <a16:creationId xmlns:a16="http://schemas.microsoft.com/office/drawing/2014/main" id="{75FB4FDD-A349-7849-B79A-5E2CA7BBB77C}"/>
              </a:ext>
            </a:extLst>
          </p:cNvPr>
          <p:cNvPicPr>
            <a:picLocks noChangeAspect="1"/>
          </p:cNvPicPr>
          <p:nvPr/>
        </p:nvPicPr>
        <p:blipFill>
          <a:blip r:embed="rId4"/>
          <a:stretch>
            <a:fillRect/>
          </a:stretch>
        </p:blipFill>
        <p:spPr>
          <a:xfrm>
            <a:off x="4306449" y="1352162"/>
            <a:ext cx="3800808" cy="2685148"/>
          </a:xfrm>
          <a:prstGeom prst="rect">
            <a:avLst/>
          </a:prstGeom>
        </p:spPr>
      </p:pic>
      <p:pic>
        <p:nvPicPr>
          <p:cNvPr id="26" name="Picture 25" descr="A graph of different colored bars&#10;&#10;Description automatically generated">
            <a:extLst>
              <a:ext uri="{FF2B5EF4-FFF2-40B4-BE49-F238E27FC236}">
                <a16:creationId xmlns:a16="http://schemas.microsoft.com/office/drawing/2014/main" id="{E8AD1070-8173-954C-AD69-E61D8ABB5548}"/>
              </a:ext>
            </a:extLst>
          </p:cNvPr>
          <p:cNvPicPr>
            <a:picLocks noChangeAspect="1"/>
          </p:cNvPicPr>
          <p:nvPr/>
        </p:nvPicPr>
        <p:blipFill>
          <a:blip r:embed="rId5"/>
          <a:stretch>
            <a:fillRect/>
          </a:stretch>
        </p:blipFill>
        <p:spPr>
          <a:xfrm>
            <a:off x="8218198" y="1352163"/>
            <a:ext cx="3800807" cy="2685147"/>
          </a:xfrm>
          <a:prstGeom prst="rect">
            <a:avLst/>
          </a:prstGeom>
        </p:spPr>
      </p:pic>
      <p:pic>
        <p:nvPicPr>
          <p:cNvPr id="28" name="Picture 27" descr="A graph of a number of cells&#10;&#10;Description automatically generated">
            <a:extLst>
              <a:ext uri="{FF2B5EF4-FFF2-40B4-BE49-F238E27FC236}">
                <a16:creationId xmlns:a16="http://schemas.microsoft.com/office/drawing/2014/main" id="{71A4D3FE-8DE8-D34E-B177-E2C1AE69639C}"/>
              </a:ext>
            </a:extLst>
          </p:cNvPr>
          <p:cNvPicPr>
            <a:picLocks noChangeAspect="1"/>
          </p:cNvPicPr>
          <p:nvPr/>
        </p:nvPicPr>
        <p:blipFill>
          <a:blip r:embed="rId6"/>
          <a:stretch>
            <a:fillRect/>
          </a:stretch>
        </p:blipFill>
        <p:spPr>
          <a:xfrm>
            <a:off x="394700" y="4168250"/>
            <a:ext cx="3800808" cy="2685148"/>
          </a:xfrm>
          <a:prstGeom prst="rect">
            <a:avLst/>
          </a:prstGeom>
        </p:spPr>
      </p:pic>
      <p:pic>
        <p:nvPicPr>
          <p:cNvPr id="30" name="Picture 29" descr="A graph of a number of data&#10;&#10;Description automatically generated">
            <a:extLst>
              <a:ext uri="{FF2B5EF4-FFF2-40B4-BE49-F238E27FC236}">
                <a16:creationId xmlns:a16="http://schemas.microsoft.com/office/drawing/2014/main" id="{F4EFB8D9-324F-7D45-8C96-E0ECFB024AB2}"/>
              </a:ext>
            </a:extLst>
          </p:cNvPr>
          <p:cNvPicPr>
            <a:picLocks noChangeAspect="1"/>
          </p:cNvPicPr>
          <p:nvPr/>
        </p:nvPicPr>
        <p:blipFill>
          <a:blip r:embed="rId7"/>
          <a:stretch>
            <a:fillRect/>
          </a:stretch>
        </p:blipFill>
        <p:spPr>
          <a:xfrm>
            <a:off x="4306448" y="4168250"/>
            <a:ext cx="3800807" cy="2685148"/>
          </a:xfrm>
          <a:prstGeom prst="rect">
            <a:avLst/>
          </a:prstGeom>
        </p:spPr>
      </p:pic>
      <p:pic>
        <p:nvPicPr>
          <p:cNvPr id="32" name="Picture 31" descr="A graph of different colored bars&#10;&#10;Description automatically generated">
            <a:extLst>
              <a:ext uri="{FF2B5EF4-FFF2-40B4-BE49-F238E27FC236}">
                <a16:creationId xmlns:a16="http://schemas.microsoft.com/office/drawing/2014/main" id="{659820D4-8C54-2743-9B4D-C3C36B770B13}"/>
              </a:ext>
            </a:extLst>
          </p:cNvPr>
          <p:cNvPicPr>
            <a:picLocks noChangeAspect="1"/>
          </p:cNvPicPr>
          <p:nvPr/>
        </p:nvPicPr>
        <p:blipFill>
          <a:blip r:embed="rId8"/>
          <a:stretch>
            <a:fillRect/>
          </a:stretch>
        </p:blipFill>
        <p:spPr>
          <a:xfrm>
            <a:off x="8218195" y="4158274"/>
            <a:ext cx="3821442" cy="2699725"/>
          </a:xfrm>
          <a:prstGeom prst="rect">
            <a:avLst/>
          </a:prstGeom>
        </p:spPr>
      </p:pic>
      <p:sp>
        <p:nvSpPr>
          <p:cNvPr id="34" name="Rectangle 33">
            <a:extLst>
              <a:ext uri="{FF2B5EF4-FFF2-40B4-BE49-F238E27FC236}">
                <a16:creationId xmlns:a16="http://schemas.microsoft.com/office/drawing/2014/main" id="{22A82EBC-003E-2840-A781-F05DD9A19D2C}"/>
              </a:ext>
            </a:extLst>
          </p:cNvPr>
          <p:cNvSpPr/>
          <p:nvPr/>
        </p:nvSpPr>
        <p:spPr>
          <a:xfrm>
            <a:off x="1844037" y="6562731"/>
            <a:ext cx="902970" cy="295269"/>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056AB915-2F43-5F4C-8047-5BABF322B76E}"/>
              </a:ext>
            </a:extLst>
          </p:cNvPr>
          <p:cNvSpPr/>
          <p:nvPr/>
        </p:nvSpPr>
        <p:spPr>
          <a:xfrm>
            <a:off x="7085405" y="1395419"/>
            <a:ext cx="902970" cy="295269"/>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0DFCF3E5-2995-6F41-BEE8-06B4EF8F524C}"/>
              </a:ext>
            </a:extLst>
          </p:cNvPr>
          <p:cNvSpPr/>
          <p:nvPr/>
        </p:nvSpPr>
        <p:spPr>
          <a:xfrm>
            <a:off x="10859738" y="1395419"/>
            <a:ext cx="902970" cy="295269"/>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AB8FBDAB-657B-C545-92F0-EE3C023467CA}"/>
              </a:ext>
            </a:extLst>
          </p:cNvPr>
          <p:cNvSpPr/>
          <p:nvPr/>
        </p:nvSpPr>
        <p:spPr>
          <a:xfrm>
            <a:off x="10913724" y="4168250"/>
            <a:ext cx="902970" cy="295269"/>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D5BEBB74-8210-BD4C-AE6C-73E215AF775B}"/>
              </a:ext>
            </a:extLst>
          </p:cNvPr>
          <p:cNvSpPr/>
          <p:nvPr/>
        </p:nvSpPr>
        <p:spPr>
          <a:xfrm>
            <a:off x="6852770" y="4168250"/>
            <a:ext cx="902970" cy="295269"/>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273648A6-7228-E64F-99AE-0A28A1195FB6}"/>
              </a:ext>
            </a:extLst>
          </p:cNvPr>
          <p:cNvSpPr txBox="1"/>
          <p:nvPr/>
        </p:nvSpPr>
        <p:spPr>
          <a:xfrm>
            <a:off x="5440608" y="535478"/>
            <a:ext cx="6376086" cy="646331"/>
          </a:xfrm>
          <a:prstGeom prst="rect">
            <a:avLst/>
          </a:prstGeom>
          <a:noFill/>
        </p:spPr>
        <p:txBody>
          <a:bodyPr wrap="square" rtlCol="0">
            <a:spAutoFit/>
          </a:bodyPr>
          <a:lstStyle/>
          <a:p>
            <a:r>
              <a:rPr lang="en-US" dirty="0">
                <a:solidFill>
                  <a:srgbClr val="FF0000"/>
                </a:solidFill>
              </a:rPr>
              <a:t>Here an example of one ratio from the 100A file, the cutoff is higher and around 100 proteins less pass the threshold </a:t>
            </a:r>
          </a:p>
        </p:txBody>
      </p:sp>
    </p:spTree>
    <p:extLst>
      <p:ext uri="{BB962C8B-B14F-4D97-AF65-F5344CB8AC3E}">
        <p14:creationId xmlns:p14="http://schemas.microsoft.com/office/powerpoint/2010/main" val="26282902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7B90B6-8A0B-A843-B877-961F9B577A34}"/>
              </a:ext>
            </a:extLst>
          </p:cNvPr>
          <p:cNvSpPr>
            <a:spLocks noGrp="1"/>
          </p:cNvSpPr>
          <p:nvPr>
            <p:ph idx="1"/>
          </p:nvPr>
        </p:nvSpPr>
        <p:spPr>
          <a:xfrm>
            <a:off x="838200" y="3160155"/>
            <a:ext cx="10515600" cy="905218"/>
          </a:xfrm>
        </p:spPr>
        <p:txBody>
          <a:bodyPr/>
          <a:lstStyle/>
          <a:p>
            <a:pPr marL="0" indent="0" algn="ctr">
              <a:buNone/>
            </a:pPr>
            <a:r>
              <a:rPr lang="en-US" dirty="0"/>
              <a:t>Using the new results (results without contaminants)…</a:t>
            </a:r>
          </a:p>
        </p:txBody>
      </p:sp>
    </p:spTree>
    <p:extLst>
      <p:ext uri="{BB962C8B-B14F-4D97-AF65-F5344CB8AC3E}">
        <p14:creationId xmlns:p14="http://schemas.microsoft.com/office/powerpoint/2010/main" val="41302495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0E02A-8124-CD4B-BEEC-C0FC1B52213B}"/>
              </a:ext>
            </a:extLst>
          </p:cNvPr>
          <p:cNvSpPr>
            <a:spLocks noGrp="1"/>
          </p:cNvSpPr>
          <p:nvPr>
            <p:ph type="title"/>
          </p:nvPr>
        </p:nvSpPr>
        <p:spPr/>
        <p:txBody>
          <a:bodyPr/>
          <a:lstStyle/>
          <a:p>
            <a:r>
              <a:rPr lang="en-US" dirty="0"/>
              <a:t>Experiments used for creation of lists for </a:t>
            </a:r>
            <a:r>
              <a:rPr lang="en-US" dirty="0" err="1"/>
              <a:t>Yuvals</a:t>
            </a:r>
            <a:r>
              <a:rPr lang="en-US" dirty="0"/>
              <a:t> group </a:t>
            </a:r>
          </a:p>
        </p:txBody>
      </p:sp>
      <p:graphicFrame>
        <p:nvGraphicFramePr>
          <p:cNvPr id="4" name="Table 3">
            <a:extLst>
              <a:ext uri="{FF2B5EF4-FFF2-40B4-BE49-F238E27FC236}">
                <a16:creationId xmlns:a16="http://schemas.microsoft.com/office/drawing/2014/main" id="{E5EAD47C-7C83-F042-BD02-C7D8A5FEA7A8}"/>
              </a:ext>
            </a:extLst>
          </p:cNvPr>
          <p:cNvGraphicFramePr>
            <a:graphicFrameLocks noGrp="1"/>
          </p:cNvGraphicFramePr>
          <p:nvPr>
            <p:extLst>
              <p:ext uri="{D42A27DB-BD31-4B8C-83A1-F6EECF244321}">
                <p14:modId xmlns:p14="http://schemas.microsoft.com/office/powerpoint/2010/main" val="1418486045"/>
              </p:ext>
            </p:extLst>
          </p:nvPr>
        </p:nvGraphicFramePr>
        <p:xfrm>
          <a:off x="838200" y="2378890"/>
          <a:ext cx="10515600" cy="2842656"/>
        </p:xfrm>
        <a:graphic>
          <a:graphicData uri="http://schemas.openxmlformats.org/drawingml/2006/table">
            <a:tbl>
              <a:tblPr>
                <a:tableStyleId>{5C22544A-7EE6-4342-B048-85BDC9FD1C3A}</a:tableStyleId>
              </a:tblPr>
              <a:tblGrid>
                <a:gridCol w="1075679">
                  <a:extLst>
                    <a:ext uri="{9D8B030D-6E8A-4147-A177-3AD203B41FA5}">
                      <a16:colId xmlns:a16="http://schemas.microsoft.com/office/drawing/2014/main" val="4062330884"/>
                    </a:ext>
                  </a:extLst>
                </a:gridCol>
                <a:gridCol w="2994160">
                  <a:extLst>
                    <a:ext uri="{9D8B030D-6E8A-4147-A177-3AD203B41FA5}">
                      <a16:colId xmlns:a16="http://schemas.microsoft.com/office/drawing/2014/main" val="1467082021"/>
                    </a:ext>
                  </a:extLst>
                </a:gridCol>
                <a:gridCol w="1197664">
                  <a:extLst>
                    <a:ext uri="{9D8B030D-6E8A-4147-A177-3AD203B41FA5}">
                      <a16:colId xmlns:a16="http://schemas.microsoft.com/office/drawing/2014/main" val="2488174856"/>
                    </a:ext>
                  </a:extLst>
                </a:gridCol>
                <a:gridCol w="723589">
                  <a:extLst>
                    <a:ext uri="{9D8B030D-6E8A-4147-A177-3AD203B41FA5}">
                      <a16:colId xmlns:a16="http://schemas.microsoft.com/office/drawing/2014/main" val="142887182"/>
                    </a:ext>
                  </a:extLst>
                </a:gridCol>
                <a:gridCol w="723589">
                  <a:extLst>
                    <a:ext uri="{9D8B030D-6E8A-4147-A177-3AD203B41FA5}">
                      <a16:colId xmlns:a16="http://schemas.microsoft.com/office/drawing/2014/main" val="680571965"/>
                    </a:ext>
                  </a:extLst>
                </a:gridCol>
                <a:gridCol w="723589">
                  <a:extLst>
                    <a:ext uri="{9D8B030D-6E8A-4147-A177-3AD203B41FA5}">
                      <a16:colId xmlns:a16="http://schemas.microsoft.com/office/drawing/2014/main" val="3028489876"/>
                    </a:ext>
                  </a:extLst>
                </a:gridCol>
                <a:gridCol w="1788178">
                  <a:extLst>
                    <a:ext uri="{9D8B030D-6E8A-4147-A177-3AD203B41FA5}">
                      <a16:colId xmlns:a16="http://schemas.microsoft.com/office/drawing/2014/main" val="3476310010"/>
                    </a:ext>
                  </a:extLst>
                </a:gridCol>
                <a:gridCol w="1289152">
                  <a:extLst>
                    <a:ext uri="{9D8B030D-6E8A-4147-A177-3AD203B41FA5}">
                      <a16:colId xmlns:a16="http://schemas.microsoft.com/office/drawing/2014/main" val="2306650413"/>
                    </a:ext>
                  </a:extLst>
                </a:gridCol>
              </a:tblGrid>
              <a:tr h="177666">
                <a:tc>
                  <a:txBody>
                    <a:bodyPr/>
                    <a:lstStyle/>
                    <a:p>
                      <a:pPr algn="ctr" fontAlgn="ctr"/>
                      <a:r>
                        <a:rPr lang="en-US" sz="1000" u="none" strike="noStrike">
                          <a:effectLst/>
                        </a:rPr>
                        <a:t>Abbreviation</a:t>
                      </a:r>
                      <a:endParaRPr lang="en-US" sz="1000" b="1" i="0" u="none" strike="noStrike">
                        <a:solidFill>
                          <a:srgbClr val="000000"/>
                        </a:solidFill>
                        <a:effectLst/>
                        <a:latin typeface="Calibri" panose="020F0502020204030204" pitchFamily="34" charset="0"/>
                      </a:endParaRPr>
                    </a:p>
                  </a:txBody>
                  <a:tcPr marL="8328" marR="8328" marT="8328" marB="0" anchor="ctr"/>
                </a:tc>
                <a:tc>
                  <a:txBody>
                    <a:bodyPr/>
                    <a:lstStyle/>
                    <a:p>
                      <a:pPr algn="ctr" fontAlgn="ctr"/>
                      <a:r>
                        <a:rPr lang="en-US" sz="1000" u="none" strike="noStrike">
                          <a:effectLst/>
                        </a:rPr>
                        <a:t>File name</a:t>
                      </a:r>
                      <a:endParaRPr lang="en-US" sz="1000" b="1" i="0" u="none" strike="noStrike">
                        <a:solidFill>
                          <a:srgbClr val="000000"/>
                        </a:solidFill>
                        <a:effectLst/>
                        <a:latin typeface="Calibri" panose="020F0502020204030204" pitchFamily="34" charset="0"/>
                      </a:endParaRPr>
                    </a:p>
                  </a:txBody>
                  <a:tcPr marL="8328" marR="8328" marT="8328" marB="0" anchor="ctr"/>
                </a:tc>
                <a:tc>
                  <a:txBody>
                    <a:bodyPr/>
                    <a:lstStyle/>
                    <a:p>
                      <a:pPr algn="ctr" fontAlgn="ctr"/>
                      <a:r>
                        <a:rPr lang="en-US" sz="1000" u="none" strike="noStrike">
                          <a:effectLst/>
                        </a:rPr>
                        <a:t>Experiment type*</a:t>
                      </a:r>
                      <a:endParaRPr lang="en-US" sz="1000" b="1" i="0" u="none" strike="noStrike">
                        <a:solidFill>
                          <a:srgbClr val="000000"/>
                        </a:solidFill>
                        <a:effectLst/>
                        <a:latin typeface="Calibri" panose="020F0502020204030204" pitchFamily="34" charset="0"/>
                      </a:endParaRPr>
                    </a:p>
                  </a:txBody>
                  <a:tcPr marL="8328" marR="8328" marT="8328" marB="0" anchor="ctr"/>
                </a:tc>
                <a:tc>
                  <a:txBody>
                    <a:bodyPr/>
                    <a:lstStyle/>
                    <a:p>
                      <a:pPr algn="ctr" fontAlgn="ctr"/>
                      <a:r>
                        <a:rPr lang="en-US" sz="1000" u="none" strike="noStrike">
                          <a:effectLst/>
                        </a:rPr>
                        <a:t>Plex</a:t>
                      </a:r>
                      <a:endParaRPr lang="en-US" sz="1000" b="1" i="0" u="none" strike="noStrike">
                        <a:solidFill>
                          <a:srgbClr val="000000"/>
                        </a:solidFill>
                        <a:effectLst/>
                        <a:latin typeface="Calibri" panose="020F0502020204030204" pitchFamily="34" charset="0"/>
                      </a:endParaRPr>
                    </a:p>
                  </a:txBody>
                  <a:tcPr marL="8328" marR="8328" marT="8328" marB="0" anchor="ctr"/>
                </a:tc>
                <a:tc>
                  <a:txBody>
                    <a:bodyPr/>
                    <a:lstStyle/>
                    <a:p>
                      <a:pPr algn="ctr" fontAlgn="ctr"/>
                      <a:r>
                        <a:rPr lang="en-US" sz="1000" u="none" strike="noStrike">
                          <a:effectLst/>
                        </a:rPr>
                        <a:t>Mod</a:t>
                      </a:r>
                      <a:endParaRPr lang="en-US" sz="1000" b="1" i="0" u="none" strike="noStrike">
                        <a:solidFill>
                          <a:srgbClr val="000000"/>
                        </a:solidFill>
                        <a:effectLst/>
                        <a:latin typeface="Calibri" panose="020F0502020204030204" pitchFamily="34" charset="0"/>
                      </a:endParaRPr>
                    </a:p>
                  </a:txBody>
                  <a:tcPr marL="8328" marR="8328" marT="8328" marB="0" anchor="ctr"/>
                </a:tc>
                <a:tc>
                  <a:txBody>
                    <a:bodyPr/>
                    <a:lstStyle/>
                    <a:p>
                      <a:pPr algn="ctr" fontAlgn="ctr"/>
                      <a:r>
                        <a:rPr lang="en-US" sz="1000" u="none" strike="noStrike">
                          <a:effectLst/>
                        </a:rPr>
                        <a:t>Type</a:t>
                      </a:r>
                      <a:endParaRPr lang="en-US" sz="1000" b="1" i="0" u="none" strike="noStrike">
                        <a:solidFill>
                          <a:srgbClr val="000000"/>
                        </a:solidFill>
                        <a:effectLst/>
                        <a:latin typeface="Calibri" panose="020F0502020204030204" pitchFamily="34" charset="0"/>
                      </a:endParaRPr>
                    </a:p>
                  </a:txBody>
                  <a:tcPr marL="8328" marR="8328" marT="8328" marB="0" anchor="ctr"/>
                </a:tc>
                <a:tc>
                  <a:txBody>
                    <a:bodyPr/>
                    <a:lstStyle/>
                    <a:p>
                      <a:pPr algn="ctr" fontAlgn="ctr"/>
                      <a:r>
                        <a:rPr lang="en-US" sz="1000" u="none" strike="noStrike">
                          <a:effectLst/>
                        </a:rPr>
                        <a:t>Notes</a:t>
                      </a:r>
                      <a:endParaRPr lang="en-US" sz="1000" b="1" i="0" u="none" strike="noStrike">
                        <a:solidFill>
                          <a:srgbClr val="000000"/>
                        </a:solidFill>
                        <a:effectLst/>
                        <a:latin typeface="Calibri" panose="020F0502020204030204" pitchFamily="34" charset="0"/>
                      </a:endParaRPr>
                    </a:p>
                  </a:txBody>
                  <a:tcPr marL="8328" marR="8328" marT="8328" marB="0" anchor="ctr"/>
                </a:tc>
                <a:tc>
                  <a:txBody>
                    <a:bodyPr/>
                    <a:lstStyle/>
                    <a:p>
                      <a:pPr algn="ctr" fontAlgn="ctr"/>
                      <a:r>
                        <a:rPr lang="en-US" sz="1000" u="none" strike="noStrike">
                          <a:effectLst/>
                        </a:rPr>
                        <a:t>List for Yuval's group </a:t>
                      </a:r>
                      <a:endParaRPr lang="en-US" sz="1000" b="1" i="0" u="none" strike="noStrike">
                        <a:solidFill>
                          <a:srgbClr val="000000"/>
                        </a:solidFill>
                        <a:effectLst/>
                        <a:latin typeface="Calibri" panose="020F0502020204030204" pitchFamily="34" charset="0"/>
                      </a:endParaRPr>
                    </a:p>
                  </a:txBody>
                  <a:tcPr marL="8328" marR="8328" marT="8328" marB="0" anchor="ctr"/>
                </a:tc>
                <a:extLst>
                  <a:ext uri="{0D108BD9-81ED-4DB2-BD59-A6C34878D82A}">
                    <a16:rowId xmlns:a16="http://schemas.microsoft.com/office/drawing/2014/main" val="588175700"/>
                  </a:ext>
                </a:extLst>
              </a:tr>
              <a:tr h="177666">
                <a:tc>
                  <a:txBody>
                    <a:bodyPr/>
                    <a:lstStyle/>
                    <a:p>
                      <a:pPr algn="l" fontAlgn="b"/>
                      <a:r>
                        <a:rPr lang="en-US" sz="1000" u="none" strike="noStrike">
                          <a:effectLst/>
                        </a:rPr>
                        <a:t>EV1-100A_10pl</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l" fontAlgn="b"/>
                      <a:r>
                        <a:rPr lang="en-US" sz="1000" u="none" strike="noStrike">
                          <a:effectLst/>
                        </a:rPr>
                        <a:t>census-out_07302022_EV1-100A_10pl_M</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ctr" fontAlgn="b"/>
                      <a:r>
                        <a:rPr lang="en-US" sz="1000" u="none" strike="noStrike">
                          <a:effectLst/>
                        </a:rPr>
                        <a:t>whole proteome</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r" fontAlgn="b"/>
                      <a:r>
                        <a:rPr lang="en-US" sz="1000" u="none" strike="noStrike">
                          <a:effectLst/>
                        </a:rPr>
                        <a:t>10</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l" fontAlgn="b"/>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ctr" fontAlgn="b"/>
                      <a:r>
                        <a:rPr lang="en-US" sz="1000" u="none" strike="noStrike">
                          <a:effectLst/>
                        </a:rPr>
                        <a:t>Tissue</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ctr" fontAlgn="b"/>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ctr" fontAlgn="b"/>
                      <a:r>
                        <a:rPr lang="en-US" sz="1000" u="none" strike="noStrike">
                          <a:effectLst/>
                        </a:rPr>
                        <a:t>yes</a:t>
                      </a:r>
                      <a:endParaRPr lang="en-US" sz="1000" b="0" i="0" u="none" strike="noStrike">
                        <a:solidFill>
                          <a:srgbClr val="000000"/>
                        </a:solidFill>
                        <a:effectLst/>
                        <a:latin typeface="Calibri" panose="020F0502020204030204" pitchFamily="34" charset="0"/>
                      </a:endParaRPr>
                    </a:p>
                  </a:txBody>
                  <a:tcPr marL="8328" marR="8328" marT="8328" marB="0" anchor="b"/>
                </a:tc>
                <a:extLst>
                  <a:ext uri="{0D108BD9-81ED-4DB2-BD59-A6C34878D82A}">
                    <a16:rowId xmlns:a16="http://schemas.microsoft.com/office/drawing/2014/main" val="3646565129"/>
                  </a:ext>
                </a:extLst>
              </a:tr>
              <a:tr h="177666">
                <a:tc>
                  <a:txBody>
                    <a:bodyPr/>
                    <a:lstStyle/>
                    <a:p>
                      <a:pPr algn="l" fontAlgn="b"/>
                      <a:r>
                        <a:rPr lang="en-US" sz="1000" u="none" strike="noStrike">
                          <a:effectLst/>
                        </a:rPr>
                        <a:t>EV1-100B_10pl</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l" fontAlgn="b"/>
                      <a:r>
                        <a:rPr lang="en-US" sz="1000" u="none" strike="noStrike">
                          <a:effectLst/>
                        </a:rPr>
                        <a:t>census-out_07232022_EV1-100B_10pl_M</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ctr" fontAlgn="b"/>
                      <a:r>
                        <a:rPr lang="en-US" sz="1000" u="none" strike="noStrike">
                          <a:effectLst/>
                        </a:rPr>
                        <a:t>whole proteome</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r" fontAlgn="b"/>
                      <a:r>
                        <a:rPr lang="en-US" sz="1000" u="none" strike="noStrike">
                          <a:effectLst/>
                        </a:rPr>
                        <a:t>10</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l" fontAlgn="b"/>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ctr" fontAlgn="b"/>
                      <a:r>
                        <a:rPr lang="en-US" sz="1000" u="none" strike="noStrike">
                          <a:effectLst/>
                        </a:rPr>
                        <a:t>Tissue</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ctr" fontAlgn="b"/>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ctr" fontAlgn="b"/>
                      <a:r>
                        <a:rPr lang="en-US" sz="1000" u="none" strike="noStrike">
                          <a:effectLst/>
                        </a:rPr>
                        <a:t>yes</a:t>
                      </a:r>
                      <a:endParaRPr lang="en-US" sz="1000" b="0" i="0" u="none" strike="noStrike">
                        <a:solidFill>
                          <a:srgbClr val="000000"/>
                        </a:solidFill>
                        <a:effectLst/>
                        <a:latin typeface="Calibri" panose="020F0502020204030204" pitchFamily="34" charset="0"/>
                      </a:endParaRPr>
                    </a:p>
                  </a:txBody>
                  <a:tcPr marL="8328" marR="8328" marT="8328" marB="0" anchor="b"/>
                </a:tc>
                <a:extLst>
                  <a:ext uri="{0D108BD9-81ED-4DB2-BD59-A6C34878D82A}">
                    <a16:rowId xmlns:a16="http://schemas.microsoft.com/office/drawing/2014/main" val="1363953835"/>
                  </a:ext>
                </a:extLst>
              </a:tr>
              <a:tr h="177666">
                <a:tc>
                  <a:txBody>
                    <a:bodyPr/>
                    <a:lstStyle/>
                    <a:p>
                      <a:pPr algn="l" fontAlgn="b"/>
                      <a:r>
                        <a:rPr lang="en-US" sz="1000" u="none" strike="noStrike">
                          <a:effectLst/>
                        </a:rPr>
                        <a:t>EV1-100C_10pl</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l" fontAlgn="b"/>
                      <a:r>
                        <a:rPr lang="en-US" sz="1000" u="none" strike="noStrike">
                          <a:effectLst/>
                        </a:rPr>
                        <a:t>census-out_07252022_EV1-100C_10pl_M</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ctr" fontAlgn="b"/>
                      <a:r>
                        <a:rPr lang="en-US" sz="1000" u="none" strike="noStrike">
                          <a:effectLst/>
                        </a:rPr>
                        <a:t>whole proteome</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r" fontAlgn="b"/>
                      <a:r>
                        <a:rPr lang="en-US" sz="1000" u="none" strike="noStrike">
                          <a:effectLst/>
                        </a:rPr>
                        <a:t>10</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l" fontAlgn="b"/>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ctr" fontAlgn="b"/>
                      <a:r>
                        <a:rPr lang="en-US" sz="1000" u="none" strike="noStrike">
                          <a:effectLst/>
                        </a:rPr>
                        <a:t>Tissue</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ctr" fontAlgn="b"/>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ctr" fontAlgn="b"/>
                      <a:r>
                        <a:rPr lang="en-US" sz="1000" u="none" strike="noStrike">
                          <a:effectLst/>
                        </a:rPr>
                        <a:t>yes</a:t>
                      </a:r>
                      <a:endParaRPr lang="en-US" sz="1000" b="0" i="0" u="none" strike="noStrike">
                        <a:solidFill>
                          <a:srgbClr val="000000"/>
                        </a:solidFill>
                        <a:effectLst/>
                        <a:latin typeface="Calibri" panose="020F0502020204030204" pitchFamily="34" charset="0"/>
                      </a:endParaRPr>
                    </a:p>
                  </a:txBody>
                  <a:tcPr marL="8328" marR="8328" marT="8328" marB="0" anchor="b"/>
                </a:tc>
                <a:extLst>
                  <a:ext uri="{0D108BD9-81ED-4DB2-BD59-A6C34878D82A}">
                    <a16:rowId xmlns:a16="http://schemas.microsoft.com/office/drawing/2014/main" val="2651245034"/>
                  </a:ext>
                </a:extLst>
              </a:tr>
              <a:tr h="177666">
                <a:tc>
                  <a:txBody>
                    <a:bodyPr/>
                    <a:lstStyle/>
                    <a:p>
                      <a:pPr algn="l" fontAlgn="b"/>
                      <a:r>
                        <a:rPr lang="en-US" sz="1000" u="none" strike="noStrike">
                          <a:effectLst/>
                        </a:rPr>
                        <a:t>EV1-100D_10pl</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l" fontAlgn="b"/>
                      <a:r>
                        <a:rPr lang="en-US" sz="1000" u="none" strike="noStrike">
                          <a:effectLst/>
                        </a:rPr>
                        <a:t>census-out_08032022_EV1-100D_10pl_M</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ctr" fontAlgn="b"/>
                      <a:r>
                        <a:rPr lang="en-US" sz="1000" u="none" strike="noStrike">
                          <a:effectLst/>
                        </a:rPr>
                        <a:t>whole proteome</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r" fontAlgn="b"/>
                      <a:r>
                        <a:rPr lang="en-US" sz="1000" u="none" strike="noStrike">
                          <a:effectLst/>
                        </a:rPr>
                        <a:t>10</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l" fontAlgn="b"/>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ctr" fontAlgn="b"/>
                      <a:r>
                        <a:rPr lang="en-US" sz="1000" u="none" strike="noStrike">
                          <a:effectLst/>
                        </a:rPr>
                        <a:t>Tissue</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ctr" fontAlgn="b"/>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ctr" fontAlgn="b"/>
                      <a:r>
                        <a:rPr lang="en-US" sz="1000" u="none" strike="noStrike">
                          <a:effectLst/>
                        </a:rPr>
                        <a:t>yes</a:t>
                      </a:r>
                      <a:endParaRPr lang="en-US" sz="1000" b="0" i="0" u="none" strike="noStrike">
                        <a:solidFill>
                          <a:srgbClr val="000000"/>
                        </a:solidFill>
                        <a:effectLst/>
                        <a:latin typeface="Calibri" panose="020F0502020204030204" pitchFamily="34" charset="0"/>
                      </a:endParaRPr>
                    </a:p>
                  </a:txBody>
                  <a:tcPr marL="8328" marR="8328" marT="8328" marB="0" anchor="b"/>
                </a:tc>
                <a:extLst>
                  <a:ext uri="{0D108BD9-81ED-4DB2-BD59-A6C34878D82A}">
                    <a16:rowId xmlns:a16="http://schemas.microsoft.com/office/drawing/2014/main" val="3422752025"/>
                  </a:ext>
                </a:extLst>
              </a:tr>
              <a:tr h="177666">
                <a:tc>
                  <a:txBody>
                    <a:bodyPr/>
                    <a:lstStyle/>
                    <a:p>
                      <a:pPr algn="l" fontAlgn="b"/>
                      <a:r>
                        <a:rPr lang="en-US" sz="1000" u="none" strike="noStrike">
                          <a:effectLst/>
                        </a:rPr>
                        <a:t>EV1-98_16pl</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l" fontAlgn="b"/>
                      <a:r>
                        <a:rPr lang="en-US" sz="1000" u="none" strike="noStrike">
                          <a:effectLst/>
                        </a:rPr>
                        <a:t>census-out_07142022_EV1-98_16pl_M</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ctr" fontAlgn="b"/>
                      <a:r>
                        <a:rPr lang="en-US" sz="1000" u="none" strike="noStrike">
                          <a:effectLst/>
                        </a:rPr>
                        <a:t>whole proteome</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r" fontAlgn="b"/>
                      <a:r>
                        <a:rPr lang="en-US" sz="1000" u="none" strike="noStrike">
                          <a:effectLst/>
                        </a:rPr>
                        <a:t>16</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l" fontAlgn="b"/>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ctr" fontAlgn="b"/>
                      <a:r>
                        <a:rPr lang="en-US" sz="1000" u="none" strike="noStrike">
                          <a:effectLst/>
                        </a:rPr>
                        <a:t>Tissue</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ctr" fontAlgn="b"/>
                      <a:r>
                        <a:rPr lang="en-US" sz="1000" u="none" strike="noStrike">
                          <a:effectLst/>
                        </a:rPr>
                        <a:t>Albumin/liver</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ctr" fontAlgn="b"/>
                      <a:r>
                        <a:rPr lang="en-US" sz="1000" u="none" strike="noStrike">
                          <a:effectLst/>
                        </a:rPr>
                        <a:t>yes</a:t>
                      </a:r>
                      <a:endParaRPr lang="en-US" sz="1000" b="0" i="0" u="none" strike="noStrike">
                        <a:solidFill>
                          <a:srgbClr val="000000"/>
                        </a:solidFill>
                        <a:effectLst/>
                        <a:latin typeface="Calibri" panose="020F0502020204030204" pitchFamily="34" charset="0"/>
                      </a:endParaRPr>
                    </a:p>
                  </a:txBody>
                  <a:tcPr marL="8328" marR="8328" marT="8328" marB="0" anchor="b"/>
                </a:tc>
                <a:extLst>
                  <a:ext uri="{0D108BD9-81ED-4DB2-BD59-A6C34878D82A}">
                    <a16:rowId xmlns:a16="http://schemas.microsoft.com/office/drawing/2014/main" val="1153563847"/>
                  </a:ext>
                </a:extLst>
              </a:tr>
              <a:tr h="177666">
                <a:tc>
                  <a:txBody>
                    <a:bodyPr/>
                    <a:lstStyle/>
                    <a:p>
                      <a:pPr algn="l" fontAlgn="b"/>
                      <a:r>
                        <a:rPr lang="en-US" sz="1000" u="none" strike="noStrike">
                          <a:effectLst/>
                        </a:rPr>
                        <a:t>EV101_16pl</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l" fontAlgn="b"/>
                      <a:r>
                        <a:rPr lang="en-US" sz="1000" u="none" strike="noStrike">
                          <a:effectLst/>
                        </a:rPr>
                        <a:t>census-out_08072022_EV101_16pl_M</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ctr" fontAlgn="b"/>
                      <a:r>
                        <a:rPr lang="en-US" sz="1000" u="none" strike="noStrike">
                          <a:effectLst/>
                        </a:rPr>
                        <a:t>whole proteome</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r" fontAlgn="b"/>
                      <a:r>
                        <a:rPr lang="en-US" sz="1000" u="none" strike="noStrike">
                          <a:effectLst/>
                        </a:rPr>
                        <a:t>16</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l" fontAlgn="b"/>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ctr" fontAlgn="b"/>
                      <a:r>
                        <a:rPr lang="en-US" sz="1000" u="none" strike="noStrike">
                          <a:effectLst/>
                        </a:rPr>
                        <a:t>Tissue</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ctr" fontAlgn="b"/>
                      <a:r>
                        <a:rPr lang="en-US" sz="1000" u="none" strike="noStrike">
                          <a:effectLst/>
                        </a:rPr>
                        <a:t>Adiponectin/fat</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ctr" fontAlgn="b"/>
                      <a:r>
                        <a:rPr lang="en-US" sz="1000" u="none" strike="noStrike">
                          <a:effectLst/>
                        </a:rPr>
                        <a:t>yes</a:t>
                      </a:r>
                      <a:endParaRPr lang="en-US" sz="1000" b="0" i="0" u="none" strike="noStrike">
                        <a:solidFill>
                          <a:srgbClr val="000000"/>
                        </a:solidFill>
                        <a:effectLst/>
                        <a:latin typeface="Calibri" panose="020F0502020204030204" pitchFamily="34" charset="0"/>
                      </a:endParaRPr>
                    </a:p>
                  </a:txBody>
                  <a:tcPr marL="8328" marR="8328" marT="8328" marB="0" anchor="b"/>
                </a:tc>
                <a:extLst>
                  <a:ext uri="{0D108BD9-81ED-4DB2-BD59-A6C34878D82A}">
                    <a16:rowId xmlns:a16="http://schemas.microsoft.com/office/drawing/2014/main" val="1624885924"/>
                  </a:ext>
                </a:extLst>
              </a:tr>
              <a:tr h="177666">
                <a:tc>
                  <a:txBody>
                    <a:bodyPr/>
                    <a:lstStyle/>
                    <a:p>
                      <a:pPr algn="l" fontAlgn="b"/>
                      <a:r>
                        <a:rPr lang="en-US" sz="1000" u="none" strike="noStrike">
                          <a:effectLst/>
                        </a:rPr>
                        <a:t>EV1-105_16pl</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l" fontAlgn="b"/>
                      <a:r>
                        <a:rPr lang="en-US" sz="1000" u="none" strike="noStrike">
                          <a:effectLst/>
                        </a:rPr>
                        <a:t>census-out_08182022_ev1_105_16plex</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ctr" fontAlgn="b"/>
                      <a:r>
                        <a:rPr lang="en-US" sz="1000" u="none" strike="noStrike">
                          <a:effectLst/>
                        </a:rPr>
                        <a:t>whole proteome</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r" fontAlgn="b"/>
                      <a:r>
                        <a:rPr lang="en-US" sz="1000" u="none" strike="noStrike">
                          <a:effectLst/>
                        </a:rPr>
                        <a:t>16</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l" fontAlgn="b"/>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ctr" fontAlgn="b"/>
                      <a:r>
                        <a:rPr lang="en-US" sz="1000" u="none" strike="noStrike">
                          <a:effectLst/>
                        </a:rPr>
                        <a:t>Tissue</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ctr" fontAlgn="b"/>
                      <a:r>
                        <a:rPr lang="en-US" sz="1000" u="none" strike="noStrike">
                          <a:effectLst/>
                        </a:rPr>
                        <a:t>basal comparison</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ctr" fontAlgn="b"/>
                      <a:r>
                        <a:rPr lang="en-US" sz="1000" u="none" strike="noStrike">
                          <a:effectLst/>
                        </a:rPr>
                        <a:t>yes</a:t>
                      </a:r>
                      <a:endParaRPr lang="en-US" sz="1000" b="0" i="0" u="none" strike="noStrike">
                        <a:solidFill>
                          <a:srgbClr val="000000"/>
                        </a:solidFill>
                        <a:effectLst/>
                        <a:latin typeface="Calibri" panose="020F0502020204030204" pitchFamily="34" charset="0"/>
                      </a:endParaRPr>
                    </a:p>
                  </a:txBody>
                  <a:tcPr marL="8328" marR="8328" marT="8328" marB="0" anchor="b"/>
                </a:tc>
                <a:extLst>
                  <a:ext uri="{0D108BD9-81ED-4DB2-BD59-A6C34878D82A}">
                    <a16:rowId xmlns:a16="http://schemas.microsoft.com/office/drawing/2014/main" val="1943905235"/>
                  </a:ext>
                </a:extLst>
              </a:tr>
              <a:tr h="177666">
                <a:tc>
                  <a:txBody>
                    <a:bodyPr/>
                    <a:lstStyle/>
                    <a:p>
                      <a:pPr algn="l" fontAlgn="b"/>
                      <a:r>
                        <a:rPr lang="en-US" sz="1000" u="none" strike="noStrike">
                          <a:effectLst/>
                        </a:rPr>
                        <a:t>EV1-136_16pl</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l" fontAlgn="b"/>
                      <a:r>
                        <a:rPr lang="en-US" sz="1000" u="none" strike="noStrike">
                          <a:effectLst/>
                        </a:rPr>
                        <a:t>census-out_11292022_ev1_136_16plex</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ctr" fontAlgn="b"/>
                      <a:r>
                        <a:rPr lang="en-US" sz="1000" u="none" strike="noStrike">
                          <a:effectLst/>
                        </a:rPr>
                        <a:t>whole proteome</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r" fontAlgn="b"/>
                      <a:r>
                        <a:rPr lang="en-US" sz="1000" u="none" strike="noStrike">
                          <a:effectLst/>
                        </a:rPr>
                        <a:t>16</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l" fontAlgn="b"/>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ctr" fontAlgn="b"/>
                      <a:r>
                        <a:rPr lang="en-US" sz="1000" u="none" strike="noStrike">
                          <a:effectLst/>
                        </a:rPr>
                        <a:t>Serum</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ctr" fontAlgn="b"/>
                      <a:r>
                        <a:rPr lang="en-US" sz="1000" u="none" strike="noStrike">
                          <a:effectLst/>
                        </a:rPr>
                        <a:t>Albumin/serum</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ctr" fontAlgn="b"/>
                      <a:r>
                        <a:rPr lang="en-US" sz="1000" u="none" strike="noStrike">
                          <a:effectLst/>
                        </a:rPr>
                        <a:t>yes</a:t>
                      </a:r>
                      <a:endParaRPr lang="en-US" sz="1000" b="0" i="0" u="none" strike="noStrike">
                        <a:solidFill>
                          <a:srgbClr val="000000"/>
                        </a:solidFill>
                        <a:effectLst/>
                        <a:latin typeface="Calibri" panose="020F0502020204030204" pitchFamily="34" charset="0"/>
                      </a:endParaRPr>
                    </a:p>
                  </a:txBody>
                  <a:tcPr marL="8328" marR="8328" marT="8328" marB="0" anchor="b"/>
                </a:tc>
                <a:extLst>
                  <a:ext uri="{0D108BD9-81ED-4DB2-BD59-A6C34878D82A}">
                    <a16:rowId xmlns:a16="http://schemas.microsoft.com/office/drawing/2014/main" val="938449864"/>
                  </a:ext>
                </a:extLst>
              </a:tr>
              <a:tr h="177666">
                <a:tc>
                  <a:txBody>
                    <a:bodyPr/>
                    <a:lstStyle/>
                    <a:p>
                      <a:pPr algn="l" fontAlgn="b"/>
                      <a:r>
                        <a:rPr lang="en-US" sz="1000" u="none" strike="noStrike">
                          <a:effectLst/>
                        </a:rPr>
                        <a:t>EV1-137_16pl</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l" fontAlgn="b"/>
                      <a:r>
                        <a:rPr lang="en-US" sz="1000" u="none" strike="noStrike">
                          <a:effectLst/>
                        </a:rPr>
                        <a:t>census-out_11302022_ev1_137_16plex</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ctr" fontAlgn="b"/>
                      <a:r>
                        <a:rPr lang="en-US" sz="1000" u="none" strike="noStrike">
                          <a:effectLst/>
                        </a:rPr>
                        <a:t>whole proteome</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r" fontAlgn="b"/>
                      <a:r>
                        <a:rPr lang="en-US" sz="1000" u="none" strike="noStrike">
                          <a:effectLst/>
                        </a:rPr>
                        <a:t>16</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l" fontAlgn="b"/>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ctr" fontAlgn="b"/>
                      <a:r>
                        <a:rPr lang="en-US" sz="1000" u="none" strike="noStrike">
                          <a:effectLst/>
                        </a:rPr>
                        <a:t>Serum</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ctr" fontAlgn="b"/>
                      <a:r>
                        <a:rPr lang="en-US" sz="1000" u="none" strike="noStrike">
                          <a:effectLst/>
                        </a:rPr>
                        <a:t>Adiponectin/serum</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ctr" fontAlgn="b"/>
                      <a:r>
                        <a:rPr lang="en-US" sz="1000" u="none" strike="noStrike">
                          <a:effectLst/>
                        </a:rPr>
                        <a:t>yes</a:t>
                      </a:r>
                      <a:endParaRPr lang="en-US" sz="1000" b="0" i="0" u="none" strike="noStrike">
                        <a:solidFill>
                          <a:srgbClr val="000000"/>
                        </a:solidFill>
                        <a:effectLst/>
                        <a:latin typeface="Calibri" panose="020F0502020204030204" pitchFamily="34" charset="0"/>
                      </a:endParaRPr>
                    </a:p>
                  </a:txBody>
                  <a:tcPr marL="8328" marR="8328" marT="8328" marB="0" anchor="b"/>
                </a:tc>
                <a:extLst>
                  <a:ext uri="{0D108BD9-81ED-4DB2-BD59-A6C34878D82A}">
                    <a16:rowId xmlns:a16="http://schemas.microsoft.com/office/drawing/2014/main" val="406276474"/>
                  </a:ext>
                </a:extLst>
              </a:tr>
              <a:tr h="177666">
                <a:tc>
                  <a:txBody>
                    <a:bodyPr/>
                    <a:lstStyle/>
                    <a:p>
                      <a:pPr algn="l" fontAlgn="b"/>
                      <a:r>
                        <a:rPr lang="en-US" sz="1000" u="none" strike="noStrike">
                          <a:solidFill>
                            <a:srgbClr val="FF0000"/>
                          </a:solidFill>
                          <a:effectLst/>
                        </a:rPr>
                        <a:t>EV1_155_16pl_M</a:t>
                      </a:r>
                      <a:endParaRPr lang="en-US" sz="1000" b="0" i="0" u="none" strike="noStrike">
                        <a:solidFill>
                          <a:srgbClr val="FF0000"/>
                        </a:solidFill>
                        <a:effectLst/>
                        <a:latin typeface="Calibri" panose="020F0502020204030204" pitchFamily="34" charset="0"/>
                      </a:endParaRPr>
                    </a:p>
                  </a:txBody>
                  <a:tcPr marL="8328" marR="8328" marT="8328" marB="0" anchor="b"/>
                </a:tc>
                <a:tc>
                  <a:txBody>
                    <a:bodyPr/>
                    <a:lstStyle/>
                    <a:p>
                      <a:pPr algn="l" fontAlgn="b"/>
                      <a:r>
                        <a:rPr lang="en-US" sz="1000" u="none" strike="noStrike">
                          <a:solidFill>
                            <a:srgbClr val="FF0000"/>
                          </a:solidFill>
                          <a:effectLst/>
                        </a:rPr>
                        <a:t>census-out_01202023_EV1_155_16pl_M</a:t>
                      </a:r>
                      <a:endParaRPr lang="en-US" sz="1000" b="0" i="0" u="none" strike="noStrike">
                        <a:solidFill>
                          <a:srgbClr val="FF0000"/>
                        </a:solidFill>
                        <a:effectLst/>
                        <a:latin typeface="Calibri" panose="020F0502020204030204" pitchFamily="34" charset="0"/>
                      </a:endParaRPr>
                    </a:p>
                  </a:txBody>
                  <a:tcPr marL="8328" marR="8328" marT="8328" marB="0" anchor="b"/>
                </a:tc>
                <a:tc>
                  <a:txBody>
                    <a:bodyPr/>
                    <a:lstStyle/>
                    <a:p>
                      <a:pPr algn="ctr" fontAlgn="b"/>
                      <a:r>
                        <a:rPr lang="en-US" sz="1000" u="none" strike="noStrike">
                          <a:solidFill>
                            <a:srgbClr val="FF0000"/>
                          </a:solidFill>
                          <a:effectLst/>
                        </a:rPr>
                        <a:t>whole proteome</a:t>
                      </a:r>
                      <a:endParaRPr lang="en-US" sz="1000" b="0" i="0" u="none" strike="noStrike">
                        <a:solidFill>
                          <a:srgbClr val="FF0000"/>
                        </a:solidFill>
                        <a:effectLst/>
                        <a:latin typeface="Calibri" panose="020F0502020204030204" pitchFamily="34" charset="0"/>
                      </a:endParaRPr>
                    </a:p>
                  </a:txBody>
                  <a:tcPr marL="8328" marR="8328" marT="8328" marB="0" anchor="b"/>
                </a:tc>
                <a:tc>
                  <a:txBody>
                    <a:bodyPr/>
                    <a:lstStyle/>
                    <a:p>
                      <a:pPr algn="r" fontAlgn="b"/>
                      <a:r>
                        <a:rPr lang="en-US" sz="1000" u="none" strike="noStrike">
                          <a:solidFill>
                            <a:srgbClr val="FF0000"/>
                          </a:solidFill>
                          <a:effectLst/>
                        </a:rPr>
                        <a:t>16</a:t>
                      </a:r>
                      <a:endParaRPr lang="en-US" sz="1000" b="0" i="0" u="none" strike="noStrike">
                        <a:solidFill>
                          <a:srgbClr val="FF0000"/>
                        </a:solidFill>
                        <a:effectLst/>
                        <a:latin typeface="Calibri" panose="020F0502020204030204" pitchFamily="34" charset="0"/>
                      </a:endParaRPr>
                    </a:p>
                  </a:txBody>
                  <a:tcPr marL="8328" marR="8328" marT="8328" marB="0" anchor="b"/>
                </a:tc>
                <a:tc>
                  <a:txBody>
                    <a:bodyPr/>
                    <a:lstStyle/>
                    <a:p>
                      <a:pPr algn="l" fontAlgn="b"/>
                      <a:endParaRPr lang="en-US" sz="1000" b="0" i="0" u="none" strike="noStrike">
                        <a:solidFill>
                          <a:srgbClr val="FF0000"/>
                        </a:solidFill>
                        <a:effectLst/>
                        <a:latin typeface="Calibri" panose="020F0502020204030204" pitchFamily="34" charset="0"/>
                      </a:endParaRPr>
                    </a:p>
                  </a:txBody>
                  <a:tcPr marL="8328" marR="8328" marT="8328" marB="0" anchor="b"/>
                </a:tc>
                <a:tc>
                  <a:txBody>
                    <a:bodyPr/>
                    <a:lstStyle/>
                    <a:p>
                      <a:pPr algn="ctr" fontAlgn="b"/>
                      <a:r>
                        <a:rPr lang="en-US" sz="1000" u="none" strike="noStrike">
                          <a:solidFill>
                            <a:srgbClr val="FF0000"/>
                          </a:solidFill>
                          <a:effectLst/>
                        </a:rPr>
                        <a:t>Tissue</a:t>
                      </a:r>
                      <a:endParaRPr lang="en-US" sz="1000" b="0" i="0" u="none" strike="noStrike">
                        <a:solidFill>
                          <a:srgbClr val="FF0000"/>
                        </a:solidFill>
                        <a:effectLst/>
                        <a:latin typeface="Calibri" panose="020F0502020204030204" pitchFamily="34" charset="0"/>
                      </a:endParaRPr>
                    </a:p>
                  </a:txBody>
                  <a:tcPr marL="8328" marR="8328" marT="8328" marB="0" anchor="b"/>
                </a:tc>
                <a:tc>
                  <a:txBody>
                    <a:bodyPr/>
                    <a:lstStyle/>
                    <a:p>
                      <a:pPr algn="ctr" fontAlgn="b"/>
                      <a:r>
                        <a:rPr lang="en-US" sz="1000" u="none" strike="noStrike" dirty="0">
                          <a:solidFill>
                            <a:srgbClr val="FF0000"/>
                          </a:solidFill>
                          <a:effectLst/>
                        </a:rPr>
                        <a:t>excluded from analysis</a:t>
                      </a:r>
                      <a:endParaRPr lang="en-US" sz="1000" b="0" i="0" u="none" strike="noStrike" dirty="0">
                        <a:solidFill>
                          <a:srgbClr val="FF0000"/>
                        </a:solidFill>
                        <a:effectLst/>
                        <a:latin typeface="Calibri" panose="020F0502020204030204" pitchFamily="34" charset="0"/>
                      </a:endParaRPr>
                    </a:p>
                  </a:txBody>
                  <a:tcPr marL="8328" marR="8328" marT="8328" marB="0" anchor="b"/>
                </a:tc>
                <a:tc>
                  <a:txBody>
                    <a:bodyPr/>
                    <a:lstStyle/>
                    <a:p>
                      <a:pPr algn="ctr" fontAlgn="b"/>
                      <a:r>
                        <a:rPr lang="en-US" sz="1000" u="none" strike="noStrike" dirty="0">
                          <a:solidFill>
                            <a:srgbClr val="FF0000"/>
                          </a:solidFill>
                          <a:effectLst/>
                        </a:rPr>
                        <a:t>x</a:t>
                      </a:r>
                      <a:endParaRPr lang="en-US" sz="1000" b="0" i="0" u="none" strike="noStrike" dirty="0">
                        <a:solidFill>
                          <a:srgbClr val="FF0000"/>
                        </a:solidFill>
                        <a:effectLst/>
                        <a:latin typeface="Calibri" panose="020F0502020204030204" pitchFamily="34" charset="0"/>
                      </a:endParaRPr>
                    </a:p>
                  </a:txBody>
                  <a:tcPr marL="8328" marR="8328" marT="8328" marB="0" anchor="b"/>
                </a:tc>
                <a:extLst>
                  <a:ext uri="{0D108BD9-81ED-4DB2-BD59-A6C34878D82A}">
                    <a16:rowId xmlns:a16="http://schemas.microsoft.com/office/drawing/2014/main" val="3020296869"/>
                  </a:ext>
                </a:extLst>
              </a:tr>
              <a:tr h="177666">
                <a:tc>
                  <a:txBody>
                    <a:bodyPr/>
                    <a:lstStyle/>
                    <a:p>
                      <a:pPr algn="l" fontAlgn="b"/>
                      <a:r>
                        <a:rPr lang="en-US" sz="1000" u="none" strike="noStrike">
                          <a:effectLst/>
                        </a:rPr>
                        <a:t>EV2-9_16pl_M</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l" fontAlgn="b"/>
                      <a:r>
                        <a:rPr lang="en-US" sz="1000" u="none" strike="noStrike">
                          <a:effectLst/>
                        </a:rPr>
                        <a:t>census-out_20230214_EV2-9_16pl_M</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ctr" fontAlgn="b"/>
                      <a:r>
                        <a:rPr lang="en-US" sz="1000" u="none" strike="noStrike">
                          <a:effectLst/>
                        </a:rPr>
                        <a:t>whole proteome</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r" fontAlgn="b"/>
                      <a:r>
                        <a:rPr lang="en-US" sz="1000" u="none" strike="noStrike">
                          <a:effectLst/>
                        </a:rPr>
                        <a:t>16</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l" fontAlgn="b"/>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ctr" fontAlgn="b"/>
                      <a:r>
                        <a:rPr lang="en-US" sz="1000" u="none" strike="noStrike">
                          <a:effectLst/>
                        </a:rPr>
                        <a:t>Serum</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ctr" fontAlgn="b"/>
                      <a:r>
                        <a:rPr lang="en-US" sz="1000" u="none" strike="noStrike">
                          <a:effectLst/>
                        </a:rPr>
                        <a:t>Serum</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ctr" fontAlgn="b"/>
                      <a:r>
                        <a:rPr lang="en-US" sz="1000" u="none" strike="noStrike">
                          <a:effectLst/>
                        </a:rPr>
                        <a:t>yes</a:t>
                      </a:r>
                      <a:endParaRPr lang="en-US" sz="1000" b="0" i="0" u="none" strike="noStrike">
                        <a:solidFill>
                          <a:srgbClr val="000000"/>
                        </a:solidFill>
                        <a:effectLst/>
                        <a:latin typeface="Calibri" panose="020F0502020204030204" pitchFamily="34" charset="0"/>
                      </a:endParaRPr>
                    </a:p>
                  </a:txBody>
                  <a:tcPr marL="8328" marR="8328" marT="8328" marB="0" anchor="b"/>
                </a:tc>
                <a:extLst>
                  <a:ext uri="{0D108BD9-81ED-4DB2-BD59-A6C34878D82A}">
                    <a16:rowId xmlns:a16="http://schemas.microsoft.com/office/drawing/2014/main" val="2933105317"/>
                  </a:ext>
                </a:extLst>
              </a:tr>
              <a:tr h="177666">
                <a:tc>
                  <a:txBody>
                    <a:bodyPr/>
                    <a:lstStyle/>
                    <a:p>
                      <a:pPr algn="l" fontAlgn="b"/>
                      <a:r>
                        <a:rPr lang="en-US" sz="1000" u="none" strike="noStrike">
                          <a:effectLst/>
                        </a:rPr>
                        <a:t>CRW_A-5_16pl_M</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l" fontAlgn="b"/>
                      <a:r>
                        <a:rPr lang="en-US" sz="1000" u="none" strike="noStrike">
                          <a:effectLst/>
                        </a:rPr>
                        <a:t>census-out_04172023_CRW_A-5_16pl_M</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ctr" fontAlgn="b"/>
                      <a:r>
                        <a:rPr lang="en-US" sz="1000" u="none" strike="noStrike">
                          <a:effectLst/>
                        </a:rPr>
                        <a:t>whole proteome</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r" fontAlgn="b"/>
                      <a:r>
                        <a:rPr lang="en-US" sz="1000" u="none" strike="noStrike">
                          <a:effectLst/>
                        </a:rPr>
                        <a:t>16</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l" fontAlgn="b"/>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ctr" fontAlgn="b"/>
                      <a:r>
                        <a:rPr lang="en-US" sz="1000" u="none" strike="noStrike">
                          <a:effectLst/>
                        </a:rPr>
                        <a:t>Tissue</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ctr" fontAlgn="b"/>
                      <a:r>
                        <a:rPr lang="en-US" sz="1000" u="none" strike="noStrike">
                          <a:effectLst/>
                        </a:rPr>
                        <a:t>Adipo/BAT and GFAP/brain</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ctr" fontAlgn="b"/>
                      <a:r>
                        <a:rPr lang="en-US" sz="1000" u="none" strike="noStrike">
                          <a:effectLst/>
                        </a:rPr>
                        <a:t>only BAT conditions</a:t>
                      </a:r>
                      <a:endParaRPr lang="en-US" sz="1000" b="0" i="0" u="none" strike="noStrike">
                        <a:solidFill>
                          <a:srgbClr val="000000"/>
                        </a:solidFill>
                        <a:effectLst/>
                        <a:latin typeface="Calibri" panose="020F0502020204030204" pitchFamily="34" charset="0"/>
                      </a:endParaRPr>
                    </a:p>
                  </a:txBody>
                  <a:tcPr marL="8328" marR="8328" marT="8328" marB="0" anchor="b"/>
                </a:tc>
                <a:extLst>
                  <a:ext uri="{0D108BD9-81ED-4DB2-BD59-A6C34878D82A}">
                    <a16:rowId xmlns:a16="http://schemas.microsoft.com/office/drawing/2014/main" val="2092198827"/>
                  </a:ext>
                </a:extLst>
              </a:tr>
              <a:tr h="177666">
                <a:tc>
                  <a:txBody>
                    <a:bodyPr/>
                    <a:lstStyle/>
                    <a:p>
                      <a:pPr algn="l" fontAlgn="b"/>
                      <a:r>
                        <a:rPr lang="en-US" sz="1000" u="none" strike="noStrike">
                          <a:effectLst/>
                        </a:rPr>
                        <a:t>EV2-23_16plex</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l" fontAlgn="b"/>
                      <a:r>
                        <a:rPr lang="en-US" sz="1000" u="none" strike="noStrike">
                          <a:effectLst/>
                        </a:rPr>
                        <a:t>census-out_04212023_EV2-23_16plex_Mouse_RTS</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ctr" fontAlgn="b"/>
                      <a:r>
                        <a:rPr lang="en-US" sz="1000" u="none" strike="noStrike">
                          <a:effectLst/>
                        </a:rPr>
                        <a:t>whole proteome</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r" fontAlgn="b"/>
                      <a:r>
                        <a:rPr lang="en-US" sz="1000" u="none" strike="noStrike">
                          <a:effectLst/>
                        </a:rPr>
                        <a:t>16</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l" fontAlgn="b"/>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ctr" fontAlgn="b"/>
                      <a:r>
                        <a:rPr lang="en-US" sz="1000" u="none" strike="noStrike">
                          <a:effectLst/>
                        </a:rPr>
                        <a:t>Serum</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l" fontAlgn="b"/>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ctr" fontAlgn="b"/>
                      <a:r>
                        <a:rPr lang="en-US" sz="1000" u="none" strike="noStrike">
                          <a:effectLst/>
                        </a:rPr>
                        <a:t>yes</a:t>
                      </a:r>
                      <a:endParaRPr lang="en-US" sz="1000" b="0" i="0" u="none" strike="noStrike">
                        <a:solidFill>
                          <a:srgbClr val="000000"/>
                        </a:solidFill>
                        <a:effectLst/>
                        <a:latin typeface="Calibri" panose="020F0502020204030204" pitchFamily="34" charset="0"/>
                      </a:endParaRPr>
                    </a:p>
                  </a:txBody>
                  <a:tcPr marL="8328" marR="8328" marT="8328" marB="0" anchor="b"/>
                </a:tc>
                <a:extLst>
                  <a:ext uri="{0D108BD9-81ED-4DB2-BD59-A6C34878D82A}">
                    <a16:rowId xmlns:a16="http://schemas.microsoft.com/office/drawing/2014/main" val="2428195547"/>
                  </a:ext>
                </a:extLst>
              </a:tr>
              <a:tr h="177666">
                <a:tc>
                  <a:txBody>
                    <a:bodyPr/>
                    <a:lstStyle/>
                    <a:p>
                      <a:pPr algn="l" fontAlgn="b"/>
                      <a:r>
                        <a:rPr lang="en-US" sz="1000" u="none" strike="noStrike">
                          <a:effectLst/>
                        </a:rPr>
                        <a:t>EV2-28A</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l" fontAlgn="b"/>
                      <a:r>
                        <a:rPr lang="en-US" sz="1000" u="none" strike="noStrike">
                          <a:effectLst/>
                        </a:rPr>
                        <a:t>census-out_20230512_EV2-28A</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ctr" fontAlgn="b"/>
                      <a:r>
                        <a:rPr lang="en-US" sz="1000" u="none" strike="noStrike">
                          <a:effectLst/>
                        </a:rPr>
                        <a:t>whole proteome</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r" fontAlgn="b"/>
                      <a:r>
                        <a:rPr lang="en-US" sz="1000" u="none" strike="noStrike">
                          <a:effectLst/>
                        </a:rPr>
                        <a:t>16</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l" fontAlgn="b"/>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ctr" fontAlgn="b"/>
                      <a:r>
                        <a:rPr lang="en-US" sz="1000" u="none" strike="noStrike">
                          <a:effectLst/>
                        </a:rPr>
                        <a:t>Tissue</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ctr" fontAlgn="b"/>
                      <a:r>
                        <a:rPr lang="en-US" sz="1000" u="none" strike="noStrike">
                          <a:effectLst/>
                        </a:rPr>
                        <a:t>male</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ctr" fontAlgn="b"/>
                      <a:r>
                        <a:rPr lang="en-US" sz="1000" u="none" strike="noStrike">
                          <a:effectLst/>
                        </a:rPr>
                        <a:t>yes</a:t>
                      </a:r>
                      <a:endParaRPr lang="en-US" sz="1000" b="0" i="0" u="none" strike="noStrike">
                        <a:solidFill>
                          <a:srgbClr val="000000"/>
                        </a:solidFill>
                        <a:effectLst/>
                        <a:latin typeface="Calibri" panose="020F0502020204030204" pitchFamily="34" charset="0"/>
                      </a:endParaRPr>
                    </a:p>
                  </a:txBody>
                  <a:tcPr marL="8328" marR="8328" marT="8328" marB="0" anchor="b"/>
                </a:tc>
                <a:extLst>
                  <a:ext uri="{0D108BD9-81ED-4DB2-BD59-A6C34878D82A}">
                    <a16:rowId xmlns:a16="http://schemas.microsoft.com/office/drawing/2014/main" val="751312419"/>
                  </a:ext>
                </a:extLst>
              </a:tr>
              <a:tr h="177666">
                <a:tc>
                  <a:txBody>
                    <a:bodyPr/>
                    <a:lstStyle/>
                    <a:p>
                      <a:pPr algn="l" fontAlgn="b"/>
                      <a:r>
                        <a:rPr lang="en-US" sz="1000" u="none" strike="noStrike">
                          <a:effectLst/>
                        </a:rPr>
                        <a:t>EV2-28B</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l" fontAlgn="b"/>
                      <a:r>
                        <a:rPr lang="en-US" sz="1000" u="none" strike="noStrike">
                          <a:effectLst/>
                        </a:rPr>
                        <a:t>census-out_20230513_EV2-28B</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ctr" fontAlgn="b"/>
                      <a:r>
                        <a:rPr lang="en-US" sz="1000" u="none" strike="noStrike">
                          <a:effectLst/>
                        </a:rPr>
                        <a:t>whole proteome</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r" fontAlgn="b"/>
                      <a:r>
                        <a:rPr lang="en-US" sz="1000" u="none" strike="noStrike">
                          <a:effectLst/>
                        </a:rPr>
                        <a:t>16</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l" fontAlgn="b"/>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ctr" fontAlgn="b"/>
                      <a:r>
                        <a:rPr lang="en-US" sz="1000" u="none" strike="noStrike">
                          <a:effectLst/>
                        </a:rPr>
                        <a:t>Tissue</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ctr" fontAlgn="b"/>
                      <a:r>
                        <a:rPr lang="en-US" sz="1000" u="none" strike="noStrike">
                          <a:effectLst/>
                        </a:rPr>
                        <a:t>female</a:t>
                      </a:r>
                      <a:endParaRPr lang="en-US" sz="1000" b="0" i="0" u="none" strike="noStrike">
                        <a:solidFill>
                          <a:srgbClr val="000000"/>
                        </a:solidFill>
                        <a:effectLst/>
                        <a:latin typeface="Calibri" panose="020F0502020204030204" pitchFamily="34" charset="0"/>
                      </a:endParaRPr>
                    </a:p>
                  </a:txBody>
                  <a:tcPr marL="8328" marR="8328" marT="8328" marB="0" anchor="b"/>
                </a:tc>
                <a:tc>
                  <a:txBody>
                    <a:bodyPr/>
                    <a:lstStyle/>
                    <a:p>
                      <a:pPr algn="ctr" fontAlgn="b"/>
                      <a:r>
                        <a:rPr lang="en-US" sz="1000" u="none" strike="noStrike" dirty="0">
                          <a:effectLst/>
                        </a:rPr>
                        <a:t>yes</a:t>
                      </a:r>
                      <a:endParaRPr lang="en-US" sz="1000" b="0" i="0" u="none" strike="noStrike" dirty="0">
                        <a:solidFill>
                          <a:srgbClr val="000000"/>
                        </a:solidFill>
                        <a:effectLst/>
                        <a:latin typeface="Calibri" panose="020F0502020204030204" pitchFamily="34" charset="0"/>
                      </a:endParaRPr>
                    </a:p>
                  </a:txBody>
                  <a:tcPr marL="8328" marR="8328" marT="8328" marB="0" anchor="b"/>
                </a:tc>
                <a:extLst>
                  <a:ext uri="{0D108BD9-81ED-4DB2-BD59-A6C34878D82A}">
                    <a16:rowId xmlns:a16="http://schemas.microsoft.com/office/drawing/2014/main" val="2406117681"/>
                  </a:ext>
                </a:extLst>
              </a:tr>
            </a:tbl>
          </a:graphicData>
        </a:graphic>
      </p:graphicFrame>
      <p:sp>
        <p:nvSpPr>
          <p:cNvPr id="6" name="TextBox 5">
            <a:extLst>
              <a:ext uri="{FF2B5EF4-FFF2-40B4-BE49-F238E27FC236}">
                <a16:creationId xmlns:a16="http://schemas.microsoft.com/office/drawing/2014/main" id="{7C8A20A6-33D0-A14A-B36F-458D596AA217}"/>
              </a:ext>
            </a:extLst>
          </p:cNvPr>
          <p:cNvSpPr txBox="1"/>
          <p:nvPr/>
        </p:nvSpPr>
        <p:spPr>
          <a:xfrm>
            <a:off x="3070344" y="5781072"/>
            <a:ext cx="6376086" cy="369332"/>
          </a:xfrm>
          <a:prstGeom prst="rect">
            <a:avLst/>
          </a:prstGeom>
          <a:noFill/>
        </p:spPr>
        <p:txBody>
          <a:bodyPr wrap="square" rtlCol="0">
            <a:spAutoFit/>
          </a:bodyPr>
          <a:lstStyle/>
          <a:p>
            <a:r>
              <a:rPr lang="en-US" dirty="0" err="1">
                <a:solidFill>
                  <a:srgbClr val="FF0000"/>
                </a:solidFill>
              </a:rPr>
              <a:t>Kaja</a:t>
            </a:r>
            <a:r>
              <a:rPr lang="en-US" dirty="0">
                <a:solidFill>
                  <a:srgbClr val="FF0000"/>
                </a:solidFill>
              </a:rPr>
              <a:t> request: please add CRW file with Bat conditions (done!)</a:t>
            </a:r>
          </a:p>
        </p:txBody>
      </p:sp>
    </p:spTree>
    <p:extLst>
      <p:ext uri="{BB962C8B-B14F-4D97-AF65-F5344CB8AC3E}">
        <p14:creationId xmlns:p14="http://schemas.microsoft.com/office/powerpoint/2010/main" val="5392911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C478E8-C48D-7848-AAB8-0009AB7EB4AD}"/>
              </a:ext>
            </a:extLst>
          </p:cNvPr>
          <p:cNvSpPr>
            <a:spLocks noGrp="1"/>
          </p:cNvSpPr>
          <p:nvPr>
            <p:ph type="title"/>
          </p:nvPr>
        </p:nvSpPr>
        <p:spPr/>
        <p:txBody>
          <a:bodyPr/>
          <a:lstStyle/>
          <a:p>
            <a:r>
              <a:rPr lang="en-US" dirty="0"/>
              <a:t>Per experiment: </a:t>
            </a:r>
          </a:p>
        </p:txBody>
      </p:sp>
      <p:sp>
        <p:nvSpPr>
          <p:cNvPr id="3" name="Content Placeholder 2">
            <a:extLst>
              <a:ext uri="{FF2B5EF4-FFF2-40B4-BE49-F238E27FC236}">
                <a16:creationId xmlns:a16="http://schemas.microsoft.com/office/drawing/2014/main" id="{A087FBF7-0A5A-3C44-975E-85F20A0D5FB9}"/>
              </a:ext>
            </a:extLst>
          </p:cNvPr>
          <p:cNvSpPr>
            <a:spLocks noGrp="1"/>
          </p:cNvSpPr>
          <p:nvPr>
            <p:ph idx="1"/>
          </p:nvPr>
        </p:nvSpPr>
        <p:spPr/>
        <p:txBody>
          <a:bodyPr/>
          <a:lstStyle/>
          <a:p>
            <a:r>
              <a:rPr lang="en-US" dirty="0"/>
              <a:t>Extracted significantly up or down regulated proteins for each comparison per file </a:t>
            </a:r>
          </a:p>
          <a:p>
            <a:endParaRPr lang="en-US" dirty="0"/>
          </a:p>
        </p:txBody>
      </p:sp>
    </p:spTree>
    <p:extLst>
      <p:ext uri="{BB962C8B-B14F-4D97-AF65-F5344CB8AC3E}">
        <p14:creationId xmlns:p14="http://schemas.microsoft.com/office/powerpoint/2010/main" val="13843439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40C68-55C1-BD4D-8625-E59910BB22A1}"/>
              </a:ext>
            </a:extLst>
          </p:cNvPr>
          <p:cNvSpPr>
            <a:spLocks noGrp="1"/>
          </p:cNvSpPr>
          <p:nvPr>
            <p:ph type="title"/>
          </p:nvPr>
        </p:nvSpPr>
        <p:spPr/>
        <p:txBody>
          <a:bodyPr/>
          <a:lstStyle/>
          <a:p>
            <a:r>
              <a:rPr lang="en-US" dirty="0"/>
              <a:t>For all experiments </a:t>
            </a:r>
          </a:p>
        </p:txBody>
      </p:sp>
      <p:sp>
        <p:nvSpPr>
          <p:cNvPr id="3" name="Content Placeholder 2">
            <a:extLst>
              <a:ext uri="{FF2B5EF4-FFF2-40B4-BE49-F238E27FC236}">
                <a16:creationId xmlns:a16="http://schemas.microsoft.com/office/drawing/2014/main" id="{7D797A92-D8CD-6842-A803-C918644212F7}"/>
              </a:ext>
            </a:extLst>
          </p:cNvPr>
          <p:cNvSpPr>
            <a:spLocks noGrp="1"/>
          </p:cNvSpPr>
          <p:nvPr>
            <p:ph idx="1"/>
          </p:nvPr>
        </p:nvSpPr>
        <p:spPr/>
        <p:txBody>
          <a:bodyPr/>
          <a:lstStyle/>
          <a:p>
            <a:r>
              <a:rPr lang="en-US" dirty="0"/>
              <a:t>Merged the extracted significant up or down regulated proteins from each experiment into one list and kept the information where it originated from </a:t>
            </a:r>
          </a:p>
        </p:txBody>
      </p:sp>
      <p:pic>
        <p:nvPicPr>
          <p:cNvPr id="5" name="Picture 4" descr="A screenshot of a computer&#10;&#10;Description automatically generated">
            <a:extLst>
              <a:ext uri="{FF2B5EF4-FFF2-40B4-BE49-F238E27FC236}">
                <a16:creationId xmlns:a16="http://schemas.microsoft.com/office/drawing/2014/main" id="{F7AB20EF-40B7-044F-9051-F0F823F974DF}"/>
              </a:ext>
            </a:extLst>
          </p:cNvPr>
          <p:cNvPicPr>
            <a:picLocks noChangeAspect="1"/>
          </p:cNvPicPr>
          <p:nvPr/>
        </p:nvPicPr>
        <p:blipFill>
          <a:blip r:embed="rId2"/>
          <a:stretch>
            <a:fillRect/>
          </a:stretch>
        </p:blipFill>
        <p:spPr>
          <a:xfrm>
            <a:off x="1186247" y="3429000"/>
            <a:ext cx="9860694" cy="2263893"/>
          </a:xfrm>
          <a:prstGeom prst="rect">
            <a:avLst/>
          </a:prstGeom>
        </p:spPr>
      </p:pic>
    </p:spTree>
    <p:extLst>
      <p:ext uri="{BB962C8B-B14F-4D97-AF65-F5344CB8AC3E}">
        <p14:creationId xmlns:p14="http://schemas.microsoft.com/office/powerpoint/2010/main" val="30922899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88B1DA-EE8A-1541-86AF-165ABA712F8F}"/>
              </a:ext>
            </a:extLst>
          </p:cNvPr>
          <p:cNvSpPr>
            <a:spLocks noGrp="1"/>
          </p:cNvSpPr>
          <p:nvPr>
            <p:ph type="title"/>
          </p:nvPr>
        </p:nvSpPr>
        <p:spPr>
          <a:xfrm>
            <a:off x="838200" y="365125"/>
            <a:ext cx="9998676" cy="1325563"/>
          </a:xfrm>
        </p:spPr>
        <p:txBody>
          <a:bodyPr/>
          <a:lstStyle/>
          <a:p>
            <a:r>
              <a:rPr lang="en-US" dirty="0"/>
              <a:t>Comparison of results with and without contaminants</a:t>
            </a:r>
          </a:p>
        </p:txBody>
      </p:sp>
      <p:sp>
        <p:nvSpPr>
          <p:cNvPr id="3" name="Content Placeholder 2">
            <a:extLst>
              <a:ext uri="{FF2B5EF4-FFF2-40B4-BE49-F238E27FC236}">
                <a16:creationId xmlns:a16="http://schemas.microsoft.com/office/drawing/2014/main" id="{DE42B024-B4E5-014D-B9A9-D6E9F1F70F03}"/>
              </a:ext>
            </a:extLst>
          </p:cNvPr>
          <p:cNvSpPr>
            <a:spLocks noGrp="1"/>
          </p:cNvSpPr>
          <p:nvPr>
            <p:ph idx="1"/>
          </p:nvPr>
        </p:nvSpPr>
        <p:spPr>
          <a:xfrm>
            <a:off x="838200" y="1825625"/>
            <a:ext cx="10418805" cy="4351338"/>
          </a:xfrm>
        </p:spPr>
        <p:txBody>
          <a:bodyPr/>
          <a:lstStyle/>
          <a:p>
            <a:pPr marL="0" indent="0" algn="l">
              <a:buNone/>
            </a:pPr>
            <a:r>
              <a:rPr lang="en-US" dirty="0">
                <a:solidFill>
                  <a:srgbClr val="1D1C1D"/>
                </a:solidFill>
                <a:latin typeface="Slack-Lato"/>
              </a:rPr>
              <a:t>Number of proteins in lists for Yuval’s group:</a:t>
            </a:r>
            <a:endParaRPr lang="en-US" b="0" i="0" dirty="0">
              <a:solidFill>
                <a:srgbClr val="1D1C1D"/>
              </a:solidFill>
              <a:effectLst/>
              <a:latin typeface="Slack-Lato"/>
            </a:endParaRPr>
          </a:p>
          <a:p>
            <a:pPr lvl="1"/>
            <a:r>
              <a:rPr lang="en-US" b="0" i="0" dirty="0">
                <a:solidFill>
                  <a:srgbClr val="1D1C1D"/>
                </a:solidFill>
                <a:effectLst/>
                <a:latin typeface="Slack-Lato"/>
              </a:rPr>
              <a:t>with contaminants: 3316</a:t>
            </a:r>
          </a:p>
          <a:p>
            <a:pPr lvl="1"/>
            <a:r>
              <a:rPr lang="en-US" b="0" i="0" dirty="0">
                <a:solidFill>
                  <a:srgbClr val="1D1C1D"/>
                </a:solidFill>
                <a:effectLst/>
                <a:latin typeface="Slack-Lato"/>
              </a:rPr>
              <a:t>without contaminants: 2874</a:t>
            </a:r>
          </a:p>
          <a:p>
            <a:pPr lvl="1"/>
            <a:endParaRPr lang="en-US" b="0" i="0" dirty="0">
              <a:solidFill>
                <a:srgbClr val="1D1C1D"/>
              </a:solidFill>
              <a:effectLst/>
              <a:latin typeface="Slack-Lato"/>
            </a:endParaRPr>
          </a:p>
          <a:p>
            <a:pPr marL="0" indent="0" algn="l">
              <a:buNone/>
            </a:pPr>
            <a:r>
              <a:rPr lang="en-US" sz="2000" b="0" i="0" dirty="0">
                <a:solidFill>
                  <a:srgbClr val="1D1C1D"/>
                </a:solidFill>
                <a:effectLst/>
                <a:latin typeface="Slack-Lato"/>
              </a:rPr>
              <a:t>I merged the two files and provide a new file (</a:t>
            </a:r>
            <a:r>
              <a:rPr lang="en-US" sz="2000" b="1" i="0" dirty="0" err="1">
                <a:solidFill>
                  <a:srgbClr val="1D1C1D"/>
                </a:solidFill>
                <a:effectLst/>
                <a:latin typeface="Slack-Lato"/>
              </a:rPr>
              <a:t>comparison_with_and_without_contaminants</a:t>
            </a:r>
            <a:r>
              <a:rPr lang="en-US" sz="2000" b="0" i="0" dirty="0" err="1">
                <a:solidFill>
                  <a:srgbClr val="1D1C1D"/>
                </a:solidFill>
                <a:effectLst/>
                <a:latin typeface="Slack-Lato"/>
              </a:rPr>
              <a:t>.csv</a:t>
            </a:r>
            <a:r>
              <a:rPr lang="en-US" sz="2000" b="0" i="0" dirty="0">
                <a:solidFill>
                  <a:srgbClr val="1D1C1D"/>
                </a:solidFill>
                <a:effectLst/>
                <a:latin typeface="Slack-Lato"/>
              </a:rPr>
              <a:t>) which shows if protein is found in both final lists or only in one list – this really shows us that we remove a lot of contaminants from the results using our updated pipeline</a:t>
            </a:r>
            <a:endParaRPr lang="en-US" sz="2000" dirty="0"/>
          </a:p>
        </p:txBody>
      </p:sp>
      <p:pic>
        <p:nvPicPr>
          <p:cNvPr id="5" name="Picture 4" descr="A screenshot of a computer&#10;&#10;Description automatically generated">
            <a:extLst>
              <a:ext uri="{FF2B5EF4-FFF2-40B4-BE49-F238E27FC236}">
                <a16:creationId xmlns:a16="http://schemas.microsoft.com/office/drawing/2014/main" id="{2CE82B28-9E29-3843-B0B6-3B1A621EACFA}"/>
              </a:ext>
            </a:extLst>
          </p:cNvPr>
          <p:cNvPicPr>
            <a:picLocks noChangeAspect="1"/>
          </p:cNvPicPr>
          <p:nvPr/>
        </p:nvPicPr>
        <p:blipFill>
          <a:blip r:embed="rId2"/>
          <a:stretch>
            <a:fillRect/>
          </a:stretch>
        </p:blipFill>
        <p:spPr>
          <a:xfrm>
            <a:off x="3597489" y="4470615"/>
            <a:ext cx="5348803" cy="1841285"/>
          </a:xfrm>
          <a:prstGeom prst="rect">
            <a:avLst/>
          </a:prstGeom>
        </p:spPr>
      </p:pic>
    </p:spTree>
    <p:extLst>
      <p:ext uri="{BB962C8B-B14F-4D97-AF65-F5344CB8AC3E}">
        <p14:creationId xmlns:p14="http://schemas.microsoft.com/office/powerpoint/2010/main" val="26951603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2566D-F068-FC41-A079-5D3BEF148EDB}"/>
              </a:ext>
            </a:extLst>
          </p:cNvPr>
          <p:cNvSpPr>
            <a:spLocks noGrp="1"/>
          </p:cNvSpPr>
          <p:nvPr>
            <p:ph type="title"/>
          </p:nvPr>
        </p:nvSpPr>
        <p:spPr/>
        <p:txBody>
          <a:bodyPr/>
          <a:lstStyle/>
          <a:p>
            <a:r>
              <a:rPr lang="en-US" dirty="0"/>
              <a:t>Most proteins which we loose are truly contaminants and should be removed</a:t>
            </a:r>
          </a:p>
        </p:txBody>
      </p:sp>
      <p:pic>
        <p:nvPicPr>
          <p:cNvPr id="4" name="Picture 3" descr="A table of numbers and letters&#10;&#10;Description automatically generated">
            <a:extLst>
              <a:ext uri="{FF2B5EF4-FFF2-40B4-BE49-F238E27FC236}">
                <a16:creationId xmlns:a16="http://schemas.microsoft.com/office/drawing/2014/main" id="{CEC5727C-9229-D740-A4EA-E4A14DCA326E}"/>
              </a:ext>
            </a:extLst>
          </p:cNvPr>
          <p:cNvPicPr>
            <a:picLocks noChangeAspect="1"/>
          </p:cNvPicPr>
          <p:nvPr/>
        </p:nvPicPr>
        <p:blipFill rotWithShape="1">
          <a:blip r:embed="rId2"/>
          <a:srcRect b="31655"/>
          <a:stretch/>
        </p:blipFill>
        <p:spPr>
          <a:xfrm>
            <a:off x="3303885" y="1876040"/>
            <a:ext cx="5584229" cy="4353927"/>
          </a:xfrm>
          <a:prstGeom prst="rect">
            <a:avLst/>
          </a:prstGeom>
        </p:spPr>
      </p:pic>
      <p:sp>
        <p:nvSpPr>
          <p:cNvPr id="5" name="TextBox 4">
            <a:extLst>
              <a:ext uri="{FF2B5EF4-FFF2-40B4-BE49-F238E27FC236}">
                <a16:creationId xmlns:a16="http://schemas.microsoft.com/office/drawing/2014/main" id="{93E94A78-3EC7-8449-A843-7E7D065705EF}"/>
              </a:ext>
            </a:extLst>
          </p:cNvPr>
          <p:cNvSpPr txBox="1"/>
          <p:nvPr/>
        </p:nvSpPr>
        <p:spPr>
          <a:xfrm>
            <a:off x="9452919" y="3429000"/>
            <a:ext cx="1415965" cy="369332"/>
          </a:xfrm>
          <a:prstGeom prst="rect">
            <a:avLst/>
          </a:prstGeom>
          <a:noFill/>
        </p:spPr>
        <p:txBody>
          <a:bodyPr wrap="none" rtlCol="0">
            <a:spAutoFit/>
          </a:bodyPr>
          <a:lstStyle/>
          <a:p>
            <a:r>
              <a:rPr lang="en-US" dirty="0"/>
              <a:t>396 proteins </a:t>
            </a:r>
          </a:p>
        </p:txBody>
      </p:sp>
    </p:spTree>
    <p:extLst>
      <p:ext uri="{BB962C8B-B14F-4D97-AF65-F5344CB8AC3E}">
        <p14:creationId xmlns:p14="http://schemas.microsoft.com/office/powerpoint/2010/main" val="21056623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63649-5E91-7C42-83AA-9ED6C0D408A7}"/>
              </a:ext>
            </a:extLst>
          </p:cNvPr>
          <p:cNvSpPr>
            <a:spLocks noGrp="1"/>
          </p:cNvSpPr>
          <p:nvPr>
            <p:ph type="title"/>
          </p:nvPr>
        </p:nvSpPr>
        <p:spPr>
          <a:xfrm>
            <a:off x="838200" y="735828"/>
            <a:ext cx="10515600" cy="1325563"/>
          </a:xfrm>
        </p:spPr>
        <p:txBody>
          <a:bodyPr>
            <a:normAutofit fontScale="90000"/>
          </a:bodyPr>
          <a:lstStyle/>
          <a:p>
            <a:r>
              <a:rPr lang="en-US" dirty="0"/>
              <a:t>However, we also loose some proteins which are not contaminants, this is due to the change in ROC analysis and the shift in thresholds, these proteins were mostly on the border of the threshold</a:t>
            </a:r>
          </a:p>
        </p:txBody>
      </p:sp>
      <p:pic>
        <p:nvPicPr>
          <p:cNvPr id="5" name="Picture 4" descr="A screenshot of a computer&#10;&#10;Description automatically generated">
            <a:extLst>
              <a:ext uri="{FF2B5EF4-FFF2-40B4-BE49-F238E27FC236}">
                <a16:creationId xmlns:a16="http://schemas.microsoft.com/office/drawing/2014/main" id="{49145152-5204-8347-BA6C-A94CF4705756}"/>
              </a:ext>
            </a:extLst>
          </p:cNvPr>
          <p:cNvPicPr>
            <a:picLocks noChangeAspect="1"/>
          </p:cNvPicPr>
          <p:nvPr/>
        </p:nvPicPr>
        <p:blipFill>
          <a:blip r:embed="rId2"/>
          <a:stretch>
            <a:fillRect/>
          </a:stretch>
        </p:blipFill>
        <p:spPr>
          <a:xfrm>
            <a:off x="3410465" y="2706905"/>
            <a:ext cx="4874912" cy="3751732"/>
          </a:xfrm>
          <a:prstGeom prst="rect">
            <a:avLst/>
          </a:prstGeom>
        </p:spPr>
      </p:pic>
      <p:sp>
        <p:nvSpPr>
          <p:cNvPr id="6" name="TextBox 5">
            <a:extLst>
              <a:ext uri="{FF2B5EF4-FFF2-40B4-BE49-F238E27FC236}">
                <a16:creationId xmlns:a16="http://schemas.microsoft.com/office/drawing/2014/main" id="{152C0B9C-173E-E24E-8845-D17E013C42FF}"/>
              </a:ext>
            </a:extLst>
          </p:cNvPr>
          <p:cNvSpPr txBox="1"/>
          <p:nvPr/>
        </p:nvSpPr>
        <p:spPr>
          <a:xfrm>
            <a:off x="8859795" y="3657600"/>
            <a:ext cx="1363065" cy="369332"/>
          </a:xfrm>
          <a:prstGeom prst="rect">
            <a:avLst/>
          </a:prstGeom>
          <a:noFill/>
        </p:spPr>
        <p:txBody>
          <a:bodyPr wrap="none" rtlCol="0">
            <a:spAutoFit/>
          </a:bodyPr>
          <a:lstStyle/>
          <a:p>
            <a:r>
              <a:rPr lang="en-US" dirty="0"/>
              <a:t>101 proteins</a:t>
            </a:r>
          </a:p>
        </p:txBody>
      </p:sp>
    </p:spTree>
    <p:extLst>
      <p:ext uri="{BB962C8B-B14F-4D97-AF65-F5344CB8AC3E}">
        <p14:creationId xmlns:p14="http://schemas.microsoft.com/office/powerpoint/2010/main" val="19748413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22DC8-BD52-3E4A-AA00-800E8E9941DF}"/>
              </a:ext>
            </a:extLst>
          </p:cNvPr>
          <p:cNvSpPr>
            <a:spLocks noGrp="1"/>
          </p:cNvSpPr>
          <p:nvPr>
            <p:ph type="title"/>
          </p:nvPr>
        </p:nvSpPr>
        <p:spPr/>
        <p:txBody>
          <a:bodyPr>
            <a:normAutofit fontScale="90000"/>
          </a:bodyPr>
          <a:lstStyle/>
          <a:p>
            <a:r>
              <a:rPr lang="en-US" dirty="0"/>
              <a:t>There are also proteins we gain by removing contaminants which we lost before due to having contaminants in the ROC analysis </a:t>
            </a:r>
          </a:p>
        </p:txBody>
      </p:sp>
      <p:pic>
        <p:nvPicPr>
          <p:cNvPr id="5" name="Content Placeholder 4" descr="A screenshot of a spreadsheet&#10;&#10;Description automatically generated">
            <a:extLst>
              <a:ext uri="{FF2B5EF4-FFF2-40B4-BE49-F238E27FC236}">
                <a16:creationId xmlns:a16="http://schemas.microsoft.com/office/drawing/2014/main" id="{D2251225-A098-C943-9FCB-4B2B8D1DB559}"/>
              </a:ext>
            </a:extLst>
          </p:cNvPr>
          <p:cNvPicPr>
            <a:picLocks noGrp="1" noChangeAspect="1"/>
          </p:cNvPicPr>
          <p:nvPr>
            <p:ph idx="1"/>
          </p:nvPr>
        </p:nvPicPr>
        <p:blipFill>
          <a:blip r:embed="rId2"/>
          <a:stretch>
            <a:fillRect/>
          </a:stretch>
        </p:blipFill>
        <p:spPr>
          <a:xfrm>
            <a:off x="3482892" y="1949193"/>
            <a:ext cx="4830799" cy="4351338"/>
          </a:xfrm>
        </p:spPr>
      </p:pic>
      <p:sp>
        <p:nvSpPr>
          <p:cNvPr id="6" name="TextBox 5">
            <a:extLst>
              <a:ext uri="{FF2B5EF4-FFF2-40B4-BE49-F238E27FC236}">
                <a16:creationId xmlns:a16="http://schemas.microsoft.com/office/drawing/2014/main" id="{75546DD1-2ECC-E946-BB0D-D31D3734FDA6}"/>
              </a:ext>
            </a:extLst>
          </p:cNvPr>
          <p:cNvSpPr txBox="1"/>
          <p:nvPr/>
        </p:nvSpPr>
        <p:spPr>
          <a:xfrm>
            <a:off x="9218141" y="3385751"/>
            <a:ext cx="1298945" cy="369332"/>
          </a:xfrm>
          <a:prstGeom prst="rect">
            <a:avLst/>
          </a:prstGeom>
          <a:noFill/>
        </p:spPr>
        <p:txBody>
          <a:bodyPr wrap="none" rtlCol="0">
            <a:spAutoFit/>
          </a:bodyPr>
          <a:lstStyle/>
          <a:p>
            <a:r>
              <a:rPr lang="en-US" dirty="0"/>
              <a:t>54 proteins </a:t>
            </a:r>
          </a:p>
        </p:txBody>
      </p:sp>
    </p:spTree>
    <p:extLst>
      <p:ext uri="{BB962C8B-B14F-4D97-AF65-F5344CB8AC3E}">
        <p14:creationId xmlns:p14="http://schemas.microsoft.com/office/powerpoint/2010/main" val="17263039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374268-A128-C84C-8681-29BD226C21C1}"/>
              </a:ext>
            </a:extLst>
          </p:cNvPr>
          <p:cNvSpPr>
            <a:spLocks noGrp="1"/>
          </p:cNvSpPr>
          <p:nvPr>
            <p:ph type="title"/>
          </p:nvPr>
        </p:nvSpPr>
        <p:spPr/>
        <p:txBody>
          <a:bodyPr/>
          <a:lstStyle/>
          <a:p>
            <a:r>
              <a:rPr lang="en-US" dirty="0"/>
              <a:t>The list we will probably send to Yuval’s group is this one: </a:t>
            </a:r>
          </a:p>
        </p:txBody>
      </p:sp>
      <p:pic>
        <p:nvPicPr>
          <p:cNvPr id="5" name="Content Placeholder 4" descr="A screenshot of a computer&#10;&#10;Description automatically generated">
            <a:extLst>
              <a:ext uri="{FF2B5EF4-FFF2-40B4-BE49-F238E27FC236}">
                <a16:creationId xmlns:a16="http://schemas.microsoft.com/office/drawing/2014/main" id="{365D00AA-545B-F440-BAAE-2CE55589053F}"/>
              </a:ext>
            </a:extLst>
          </p:cNvPr>
          <p:cNvPicPr>
            <a:picLocks noGrp="1" noChangeAspect="1"/>
          </p:cNvPicPr>
          <p:nvPr>
            <p:ph idx="1"/>
          </p:nvPr>
        </p:nvPicPr>
        <p:blipFill>
          <a:blip r:embed="rId2"/>
          <a:stretch>
            <a:fillRect/>
          </a:stretch>
        </p:blipFill>
        <p:spPr>
          <a:xfrm>
            <a:off x="974124" y="2654035"/>
            <a:ext cx="10515600" cy="1903686"/>
          </a:xfrm>
        </p:spPr>
      </p:pic>
    </p:spTree>
    <p:extLst>
      <p:ext uri="{BB962C8B-B14F-4D97-AF65-F5344CB8AC3E}">
        <p14:creationId xmlns:p14="http://schemas.microsoft.com/office/powerpoint/2010/main" val="7997813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0CD0F-DDBA-974E-96A9-B7CBC7CF952F}"/>
              </a:ext>
            </a:extLst>
          </p:cNvPr>
          <p:cNvSpPr>
            <a:spLocks noGrp="1"/>
          </p:cNvSpPr>
          <p:nvPr>
            <p:ph type="title"/>
          </p:nvPr>
        </p:nvSpPr>
        <p:spPr/>
        <p:txBody>
          <a:bodyPr/>
          <a:lstStyle/>
          <a:p>
            <a:r>
              <a:rPr lang="en-US" dirty="0"/>
              <a:t>What does it contain?</a:t>
            </a:r>
          </a:p>
        </p:txBody>
      </p:sp>
      <p:sp>
        <p:nvSpPr>
          <p:cNvPr id="3" name="Content Placeholder 2">
            <a:extLst>
              <a:ext uri="{FF2B5EF4-FFF2-40B4-BE49-F238E27FC236}">
                <a16:creationId xmlns:a16="http://schemas.microsoft.com/office/drawing/2014/main" id="{0AC316C1-253A-D347-9E24-6F1A418C24D9}"/>
              </a:ext>
            </a:extLst>
          </p:cNvPr>
          <p:cNvSpPr>
            <a:spLocks noGrp="1"/>
          </p:cNvSpPr>
          <p:nvPr>
            <p:ph idx="1"/>
          </p:nvPr>
        </p:nvSpPr>
        <p:spPr/>
        <p:txBody>
          <a:bodyPr/>
          <a:lstStyle/>
          <a:p>
            <a:r>
              <a:rPr lang="en-US" dirty="0"/>
              <a:t>A reference column for each experiment and the conditions we used for differential expression analysis</a:t>
            </a:r>
          </a:p>
          <a:p>
            <a:r>
              <a:rPr lang="en-US" dirty="0"/>
              <a:t>The mouse to human mapping info (I will inform Yuval’s group to use the </a:t>
            </a:r>
            <a:r>
              <a:rPr lang="en-US" b="1" dirty="0"/>
              <a:t>SWISS_PROT </a:t>
            </a:r>
            <a:r>
              <a:rPr lang="en-US" b="1" dirty="0" err="1"/>
              <a:t>IDs_human_jackson_homology_db</a:t>
            </a:r>
            <a:r>
              <a:rPr lang="en-US" b="1" dirty="0"/>
              <a:t> column</a:t>
            </a:r>
            <a:r>
              <a:rPr lang="en-US" dirty="0"/>
              <a:t>) </a:t>
            </a:r>
          </a:p>
          <a:p>
            <a:r>
              <a:rPr lang="en-US" dirty="0"/>
              <a:t>Once we get results from </a:t>
            </a:r>
            <a:r>
              <a:rPr lang="en-US" dirty="0" err="1"/>
              <a:t>Yuvals</a:t>
            </a:r>
            <a:r>
              <a:rPr lang="en-US" dirty="0"/>
              <a:t> group using this file we will be able to trace back which experiments and comparisons had the significantly up or down regulated protein </a:t>
            </a:r>
          </a:p>
        </p:txBody>
      </p:sp>
    </p:spTree>
    <p:extLst>
      <p:ext uri="{BB962C8B-B14F-4D97-AF65-F5344CB8AC3E}">
        <p14:creationId xmlns:p14="http://schemas.microsoft.com/office/powerpoint/2010/main" val="37177837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A7B0D-0D1E-CE47-875A-0DF75BA3B065}"/>
              </a:ext>
            </a:extLst>
          </p:cNvPr>
          <p:cNvSpPr>
            <a:spLocks noGrp="1"/>
          </p:cNvSpPr>
          <p:nvPr>
            <p:ph type="title"/>
          </p:nvPr>
        </p:nvSpPr>
        <p:spPr/>
        <p:txBody>
          <a:bodyPr/>
          <a:lstStyle/>
          <a:p>
            <a:r>
              <a:rPr lang="en-US" dirty="0"/>
              <a:t>How does it look?</a:t>
            </a:r>
          </a:p>
        </p:txBody>
      </p:sp>
      <p:pic>
        <p:nvPicPr>
          <p:cNvPr id="5" name="Content Placeholder 4" descr="A screenshot of a document&#10;&#10;Description automatically generated">
            <a:extLst>
              <a:ext uri="{FF2B5EF4-FFF2-40B4-BE49-F238E27FC236}">
                <a16:creationId xmlns:a16="http://schemas.microsoft.com/office/drawing/2014/main" id="{2DC37FA2-E636-5844-87DE-01085A84B807}"/>
              </a:ext>
            </a:extLst>
          </p:cNvPr>
          <p:cNvPicPr>
            <a:picLocks noGrp="1" noChangeAspect="1"/>
          </p:cNvPicPr>
          <p:nvPr>
            <p:ph idx="1"/>
          </p:nvPr>
        </p:nvPicPr>
        <p:blipFill>
          <a:blip r:embed="rId2"/>
          <a:stretch>
            <a:fillRect/>
          </a:stretch>
        </p:blipFill>
        <p:spPr>
          <a:xfrm>
            <a:off x="2180448" y="1789542"/>
            <a:ext cx="7583968" cy="4351338"/>
          </a:xfrm>
        </p:spPr>
      </p:pic>
    </p:spTree>
    <p:extLst>
      <p:ext uri="{BB962C8B-B14F-4D97-AF65-F5344CB8AC3E}">
        <p14:creationId xmlns:p14="http://schemas.microsoft.com/office/powerpoint/2010/main" val="32936069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57F11-3D31-FD43-80F1-11F376DC0BDE}"/>
              </a:ext>
            </a:extLst>
          </p:cNvPr>
          <p:cNvSpPr>
            <a:spLocks noGrp="1"/>
          </p:cNvSpPr>
          <p:nvPr>
            <p:ph type="title"/>
          </p:nvPr>
        </p:nvSpPr>
        <p:spPr>
          <a:xfrm>
            <a:off x="838200" y="365125"/>
            <a:ext cx="10515600" cy="3749675"/>
          </a:xfrm>
        </p:spPr>
        <p:txBody>
          <a:bodyPr>
            <a:normAutofit/>
          </a:bodyPr>
          <a:lstStyle/>
          <a:p>
            <a:r>
              <a:rPr lang="en-US" dirty="0"/>
              <a:t>Please let me know if you want to add or change something before we send the list to Yuval’s group! </a:t>
            </a:r>
          </a:p>
        </p:txBody>
      </p:sp>
    </p:spTree>
    <p:extLst>
      <p:ext uri="{BB962C8B-B14F-4D97-AF65-F5344CB8AC3E}">
        <p14:creationId xmlns:p14="http://schemas.microsoft.com/office/powerpoint/2010/main" val="41168120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133</TotalTime>
  <Words>671</Words>
  <Application>Microsoft Macintosh PowerPoint</Application>
  <PresentationFormat>Widescreen</PresentationFormat>
  <Paragraphs>142</Paragraphs>
  <Slides>15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Calibri Light</vt:lpstr>
      <vt:lpstr>Slack-Lato</vt:lpstr>
      <vt:lpstr>Office Theme</vt:lpstr>
      <vt:lpstr>Pipeline update</vt:lpstr>
      <vt:lpstr>Example file 100A</vt:lpstr>
      <vt:lpstr>Example file 100A</vt:lpstr>
      <vt:lpstr>PowerPoint Presentation</vt:lpstr>
      <vt:lpstr>Experiments used for creation of lists for Yuvals group </vt:lpstr>
      <vt:lpstr>Per experiment: </vt:lpstr>
      <vt:lpstr>For all experiments </vt:lpstr>
      <vt:lpstr>Comparison of results with and without contaminants</vt:lpstr>
      <vt:lpstr>Most proteins which we loose are truly contaminants and should be removed</vt:lpstr>
      <vt:lpstr>However, we also loose some proteins which are not contaminants, this is due to the change in ROC analysis and the shift in thresholds, these proteins were mostly on the border of the threshold</vt:lpstr>
      <vt:lpstr>There are also proteins we gain by removing contaminants which we lost before due to having contaminants in the ROC analysis </vt:lpstr>
      <vt:lpstr>The list we will probably send to Yuval’s group is this one: </vt:lpstr>
      <vt:lpstr>What does it contain?</vt:lpstr>
      <vt:lpstr>How does it look?</vt:lpstr>
      <vt:lpstr>Please let me know if you want to add or change something before we send the list to Yuval’s group!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Pipeline update</dc:title>
  <dc:creator>Nathalie Ropek</dc:creator>
  <cp:lastModifiedBy>Nathalie Ropek</cp:lastModifiedBy>
  <cp:revision>10</cp:revision>
  <dcterms:created xsi:type="dcterms:W3CDTF">2023-07-24T20:08:24Z</dcterms:created>
  <dcterms:modified xsi:type="dcterms:W3CDTF">2023-07-24T22:25:13Z</dcterms:modified>
</cp:coreProperties>
</file>